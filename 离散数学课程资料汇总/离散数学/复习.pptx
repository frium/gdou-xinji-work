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4"/>
  </p:notesMasterIdLst>
  <p:sldIdLst>
    <p:sldId id="256" r:id="rId2"/>
    <p:sldId id="280" r:id="rId3"/>
    <p:sldId id="403" r:id="rId4"/>
    <p:sldId id="297" r:id="rId5"/>
    <p:sldId id="304" r:id="rId6"/>
    <p:sldId id="404" r:id="rId7"/>
    <p:sldId id="284" r:id="rId8"/>
    <p:sldId id="265" r:id="rId9"/>
    <p:sldId id="405" r:id="rId10"/>
    <p:sldId id="278" r:id="rId11"/>
    <p:sldId id="407" r:id="rId12"/>
    <p:sldId id="406" r:id="rId13"/>
    <p:sldId id="282" r:id="rId14"/>
    <p:sldId id="408" r:id="rId15"/>
    <p:sldId id="344" r:id="rId16"/>
    <p:sldId id="410" r:id="rId17"/>
    <p:sldId id="409" r:id="rId18"/>
    <p:sldId id="339" r:id="rId19"/>
    <p:sldId id="281" r:id="rId20"/>
    <p:sldId id="365" r:id="rId21"/>
    <p:sldId id="411" r:id="rId22"/>
    <p:sldId id="402" r:id="rId23"/>
    <p:sldId id="305" r:id="rId24"/>
    <p:sldId id="308" r:id="rId25"/>
    <p:sldId id="302" r:id="rId26"/>
    <p:sldId id="303" r:id="rId27"/>
    <p:sldId id="286" r:id="rId28"/>
    <p:sldId id="287" r:id="rId29"/>
    <p:sldId id="413" r:id="rId30"/>
    <p:sldId id="292" r:id="rId31"/>
    <p:sldId id="414" r:id="rId32"/>
    <p:sldId id="41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CA9F2-DDF7-48A8-A513-B9C72504C3EC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E10BD-A2B2-4EBB-9AE2-6A55C8D68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98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59393">
            <a:extLst>
              <a:ext uri="{FF2B5EF4-FFF2-40B4-BE49-F238E27FC236}">
                <a16:creationId xmlns:a16="http://schemas.microsoft.com/office/drawing/2014/main" id="{744CA1D0-CC84-43A9-9D83-15FE63CEE6F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8067" name="文本占位符 59394">
            <a:extLst>
              <a:ext uri="{FF2B5EF4-FFF2-40B4-BE49-F238E27FC236}">
                <a16:creationId xmlns:a16="http://schemas.microsoft.com/office/drawing/2014/main" id="{40BA2415-0BB0-41EB-BD8B-8C09942712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sp>
        <p:nvSpPr>
          <p:cNvPr id="88068" name="灯片编号占位符 1">
            <a:extLst>
              <a:ext uri="{FF2B5EF4-FFF2-40B4-BE49-F238E27FC236}">
                <a16:creationId xmlns:a16="http://schemas.microsoft.com/office/drawing/2014/main" id="{D46EF83F-734C-4E8C-B252-FCCF3857E9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65987087-5A53-4C5D-B6B3-D267C6DAFF77}" type="slidenum">
              <a:rPr lang="zh-CN" altLang="en-US"/>
              <a:pPr eaLnBrk="1" hangingPunct="1">
                <a:buFontTx/>
                <a:buNone/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66913">
            <a:extLst>
              <a:ext uri="{FF2B5EF4-FFF2-40B4-BE49-F238E27FC236}">
                <a16:creationId xmlns:a16="http://schemas.microsoft.com/office/drawing/2014/main" id="{18411D95-DA5C-4EEC-AFE2-14F247B1B31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5955" name="文本占位符 166914">
            <a:extLst>
              <a:ext uri="{FF2B5EF4-FFF2-40B4-BE49-F238E27FC236}">
                <a16:creationId xmlns:a16="http://schemas.microsoft.com/office/drawing/2014/main" id="{169E4000-BC50-45C8-81EF-0BA0450F7E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25956" name="灯片编号占位符 1">
            <a:extLst>
              <a:ext uri="{FF2B5EF4-FFF2-40B4-BE49-F238E27FC236}">
                <a16:creationId xmlns:a16="http://schemas.microsoft.com/office/drawing/2014/main" id="{99B5F1B9-B595-4124-A179-2EBB7A32AA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F318CD-18C4-4624-A2A3-2BD22E6A67D5}" type="slidenum">
              <a:rPr lang="zh-CN" altLang="en-US" sz="1200"/>
              <a:pPr eaLnBrk="1" hangingPunct="1"/>
              <a:t>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81249">
            <a:extLst>
              <a:ext uri="{FF2B5EF4-FFF2-40B4-BE49-F238E27FC236}">
                <a16:creationId xmlns:a16="http://schemas.microsoft.com/office/drawing/2014/main" id="{BA16A212-BD41-6EE2-B4F5-E9C99D27E3AD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1075" name="文本占位符 181250">
            <a:extLst>
              <a:ext uri="{FF2B5EF4-FFF2-40B4-BE49-F238E27FC236}">
                <a16:creationId xmlns:a16="http://schemas.microsoft.com/office/drawing/2014/main" id="{AE16FE72-5A10-11BD-E2DB-25338EEC9C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31076" name="灯片编号占位符 1">
            <a:extLst>
              <a:ext uri="{FF2B5EF4-FFF2-40B4-BE49-F238E27FC236}">
                <a16:creationId xmlns:a16="http://schemas.microsoft.com/office/drawing/2014/main" id="{DBD4CCE7-FA7F-055F-3DE9-A09D4601B9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2D9264-3CD6-4CF3-83BB-5821932DE420}" type="slidenum">
              <a:rPr lang="zh-CN" altLang="en-US" sz="1200"/>
              <a:pPr eaLnBrk="1" hangingPunct="1"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31421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254977">
            <a:extLst>
              <a:ext uri="{FF2B5EF4-FFF2-40B4-BE49-F238E27FC236}">
                <a16:creationId xmlns:a16="http://schemas.microsoft.com/office/drawing/2014/main" id="{2EC0B082-0804-43A1-AA8E-21E1DA78CD1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7107" name="文本占位符 254978">
            <a:extLst>
              <a:ext uri="{FF2B5EF4-FFF2-40B4-BE49-F238E27FC236}">
                <a16:creationId xmlns:a16="http://schemas.microsoft.com/office/drawing/2014/main" id="{8D6E412A-0E06-4556-A175-A55777EEFBA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47108" name="灯片编号占位符 1">
            <a:extLst>
              <a:ext uri="{FF2B5EF4-FFF2-40B4-BE49-F238E27FC236}">
                <a16:creationId xmlns:a16="http://schemas.microsoft.com/office/drawing/2014/main" id="{9F040E6D-93AB-4989-AE5B-C001C1321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D550C6AA-2EF0-4590-A1E2-B97F54AF8E38}" type="slidenum">
              <a:rPr lang="zh-CN" altLang="en-US" sz="1200"/>
              <a:pPr eaLnBrk="1" hangingPunct="1">
                <a:buFontTx/>
                <a:buNone/>
              </a:pPr>
              <a:t>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216065">
            <a:extLst>
              <a:ext uri="{FF2B5EF4-FFF2-40B4-BE49-F238E27FC236}">
                <a16:creationId xmlns:a16="http://schemas.microsoft.com/office/drawing/2014/main" id="{219FC0A8-E937-6D1A-E40F-063F43F81E17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4819" name="文本占位符 216066">
            <a:extLst>
              <a:ext uri="{FF2B5EF4-FFF2-40B4-BE49-F238E27FC236}">
                <a16:creationId xmlns:a16="http://schemas.microsoft.com/office/drawing/2014/main" id="{7A3AE229-142B-8BB7-1F5D-6F6CBC87FC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4820" name="灯片编号占位符 1">
            <a:extLst>
              <a:ext uri="{FF2B5EF4-FFF2-40B4-BE49-F238E27FC236}">
                <a16:creationId xmlns:a16="http://schemas.microsoft.com/office/drawing/2014/main" id="{5D8F750A-A7CD-F919-84FA-0553DC79B5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35610320-7D75-436C-AEE5-433A71BA2F2A}" type="slidenum">
              <a:rPr lang="zh-CN" altLang="en-US" sz="1200"/>
              <a:pPr eaLnBrk="1" hangingPunct="1">
                <a:buFontTx/>
                <a:buNone/>
              </a:pPr>
              <a:t>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312321">
            <a:extLst>
              <a:ext uri="{FF2B5EF4-FFF2-40B4-BE49-F238E27FC236}">
                <a16:creationId xmlns:a16="http://schemas.microsoft.com/office/drawing/2014/main" id="{D01CDC01-5383-42CF-88B0-45E72989E05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9395" name="文本占位符 312322">
            <a:extLst>
              <a:ext uri="{FF2B5EF4-FFF2-40B4-BE49-F238E27FC236}">
                <a16:creationId xmlns:a16="http://schemas.microsoft.com/office/drawing/2014/main" id="{51054984-7200-4818-867D-804C1A0D67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sp>
        <p:nvSpPr>
          <p:cNvPr id="59396" name="灯片编号占位符 1">
            <a:extLst>
              <a:ext uri="{FF2B5EF4-FFF2-40B4-BE49-F238E27FC236}">
                <a16:creationId xmlns:a16="http://schemas.microsoft.com/office/drawing/2014/main" id="{7C821F87-76AD-4005-BDF7-59AA34988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C6537FF5-F731-4D8D-8BA0-AF7FF754C213}" type="slidenum">
              <a:rPr lang="zh-CN" altLang="en-US" sz="1200"/>
              <a:pPr eaLnBrk="1" hangingPunct="1">
                <a:buFontTx/>
                <a:buNone/>
              </a:pPr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319489">
            <a:extLst>
              <a:ext uri="{FF2B5EF4-FFF2-40B4-BE49-F238E27FC236}">
                <a16:creationId xmlns:a16="http://schemas.microsoft.com/office/drawing/2014/main" id="{2F883CAC-64D3-4F2D-9D3D-4E11376A523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6803" name="文本占位符 319490">
            <a:extLst>
              <a:ext uri="{FF2B5EF4-FFF2-40B4-BE49-F238E27FC236}">
                <a16:creationId xmlns:a16="http://schemas.microsoft.com/office/drawing/2014/main" id="{0E7CDB07-E539-4CC7-8293-C792379F56F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76804" name="灯片编号占位符 1">
            <a:extLst>
              <a:ext uri="{FF2B5EF4-FFF2-40B4-BE49-F238E27FC236}">
                <a16:creationId xmlns:a16="http://schemas.microsoft.com/office/drawing/2014/main" id="{FC98D283-98F6-4110-B627-ECB6B54E7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21F57C-F32A-4A7B-8F7B-D97D01CD0D6A}" type="slidenum">
              <a:rPr lang="zh-CN" altLang="en-US">
                <a:latin typeface="Wingdings 3" panose="05040102010807070707" pitchFamily="18" charset="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zh-CN" altLang="en-US">
              <a:latin typeface="Wingdings 3" panose="05040102010807070707" pitchFamily="18" charset="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447489">
            <a:extLst>
              <a:ext uri="{FF2B5EF4-FFF2-40B4-BE49-F238E27FC236}">
                <a16:creationId xmlns:a16="http://schemas.microsoft.com/office/drawing/2014/main" id="{307DC127-911E-4E3D-AB9A-01FE27B8BFE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7155" name="文本占位符 447490">
            <a:extLst>
              <a:ext uri="{FF2B5EF4-FFF2-40B4-BE49-F238E27FC236}">
                <a16:creationId xmlns:a16="http://schemas.microsoft.com/office/drawing/2014/main" id="{BD2B0B68-9A92-4D04-88D4-998608F7D5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  <p:sp>
        <p:nvSpPr>
          <p:cNvPr id="177156" name="灯片编号占位符 1">
            <a:extLst>
              <a:ext uri="{FF2B5EF4-FFF2-40B4-BE49-F238E27FC236}">
                <a16:creationId xmlns:a16="http://schemas.microsoft.com/office/drawing/2014/main" id="{E250DE40-DEA1-40E4-843E-B9BC3EA98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45D4CB-41D8-491C-BC2A-4CF450AE53F5}" type="slidenum">
              <a:rPr lang="zh-CN" altLang="en-US" smtClean="0"/>
              <a:pPr>
                <a:spcBef>
                  <a:spcPct val="0"/>
                </a:spcBef>
              </a:pPr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幻灯片图像占位符 437249">
            <a:extLst>
              <a:ext uri="{FF2B5EF4-FFF2-40B4-BE49-F238E27FC236}">
                <a16:creationId xmlns:a16="http://schemas.microsoft.com/office/drawing/2014/main" id="{A2D8FFE3-3941-2834-CC02-060317B49A65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7939" name="文本占位符 437250">
            <a:extLst>
              <a:ext uri="{FF2B5EF4-FFF2-40B4-BE49-F238E27FC236}">
                <a16:creationId xmlns:a16="http://schemas.microsoft.com/office/drawing/2014/main" id="{677582AD-1B2C-F26F-6B9B-F7AC01BD63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  <p:sp>
        <p:nvSpPr>
          <p:cNvPr id="167940" name="灯片编号占位符 1">
            <a:extLst>
              <a:ext uri="{FF2B5EF4-FFF2-40B4-BE49-F238E27FC236}">
                <a16:creationId xmlns:a16="http://schemas.microsoft.com/office/drawing/2014/main" id="{F6CA3632-FFF0-A7BC-AFE2-5525AFF8F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0DDE9E-0A6F-4E4F-A43E-7F6D2332D5A1}" type="slidenum">
              <a:rPr lang="zh-CN" altLang="en-US" smtClean="0"/>
              <a:pPr>
                <a:spcBef>
                  <a:spcPct val="0"/>
                </a:spcBef>
              </a:pPr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316417">
            <a:extLst>
              <a:ext uri="{FF2B5EF4-FFF2-40B4-BE49-F238E27FC236}">
                <a16:creationId xmlns:a16="http://schemas.microsoft.com/office/drawing/2014/main" id="{14B486C9-A39D-40A7-881C-F00BA81D430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59" name="文本占位符 316418">
            <a:extLst>
              <a:ext uri="{FF2B5EF4-FFF2-40B4-BE49-F238E27FC236}">
                <a16:creationId xmlns:a16="http://schemas.microsoft.com/office/drawing/2014/main" id="{09B1DCFA-0832-4396-97ED-65C4559D45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70660" name="灯片编号占位符 1">
            <a:extLst>
              <a:ext uri="{FF2B5EF4-FFF2-40B4-BE49-F238E27FC236}">
                <a16:creationId xmlns:a16="http://schemas.microsoft.com/office/drawing/2014/main" id="{4BCB388E-1B55-4DE6-AF29-5CF5137558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E4AAEF9-F376-4227-9280-ADD75EE4FF0E}" type="slidenum">
              <a:rPr lang="zh-CN" altLang="en-US" sz="120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320513">
            <a:extLst>
              <a:ext uri="{FF2B5EF4-FFF2-40B4-BE49-F238E27FC236}">
                <a16:creationId xmlns:a16="http://schemas.microsoft.com/office/drawing/2014/main" id="{86DFB46D-FC00-E4A9-C324-6236D9B477E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5" name="文本占位符 320514">
            <a:extLst>
              <a:ext uri="{FF2B5EF4-FFF2-40B4-BE49-F238E27FC236}">
                <a16:creationId xmlns:a16="http://schemas.microsoft.com/office/drawing/2014/main" id="{580917AB-963F-7B34-C81B-19949AFC5F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74756" name="灯片编号占位符 1">
            <a:extLst>
              <a:ext uri="{FF2B5EF4-FFF2-40B4-BE49-F238E27FC236}">
                <a16:creationId xmlns:a16="http://schemas.microsoft.com/office/drawing/2014/main" id="{AE216CF0-12C3-3E38-4EAA-FA11CC8FF0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71BEC1-CC69-48DA-B0D6-8E97A31C103B}" type="slidenum">
              <a:rPr lang="zh-CN" altLang="en-US" sz="1200"/>
              <a:pPr/>
              <a:t>20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289166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61FD585B-D535-460D-900F-88405C7838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898582-BB41-4366-BE10-18A6E68A47F1}" type="slidenum">
              <a:rPr lang="en-US" altLang="zh-CN" sz="1200"/>
              <a:pPr eaLnBrk="1" hangingPunct="1"/>
              <a:t>22</a:t>
            </a:fld>
            <a:endParaRPr lang="en-US" altLang="zh-CN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0DAC527C-627B-429C-8F79-3B72CF805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DDC5182-2BAE-4721-8E56-B51A617BF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幻灯片图像占位符 365569">
            <a:extLst>
              <a:ext uri="{FF2B5EF4-FFF2-40B4-BE49-F238E27FC236}">
                <a16:creationId xmlns:a16="http://schemas.microsoft.com/office/drawing/2014/main" id="{D2184BB9-911C-48FA-AD1E-5A13CDD0F4D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2642" name="文本占位符 365570">
            <a:extLst>
              <a:ext uri="{FF2B5EF4-FFF2-40B4-BE49-F238E27FC236}">
                <a16:creationId xmlns:a16="http://schemas.microsoft.com/office/drawing/2014/main" id="{3CAC226A-369D-4301-BD40-19BF438E0A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12643" name="灯片编号占位符 1">
            <a:extLst>
              <a:ext uri="{FF2B5EF4-FFF2-40B4-BE49-F238E27FC236}">
                <a16:creationId xmlns:a16="http://schemas.microsoft.com/office/drawing/2014/main" id="{B5813277-E310-4E53-8F7E-F45C0817E3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51316F-6125-42C7-AD79-42DF1F748E95}" type="slidenum">
              <a:rPr lang="zh-CN" altLang="en-US" sz="1200"/>
              <a:pPr/>
              <a:t>23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幻灯片图像占位符 371713">
            <a:extLst>
              <a:ext uri="{FF2B5EF4-FFF2-40B4-BE49-F238E27FC236}">
                <a16:creationId xmlns:a16="http://schemas.microsoft.com/office/drawing/2014/main" id="{F0334828-741C-77D9-6742-E7F2949DBED2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6738" name="文本占位符 371714">
            <a:extLst>
              <a:ext uri="{FF2B5EF4-FFF2-40B4-BE49-F238E27FC236}">
                <a16:creationId xmlns:a16="http://schemas.microsoft.com/office/drawing/2014/main" id="{9EA86AE1-62A5-4F48-086C-6825998DAF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16739" name="灯片编号占位符 1">
            <a:extLst>
              <a:ext uri="{FF2B5EF4-FFF2-40B4-BE49-F238E27FC236}">
                <a16:creationId xmlns:a16="http://schemas.microsoft.com/office/drawing/2014/main" id="{19079030-B822-F3B5-B50E-B06EA329DF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2648C13-AAD2-40F5-A817-A02C4F843578}" type="slidenum">
              <a:rPr lang="zh-CN" altLang="en-US" sz="1200"/>
              <a:pPr/>
              <a:t>24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幻灯片图像占位符 359425">
            <a:extLst>
              <a:ext uri="{FF2B5EF4-FFF2-40B4-BE49-F238E27FC236}">
                <a16:creationId xmlns:a16="http://schemas.microsoft.com/office/drawing/2014/main" id="{6129C21F-2382-A89C-2771-46211C194FBC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6498" name="文本占位符 359426">
            <a:extLst>
              <a:ext uri="{FF2B5EF4-FFF2-40B4-BE49-F238E27FC236}">
                <a16:creationId xmlns:a16="http://schemas.microsoft.com/office/drawing/2014/main" id="{3EE8151E-102C-D9A7-48E2-B175D00443A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06499" name="灯片编号占位符 1">
            <a:extLst>
              <a:ext uri="{FF2B5EF4-FFF2-40B4-BE49-F238E27FC236}">
                <a16:creationId xmlns:a16="http://schemas.microsoft.com/office/drawing/2014/main" id="{21F10449-F98B-A71B-CB9C-4474D06B83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FD45DA-E876-4D07-BDAC-871E26376A13}" type="slidenum">
              <a:rPr lang="zh-CN" altLang="en-US" sz="1200"/>
              <a:pPr/>
              <a:t>25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幻灯片图像占位符 361473">
            <a:extLst>
              <a:ext uri="{FF2B5EF4-FFF2-40B4-BE49-F238E27FC236}">
                <a16:creationId xmlns:a16="http://schemas.microsoft.com/office/drawing/2014/main" id="{EB1E5CFD-76F1-6D5D-E53D-39116922B49B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8546" name="文本占位符 361474">
            <a:extLst>
              <a:ext uri="{FF2B5EF4-FFF2-40B4-BE49-F238E27FC236}">
                <a16:creationId xmlns:a16="http://schemas.microsoft.com/office/drawing/2014/main" id="{1479E164-093A-92CE-E851-052C27321F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08547" name="灯片编号占位符 1">
            <a:extLst>
              <a:ext uri="{FF2B5EF4-FFF2-40B4-BE49-F238E27FC236}">
                <a16:creationId xmlns:a16="http://schemas.microsoft.com/office/drawing/2014/main" id="{8521F4AF-362E-9DB8-CCF0-60DFD5B63B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5B74BC-F469-4FCA-A99E-A9F8391BBD77}" type="slidenum">
              <a:rPr lang="zh-CN" altLang="en-US" sz="1200"/>
              <a:pPr/>
              <a:t>26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326657">
            <a:extLst>
              <a:ext uri="{FF2B5EF4-FFF2-40B4-BE49-F238E27FC236}">
                <a16:creationId xmlns:a16="http://schemas.microsoft.com/office/drawing/2014/main" id="{7F9A3AF0-41FC-4061-B268-296B42465D6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6499" name="文本占位符 326658">
            <a:extLst>
              <a:ext uri="{FF2B5EF4-FFF2-40B4-BE49-F238E27FC236}">
                <a16:creationId xmlns:a16="http://schemas.microsoft.com/office/drawing/2014/main" id="{77A9D827-4F17-4847-A991-B1B463787A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06500" name="灯片编号占位符 1">
            <a:extLst>
              <a:ext uri="{FF2B5EF4-FFF2-40B4-BE49-F238E27FC236}">
                <a16:creationId xmlns:a16="http://schemas.microsoft.com/office/drawing/2014/main" id="{3378A291-28E5-4FCB-851A-29294F560E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9107F0-B59B-4BB8-B492-87C464E414B0}" type="slidenum">
              <a:rPr lang="zh-CN" altLang="en-US" sz="1200"/>
              <a:pPr eaLnBrk="1" hangingPunct="1"/>
              <a:t>27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328705">
            <a:extLst>
              <a:ext uri="{FF2B5EF4-FFF2-40B4-BE49-F238E27FC236}">
                <a16:creationId xmlns:a16="http://schemas.microsoft.com/office/drawing/2014/main" id="{FA22187E-AEB3-0B03-45BD-A2E19DCBAEE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5" name="文本占位符 328706">
            <a:extLst>
              <a:ext uri="{FF2B5EF4-FFF2-40B4-BE49-F238E27FC236}">
                <a16:creationId xmlns:a16="http://schemas.microsoft.com/office/drawing/2014/main" id="{607B86A6-C738-04AB-3395-99EDE32646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  <p:sp>
        <p:nvSpPr>
          <p:cNvPr id="105476" name="灯片编号占位符 1">
            <a:extLst>
              <a:ext uri="{FF2B5EF4-FFF2-40B4-BE49-F238E27FC236}">
                <a16:creationId xmlns:a16="http://schemas.microsoft.com/office/drawing/2014/main" id="{5A26BADB-0560-8795-148E-7080544668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19232B-0FAE-424B-A755-4944A9CF232F}" type="slidenum">
              <a:rPr lang="zh-CN" altLang="en-US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328705">
            <a:extLst>
              <a:ext uri="{FF2B5EF4-FFF2-40B4-BE49-F238E27FC236}">
                <a16:creationId xmlns:a16="http://schemas.microsoft.com/office/drawing/2014/main" id="{FA22187E-AEB3-0B03-45BD-A2E19DCBAEE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5" name="文本占位符 328706">
            <a:extLst>
              <a:ext uri="{FF2B5EF4-FFF2-40B4-BE49-F238E27FC236}">
                <a16:creationId xmlns:a16="http://schemas.microsoft.com/office/drawing/2014/main" id="{607B86A6-C738-04AB-3395-99EDE32646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  <p:sp>
        <p:nvSpPr>
          <p:cNvPr id="105476" name="灯片编号占位符 1">
            <a:extLst>
              <a:ext uri="{FF2B5EF4-FFF2-40B4-BE49-F238E27FC236}">
                <a16:creationId xmlns:a16="http://schemas.microsoft.com/office/drawing/2014/main" id="{5A26BADB-0560-8795-148E-7080544668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19232B-0FAE-424B-A755-4944A9CF232F}" type="slidenum">
              <a:rPr lang="zh-CN" altLang="en-US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579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B1B803CD-BC13-4B05-BEC3-407AB7743F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5A6E86-4E15-477F-A58F-D54A2A15E714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3913C55-1289-4AF0-B38E-90E985F5DE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18BE1898-1B8B-44AA-911D-FAE26E5FC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707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001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572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880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480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017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8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052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864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265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99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5692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97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675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36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95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465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CD5CFA-AA34-45E6-A4C2-EA218DB69E16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E2128-CF52-42DA-B87F-862139648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470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D6096-9F9C-4D0C-83CE-9529050B3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总复习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638C3F-9979-4878-9E54-93353E068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449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58369">
            <a:extLst>
              <a:ext uri="{FF2B5EF4-FFF2-40B4-BE49-F238E27FC236}">
                <a16:creationId xmlns:a16="http://schemas.microsoft.com/office/drawing/2014/main" id="{A13A1913-32B8-4C4D-B02A-DE6C664A8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3612" y="333376"/>
            <a:ext cx="6849427" cy="41751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zh-CN" altLang="en-US" dirty="0"/>
              <a:t>第一章 命题逻辑的基本概念</a:t>
            </a:r>
          </a:p>
        </p:txBody>
      </p:sp>
      <p:sp>
        <p:nvSpPr>
          <p:cNvPr id="47107" name="文本占位符 58370">
            <a:extLst>
              <a:ext uri="{FF2B5EF4-FFF2-40B4-BE49-F238E27FC236}">
                <a16:creationId xmlns:a16="http://schemas.microsoft.com/office/drawing/2014/main" id="{55D33923-DB53-4614-8A24-497D675F7A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9289" y="1125538"/>
            <a:ext cx="9226231" cy="5399086"/>
          </a:xfrm>
        </p:spPr>
        <p:txBody>
          <a:bodyPr>
            <a:normAutofit/>
          </a:bodyPr>
          <a:lstStyle/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主要内容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命题、真值、简单命题与复合命题、命题符号化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联结词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zh-CN" altLang="en-US" dirty="0"/>
              <a:t>及复合命题符号化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命题公式及层次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公式的类型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真值表及应用</a:t>
            </a:r>
          </a:p>
          <a:p>
            <a:pPr marL="441325" indent="-441325">
              <a:spcBef>
                <a:spcPct val="40000"/>
              </a:spcBef>
              <a:tabLst>
                <a:tab pos="268288" algn="l"/>
              </a:tabLst>
            </a:pPr>
            <a:r>
              <a:rPr lang="zh-CN" altLang="en-US" dirty="0"/>
              <a:t>基本要求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深刻理解各联结词的逻辑关系</a:t>
            </a:r>
            <a:r>
              <a:rPr lang="en-US" altLang="zh-CN" dirty="0"/>
              <a:t>, </a:t>
            </a:r>
            <a:r>
              <a:rPr lang="zh-CN" altLang="en-US" dirty="0"/>
              <a:t>熟练地将命题符号化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会求复合命题的真值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深刻理解合式公式及重言式、矛盾式、可满足式等概念</a:t>
            </a:r>
          </a:p>
          <a:p>
            <a:pPr marL="441325" indent="-441325">
              <a:tabLst>
                <a:tab pos="268288" algn="l"/>
              </a:tabLst>
            </a:pPr>
            <a:r>
              <a:rPr lang="zh-CN" altLang="en-US" dirty="0"/>
              <a:t>熟练地求公式的真值表，并用它求公式的成真赋值与成假赋值及判断公式类型</a:t>
            </a:r>
          </a:p>
        </p:txBody>
      </p:sp>
      <p:sp>
        <p:nvSpPr>
          <p:cNvPr id="47108" name="灯片编号占位符 1">
            <a:extLst>
              <a:ext uri="{FF2B5EF4-FFF2-40B4-BE49-F238E27FC236}">
                <a16:creationId xmlns:a16="http://schemas.microsoft.com/office/drawing/2014/main" id="{A65C679C-08FA-4A48-930C-D90D8C9583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FD72BA-93CF-41E6-93E8-D21AF2128DC1}" type="slidenum">
              <a:rPr lang="zh-CN" altLang="en-US"/>
              <a:pPr eaLnBrk="1" hangingPunct="1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52008-4CED-5B1F-438C-7DBEF84D6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41790"/>
            <a:ext cx="5595439" cy="5806610"/>
          </a:xfrm>
        </p:spPr>
        <p:txBody>
          <a:bodyPr/>
          <a:lstStyle/>
          <a:p>
            <a:r>
              <a:rPr lang="zh-CN" altLang="en-US" dirty="0"/>
              <a:t>习题：命题符号化</a:t>
            </a:r>
            <a:endParaRPr lang="en-US" altLang="zh-CN" dirty="0"/>
          </a:p>
          <a:p>
            <a:pPr marL="508000" indent="-508000" eaLnBrk="1" hangingPunct="1"/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</a:rPr>
              <a:t>豆沙包是由面粉和红小豆做成的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(2) </a:t>
            </a:r>
            <a:r>
              <a:rPr lang="zh-CN" altLang="en-US" sz="2000" dirty="0">
                <a:latin typeface="Times New Roman" panose="02020603050405020304" pitchFamily="18" charset="0"/>
              </a:rPr>
              <a:t>苹果树和梨树都是落叶乔木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(3) </a:t>
            </a:r>
            <a:r>
              <a:rPr lang="zh-CN" altLang="en-US" sz="2000" dirty="0">
                <a:latin typeface="Times New Roman" panose="02020603050405020304" pitchFamily="18" charset="0"/>
              </a:rPr>
              <a:t>王小红或李大明是物理组成员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(4) </a:t>
            </a:r>
            <a:r>
              <a:rPr lang="zh-CN" altLang="en-US" sz="2000" dirty="0">
                <a:latin typeface="Times New Roman" panose="02020603050405020304" pitchFamily="18" charset="0"/>
              </a:rPr>
              <a:t>王小红或李大明中的一人是物理组成员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(5) </a:t>
            </a:r>
            <a:r>
              <a:rPr lang="zh-CN" altLang="en-US" sz="2000" dirty="0">
                <a:latin typeface="Times New Roman" panose="02020603050405020304" pitchFamily="18" charset="0"/>
              </a:rPr>
              <a:t>由于交通阻塞，他迟到了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(6) </a:t>
            </a:r>
            <a:r>
              <a:rPr lang="zh-CN" altLang="en-US" sz="2000" dirty="0">
                <a:latin typeface="Times New Roman" panose="02020603050405020304" pitchFamily="18" charset="0"/>
              </a:rPr>
              <a:t>如果交通不阻塞，他就不会迟到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(7) </a:t>
            </a:r>
            <a:r>
              <a:rPr lang="zh-CN" altLang="en-US" sz="2000" dirty="0">
                <a:latin typeface="Times New Roman" panose="02020603050405020304" pitchFamily="18" charset="0"/>
              </a:rPr>
              <a:t>他没迟到，所以交通没阻塞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(8) </a:t>
            </a:r>
            <a:r>
              <a:rPr lang="zh-CN" altLang="en-US" sz="2000" dirty="0">
                <a:latin typeface="Times New Roman" panose="02020603050405020304" pitchFamily="18" charset="0"/>
              </a:rPr>
              <a:t>除非交通阻塞，否则他不会迟到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</a:p>
          <a:p>
            <a:pPr marL="508000" indent="-508000" eaLnBrk="1" hangingPunct="1"/>
            <a:r>
              <a:rPr lang="en-US" altLang="zh-CN" sz="2000" dirty="0">
                <a:latin typeface="Times New Roman" panose="02020603050405020304" pitchFamily="18" charset="0"/>
              </a:rPr>
              <a:t>  (9) </a:t>
            </a:r>
            <a:r>
              <a:rPr lang="zh-CN" altLang="en-US" sz="2000" dirty="0">
                <a:latin typeface="Times New Roman" panose="02020603050405020304" pitchFamily="18" charset="0"/>
              </a:rPr>
              <a:t>他迟到当且仅当交通阻塞</a:t>
            </a:r>
            <a:r>
              <a:rPr lang="en-US" altLang="zh-CN" sz="2000" dirty="0">
                <a:latin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4" name="文本占位符 63490">
            <a:extLst>
              <a:ext uri="{FF2B5EF4-FFF2-40B4-BE49-F238E27FC236}">
                <a16:creationId xmlns:a16="http://schemas.microsoft.com/office/drawing/2014/main" id="{820709E1-2DFB-6F53-B9A3-5A8A4A8BD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999" y="355119"/>
            <a:ext cx="40878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1600" dirty="0"/>
              <a:t>提示：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1600" dirty="0"/>
              <a:t>分清复合命题与简单命题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1600" dirty="0"/>
              <a:t>分清相容或与排斥或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1600" dirty="0"/>
              <a:t>分清必要与充分条件及充分必要条件</a:t>
            </a:r>
          </a:p>
          <a:p>
            <a:pPr eaLnBrk="1" hangingPunct="1">
              <a:spcBef>
                <a:spcPct val="55000"/>
              </a:spcBef>
            </a:pPr>
            <a:r>
              <a:rPr lang="zh-CN" altLang="en-US" sz="1600" dirty="0"/>
              <a:t>答案</a:t>
            </a:r>
            <a:r>
              <a:rPr lang="en-US" altLang="zh-CN" sz="1600" dirty="0"/>
              <a:t>:   </a:t>
            </a:r>
            <a:r>
              <a:rPr lang="en-US" altLang="zh-CN" sz="1600" dirty="0">
                <a:latin typeface="Times New Roman" panose="02020603050405020304" pitchFamily="18" charset="0"/>
              </a:rPr>
              <a:t>(1) </a:t>
            </a:r>
            <a:r>
              <a:rPr lang="zh-CN" altLang="en-US" sz="1600" dirty="0">
                <a:latin typeface="Times New Roman" panose="02020603050405020304" pitchFamily="18" charset="0"/>
              </a:rPr>
              <a:t>是简单命题                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5000"/>
              </a:spcBef>
            </a:pPr>
            <a:r>
              <a:rPr lang="zh-CN" altLang="en-US" sz="16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1600" dirty="0">
                <a:latin typeface="Times New Roman" panose="02020603050405020304" pitchFamily="18" charset="0"/>
              </a:rPr>
              <a:t>(2) </a:t>
            </a:r>
            <a:r>
              <a:rPr lang="zh-CN" altLang="en-US" sz="1600" dirty="0">
                <a:latin typeface="Times New Roman" panose="02020603050405020304" pitchFamily="18" charset="0"/>
              </a:rPr>
              <a:t>是合取式  </a:t>
            </a:r>
          </a:p>
          <a:p>
            <a:pPr eaLnBrk="1" hangingPunct="1"/>
            <a:r>
              <a:rPr lang="zh-CN" altLang="en-US" sz="16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1600" dirty="0">
                <a:latin typeface="Times New Roman" panose="02020603050405020304" pitchFamily="18" charset="0"/>
              </a:rPr>
              <a:t>(3) </a:t>
            </a:r>
            <a:r>
              <a:rPr lang="zh-CN" altLang="en-US" sz="1600" dirty="0">
                <a:latin typeface="Times New Roman" panose="02020603050405020304" pitchFamily="18" charset="0"/>
              </a:rPr>
              <a:t>是析取式（相容或）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</a:rPr>
              <a:t>            (4) </a:t>
            </a:r>
            <a:r>
              <a:rPr lang="zh-CN" altLang="en-US" sz="1600" dirty="0">
                <a:latin typeface="Times New Roman" panose="02020603050405020304" pitchFamily="18" charset="0"/>
              </a:rPr>
              <a:t>是析取式（排斥或）</a:t>
            </a:r>
          </a:p>
          <a:p>
            <a:pPr eaLnBrk="1" hangingPunct="1"/>
            <a:r>
              <a:rPr lang="zh-CN" altLang="en-US" sz="1600" dirty="0">
                <a:latin typeface="Times New Roman" panose="02020603050405020304" pitchFamily="18" charset="0"/>
              </a:rPr>
              <a:t>设 </a:t>
            </a:r>
            <a:r>
              <a:rPr lang="en-US" altLang="zh-CN" sz="1600" i="1" dirty="0">
                <a:latin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Times New Roman" panose="02020603050405020304" pitchFamily="18" charset="0"/>
              </a:rPr>
              <a:t>交通阻塞，</a:t>
            </a:r>
            <a:r>
              <a:rPr lang="en-US" altLang="zh-CN" sz="1600" i="1" dirty="0">
                <a:latin typeface="Times New Roman" panose="02020603050405020304" pitchFamily="18" charset="0"/>
              </a:rPr>
              <a:t>q</a:t>
            </a:r>
            <a:r>
              <a:rPr lang="en-US" altLang="zh-CN" sz="1600" dirty="0">
                <a:latin typeface="Times New Roman" panose="02020603050405020304" pitchFamily="18" charset="0"/>
              </a:rPr>
              <a:t>: </a:t>
            </a:r>
            <a:r>
              <a:rPr lang="zh-CN" altLang="en-US" sz="1600" dirty="0">
                <a:latin typeface="Times New Roman" panose="02020603050405020304" pitchFamily="18" charset="0"/>
              </a:rPr>
              <a:t>他迟到</a:t>
            </a:r>
            <a:endParaRPr lang="zh-CN" altLang="en-US" sz="1600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16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1600" dirty="0">
                <a:latin typeface="Times New Roman" panose="02020603050405020304" pitchFamily="18" charset="0"/>
              </a:rPr>
              <a:t>(5)  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16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1600" i="1" dirty="0">
                <a:latin typeface="Times New Roman" panose="02020603050405020304" pitchFamily="18" charset="0"/>
              </a:rPr>
              <a:t>,                            </a:t>
            </a: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</a:rPr>
              <a:t>             (6) 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1600" i="1" dirty="0">
                <a:latin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1600" i="1" dirty="0">
                <a:latin typeface="Times New Roman" panose="02020603050405020304" pitchFamily="18" charset="0"/>
              </a:rPr>
              <a:t>q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1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p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</a:rPr>
              <a:t>             (7)  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1600" i="1" dirty="0">
                <a:latin typeface="Times New Roman" panose="02020603050405020304" pitchFamily="18" charset="0"/>
              </a:rPr>
              <a:t>q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1600" i="1" dirty="0">
                <a:latin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1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1600" dirty="0">
                <a:latin typeface="Times New Roman" panose="02020603050405020304" pitchFamily="18" charset="0"/>
              </a:rPr>
              <a:t>,       </a:t>
            </a: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</a:rPr>
              <a:t>             (8) 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1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p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1600" i="1" dirty="0">
                <a:latin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1600" i="1" dirty="0">
                <a:latin typeface="Times New Roman" panose="02020603050405020304" pitchFamily="18" charset="0"/>
              </a:rPr>
              <a:t>q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</a:rPr>
              <a:t>             (9)  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1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1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1600" i="1" dirty="0">
                <a:latin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</a:t>
            </a:r>
            <a:r>
              <a:rPr lang="en-US" altLang="zh-CN" sz="1600" i="1" dirty="0">
                <a:latin typeface="Times New Roman" panose="02020603050405020304" pitchFamily="18" charset="0"/>
              </a:rPr>
              <a:t>q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1600" dirty="0">
                <a:latin typeface="Times New Roman" panose="02020603050405020304" pitchFamily="18" charset="0"/>
              </a:rPr>
              <a:t>可见</a:t>
            </a:r>
            <a:r>
              <a:rPr lang="en-US" altLang="zh-CN" sz="1600" dirty="0">
                <a:latin typeface="Times New Roman" panose="02020603050405020304" pitchFamily="18" charset="0"/>
              </a:rPr>
              <a:t>(5)</a:t>
            </a:r>
            <a:r>
              <a:rPr lang="zh-CN" altLang="en-US" sz="1600" dirty="0">
                <a:latin typeface="Times New Roman" panose="02020603050405020304" pitchFamily="18" charset="0"/>
              </a:rPr>
              <a:t>与</a:t>
            </a:r>
            <a:r>
              <a:rPr lang="en-US" altLang="zh-CN" sz="1600" dirty="0">
                <a:latin typeface="Times New Roman" panose="02020603050405020304" pitchFamily="18" charset="0"/>
              </a:rPr>
              <a:t>(7)</a:t>
            </a:r>
            <a:r>
              <a:rPr lang="zh-CN" altLang="en-US" sz="1600" dirty="0">
                <a:latin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</a:rPr>
              <a:t>(6)</a:t>
            </a:r>
            <a:r>
              <a:rPr lang="zh-CN" altLang="en-US" sz="1600" dirty="0">
                <a:latin typeface="Times New Roman" panose="02020603050405020304" pitchFamily="18" charset="0"/>
              </a:rPr>
              <a:t>与</a:t>
            </a:r>
            <a:r>
              <a:rPr lang="en-US" altLang="zh-CN" sz="1600" dirty="0">
                <a:latin typeface="Times New Roman" panose="02020603050405020304" pitchFamily="18" charset="0"/>
              </a:rPr>
              <a:t>(8) </a:t>
            </a:r>
            <a:r>
              <a:rPr lang="zh-CN" altLang="en-US" sz="1600" dirty="0">
                <a:latin typeface="Times New Roman" panose="02020603050405020304" pitchFamily="18" charset="0"/>
              </a:rPr>
              <a:t>相同（等值）</a:t>
            </a:r>
          </a:p>
        </p:txBody>
      </p:sp>
    </p:spTree>
    <p:extLst>
      <p:ext uri="{BB962C8B-B14F-4D97-AF65-F5344CB8AC3E}">
        <p14:creationId xmlns:p14="http://schemas.microsoft.com/office/powerpoint/2010/main" val="105498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65889">
            <a:extLst>
              <a:ext uri="{FF2B5EF4-FFF2-40B4-BE49-F238E27FC236}">
                <a16:creationId xmlns:a16="http://schemas.microsoft.com/office/drawing/2014/main" id="{C617D7BC-5CF9-4B1B-B806-3438E73E2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431" y="198718"/>
            <a:ext cx="9404723" cy="140053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第二章 命题逻辑的等值演算</a:t>
            </a:r>
          </a:p>
        </p:txBody>
      </p:sp>
      <p:sp>
        <p:nvSpPr>
          <p:cNvPr id="58371" name="文本占位符 165890">
            <a:extLst>
              <a:ext uri="{FF2B5EF4-FFF2-40B4-BE49-F238E27FC236}">
                <a16:creationId xmlns:a16="http://schemas.microsoft.com/office/drawing/2014/main" id="{B7837CC1-DAC8-468B-9829-684CF5F29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1697" y="1385887"/>
            <a:ext cx="8820150" cy="5472113"/>
          </a:xfrm>
        </p:spPr>
        <p:txBody>
          <a:bodyPr>
            <a:normAutofit lnSpcReduction="10000"/>
          </a:bodyPr>
          <a:lstStyle/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深刻理解等值式的概念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牢记基本等值式的名称及它们的内容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熟练地应用基本等值式及置换规则进行等值演算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理解文字、简单析取式、简单合取式、析取范式、合取范式的概念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深刻理解极小项、极大项的概念、名称及下角标与成真、成假赋值的关系，并理解简单析取式与极小项的关系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熟练掌握求主范式的方法（等值演算、真值表等）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会用主范式求公式的成真赋值、成假赋值、判断公式的类型、判断两个公式是否等值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会将公式等值地化成指定联结词完备集中的公式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会用命题逻辑的概念及运算解决简单的应用问题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掌握消解规则及其性质</a:t>
            </a:r>
          </a:p>
          <a:p>
            <a:pPr marL="725488" lvl="1" indent="-365125">
              <a:spcBef>
                <a:spcPct val="1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宋体" panose="02010600030101010101" pitchFamily="2" charset="-122"/>
              </a:rPr>
              <a:t>会用消解算法判断公式的可满足性</a:t>
            </a:r>
          </a:p>
        </p:txBody>
      </p:sp>
      <p:sp>
        <p:nvSpPr>
          <p:cNvPr id="58372" name="灯片编号占位符 1">
            <a:extLst>
              <a:ext uri="{FF2B5EF4-FFF2-40B4-BE49-F238E27FC236}">
                <a16:creationId xmlns:a16="http://schemas.microsoft.com/office/drawing/2014/main" id="{4904CBD4-EBB5-4423-A846-DF02B7C2C4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A2AB0C-43E7-4D1B-BCC3-E8A1B346684B}" type="slidenum">
              <a:rPr lang="zh-CN" altLang="en-US" sz="1400"/>
              <a:pPr eaLnBrk="1" hangingPunct="1"/>
              <a:t>4</a:t>
            </a:fld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文本占位符 180226">
            <a:extLst>
              <a:ext uri="{FF2B5EF4-FFF2-40B4-BE49-F238E27FC236}">
                <a16:creationId xmlns:a16="http://schemas.microsoft.com/office/drawing/2014/main" id="{0D5FFF8E-E2E6-C061-5C10-29B1EB3FE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1261" y="544531"/>
            <a:ext cx="9220652" cy="2597134"/>
          </a:xfrm>
        </p:spPr>
        <p:txBody>
          <a:bodyPr>
            <a:normAutofit/>
          </a:bodyPr>
          <a:lstStyle/>
          <a:p>
            <a:pPr marL="533400" indent="-533400">
              <a:lnSpc>
                <a:spcPct val="11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．已知命题公式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中含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个命题变项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，并知道它的成真赋值为</a:t>
            </a:r>
            <a:r>
              <a:rPr lang="en-US" altLang="zh-CN" sz="2800" dirty="0">
                <a:latin typeface="Times New Roman" panose="02020603050405020304" pitchFamily="18" charset="0"/>
              </a:rPr>
              <a:t>001, 010, 111, </a:t>
            </a:r>
            <a:r>
              <a:rPr lang="zh-CN" altLang="en-US" sz="2800" dirty="0">
                <a:latin typeface="Times New Roman" panose="02020603050405020304" pitchFamily="18" charset="0"/>
              </a:rPr>
              <a:t>求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的主析取范式和主合取范式，及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对应的真值函数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80229" name="矩形 180228">
            <a:extLst>
              <a:ext uri="{FF2B5EF4-FFF2-40B4-BE49-F238E27FC236}">
                <a16:creationId xmlns:a16="http://schemas.microsoft.com/office/drawing/2014/main" id="{5ECC9472-901E-07BD-D446-C0D22921A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2636838"/>
            <a:ext cx="51847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 A</a:t>
            </a:r>
            <a:r>
              <a:rPr lang="zh-CN" altLang="en-US" b="1" dirty="0">
                <a:latin typeface="Times New Roman" panose="02020603050405020304" pitchFamily="18" charset="0"/>
              </a:rPr>
              <a:t>的主析取范式为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7</a:t>
            </a:r>
            <a:endParaRPr lang="en-US" altLang="zh-CN" b="1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0230" name="矩形 180229">
            <a:extLst>
              <a:ext uri="{FF2B5EF4-FFF2-40B4-BE49-F238E27FC236}">
                <a16:creationId xmlns:a16="http://schemas.microsoft.com/office/drawing/2014/main" id="{2DC07649-ACA0-ADC7-5CB9-FC3CB073F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213100"/>
            <a:ext cx="59769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的主合取范式为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6   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80239" name="组合 180238">
            <a:extLst>
              <a:ext uri="{FF2B5EF4-FFF2-40B4-BE49-F238E27FC236}">
                <a16:creationId xmlns:a16="http://schemas.microsoft.com/office/drawing/2014/main" id="{4CAE1C7E-4BD6-B577-077B-4D81143B48CA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3860800"/>
            <a:ext cx="4176712" cy="2376488"/>
            <a:chOff x="703" y="2432"/>
            <a:chExt cx="2631" cy="1497"/>
          </a:xfrm>
        </p:grpSpPr>
        <p:sp>
          <p:nvSpPr>
            <p:cNvPr id="64520" name="矩形 180230">
              <a:extLst>
                <a:ext uri="{FF2B5EF4-FFF2-40B4-BE49-F238E27FC236}">
                  <a16:creationId xmlns:a16="http://schemas.microsoft.com/office/drawing/2014/main" id="{FE6D77D5-B094-1D5A-A530-C794B6E45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432"/>
              <a:ext cx="2586" cy="1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533400" indent="-5334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None/>
              </a:pPr>
              <a:r>
                <a:rPr lang="en-US" altLang="zh-CN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q r       F          p</a:t>
              </a:r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q r       F</a:t>
              </a:r>
            </a:p>
            <a:p>
              <a:pPr eaLnBrk="1" hangingPunct="1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0 0 0        0         1 0 0        0</a:t>
              </a:r>
            </a:p>
            <a:p>
              <a:pPr eaLnBrk="1" hangingPunct="1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0 0 1        1         1 0 1        0</a:t>
              </a:r>
            </a:p>
            <a:p>
              <a:pPr eaLnBrk="1" hangingPunct="1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0 1 0        1         1 1 0        0</a:t>
              </a:r>
            </a:p>
            <a:p>
              <a:pPr eaLnBrk="1" hangingPunct="1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0 1 1        0         1 1 1        1</a:t>
              </a:r>
            </a:p>
            <a:p>
              <a:pPr eaLnBrk="1" hangingPunct="1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None/>
              </a:pP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4521" name="直接连接符 180231">
              <a:extLst>
                <a:ext uri="{FF2B5EF4-FFF2-40B4-BE49-F238E27FC236}">
                  <a16:creationId xmlns:a16="http://schemas.microsoft.com/office/drawing/2014/main" id="{2A908D99-E6DA-6235-77F9-BA411624F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432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2" name="直接连接符 180232">
              <a:extLst>
                <a:ext uri="{FF2B5EF4-FFF2-40B4-BE49-F238E27FC236}">
                  <a16:creationId xmlns:a16="http://schemas.microsoft.com/office/drawing/2014/main" id="{3DC18EDE-F7A0-19FC-D501-8259D7258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750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3" name="直接连接符 180233">
              <a:extLst>
                <a:ext uri="{FF2B5EF4-FFF2-40B4-BE49-F238E27FC236}">
                  <a16:creationId xmlns:a16="http://schemas.microsoft.com/office/drawing/2014/main" id="{30536E84-D6E3-4470-9003-5C9FD77A4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838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4" name="直接连接符 180234">
              <a:extLst>
                <a:ext uri="{FF2B5EF4-FFF2-40B4-BE49-F238E27FC236}">
                  <a16:creationId xmlns:a16="http://schemas.microsoft.com/office/drawing/2014/main" id="{15EAE25E-F676-B8A8-B901-89AE8D590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432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5" name="直接连接符 180235">
              <a:extLst>
                <a:ext uri="{FF2B5EF4-FFF2-40B4-BE49-F238E27FC236}">
                  <a16:creationId xmlns:a16="http://schemas.microsoft.com/office/drawing/2014/main" id="{0909E8DC-743F-3A2D-D922-8CDC727EA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432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6" name="直接连接符 180236">
              <a:extLst>
                <a:ext uri="{FF2B5EF4-FFF2-40B4-BE49-F238E27FC236}">
                  <a16:creationId xmlns:a16="http://schemas.microsoft.com/office/drawing/2014/main" id="{02C28D8D-9508-E6BE-0DD3-68F693B5B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2" y="2432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7" name="直接连接符 180237">
              <a:extLst>
                <a:ext uri="{FF2B5EF4-FFF2-40B4-BE49-F238E27FC236}">
                  <a16:creationId xmlns:a16="http://schemas.microsoft.com/office/drawing/2014/main" id="{162F3A86-DB35-B269-A01C-403D35BE8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2432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19" name="灯片编号占位符 1">
            <a:extLst>
              <a:ext uri="{FF2B5EF4-FFF2-40B4-BE49-F238E27FC236}">
                <a16:creationId xmlns:a16="http://schemas.microsoft.com/office/drawing/2014/main" id="{3C1FB4A5-AF33-9138-B207-7D8766A735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E90612-6582-4622-96C7-1D4CC92D8339}" type="slidenum">
              <a:rPr lang="zh-CN" altLang="en-US" sz="1400"/>
              <a:pPr eaLnBrk="1" hangingPunct="1"/>
              <a:t>5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8200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/>
      <p:bldP spid="180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4EAD3E-827B-B874-CFE0-3A65E6DAB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578" y="452064"/>
            <a:ext cx="9166275" cy="5796336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求公式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=(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的主析取范式和主合取范式</a:t>
            </a:r>
            <a:r>
              <a:rPr lang="en-US" altLang="zh-CN" sz="2800" dirty="0">
                <a:latin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</a:rPr>
              <a:t>并判断其公式类型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73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253953">
            <a:extLst>
              <a:ext uri="{FF2B5EF4-FFF2-40B4-BE49-F238E27FC236}">
                <a16:creationId xmlns:a16="http://schemas.microsoft.com/office/drawing/2014/main" id="{46D4CFDC-DB58-4028-BD50-F54CCD564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第三章 命题逻辑的推理理论</a:t>
            </a:r>
          </a:p>
        </p:txBody>
      </p:sp>
      <p:sp>
        <p:nvSpPr>
          <p:cNvPr id="20483" name="文本占位符 253954">
            <a:extLst>
              <a:ext uri="{FF2B5EF4-FFF2-40B4-BE49-F238E27FC236}">
                <a16:creationId xmlns:a16="http://schemas.microsoft.com/office/drawing/2014/main" id="{D02693B2-753B-42B8-B67B-B220FC7884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63750" y="1052514"/>
            <a:ext cx="8229600" cy="5329237"/>
          </a:xfrm>
        </p:spPr>
        <p:txBody>
          <a:bodyPr/>
          <a:lstStyle/>
          <a:p>
            <a:pPr marL="457200" indent="-457200"/>
            <a:r>
              <a:rPr lang="zh-CN" altLang="en-US" dirty="0"/>
              <a:t>主要内容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推理的形式结构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判断推理是否正确的方法</a:t>
            </a:r>
          </a:p>
          <a:p>
            <a:pPr marL="457200" indent="-457200"/>
            <a:r>
              <a:rPr lang="zh-CN" altLang="en-US" dirty="0"/>
              <a:t>     真值表法  </a:t>
            </a:r>
          </a:p>
          <a:p>
            <a:pPr marL="457200" indent="-457200"/>
            <a:r>
              <a:rPr lang="zh-CN" altLang="en-US" dirty="0"/>
              <a:t>     等值演算法</a:t>
            </a:r>
          </a:p>
          <a:p>
            <a:pPr marL="457200" indent="-457200"/>
            <a:r>
              <a:rPr lang="zh-CN" altLang="en-US" dirty="0"/>
              <a:t>     主析取范式法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推理定律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自然推理系统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构造推理证明的方法</a:t>
            </a:r>
          </a:p>
          <a:p>
            <a:pPr marL="457200" indent="-457200"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      直接证明法</a:t>
            </a:r>
          </a:p>
          <a:p>
            <a:pPr marL="457200" indent="-457200"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       附加前提证明法</a:t>
            </a:r>
          </a:p>
          <a:p>
            <a:pPr marL="457200" indent="-457200"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       归谬法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反证法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0484" name="灯片编号占位符 1">
            <a:extLst>
              <a:ext uri="{FF2B5EF4-FFF2-40B4-BE49-F238E27FC236}">
                <a16:creationId xmlns:a16="http://schemas.microsoft.com/office/drawing/2014/main" id="{9E2A5ADD-1277-41DF-8DC4-90ECE77CE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E96A5E-6F73-4F62-8D3B-4C4DD14D194E}" type="slidenum">
              <a:rPr lang="zh-CN" altLang="en-US" sz="1400"/>
              <a:pPr eaLnBrk="1" hangingPunct="1"/>
              <a:t>7</a:t>
            </a:fld>
            <a:endParaRPr lang="zh-CN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215041">
            <a:extLst>
              <a:ext uri="{FF2B5EF4-FFF2-40B4-BE49-F238E27FC236}">
                <a16:creationId xmlns:a16="http://schemas.microsoft.com/office/drawing/2014/main" id="{99C7A9E6-440E-9E42-B7E4-0E52BCD3B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推理定律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/>
              <a:t>重言蕴涵式</a:t>
            </a:r>
          </a:p>
        </p:txBody>
      </p:sp>
      <p:sp>
        <p:nvSpPr>
          <p:cNvPr id="8195" name="文本占位符 215042">
            <a:extLst>
              <a:ext uri="{FF2B5EF4-FFF2-40B4-BE49-F238E27FC236}">
                <a16:creationId xmlns:a16="http://schemas.microsoft.com/office/drawing/2014/main" id="{67D110A3-440C-1E2B-866E-3ABB403499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47851" y="1125538"/>
            <a:ext cx="8435975" cy="5327650"/>
          </a:xfrm>
        </p:spPr>
        <p:txBody>
          <a:bodyPr/>
          <a:lstStyle/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1.</a:t>
            </a:r>
            <a:r>
              <a:rPr lang="en-US" altLang="zh-CN" i="1">
                <a:latin typeface="Times New Roman" panose="02020603050405020304" pitchFamily="18" charset="0"/>
              </a:rPr>
              <a:t>   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      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附加律 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2.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化简律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3.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假言推理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4.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拒取式    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5.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析取三段论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6.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                         </a:t>
            </a:r>
            <a:r>
              <a:rPr lang="zh-CN" altLang="en-US">
                <a:latin typeface="Times New Roman" panose="02020603050405020304" pitchFamily="18" charset="0"/>
              </a:rPr>
              <a:t>假言三段论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7.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                        </a:t>
            </a:r>
            <a:r>
              <a:rPr lang="zh-CN" altLang="en-US">
                <a:latin typeface="Times New Roman" panose="02020603050405020304" pitchFamily="18" charset="0"/>
              </a:rPr>
              <a:t>等价三段论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8.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              </a:t>
            </a:r>
            <a:r>
              <a:rPr lang="zh-CN" altLang="en-US">
                <a:latin typeface="Times New Roman" panose="02020603050405020304" pitchFamily="18" charset="0"/>
              </a:rPr>
              <a:t>构造性二难</a:t>
            </a:r>
          </a:p>
          <a:p>
            <a:pPr marL="990600" indent="-990600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              </a:t>
            </a:r>
            <a:r>
              <a:rPr lang="en-US" altLang="zh-CN">
                <a:latin typeface="Times New Roman" panose="02020603050405020304" pitchFamily="18" charset="0"/>
              </a:rPr>
              <a:t>           </a:t>
            </a:r>
            <a:r>
              <a:rPr lang="zh-CN" altLang="en-US">
                <a:latin typeface="Times New Roman" panose="02020603050405020304" pitchFamily="18" charset="0"/>
              </a:rPr>
              <a:t>构造性二难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特殊形式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marL="990600" indent="-990600"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9.   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)   </a:t>
            </a:r>
            <a:r>
              <a:rPr lang="zh-CN" altLang="en-US">
                <a:latin typeface="Times New Roman" panose="02020603050405020304" pitchFamily="18" charset="0"/>
              </a:rPr>
              <a:t>破坏性二难</a:t>
            </a:r>
          </a:p>
          <a:p>
            <a:pPr marL="990600" indent="-990600">
              <a:spcBef>
                <a:spcPct val="10000"/>
              </a:spcBef>
            </a:pPr>
            <a:endParaRPr lang="zh-CN" altLang="en-US">
              <a:latin typeface="Times New Roman" panose="02020603050405020304" pitchFamily="18" charset="0"/>
            </a:endParaRPr>
          </a:p>
          <a:p>
            <a:pPr marL="990600" indent="-990600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每个等值式可产生两个推理定律</a:t>
            </a:r>
          </a:p>
          <a:p>
            <a:pPr marL="990600" indent="-990600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如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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可产生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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8196" name="灯片编号占位符 1">
            <a:extLst>
              <a:ext uri="{FF2B5EF4-FFF2-40B4-BE49-F238E27FC236}">
                <a16:creationId xmlns:a16="http://schemas.microsoft.com/office/drawing/2014/main" id="{68BD8393-B34F-8891-4DFF-17529C805C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BE0963-6438-48B3-9E79-98C042CC12AC}" type="slidenum">
              <a:rPr lang="zh-CN" altLang="en-US" sz="1400"/>
              <a:pPr eaLnBrk="1" hangingPunct="1"/>
              <a:t>8</a:t>
            </a:fld>
            <a:endParaRPr lang="zh-CN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F6C0C-AF96-84B2-C8A7-FA86AC59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34" y="154112"/>
            <a:ext cx="9546419" cy="6094287"/>
          </a:xfrm>
        </p:spPr>
        <p:txBody>
          <a:bodyPr>
            <a:normAutofit fontScale="92500" lnSpcReduction="10000"/>
          </a:bodyPr>
          <a:lstStyle/>
          <a:p>
            <a:pPr marL="0" indent="0" defTabSz="898525" eaLnBrk="1" hangingPunct="1"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defTabSz="898525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习题：若明天是星期一或星期三，我明天就有课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若我明天有课，今天必备课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我今天没备课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所以，明天不是星期一、也不是星期三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1158875" indent="-1158875" defTabSz="898525" eaLnBrk="1" hangingPunct="1">
              <a:spcBef>
                <a:spcPct val="5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解   </a:t>
            </a: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设命题并符号化 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设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</a:rPr>
              <a:t>：明天是星期一，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：明天是星期三，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    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：我明天有课，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：我今天备课</a:t>
            </a:r>
          </a:p>
          <a:p>
            <a:pPr marL="1158875" indent="-1158875" defTabSz="898525"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写出证明的形式结构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前提：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1158875" indent="-1158875" defTabSz="898525" eaLnBrk="1" hangingPunct="1"/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</a:p>
          <a:p>
            <a:pPr marL="1158875" indent="-1158875" defTabSz="898525"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证明</a:t>
            </a:r>
          </a:p>
          <a:p>
            <a:pPr marL="1158875" indent="-1158875" defTabSz="898525" eaLnBrk="1" hangingPunct="1"/>
            <a:r>
              <a:rPr lang="zh-CN" altLang="en-US" dirty="0"/>
              <a:t>     </a:t>
            </a:r>
            <a:r>
              <a:rPr lang="en-US" altLang="zh-CN" dirty="0">
                <a:latin typeface="Times New Roman" panose="02020603050405020304" pitchFamily="18" charset="0"/>
              </a:rPr>
              <a:t>①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②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③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                 ①②</a:t>
            </a:r>
            <a:r>
              <a:rPr lang="zh-CN" altLang="en-US" dirty="0">
                <a:latin typeface="Times New Roman" panose="02020603050405020304" pitchFamily="18" charset="0"/>
              </a:rPr>
              <a:t>拒取式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④ 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⑤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         ③④</a:t>
            </a:r>
            <a:r>
              <a:rPr lang="zh-CN" altLang="en-US" dirty="0">
                <a:latin typeface="Times New Roman" panose="02020603050405020304" pitchFamily="18" charset="0"/>
              </a:rPr>
              <a:t>拒取式 </a:t>
            </a:r>
          </a:p>
          <a:p>
            <a:pPr marL="1158875" indent="-1158875" defTabSz="898525" eaLnBrk="1" hangingPunct="1"/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⑥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           ⑤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defTabSz="898525" eaLnBrk="1" hangingPunct="1"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05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311297">
            <a:extLst>
              <a:ext uri="{FF2B5EF4-FFF2-40B4-BE49-F238E27FC236}">
                <a16:creationId xmlns:a16="http://schemas.microsoft.com/office/drawing/2014/main" id="{67884531-EB1B-4F05-86D9-974188AF6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第四章 一阶逻辑的基本概念</a:t>
            </a:r>
          </a:p>
        </p:txBody>
      </p:sp>
      <p:sp>
        <p:nvSpPr>
          <p:cNvPr id="26627" name="文本占位符 311298">
            <a:extLst>
              <a:ext uri="{FF2B5EF4-FFF2-40B4-BE49-F238E27FC236}">
                <a16:creationId xmlns:a16="http://schemas.microsoft.com/office/drawing/2014/main" id="{D4E8A1F7-99FD-4EF2-9B37-F1A7CD39B2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个体词、谓词、量词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一阶逻辑命题符号化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>
                <a:latin typeface="Lucida Sans Unicode" panose="020B0602030504020204" pitchFamily="34" charset="0"/>
              </a:rPr>
              <a:t>一阶语言</a:t>
            </a:r>
            <a:r>
              <a:rPr lang="en-US" altLang="zh-CN" dirty="0">
                <a:latin typeface="Palace Script MT" panose="030303020206070C0B05" pitchFamily="66" charset="0"/>
              </a:rPr>
              <a:t>L</a:t>
            </a:r>
          </a:p>
          <a:p>
            <a:pPr eaLnBrk="1" hangingPunct="1">
              <a:buClr>
                <a:srgbClr val="FF9900"/>
              </a:buClr>
            </a:pPr>
            <a:r>
              <a:rPr lang="en-US" altLang="zh-CN" i="1" dirty="0">
                <a:latin typeface="Lucida Sans Unicode" panose="020B0602030504020204" pitchFamily="34" charset="0"/>
              </a:rPr>
              <a:t>   </a:t>
            </a:r>
            <a:r>
              <a:rPr lang="zh-CN" altLang="en-US" dirty="0">
                <a:latin typeface="Lucida Sans Unicode" panose="020B0602030504020204" pitchFamily="34" charset="0"/>
              </a:rPr>
              <a:t>项、原子公式、</a:t>
            </a:r>
            <a:r>
              <a:rPr lang="zh-CN" altLang="en-US" dirty="0"/>
              <a:t>合式公式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公式的解释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 dirty="0"/>
              <a:t>     量词的辖域、指导变元、个体变项的自由出现与约束出现、闭式、解释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公式的类型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 dirty="0"/>
              <a:t>     永真式</a:t>
            </a:r>
            <a:r>
              <a:rPr lang="en-US" altLang="zh-CN" dirty="0"/>
              <a:t>(</a:t>
            </a:r>
            <a:r>
              <a:rPr lang="zh-CN" altLang="en-US" dirty="0"/>
              <a:t>逻辑有效式</a:t>
            </a:r>
            <a:r>
              <a:rPr lang="en-US" altLang="zh-CN" dirty="0"/>
              <a:t>)</a:t>
            </a:r>
            <a:r>
              <a:rPr lang="zh-CN" altLang="en-US" dirty="0"/>
              <a:t>、矛盾式</a:t>
            </a:r>
            <a:r>
              <a:rPr lang="en-US" altLang="zh-CN" dirty="0"/>
              <a:t>(</a:t>
            </a:r>
            <a:r>
              <a:rPr lang="zh-CN" altLang="en-US" dirty="0"/>
              <a:t>永假式</a:t>
            </a:r>
            <a:r>
              <a:rPr lang="en-US" altLang="zh-CN" dirty="0"/>
              <a:t>)</a:t>
            </a:r>
            <a:r>
              <a:rPr lang="zh-CN" altLang="en-US" dirty="0"/>
              <a:t>、可满足式</a:t>
            </a:r>
          </a:p>
        </p:txBody>
      </p:sp>
      <p:sp>
        <p:nvSpPr>
          <p:cNvPr id="26628" name="灯片编号占位符 1">
            <a:extLst>
              <a:ext uri="{FF2B5EF4-FFF2-40B4-BE49-F238E27FC236}">
                <a16:creationId xmlns:a16="http://schemas.microsoft.com/office/drawing/2014/main" id="{D1108BC0-3A2E-4298-A7EC-129541ACC9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A0BCCA-18FD-40E5-918B-C585570E14DE}" type="slidenum">
              <a:rPr lang="zh-CN" altLang="en-US" sz="1400"/>
              <a:pPr eaLnBrk="1" hangingPunct="1"/>
              <a:t>10</a:t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CD2EB-6AC8-98E0-6BEF-978C314B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24" y="606176"/>
            <a:ext cx="9423129" cy="5642224"/>
          </a:xfrm>
        </p:spPr>
        <p:txBody>
          <a:bodyPr/>
          <a:lstStyle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、表示性质使用一元谓词，表示关系使用二元谓词</a:t>
            </a: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、多个量词出现时，量词不能随意调换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、命题的符号化形式不唯一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、对于</a:t>
            </a:r>
            <a:r>
              <a:rPr lang="en-US" altLang="zh-CN" dirty="0"/>
              <a:t>D</a:t>
            </a:r>
            <a:r>
              <a:rPr lang="zh-CN" altLang="en-US" dirty="0"/>
              <a:t>中所有的</a:t>
            </a:r>
            <a:r>
              <a:rPr lang="en-US" altLang="zh-CN" dirty="0"/>
              <a:t>x</a:t>
            </a:r>
            <a:r>
              <a:rPr lang="zh-CN" altLang="en-US" dirty="0"/>
              <a:t>，若</a:t>
            </a:r>
            <a:r>
              <a:rPr lang="en-US" altLang="zh-CN" dirty="0"/>
              <a:t>x</a:t>
            </a:r>
            <a:r>
              <a:rPr lang="zh-CN" altLang="en-US" dirty="0"/>
              <a:t>具有性质</a:t>
            </a:r>
            <a:r>
              <a:rPr lang="en-US" altLang="zh-CN" dirty="0"/>
              <a:t>F</a:t>
            </a:r>
            <a:r>
              <a:rPr lang="zh-CN" altLang="en-US" dirty="0"/>
              <a:t>，就存在</a:t>
            </a:r>
            <a:r>
              <a:rPr lang="en-US" altLang="zh-CN" dirty="0"/>
              <a:t>y</a:t>
            </a:r>
            <a:r>
              <a:rPr lang="zh-CN" altLang="en-US" dirty="0"/>
              <a:t>有性质</a:t>
            </a:r>
            <a:r>
              <a:rPr lang="en-US" altLang="zh-CN" dirty="0"/>
              <a:t>G</a:t>
            </a:r>
            <a:r>
              <a:rPr lang="zh-CN" altLang="en-US" dirty="0"/>
              <a:t>，使得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的关系为</a:t>
            </a:r>
            <a:r>
              <a:rPr lang="en-US" altLang="zh-CN" dirty="0"/>
              <a:t>H</a:t>
            </a:r>
          </a:p>
          <a:p>
            <a:pPr eaLnBrk="1" hangingPunct="1"/>
            <a:r>
              <a:rPr lang="en-US" altLang="zh-CN" dirty="0"/>
              <a:t>            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  </a:t>
            </a:r>
            <a:r>
              <a:rPr lang="en-US" altLang="zh-CN" i="1" dirty="0"/>
              <a:t>y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 </a:t>
            </a:r>
            <a:r>
              <a:rPr lang="en-US" altLang="zh-CN" dirty="0"/>
              <a:t> H(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)))</a:t>
            </a:r>
            <a:endParaRPr lang="zh-CN" altLang="en-US" dirty="0"/>
          </a:p>
          <a:p>
            <a:pPr eaLnBrk="1" hangingPunct="1"/>
            <a:r>
              <a:rPr lang="en-US" altLang="zh-CN" dirty="0"/>
              <a:t>5</a:t>
            </a:r>
            <a:r>
              <a:rPr lang="zh-CN" altLang="en-US" dirty="0"/>
              <a:t>、对于</a:t>
            </a:r>
            <a:r>
              <a:rPr lang="en-US" altLang="zh-CN" dirty="0"/>
              <a:t>D</a:t>
            </a:r>
            <a:r>
              <a:rPr lang="zh-CN" altLang="en-US" dirty="0"/>
              <a:t>中存在的具有性质</a:t>
            </a:r>
            <a:r>
              <a:rPr lang="en-US" altLang="zh-CN" dirty="0"/>
              <a:t>F</a:t>
            </a:r>
            <a:r>
              <a:rPr lang="zh-CN" altLang="en-US" dirty="0"/>
              <a:t>的</a:t>
            </a:r>
            <a:r>
              <a:rPr lang="en-US" altLang="zh-CN" dirty="0"/>
              <a:t>x</a:t>
            </a:r>
            <a:r>
              <a:rPr lang="zh-CN" altLang="en-US" dirty="0"/>
              <a:t>，对于所有的</a:t>
            </a:r>
            <a:r>
              <a:rPr lang="en-US" altLang="zh-CN" dirty="0"/>
              <a:t>y</a:t>
            </a:r>
            <a:r>
              <a:rPr lang="zh-CN" altLang="en-US" dirty="0"/>
              <a:t>而言，如果</a:t>
            </a:r>
            <a:r>
              <a:rPr lang="en-US" altLang="zh-CN" dirty="0"/>
              <a:t>y</a:t>
            </a:r>
            <a:r>
              <a:rPr lang="zh-CN" altLang="en-US" dirty="0"/>
              <a:t>具有性质</a:t>
            </a:r>
            <a:r>
              <a:rPr lang="en-US" altLang="zh-CN" dirty="0"/>
              <a:t>G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具有关系为</a:t>
            </a:r>
            <a:r>
              <a:rPr lang="en-US" altLang="zh-CN" dirty="0"/>
              <a:t>H</a:t>
            </a:r>
          </a:p>
          <a:p>
            <a:pPr eaLnBrk="1" hangingPunct="1"/>
            <a:r>
              <a:rPr lang="en-US" altLang="zh-CN" dirty="0"/>
              <a:t>          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 </a:t>
            </a:r>
            <a:r>
              <a:rPr lang="en-US" altLang="zh-CN" i="1" dirty="0"/>
              <a:t>y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  </a:t>
            </a:r>
            <a:r>
              <a:rPr lang="en-US" altLang="zh-CN" dirty="0"/>
              <a:t>H(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)))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36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EBD56-8B44-CF8A-4B5F-045148ABA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98" y="708917"/>
            <a:ext cx="10007029" cy="574325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、将下列命题符号化，并讨论真值。 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(1)</a:t>
            </a:r>
            <a:r>
              <a:rPr lang="zh-CN" altLang="en-US" dirty="0">
                <a:latin typeface="Arial" panose="020B0604020202020204" pitchFamily="34" charset="0"/>
              </a:rPr>
              <a:t>所有的人都长着黑头发。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(2)</a:t>
            </a:r>
            <a:r>
              <a:rPr lang="zh-CN" altLang="en-US" dirty="0">
                <a:latin typeface="Arial" panose="020B0604020202020204" pitchFamily="34" charset="0"/>
              </a:rPr>
              <a:t>有的人登上过月球。 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(3)</a:t>
            </a:r>
            <a:r>
              <a:rPr lang="zh-CN" altLang="en-US" dirty="0">
                <a:latin typeface="Arial" panose="020B0604020202020204" pitchFamily="34" charset="0"/>
              </a:rPr>
              <a:t>没有人登上过木星。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(4)</a:t>
            </a:r>
            <a:r>
              <a:rPr lang="zh-CN" altLang="en-US" dirty="0">
                <a:latin typeface="Arial" panose="020B0604020202020204" pitchFamily="34" charset="0"/>
              </a:rPr>
              <a:t>在美国留学的学生未必都是亚洲人。</a:t>
            </a:r>
          </a:p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、将下列命题符号化</a:t>
            </a:r>
            <a:r>
              <a:rPr lang="en-US" altLang="zh-CN" dirty="0">
                <a:latin typeface="Arial" panose="020B0604020202020204" pitchFamily="34" charset="0"/>
              </a:rPr>
              <a:t>: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    (1) </a:t>
            </a:r>
            <a:r>
              <a:rPr lang="zh-CN" altLang="en-US" dirty="0">
                <a:latin typeface="Arial" panose="020B0604020202020204" pitchFamily="34" charset="0"/>
              </a:rPr>
              <a:t>兔子比乌龟跑得快。 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(2) </a:t>
            </a:r>
            <a:r>
              <a:rPr lang="zh-CN" altLang="en-US" dirty="0">
                <a:latin typeface="Arial" panose="020B0604020202020204" pitchFamily="34" charset="0"/>
              </a:rPr>
              <a:t>有的兔子比所有的乌龟跑得快。 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(3) </a:t>
            </a:r>
            <a:r>
              <a:rPr lang="zh-CN" altLang="en-US" dirty="0">
                <a:latin typeface="Arial" panose="020B0604020202020204" pitchFamily="34" charset="0"/>
              </a:rPr>
              <a:t>并不是所有的兔子都比乌龟跑得快。 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    </a:t>
            </a:r>
            <a:r>
              <a:rPr lang="en-US" altLang="zh-CN" dirty="0">
                <a:latin typeface="Arial" panose="020B0604020202020204" pitchFamily="34" charset="0"/>
              </a:rPr>
              <a:t>(4) </a:t>
            </a:r>
            <a:r>
              <a:rPr lang="zh-CN" altLang="en-US" dirty="0">
                <a:latin typeface="Arial" panose="020B0604020202020204" pitchFamily="34" charset="0"/>
              </a:rPr>
              <a:t>不存在跑得同样快的两只兔子。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028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318465">
            <a:extLst>
              <a:ext uri="{FF2B5EF4-FFF2-40B4-BE49-F238E27FC236}">
                <a16:creationId xmlns:a16="http://schemas.microsoft.com/office/drawing/2014/main" id="{E7CC270A-31BB-4FBA-87C5-DEFE81BAE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第六章 集合代数</a:t>
            </a:r>
          </a:p>
        </p:txBody>
      </p:sp>
      <p:sp>
        <p:nvSpPr>
          <p:cNvPr id="75779" name="文本占位符 318466">
            <a:extLst>
              <a:ext uri="{FF2B5EF4-FFF2-40B4-BE49-F238E27FC236}">
                <a16:creationId xmlns:a16="http://schemas.microsoft.com/office/drawing/2014/main" id="{61110A8C-B893-47D6-BF5E-D44B84194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9288" y="1270001"/>
            <a:ext cx="8229600" cy="3527425"/>
          </a:xfrm>
        </p:spPr>
        <p:txBody>
          <a:bodyPr/>
          <a:lstStyle/>
          <a:p>
            <a:pPr marL="457200" indent="-457200"/>
            <a:r>
              <a:rPr lang="zh-CN" altLang="en-US" dirty="0"/>
              <a:t>主要内容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集合的两种表示法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集合与元素之间的隶属关系、集合之间的包含关系的区别与联系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特殊集合：空集、全集、幂集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文氏图及有穷集合的计数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集合的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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zh-CN" altLang="en-US" dirty="0"/>
              <a:t>等运算以及广义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zh-CN" altLang="en-US" dirty="0"/>
              <a:t>运算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dirty="0"/>
              <a:t>集合运算的算律及其应用</a:t>
            </a:r>
          </a:p>
        </p:txBody>
      </p:sp>
      <p:sp>
        <p:nvSpPr>
          <p:cNvPr id="75780" name="灯片编号占位符 1">
            <a:extLst>
              <a:ext uri="{FF2B5EF4-FFF2-40B4-BE49-F238E27FC236}">
                <a16:creationId xmlns:a16="http://schemas.microsoft.com/office/drawing/2014/main" id="{F80E2C67-D283-49F3-97A7-113FC58DF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4B6041E-646A-41C2-8752-D553E08CA04F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13</a:t>
            </a:fld>
            <a:endParaRPr lang="zh-CN" altLang="en-US" sz="14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F60D15-0110-7E16-ACB2-D23D610AB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8" y="400692"/>
            <a:ext cx="9464226" cy="584770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55000"/>
              </a:spcBef>
              <a:buNone/>
            </a:pPr>
            <a:r>
              <a:rPr lang="en-US" altLang="zh-CN" dirty="0"/>
              <a:t>1</a:t>
            </a:r>
            <a:r>
              <a:rPr lang="zh-CN" altLang="en-US" dirty="0"/>
              <a:t>、证明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</a:t>
            </a:r>
            <a:r>
              <a:rPr lang="en-US" altLang="zh-CN" i="1" dirty="0"/>
              <a:t>B</a:t>
            </a:r>
            <a:endParaRPr lang="en-US" altLang="zh-CN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dirty="0"/>
              <a:t>证  任取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endParaRPr lang="en-US" altLang="zh-CN" i="1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i="1" dirty="0"/>
              <a:t>                      x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</a:t>
            </a:r>
            <a:r>
              <a:rPr lang="en-US" altLang="zh-CN" i="1" dirty="0" err="1"/>
              <a:t>B</a:t>
            </a:r>
            <a:endParaRPr lang="en-US" altLang="zh-CN" i="1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i="1" dirty="0"/>
              <a:t>                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x</a:t>
            </a:r>
            <a:r>
              <a:rPr lang="en-US" altLang="zh-CN" dirty="0">
                <a:sym typeface="Symbol" panose="05050102010706020507" pitchFamily="18" charset="2"/>
              </a:rPr>
              <a:t></a:t>
            </a:r>
            <a:r>
              <a:rPr lang="en-US" altLang="zh-CN" i="1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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dirty="0"/>
              <a:t>因此得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</a:t>
            </a:r>
            <a:r>
              <a:rPr lang="en-US" altLang="zh-CN" i="1" dirty="0"/>
              <a:t>B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F71923F-DCFA-50B5-0C6F-AD3A1A9DF38F}"/>
              </a:ext>
            </a:extLst>
          </p:cNvPr>
          <p:cNvSpPr txBox="1">
            <a:spLocks noChangeArrowheads="1"/>
          </p:cNvSpPr>
          <p:nvPr/>
        </p:nvSpPr>
        <p:spPr>
          <a:xfrm>
            <a:off x="436651" y="2915292"/>
            <a:ext cx="9971069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CN" noProof="1"/>
              <a:t>2</a:t>
            </a:r>
            <a:r>
              <a:rPr lang="zh-CN" altLang="en-US" noProof="1"/>
              <a:t>、证明  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)</a:t>
            </a:r>
            <a:r>
              <a:rPr lang="en-US" altLang="zh-CN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               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)</a:t>
            </a:r>
            <a:r>
              <a:rPr lang="en-US" altLang="zh-CN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</a:t>
            </a:r>
          </a:p>
          <a:p>
            <a:pPr marL="0" indent="0">
              <a:spcBef>
                <a:spcPct val="0"/>
              </a:spcBef>
              <a:buClrTx/>
            </a:pPr>
            <a:endParaRPr lang="en-US" altLang="zh-CN" noProof="1"/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CN" noProof="1"/>
              <a:t>3</a:t>
            </a:r>
            <a:r>
              <a:rPr lang="en-US" altLang="en-US" noProof="1"/>
              <a:t>、</a:t>
            </a:r>
            <a:r>
              <a:rPr lang="zh-CN" altLang="en-US" noProof="1">
                <a:sym typeface="+mn-ea"/>
              </a:rPr>
              <a:t>证明 </a:t>
            </a:r>
            <a:r>
              <a:rPr lang="en-US" altLang="zh-CN" noProof="1">
                <a:sym typeface="+mn-ea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E=A</a:t>
            </a:r>
            <a:r>
              <a:rPr lang="en-US" altLang="en-US" noProof="1">
                <a:ea typeface="华文中宋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A(AB)=A</a:t>
            </a:r>
            <a:r>
              <a:rPr lang="en-US" altLang="en-US" noProof="1">
                <a:ea typeface="华文中宋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noProof="1"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noProof="1"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)B=AB, (A-B) (B-A)=(A B)-(A B)</a:t>
            </a:r>
          </a:p>
          <a:p>
            <a:pPr marL="0" indent="0">
              <a:spcBef>
                <a:spcPct val="0"/>
              </a:spcBef>
              <a:buClrTx/>
            </a:pPr>
            <a:endParaRPr lang="en-US" altLang="zh-CN" noProof="1">
              <a:sym typeface="+mn-ea"/>
            </a:endParaRPr>
          </a:p>
          <a:p>
            <a:pPr marL="0" indent="0">
              <a:spcBef>
                <a:spcPct val="0"/>
              </a:spcBef>
              <a:buClrTx/>
            </a:pPr>
            <a:endParaRPr lang="en-US" altLang="zh-CN" noProof="1">
              <a:sym typeface="+mn-ea"/>
            </a:endParaRPr>
          </a:p>
          <a:p>
            <a:pPr marL="0" indent="0"/>
            <a:endParaRPr lang="en-US" altLang="zh-CN" noProof="1"/>
          </a:p>
          <a:p>
            <a:pPr marL="0" indent="0">
              <a:spcBef>
                <a:spcPct val="0"/>
              </a:spcBef>
              <a:buClrTx/>
            </a:pPr>
            <a:endParaRPr lang="en-US" altLang="zh-CN" noProof="1">
              <a:sym typeface="+mn-ea"/>
            </a:endParaRPr>
          </a:p>
          <a:p>
            <a:pPr marL="0" indent="0">
              <a:spcBef>
                <a:spcPct val="0"/>
              </a:spcBef>
              <a:buClrTx/>
            </a:pPr>
            <a:endParaRPr lang="en-US" altLang="zh-CN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951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7" name="标题 446466">
            <a:extLst>
              <a:ext uri="{FF2B5EF4-FFF2-40B4-BE49-F238E27FC236}">
                <a16:creationId xmlns:a16="http://schemas.microsoft.com/office/drawing/2014/main" id="{273E8847-D6DF-4998-A07B-CB42C1964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4165" y="295729"/>
            <a:ext cx="9404723" cy="140053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第七章  二元关系</a:t>
            </a:r>
            <a:endParaRPr lang="zh-CN" altLang="en-US" dirty="0"/>
          </a:p>
        </p:txBody>
      </p:sp>
      <p:sp>
        <p:nvSpPr>
          <p:cNvPr id="176131" name="文本占位符 446480">
            <a:extLst>
              <a:ext uri="{FF2B5EF4-FFF2-40B4-BE49-F238E27FC236}">
                <a16:creationId xmlns:a16="http://schemas.microsoft.com/office/drawing/2014/main" id="{0AD79B5A-DA1D-4414-9A6A-8DAC6C4F53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9288" y="11255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主要内容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有序对与笛卡儿积的定义与性质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二元关系、从</a:t>
            </a:r>
            <a:r>
              <a:rPr lang="en-US" altLang="zh-CN" i="1" dirty="0"/>
              <a:t>A</a:t>
            </a:r>
            <a:r>
              <a:rPr lang="zh-CN" altLang="en-US" dirty="0"/>
              <a:t>到</a:t>
            </a:r>
            <a:r>
              <a:rPr lang="en-US" altLang="zh-CN" i="1" dirty="0"/>
              <a:t>B</a:t>
            </a:r>
            <a:r>
              <a:rPr lang="zh-CN" altLang="en-US" dirty="0"/>
              <a:t>的关系、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关系的表示法：关系表达式、关系矩阵、关系图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关系的运算：定义域、值域、域、逆、合成、限制、像、幂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关系运算的性质</a:t>
            </a:r>
            <a:r>
              <a:rPr lang="en-US" altLang="zh-CN" dirty="0"/>
              <a:t>: </a:t>
            </a:r>
            <a:r>
              <a:rPr lang="en-US" altLang="zh-CN" i="1" dirty="0"/>
              <a:t>A</a:t>
            </a:r>
            <a:r>
              <a:rPr lang="zh-CN" altLang="en-US" dirty="0"/>
              <a:t>上关系的自反、反自反、对称、反对称、传递的性质</a:t>
            </a:r>
            <a:endParaRPr lang="zh-CN" altLang="en-US" i="1" dirty="0"/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 dirty="0"/>
              <a:t>A</a:t>
            </a:r>
            <a:r>
              <a:rPr lang="zh-CN" altLang="en-US" dirty="0"/>
              <a:t>上关系的自反、对称、传递闭包</a:t>
            </a:r>
            <a:endParaRPr lang="zh-CN" altLang="en-US" i="1" dirty="0"/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 dirty="0"/>
              <a:t>A</a:t>
            </a:r>
            <a:r>
              <a:rPr lang="zh-CN" altLang="en-US" dirty="0"/>
              <a:t>上的等价关系、等价类、商集与</a:t>
            </a:r>
            <a:r>
              <a:rPr lang="en-US" altLang="zh-CN" i="1" dirty="0"/>
              <a:t>A</a:t>
            </a:r>
            <a:r>
              <a:rPr lang="zh-CN" altLang="en-US" dirty="0"/>
              <a:t>的划分</a:t>
            </a:r>
            <a:endParaRPr lang="zh-CN" altLang="en-US" i="1" dirty="0"/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 dirty="0"/>
              <a:t>A</a:t>
            </a:r>
            <a:r>
              <a:rPr lang="zh-CN" altLang="en-US" dirty="0"/>
              <a:t>上的偏序关系与偏序集</a:t>
            </a:r>
          </a:p>
        </p:txBody>
      </p:sp>
      <p:sp>
        <p:nvSpPr>
          <p:cNvPr id="176132" name="灯片编号占位符 1">
            <a:extLst>
              <a:ext uri="{FF2B5EF4-FFF2-40B4-BE49-F238E27FC236}">
                <a16:creationId xmlns:a16="http://schemas.microsoft.com/office/drawing/2014/main" id="{F3AABD3D-2F3C-4104-93D3-3B371C8BF9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3DD936E-A22F-40FB-93F7-2DEECABA8563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15</a:t>
            </a:fld>
            <a:endParaRPr lang="zh-CN" altLang="en-US" sz="14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BC705E-3349-80A8-2DC4-29D7166D8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06" y="606177"/>
            <a:ext cx="11414588" cy="594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/>
              <a:t>习题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：设</a:t>
            </a:r>
            <a:r>
              <a:rPr lang="en-US" altLang="zh-CN" sz="2800" b="1" dirty="0"/>
              <a:t>A={1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4}</a:t>
            </a:r>
            <a:r>
              <a:rPr lang="zh-CN" altLang="en-US" sz="2800" b="1" dirty="0"/>
              <a:t>，定义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上的关系</a:t>
            </a:r>
            <a:r>
              <a:rPr lang="en-US" altLang="zh-CN" sz="2800" b="1" dirty="0"/>
              <a:t>R</a:t>
            </a:r>
          </a:p>
          <a:p>
            <a:pPr marL="0" indent="0">
              <a:buNone/>
            </a:pPr>
            <a:r>
              <a:rPr lang="en-US" altLang="zh-CN" sz="2800" b="1" dirty="0"/>
              <a:t>             R={&lt;1,3&gt;,&lt;1,4&gt;,&lt;2,3&gt;,&lt;2,4&gt;,&lt;3,4&gt;},</a:t>
            </a:r>
            <a:r>
              <a:rPr lang="zh-CN" altLang="en-US" sz="2800" b="1" dirty="0"/>
              <a:t>画出其关系图并说明性质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b="1" dirty="0"/>
              <a:t>习题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：设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为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上的自反和传递关系，证明</a:t>
            </a:r>
            <a:r>
              <a:rPr lang="en-US" altLang="zh-CN" sz="2800" b="1" dirty="0"/>
              <a:t>R</a:t>
            </a:r>
            <a:r>
              <a:rPr lang="en-US" altLang="zh-CN" sz="2800" b="1" dirty="0">
                <a:sym typeface="Symbol" panose="05050102010706020507" pitchFamily="18" charset="2"/>
              </a:rPr>
              <a:t> R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  <a:r>
              <a:rPr lang="zh-CN" altLang="en-US" sz="2800" b="1" dirty="0">
                <a:sym typeface="Symbol" panose="05050102010706020507" pitchFamily="18" charset="2"/>
              </a:rPr>
              <a:t>在</a:t>
            </a:r>
            <a:r>
              <a:rPr lang="en-US" altLang="zh-CN" sz="2800" b="1" dirty="0"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sym typeface="Symbol" panose="05050102010706020507" pitchFamily="18" charset="2"/>
              </a:rPr>
              <a:t>上的自反、对称和传递的。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习题</a:t>
            </a:r>
            <a:r>
              <a:rPr lang="en-US" altLang="zh-CN" sz="2800" b="1" dirty="0"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sym typeface="Symbol" panose="05050102010706020507" pitchFamily="18" charset="2"/>
              </a:rPr>
              <a:t>：设</a:t>
            </a:r>
            <a:r>
              <a:rPr lang="en-US" altLang="zh-CN" sz="2800" b="1" dirty="0">
                <a:sym typeface="Symbol" panose="05050102010706020507" pitchFamily="18" charset="2"/>
              </a:rPr>
              <a:t>R1</a:t>
            </a:r>
            <a:r>
              <a:rPr lang="zh-CN" altLang="en-US" sz="2800" b="1" dirty="0">
                <a:sym typeface="Symbol" panose="05050102010706020507" pitchFamily="18" charset="2"/>
              </a:rPr>
              <a:t>和</a:t>
            </a:r>
            <a:r>
              <a:rPr lang="en-US" altLang="zh-CN" sz="2800" b="1" dirty="0">
                <a:sym typeface="Symbol" panose="05050102010706020507" pitchFamily="18" charset="2"/>
              </a:rPr>
              <a:t>R2</a:t>
            </a:r>
            <a:r>
              <a:rPr lang="zh-CN" altLang="en-US" sz="2800" b="1" dirty="0">
                <a:sym typeface="Symbol" panose="05050102010706020507" pitchFamily="18" charset="2"/>
              </a:rPr>
              <a:t>为</a:t>
            </a:r>
            <a:r>
              <a:rPr lang="en-US" altLang="zh-CN" sz="2800" b="1" dirty="0"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sym typeface="Symbol" panose="05050102010706020507" pitchFamily="18" charset="2"/>
              </a:rPr>
              <a:t>上的关系，证明：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       (</a:t>
            </a:r>
            <a:r>
              <a:rPr lang="en-US" altLang="zh-CN" sz="2800" b="1" dirty="0"/>
              <a:t>R1</a:t>
            </a:r>
            <a:r>
              <a:rPr lang="en-US" altLang="zh-CN" sz="2800" b="1" dirty="0">
                <a:sym typeface="Symbol" panose="05050102010706020507" pitchFamily="18" charset="2"/>
              </a:rPr>
              <a:t> R2)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sym typeface="Symbol" panose="05050102010706020507" pitchFamily="18" charset="2"/>
              </a:rPr>
              <a:t>=</a:t>
            </a:r>
            <a:r>
              <a:rPr lang="en-US" altLang="zh-CN" sz="2800" b="1" dirty="0"/>
              <a:t> R1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sym typeface="Symbol" panose="05050102010706020507" pitchFamily="18" charset="2"/>
              </a:rPr>
              <a:t> R2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</a:p>
          <a:p>
            <a:pPr marL="0" indent="0">
              <a:buNone/>
            </a:pPr>
            <a:r>
              <a:rPr lang="en-US" altLang="zh-CN" sz="2800" b="1" baseline="30000" dirty="0">
                <a:sym typeface="Symbol" panose="05050102010706020507" pitchFamily="18" charset="2"/>
              </a:rPr>
              <a:t>                 (</a:t>
            </a:r>
            <a:r>
              <a:rPr lang="en-US" altLang="zh-CN" sz="2800" b="1" dirty="0"/>
              <a:t>R1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400" b="1" noProof="1">
                <a:ea typeface="华文中宋" panose="020106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800" b="1" dirty="0">
                <a:sym typeface="Symbol" panose="05050102010706020507" pitchFamily="18" charset="2"/>
              </a:rPr>
              <a:t>R2)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sym typeface="Symbol" panose="05050102010706020507" pitchFamily="18" charset="2"/>
              </a:rPr>
              <a:t>=</a:t>
            </a:r>
            <a:r>
              <a:rPr lang="en-US" altLang="zh-CN" sz="2800" b="1" dirty="0"/>
              <a:t> R1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400" b="1" noProof="1">
                <a:ea typeface="华文中宋" panose="020106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800" b="1" dirty="0">
                <a:sym typeface="Symbol" panose="05050102010706020507" pitchFamily="18" charset="2"/>
              </a:rPr>
              <a:t>R2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58115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21922">
            <a:extLst>
              <a:ext uri="{FF2B5EF4-FFF2-40B4-BE49-F238E27FC236}">
                <a16:creationId xmlns:a16="http://schemas.microsoft.com/office/drawing/2014/main" id="{A6B11B87-AB04-EC58-5A46-6A3083FB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261" y="708401"/>
            <a:ext cx="89110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/>
              <a:t>习题</a:t>
            </a:r>
            <a:r>
              <a:rPr lang="en-US" altLang="zh-CN" dirty="0"/>
              <a:t>4</a:t>
            </a:r>
            <a:r>
              <a:rPr lang="zh-CN" altLang="en-US" dirty="0"/>
              <a:t>：给出 </a:t>
            </a:r>
            <a:r>
              <a:rPr lang="en-US" altLang="zh-CN" i="1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</a:t>
            </a:r>
            <a:r>
              <a:rPr lang="zh-CN" altLang="en-US" dirty="0"/>
              <a:t>上所有的等价关系</a:t>
            </a:r>
          </a:p>
        </p:txBody>
      </p:sp>
      <p:grpSp>
        <p:nvGrpSpPr>
          <p:cNvPr id="5" name="组合 421978">
            <a:extLst>
              <a:ext uri="{FF2B5EF4-FFF2-40B4-BE49-F238E27FC236}">
                <a16:creationId xmlns:a16="http://schemas.microsoft.com/office/drawing/2014/main" id="{D6DB274F-9B27-BE1D-7075-86D507C6F1FE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2478089"/>
            <a:ext cx="8424862" cy="1887537"/>
            <a:chOff x="249" y="1561"/>
            <a:chExt cx="5307" cy="1189"/>
          </a:xfrm>
        </p:grpSpPr>
        <p:grpSp>
          <p:nvGrpSpPr>
            <p:cNvPr id="6" name="组合 421970">
              <a:extLst>
                <a:ext uri="{FF2B5EF4-FFF2-40B4-BE49-F238E27FC236}">
                  <a16:creationId xmlns:a16="http://schemas.microsoft.com/office/drawing/2014/main" id="{6884EEBB-6697-8626-728E-780F473E1C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1561"/>
              <a:ext cx="907" cy="1189"/>
              <a:chOff x="521" y="1661"/>
              <a:chExt cx="907" cy="1189"/>
            </a:xfrm>
          </p:grpSpPr>
          <p:grpSp>
            <p:nvGrpSpPr>
              <p:cNvPr id="45" name="组合 421933">
                <a:extLst>
                  <a:ext uri="{FF2B5EF4-FFF2-40B4-BE49-F238E27FC236}">
                    <a16:creationId xmlns:a16="http://schemas.microsoft.com/office/drawing/2014/main" id="{5BDD205D-3A60-6DA9-55F4-80FCF80C6B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1" y="1661"/>
                <a:ext cx="907" cy="907"/>
                <a:chOff x="612" y="2296"/>
                <a:chExt cx="907" cy="907"/>
              </a:xfrm>
            </p:grpSpPr>
            <p:sp>
              <p:nvSpPr>
                <p:cNvPr id="47" name="椭圆 421925">
                  <a:extLst>
                    <a:ext uri="{FF2B5EF4-FFF2-40B4-BE49-F238E27FC236}">
                      <a16:creationId xmlns:a16="http://schemas.microsoft.com/office/drawing/2014/main" id="{5EE4EF66-AEF2-73F5-4EF3-201655CD49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296"/>
                  <a:ext cx="907" cy="907"/>
                </a:xfrm>
                <a:prstGeom prst="ellipse">
                  <a:avLst/>
                </a:prstGeom>
                <a:solidFill>
                  <a:srgbClr val="FFFF99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b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" name="椭圆 421926">
                  <a:extLst>
                    <a:ext uri="{FF2B5EF4-FFF2-40B4-BE49-F238E27FC236}">
                      <a16:creationId xmlns:a16="http://schemas.microsoft.com/office/drawing/2014/main" id="{0DCB75A6-1FDB-EF92-AAEE-44D6A4FDC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5" y="2432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Arial Unicode MS" panose="020B0604020202020204" pitchFamily="34" charset="-122"/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1</a:t>
                  </a:r>
                </a:p>
              </p:txBody>
            </p:sp>
            <p:sp>
              <p:nvSpPr>
                <p:cNvPr id="49" name="椭圆 421931">
                  <a:extLst>
                    <a:ext uri="{FF2B5EF4-FFF2-40B4-BE49-F238E27FC236}">
                      <a16:creationId xmlns:a16="http://schemas.microsoft.com/office/drawing/2014/main" id="{BB83B11F-D80C-C301-0679-142BD5CB3A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817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Arial" panose="020B0604020202020204" pitchFamily="34" charset="0"/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2</a:t>
                  </a:r>
                </a:p>
              </p:txBody>
            </p:sp>
            <p:sp>
              <p:nvSpPr>
                <p:cNvPr id="50" name="椭圆 421932">
                  <a:extLst>
                    <a:ext uri="{FF2B5EF4-FFF2-40B4-BE49-F238E27FC236}">
                      <a16:creationId xmlns:a16="http://schemas.microsoft.com/office/drawing/2014/main" id="{024C020B-4CA5-376F-EA70-A563D9E6DB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9" y="2817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Arial Unicode MS" panose="020B0604020202020204" pitchFamily="34" charset="-122"/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3</a:t>
                  </a:r>
                </a:p>
              </p:txBody>
            </p:sp>
          </p:grpSp>
          <p:sp>
            <p:nvSpPr>
              <p:cNvPr id="46" name="矩形 421965">
                <a:extLst>
                  <a:ext uri="{FF2B5EF4-FFF2-40B4-BE49-F238E27FC236}">
                    <a16:creationId xmlns:a16="http://schemas.microsoft.com/office/drawing/2014/main" id="{AB816215-317B-CDA3-90A9-06FC32AB9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" y="2523"/>
                <a:ext cx="3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</a:rPr>
                  <a:t>1</a:t>
                </a:r>
                <a:r>
                  <a:rPr lang="en-US" altLang="zh-CN" sz="280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</a:p>
            </p:txBody>
          </p:sp>
        </p:grpSp>
        <p:grpSp>
          <p:nvGrpSpPr>
            <p:cNvPr id="7" name="组合 421974">
              <a:extLst>
                <a:ext uri="{FF2B5EF4-FFF2-40B4-BE49-F238E27FC236}">
                  <a16:creationId xmlns:a16="http://schemas.microsoft.com/office/drawing/2014/main" id="{A95AC4C3-5884-EF09-3C93-DCE617168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9" y="1561"/>
              <a:ext cx="907" cy="1189"/>
              <a:chOff x="3152" y="2931"/>
              <a:chExt cx="907" cy="1189"/>
            </a:xfrm>
          </p:grpSpPr>
          <p:grpSp>
            <p:nvGrpSpPr>
              <p:cNvPr id="35" name="组合 421963">
                <a:extLst>
                  <a:ext uri="{FF2B5EF4-FFF2-40B4-BE49-F238E27FC236}">
                    <a16:creationId xmlns:a16="http://schemas.microsoft.com/office/drawing/2014/main" id="{66AAB6FF-C8FF-67C2-AC10-8FACC1253F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2" y="2931"/>
                <a:ext cx="907" cy="907"/>
                <a:chOff x="3152" y="3022"/>
                <a:chExt cx="907" cy="907"/>
              </a:xfrm>
            </p:grpSpPr>
            <p:grpSp>
              <p:nvGrpSpPr>
                <p:cNvPr id="37" name="组合 421944">
                  <a:extLst>
                    <a:ext uri="{FF2B5EF4-FFF2-40B4-BE49-F238E27FC236}">
                      <a16:creationId xmlns:a16="http://schemas.microsoft.com/office/drawing/2014/main" id="{9417742A-53ED-D460-06A3-4223B9FD1E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52" y="3022"/>
                  <a:ext cx="907" cy="907"/>
                  <a:chOff x="612" y="2296"/>
                  <a:chExt cx="907" cy="907"/>
                </a:xfrm>
              </p:grpSpPr>
              <p:sp>
                <p:nvSpPr>
                  <p:cNvPr id="41" name="椭圆 421945">
                    <a:extLst>
                      <a:ext uri="{FF2B5EF4-FFF2-40B4-BE49-F238E27FC236}">
                        <a16:creationId xmlns:a16="http://schemas.microsoft.com/office/drawing/2014/main" id="{2727F7D6-3CF5-3448-3FAD-D1845D8D6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2" name="椭圆 421946">
                    <a:extLst>
                      <a:ext uri="{FF2B5EF4-FFF2-40B4-BE49-F238E27FC236}">
                        <a16:creationId xmlns:a16="http://schemas.microsoft.com/office/drawing/2014/main" id="{DF2BA993-64F3-C0FC-AC40-BD75B5BEB1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43" name="椭圆 421947">
                    <a:extLst>
                      <a:ext uri="{FF2B5EF4-FFF2-40B4-BE49-F238E27FC236}">
                        <a16:creationId xmlns:a16="http://schemas.microsoft.com/office/drawing/2014/main" id="{00E58B22-1ED7-E302-7327-A4363CA18E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44" name="椭圆 421948">
                    <a:extLst>
                      <a:ext uri="{FF2B5EF4-FFF2-40B4-BE49-F238E27FC236}">
                        <a16:creationId xmlns:a16="http://schemas.microsoft.com/office/drawing/2014/main" id="{DCAFE440-BB8B-4B08-7274-95F122BA54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8" name="直接连接符 421957">
                  <a:extLst>
                    <a:ext uri="{FF2B5EF4-FFF2-40B4-BE49-F238E27FC236}">
                      <a16:creationId xmlns:a16="http://schemas.microsoft.com/office/drawing/2014/main" id="{30169C22-34CE-3C9C-A838-350648CD95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3" y="3203"/>
                  <a:ext cx="363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直接连接符 421958">
                  <a:extLst>
                    <a:ext uri="{FF2B5EF4-FFF2-40B4-BE49-F238E27FC236}">
                      <a16:creationId xmlns:a16="http://schemas.microsoft.com/office/drawing/2014/main" id="{28D63337-95FA-28E4-0F76-4F1ECA6107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6" y="3294"/>
                  <a:ext cx="408" cy="2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直接连接符 421959">
                  <a:extLst>
                    <a:ext uri="{FF2B5EF4-FFF2-40B4-BE49-F238E27FC236}">
                      <a16:creationId xmlns:a16="http://schemas.microsoft.com/office/drawing/2014/main" id="{F7DE842A-A757-CD42-0495-527FA9EF5F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3521"/>
                  <a:ext cx="0" cy="40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矩形 421966">
                <a:extLst>
                  <a:ext uri="{FF2B5EF4-FFF2-40B4-BE49-F238E27FC236}">
                    <a16:creationId xmlns:a16="http://schemas.microsoft.com/office/drawing/2014/main" id="{055FE939-EF91-2904-0B6E-53918A34B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9" y="3793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5</a:t>
                </a:r>
                <a:endParaRPr lang="en-US" altLang="zh-CN" sz="2800" b="0" baseline="-25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" name="组合 421971">
              <a:extLst>
                <a:ext uri="{FF2B5EF4-FFF2-40B4-BE49-F238E27FC236}">
                  <a16:creationId xmlns:a16="http://schemas.microsoft.com/office/drawing/2014/main" id="{89032635-8DCB-C4BF-1FD5-62B00B5481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1570"/>
              <a:ext cx="907" cy="1180"/>
              <a:chOff x="2154" y="1706"/>
              <a:chExt cx="907" cy="1180"/>
            </a:xfrm>
          </p:grpSpPr>
          <p:grpSp>
            <p:nvGrpSpPr>
              <p:cNvPr id="27" name="组合 421960">
                <a:extLst>
                  <a:ext uri="{FF2B5EF4-FFF2-40B4-BE49-F238E27FC236}">
                    <a16:creationId xmlns:a16="http://schemas.microsoft.com/office/drawing/2014/main" id="{1A155B1E-DCDB-EE71-FB19-6370E45A07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4" y="1706"/>
                <a:ext cx="907" cy="907"/>
                <a:chOff x="2154" y="1797"/>
                <a:chExt cx="907" cy="907"/>
              </a:xfrm>
            </p:grpSpPr>
            <p:grpSp>
              <p:nvGrpSpPr>
                <p:cNvPr id="29" name="组合 421934">
                  <a:extLst>
                    <a:ext uri="{FF2B5EF4-FFF2-40B4-BE49-F238E27FC236}">
                      <a16:creationId xmlns:a16="http://schemas.microsoft.com/office/drawing/2014/main" id="{DE56307A-CFB7-5170-77CC-4F8C5B9CA2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54" y="1797"/>
                  <a:ext cx="907" cy="907"/>
                  <a:chOff x="612" y="2296"/>
                  <a:chExt cx="907" cy="907"/>
                </a:xfrm>
              </p:grpSpPr>
              <p:sp>
                <p:nvSpPr>
                  <p:cNvPr id="31" name="椭圆 421935">
                    <a:extLst>
                      <a:ext uri="{FF2B5EF4-FFF2-40B4-BE49-F238E27FC236}">
                        <a16:creationId xmlns:a16="http://schemas.microsoft.com/office/drawing/2014/main" id="{D2982497-343F-038E-775C-5384AD7B03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2" name="椭圆 421936">
                    <a:extLst>
                      <a:ext uri="{FF2B5EF4-FFF2-40B4-BE49-F238E27FC236}">
                        <a16:creationId xmlns:a16="http://schemas.microsoft.com/office/drawing/2014/main" id="{FAA51C06-7BA7-7CE2-9AB7-B893FFC058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33" name="椭圆 421937">
                    <a:extLst>
                      <a:ext uri="{FF2B5EF4-FFF2-40B4-BE49-F238E27FC236}">
                        <a16:creationId xmlns:a16="http://schemas.microsoft.com/office/drawing/2014/main" id="{D8820EC3-94C1-F09F-53BE-6FBFDA2001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34" name="椭圆 421938">
                    <a:extLst>
                      <a:ext uri="{FF2B5EF4-FFF2-40B4-BE49-F238E27FC236}">
                        <a16:creationId xmlns:a16="http://schemas.microsoft.com/office/drawing/2014/main" id="{9C4E6B25-5620-7C56-8143-85D5567A02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0" name="直接连接符 421954">
                  <a:extLst>
                    <a:ext uri="{FF2B5EF4-FFF2-40B4-BE49-F238E27FC236}">
                      <a16:creationId xmlns:a16="http://schemas.microsoft.com/office/drawing/2014/main" id="{807408BB-6F19-B81F-E3D1-491E5F05F5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4" y="2205"/>
                  <a:ext cx="90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" name="矩形 421967">
                <a:extLst>
                  <a:ext uri="{FF2B5EF4-FFF2-40B4-BE49-F238E27FC236}">
                    <a16:creationId xmlns:a16="http://schemas.microsoft.com/office/drawing/2014/main" id="{8545FEA8-CC92-DA71-FE5E-97B719355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1" y="2559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9" name="组合 421973">
              <a:extLst>
                <a:ext uri="{FF2B5EF4-FFF2-40B4-BE49-F238E27FC236}">
                  <a16:creationId xmlns:a16="http://schemas.microsoft.com/office/drawing/2014/main" id="{673A37C2-3963-83A1-6D49-5AFE03D4FC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0" y="1561"/>
              <a:ext cx="907" cy="1189"/>
              <a:chOff x="1383" y="2931"/>
              <a:chExt cx="907" cy="1189"/>
            </a:xfrm>
          </p:grpSpPr>
          <p:grpSp>
            <p:nvGrpSpPr>
              <p:cNvPr id="19" name="组合 421962">
                <a:extLst>
                  <a:ext uri="{FF2B5EF4-FFF2-40B4-BE49-F238E27FC236}">
                    <a16:creationId xmlns:a16="http://schemas.microsoft.com/office/drawing/2014/main" id="{708EFD0E-2A4B-692C-F529-9399941C4B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3" y="2931"/>
                <a:ext cx="907" cy="907"/>
                <a:chOff x="1383" y="3022"/>
                <a:chExt cx="907" cy="907"/>
              </a:xfrm>
            </p:grpSpPr>
            <p:grpSp>
              <p:nvGrpSpPr>
                <p:cNvPr id="21" name="组合 421939">
                  <a:extLst>
                    <a:ext uri="{FF2B5EF4-FFF2-40B4-BE49-F238E27FC236}">
                      <a16:creationId xmlns:a16="http://schemas.microsoft.com/office/drawing/2014/main" id="{C41512FC-A51E-32B5-5FBD-D6695756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83" y="3022"/>
                  <a:ext cx="907" cy="907"/>
                  <a:chOff x="612" y="2296"/>
                  <a:chExt cx="907" cy="907"/>
                </a:xfrm>
              </p:grpSpPr>
              <p:sp>
                <p:nvSpPr>
                  <p:cNvPr id="23" name="椭圆 421940">
                    <a:extLst>
                      <a:ext uri="{FF2B5EF4-FFF2-40B4-BE49-F238E27FC236}">
                        <a16:creationId xmlns:a16="http://schemas.microsoft.com/office/drawing/2014/main" id="{2D4C29B8-2C03-4AF6-4EE5-E1BB37B9DB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" name="椭圆 421941">
                    <a:extLst>
                      <a:ext uri="{FF2B5EF4-FFF2-40B4-BE49-F238E27FC236}">
                        <a16:creationId xmlns:a16="http://schemas.microsoft.com/office/drawing/2014/main" id="{FABE319F-206C-8122-71DA-9035A12BEA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25" name="椭圆 421942">
                    <a:extLst>
                      <a:ext uri="{FF2B5EF4-FFF2-40B4-BE49-F238E27FC236}">
                        <a16:creationId xmlns:a16="http://schemas.microsoft.com/office/drawing/2014/main" id="{C9D383D3-C56C-928A-43AF-0AFC7FFFF6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26" name="椭圆 421943">
                    <a:extLst>
                      <a:ext uri="{FF2B5EF4-FFF2-40B4-BE49-F238E27FC236}">
                        <a16:creationId xmlns:a16="http://schemas.microsoft.com/office/drawing/2014/main" id="{1DF40F33-5733-BF21-4012-F1C60FCE62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22" name="直接连接符 421956">
                  <a:extLst>
                    <a:ext uri="{FF2B5EF4-FFF2-40B4-BE49-F238E27FC236}">
                      <a16:creationId xmlns:a16="http://schemas.microsoft.com/office/drawing/2014/main" id="{98EAA02D-2585-AA75-5E8A-3452D40166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01" y="3113"/>
                  <a:ext cx="363" cy="77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" name="矩形 421968">
                <a:extLst>
                  <a:ext uri="{FF2B5EF4-FFF2-40B4-BE49-F238E27FC236}">
                    <a16:creationId xmlns:a16="http://schemas.microsoft.com/office/drawing/2014/main" id="{C8849833-EFED-8B6E-53DB-4313E15C5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6" y="3793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4</a:t>
                </a:r>
                <a:endParaRPr lang="en-US" altLang="zh-CN" sz="2800" b="0" baseline="-25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" name="组合 421972">
              <a:extLst>
                <a:ext uri="{FF2B5EF4-FFF2-40B4-BE49-F238E27FC236}">
                  <a16:creationId xmlns:a16="http://schemas.microsoft.com/office/drawing/2014/main" id="{9CF07AA7-1936-59D8-3953-68AB2530D5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6" y="1570"/>
              <a:ext cx="907" cy="1180"/>
              <a:chOff x="3923" y="1706"/>
              <a:chExt cx="907" cy="1180"/>
            </a:xfrm>
          </p:grpSpPr>
          <p:grpSp>
            <p:nvGrpSpPr>
              <p:cNvPr id="11" name="组合 421961">
                <a:extLst>
                  <a:ext uri="{FF2B5EF4-FFF2-40B4-BE49-F238E27FC236}">
                    <a16:creationId xmlns:a16="http://schemas.microsoft.com/office/drawing/2014/main" id="{A0BA7738-E81A-7936-ABD6-BA1C97966D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23" y="1706"/>
                <a:ext cx="907" cy="907"/>
                <a:chOff x="3923" y="1752"/>
                <a:chExt cx="907" cy="907"/>
              </a:xfrm>
            </p:grpSpPr>
            <p:grpSp>
              <p:nvGrpSpPr>
                <p:cNvPr id="13" name="组合 421949">
                  <a:extLst>
                    <a:ext uri="{FF2B5EF4-FFF2-40B4-BE49-F238E27FC236}">
                      <a16:creationId xmlns:a16="http://schemas.microsoft.com/office/drawing/2014/main" id="{390F63A4-E223-CDEF-90D4-4F9D835E3B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23" y="1752"/>
                  <a:ext cx="907" cy="907"/>
                  <a:chOff x="612" y="2296"/>
                  <a:chExt cx="907" cy="907"/>
                </a:xfrm>
              </p:grpSpPr>
              <p:sp>
                <p:nvSpPr>
                  <p:cNvPr id="15" name="椭圆 421950">
                    <a:extLst>
                      <a:ext uri="{FF2B5EF4-FFF2-40B4-BE49-F238E27FC236}">
                        <a16:creationId xmlns:a16="http://schemas.microsoft.com/office/drawing/2014/main" id="{A04A7FF6-07DE-DD0C-1216-23176B2ACC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6" name="椭圆 421951">
                    <a:extLst>
                      <a:ext uri="{FF2B5EF4-FFF2-40B4-BE49-F238E27FC236}">
                        <a16:creationId xmlns:a16="http://schemas.microsoft.com/office/drawing/2014/main" id="{B5F6AB8F-DAB7-3995-1491-8F77A06017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17" name="椭圆 421952">
                    <a:extLst>
                      <a:ext uri="{FF2B5EF4-FFF2-40B4-BE49-F238E27FC236}">
                        <a16:creationId xmlns:a16="http://schemas.microsoft.com/office/drawing/2014/main" id="{24048363-D17B-CAE5-B8C3-D725AF18C7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18" name="椭圆 421953">
                    <a:extLst>
                      <a:ext uri="{FF2B5EF4-FFF2-40B4-BE49-F238E27FC236}">
                        <a16:creationId xmlns:a16="http://schemas.microsoft.com/office/drawing/2014/main" id="{80B15D69-CFAE-0472-8437-894CBF7157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14" name="直接连接符 421955">
                  <a:extLst>
                    <a:ext uri="{FF2B5EF4-FFF2-40B4-BE49-F238E27FC236}">
                      <a16:creationId xmlns:a16="http://schemas.microsoft.com/office/drawing/2014/main" id="{699F0400-81D3-ED8E-5811-55881B212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1888"/>
                  <a:ext cx="408" cy="7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矩形 421969">
                <a:extLst>
                  <a:ext uri="{FF2B5EF4-FFF2-40B4-BE49-F238E27FC236}">
                    <a16:creationId xmlns:a16="http://schemas.microsoft.com/office/drawing/2014/main" id="{EEAB6970-E080-197B-B2BE-A6759FE55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2559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3</a:t>
                </a:r>
                <a:endParaRPr lang="en-US" altLang="zh-CN" sz="2800" b="0" baseline="-25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51" name="矩形 421976">
            <a:extLst>
              <a:ext uri="{FF2B5EF4-FFF2-40B4-BE49-F238E27FC236}">
                <a16:creationId xmlns:a16="http://schemas.microsoft.com/office/drawing/2014/main" id="{E962FCEE-9752-D6B7-0E67-9D35844EB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4437064"/>
            <a:ext cx="8099425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1</a:t>
            </a:r>
            <a:r>
              <a:rPr lang="zh-CN" altLang="en-US" dirty="0"/>
              <a:t>对应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en-US" altLang="zh-CN" sz="2800" b="0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5 </a:t>
            </a:r>
            <a:r>
              <a:rPr lang="zh-CN" altLang="en-US" dirty="0"/>
              <a:t>对应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,   </a:t>
            </a:r>
            <a:r>
              <a:rPr lang="en-US" altLang="zh-CN" sz="2800" b="0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, </a:t>
            </a:r>
            <a:r>
              <a:rPr lang="en-US" altLang="zh-CN" sz="2800" b="0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ym typeface="Symbol" panose="05050102010706020507" pitchFamily="18" charset="2"/>
              </a:rPr>
              <a:t>3 </a:t>
            </a:r>
            <a:r>
              <a:rPr lang="zh-CN" altLang="en-US" dirty="0"/>
              <a:t>和</a:t>
            </a:r>
            <a:r>
              <a:rPr lang="zh-CN" altLang="en-US" sz="2800" dirty="0"/>
              <a:t> </a:t>
            </a:r>
            <a:r>
              <a:rPr lang="en-US" altLang="zh-CN" sz="2800" b="0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ym typeface="Symbol" panose="05050102010706020507" pitchFamily="18" charset="2"/>
              </a:rPr>
              <a:t>4</a:t>
            </a:r>
            <a:r>
              <a:rPr lang="zh-CN" altLang="en-US" dirty="0"/>
              <a:t>分别对应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和 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. </a:t>
            </a:r>
            <a:endParaRPr lang="en-US" altLang="zh-CN" i="1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i="1" dirty="0"/>
              <a:t>               R</a:t>
            </a:r>
            <a:r>
              <a:rPr lang="en-US" altLang="zh-CN" baseline="-25000" dirty="0"/>
              <a:t>2</a:t>
            </a:r>
            <a:r>
              <a:rPr lang="en-US" altLang="zh-CN" dirty="0"/>
              <a:t>={&lt;2,3&gt;,&lt;3,2&gt;}∪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br>
              <a:rPr lang="en-US" altLang="zh-CN" dirty="0"/>
            </a:br>
            <a:r>
              <a:rPr lang="en-US" altLang="zh-CN" dirty="0"/>
              <a:t>     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={&lt;1,3&gt;,&lt;3,1&gt;}∪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br>
              <a:rPr lang="en-US" altLang="zh-CN" dirty="0"/>
            </a:br>
            <a:r>
              <a:rPr lang="en-US" altLang="zh-CN" dirty="0"/>
              <a:t>     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={&lt;1,2&gt;,&lt;2,1&gt;}∪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</a:p>
        </p:txBody>
      </p:sp>
      <p:sp>
        <p:nvSpPr>
          <p:cNvPr id="52" name="矩形 421977">
            <a:extLst>
              <a:ext uri="{FF2B5EF4-FFF2-40B4-BE49-F238E27FC236}">
                <a16:creationId xmlns:a16="http://schemas.microsoft.com/office/drawing/2014/main" id="{1062AE6B-D6CB-7529-6D74-9A741CCD4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773238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/>
              <a:t>解   先做出</a:t>
            </a:r>
            <a:r>
              <a:rPr lang="en-US" altLang="zh-CN" i="1" dirty="0"/>
              <a:t>A</a:t>
            </a:r>
            <a:r>
              <a:rPr lang="zh-CN" altLang="en-US" dirty="0"/>
              <a:t>的划分</a:t>
            </a:r>
            <a:r>
              <a:rPr lang="en-US" altLang="zh-CN" dirty="0"/>
              <a:t>, </a:t>
            </a:r>
            <a:r>
              <a:rPr lang="zh-CN" altLang="en-US" dirty="0"/>
              <a:t>从左到右分别记作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4</a:t>
            </a:r>
            <a:r>
              <a:rPr lang="en-US" altLang="zh-CN" dirty="0"/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5</a:t>
            </a:r>
            <a:r>
              <a:rPr lang="en-US" altLang="zh-CN" dirty="0"/>
              <a:t>.</a:t>
            </a:r>
          </a:p>
        </p:txBody>
      </p:sp>
      <p:sp>
        <p:nvSpPr>
          <p:cNvPr id="53" name="灯片编号占位符 1">
            <a:extLst>
              <a:ext uri="{FF2B5EF4-FFF2-40B4-BE49-F238E27FC236}">
                <a16:creationId xmlns:a16="http://schemas.microsoft.com/office/drawing/2014/main" id="{882E482C-BA4C-4B1E-F80E-18828406AA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0352540" y="295729"/>
            <a:ext cx="838199" cy="76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55BD304-92C8-4B87-8C10-FEF072190B57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17</a:t>
            </a:fld>
            <a:endParaRPr lang="zh-CN" altLang="en-US" sz="14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25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文本占位符 436232">
            <a:extLst>
              <a:ext uri="{FF2B5EF4-FFF2-40B4-BE49-F238E27FC236}">
                <a16:creationId xmlns:a16="http://schemas.microsoft.com/office/drawing/2014/main" id="{1D1BEB3C-6B67-7D78-4E73-AA528C25B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0692" y="333375"/>
            <a:ext cx="9656121" cy="20161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b="1" dirty="0"/>
              <a:t>习题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已知偏序集</a:t>
            </a:r>
            <a:r>
              <a:rPr lang="en-US" altLang="zh-CN" sz="2800" b="1" dirty="0"/>
              <a:t>&lt;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&gt;</a:t>
            </a:r>
            <a:r>
              <a:rPr lang="zh-CN" altLang="en-US" sz="2800" b="1" dirty="0"/>
              <a:t>的哈斯图如下图所示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试求出集合</a:t>
            </a:r>
            <a:r>
              <a:rPr lang="en-US" altLang="zh-CN" sz="2800" b="1" i="1" dirty="0"/>
              <a:t>A</a:t>
            </a:r>
            <a:r>
              <a:rPr lang="zh-CN" altLang="en-US" sz="2800" b="1" dirty="0"/>
              <a:t>和关系</a:t>
            </a:r>
            <a:r>
              <a:rPr lang="en-US" altLang="zh-CN" sz="2800" b="1" i="1" dirty="0"/>
              <a:t>R</a:t>
            </a:r>
            <a:r>
              <a:rPr lang="zh-CN" altLang="en-US" sz="2800" b="1" dirty="0"/>
              <a:t>的表达式</a:t>
            </a:r>
            <a:r>
              <a:rPr lang="en-US" altLang="zh-CN" sz="2800" b="1" dirty="0"/>
              <a:t>. </a:t>
            </a:r>
          </a:p>
        </p:txBody>
      </p:sp>
      <p:sp>
        <p:nvSpPr>
          <p:cNvPr id="436234" name="矩形 436233">
            <a:extLst>
              <a:ext uri="{FF2B5EF4-FFF2-40B4-BE49-F238E27FC236}">
                <a16:creationId xmlns:a16="http://schemas.microsoft.com/office/drawing/2014/main" id="{C450BF63-9E3D-C293-3ED0-B4AF8427E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296" y="4002087"/>
            <a:ext cx="831691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  </a:t>
            </a:r>
            <a:r>
              <a:rPr lang="en-US" altLang="zh-CN" i="1" dirty="0"/>
              <a:t>A</a:t>
            </a:r>
            <a:r>
              <a:rPr lang="en-US" altLang="zh-CN" dirty="0"/>
              <a:t>={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  <a:r>
              <a:rPr lang="en-US" altLang="zh-CN" i="1" dirty="0"/>
              <a:t>d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h </a:t>
            </a:r>
            <a:r>
              <a:rPr lang="en-US" altLang="zh-CN" dirty="0"/>
              <a:t>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={&lt;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d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g</a:t>
            </a:r>
            <a:r>
              <a:rPr lang="en-US" altLang="zh-CN" dirty="0" err="1"/>
              <a:t>,</a:t>
            </a:r>
            <a:r>
              <a:rPr lang="en-US" altLang="zh-CN" i="1" dirty="0" err="1"/>
              <a:t>h</a:t>
            </a:r>
            <a:r>
              <a:rPr lang="en-US" altLang="zh-CN" dirty="0"/>
              <a:t>&gt;}∪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endParaRPr lang="en-US" altLang="zh-CN" baseline="-25000" dirty="0"/>
          </a:p>
        </p:txBody>
      </p:sp>
      <p:pic>
        <p:nvPicPr>
          <p:cNvPr id="166916" name="图片 436234" descr="7-8">
            <a:extLst>
              <a:ext uri="{FF2B5EF4-FFF2-40B4-BE49-F238E27FC236}">
                <a16:creationId xmlns:a16="http://schemas.microsoft.com/office/drawing/2014/main" id="{74D3F020-E8CF-017F-E357-DD79E690F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0" b="16397"/>
          <a:stretch>
            <a:fillRect/>
          </a:stretch>
        </p:blipFill>
        <p:spPr bwMode="auto">
          <a:xfrm>
            <a:off x="5574258" y="1150822"/>
            <a:ext cx="3960813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918" name="灯片编号占位符 1">
            <a:extLst>
              <a:ext uri="{FF2B5EF4-FFF2-40B4-BE49-F238E27FC236}">
                <a16:creationId xmlns:a16="http://schemas.microsoft.com/office/drawing/2014/main" id="{37FA7ABA-C41A-C39B-7259-329D61D353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7EA9F03-1B11-41A2-A37E-8DA2E840E0C6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18</a:t>
            </a:fld>
            <a:endParaRPr lang="zh-CN" altLang="en-US" sz="14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5" name="标题 315394">
            <a:extLst>
              <a:ext uri="{FF2B5EF4-FFF2-40B4-BE49-F238E27FC236}">
                <a16:creationId xmlns:a16="http://schemas.microsoft.com/office/drawing/2014/main" id="{9B178E6D-5408-4231-BB38-6C05CAF0A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第九章 代数系统</a:t>
            </a:r>
          </a:p>
        </p:txBody>
      </p:sp>
      <p:sp>
        <p:nvSpPr>
          <p:cNvPr id="69635" name="文本占位符 315403">
            <a:extLst>
              <a:ext uri="{FF2B5EF4-FFF2-40B4-BE49-F238E27FC236}">
                <a16:creationId xmlns:a16="http://schemas.microsoft.com/office/drawing/2014/main" id="{1703CD0B-3555-4094-B2B8-826BA4EB8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9288" y="119697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代数系统的构成：非空集合、封闭的二元和一元运算、代数常数 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二元运算性质和特异元素：交换律、结合律、幂等律、分配律、吸收律、单位元、零元、可逆元和逆元</a:t>
            </a:r>
            <a:endParaRPr lang="en-US" altLang="zh-CN" b="1" dirty="0"/>
          </a:p>
        </p:txBody>
      </p:sp>
      <p:sp>
        <p:nvSpPr>
          <p:cNvPr id="69636" name="灯片编号占位符 1">
            <a:extLst>
              <a:ext uri="{FF2B5EF4-FFF2-40B4-BE49-F238E27FC236}">
                <a16:creationId xmlns:a16="http://schemas.microsoft.com/office/drawing/2014/main" id="{E0DCC960-FCEC-4A78-8FA6-089D17A4E2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15A3EB-F327-4E41-A490-CB97AEDB4051}" type="slidenum">
              <a:rPr lang="zh-CN" altLang="en-US" sz="1400"/>
              <a:pPr/>
              <a:t>19</a:t>
            </a:fld>
            <a:endParaRPr lang="zh-CN" altLang="en-US" sz="1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B25C27-7242-2AFA-C1E3-A9AD29085F86}"/>
              </a:ext>
            </a:extLst>
          </p:cNvPr>
          <p:cNvSpPr txBox="1"/>
          <p:nvPr/>
        </p:nvSpPr>
        <p:spPr>
          <a:xfrm>
            <a:off x="3048856" y="323662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ea typeface="华文中宋" panose="02010600040101010101" pitchFamily="2" charset="-122"/>
                <a:sym typeface="Symbol" panose="05050102010706020507" pitchFamily="18" charset="2"/>
              </a:rPr>
              <a:t>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文本占位符 319497">
            <a:extLst>
              <a:ext uri="{FF2B5EF4-FFF2-40B4-BE49-F238E27FC236}">
                <a16:creationId xmlns:a16="http://schemas.microsoft.com/office/drawing/2014/main" id="{97612A1B-D8D2-3CEC-EEC9-42BD41ED3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5" y="569629"/>
            <a:ext cx="8147050" cy="1800225"/>
          </a:xfrm>
        </p:spPr>
        <p:txBody>
          <a:bodyPr/>
          <a:lstStyle/>
          <a:p>
            <a:pPr marL="609600" indent="-609600"/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．设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zh-CN" altLang="en-US" b="1" dirty="0">
                <a:latin typeface="Times New Roman" panose="02020603050405020304" pitchFamily="18" charset="0"/>
              </a:rPr>
              <a:t>运算为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</a:rPr>
              <a:t>上的二元运算，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09600" indent="-609600"/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+2</a:t>
            </a:r>
            <a:r>
              <a:rPr lang="en-US" altLang="zh-CN" b="1" i="1" dirty="0">
                <a:latin typeface="Times New Roman" panose="02020603050405020304" pitchFamily="18" charset="0"/>
              </a:rPr>
              <a:t>xy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</a:p>
          <a:p>
            <a:pPr marL="609600" indent="-609600"/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判断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zh-CN" altLang="en-US" b="1" dirty="0">
                <a:latin typeface="Times New Roman" panose="02020603050405020304" pitchFamily="18" charset="0"/>
              </a:rPr>
              <a:t>运算是否满足交换律和结合律，并说明理由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marL="609600" indent="-609600"/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求出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zh-CN" altLang="en-US" b="1" dirty="0">
                <a:latin typeface="Times New Roman" panose="02020603050405020304" pitchFamily="18" charset="0"/>
              </a:rPr>
              <a:t>运算的单位元、零元和所有可逆元素的逆元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3732" name="矩形 319499">
            <a:extLst>
              <a:ext uri="{FF2B5EF4-FFF2-40B4-BE49-F238E27FC236}">
                <a16:creationId xmlns:a16="http://schemas.microsoft.com/office/drawing/2014/main" id="{859706FF-FDA0-1440-1E61-74CD90EDE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733" y="2523484"/>
            <a:ext cx="7993062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dirty="0"/>
              <a:t>∘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运算可交换，可结合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任取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b="1" i="1" dirty="0">
                <a:latin typeface="Times New Roman" panose="02020603050405020304" pitchFamily="18" charset="0"/>
              </a:rPr>
              <a:t>Q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fr-FR" altLang="zh-CN" b="1" i="1" dirty="0">
                <a:latin typeface="Times New Roman" panose="02020603050405020304" pitchFamily="18" charset="0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 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fr-FR" altLang="zh-CN" b="1" i="1" dirty="0">
                <a:latin typeface="Times New Roman" panose="02020603050405020304" pitchFamily="18" charset="0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fr-FR" b="1" dirty="0">
                <a:latin typeface="Times New Roman" panose="02020603050405020304" pitchFamily="18" charset="0"/>
                <a:sym typeface="Symbol" panose="05050102010706020507" pitchFamily="18" charset="2"/>
              </a:rPr>
              <a:t>任取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b="1" i="1" dirty="0">
                <a:latin typeface="Times New Roman" panose="02020603050405020304" pitchFamily="18" charset="0"/>
              </a:rPr>
              <a:t>Q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(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fr-FR" altLang="zh-CN" b="1" i="1" dirty="0">
                <a:latin typeface="Times New Roman" panose="02020603050405020304" pitchFamily="18" charset="0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fr-FR" altLang="zh-CN" b="1" i="1" dirty="0">
                <a:latin typeface="Times New Roman" panose="02020603050405020304" pitchFamily="18" charset="0"/>
              </a:rPr>
              <a:t>z 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+2(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=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+4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xyz</a:t>
            </a:r>
            <a:endParaRPr lang="fr-FR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x</a:t>
            </a:r>
            <a:r>
              <a:rPr lang="fr-FR" altLang="zh-CN" b="1" dirty="0">
                <a:latin typeface="Times New Roman" panose="02020603050405020304" pitchFamily="18" charset="0"/>
              </a:rPr>
              <a:t>∘(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fr-FR" altLang="zh-CN" b="1" i="1" dirty="0">
                <a:latin typeface="Times New Roman" panose="02020603050405020304" pitchFamily="18" charset="0"/>
              </a:rPr>
              <a:t>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+(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= 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yz</a:t>
            </a:r>
            <a:r>
              <a:rPr lang="fr-FR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+4</a:t>
            </a:r>
            <a:r>
              <a:rPr lang="fr-FR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xyz</a:t>
            </a:r>
          </a:p>
        </p:txBody>
      </p:sp>
      <p:sp>
        <p:nvSpPr>
          <p:cNvPr id="73733" name="灯片编号占位符 1">
            <a:extLst>
              <a:ext uri="{FF2B5EF4-FFF2-40B4-BE49-F238E27FC236}">
                <a16:creationId xmlns:a16="http://schemas.microsoft.com/office/drawing/2014/main" id="{989D516F-10A1-0F5C-F45A-56809A0CA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82A986-2AC9-4E08-9E10-DC9DD71CD305}" type="slidenum">
              <a:rPr lang="zh-CN" altLang="en-US" sz="1400"/>
              <a:pPr/>
              <a:t>20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419000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E41D0-12CF-50AF-80D5-2926E1129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222" y="708918"/>
            <a:ext cx="9104631" cy="55394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zh-CN" altLang="en-US" b="1" dirty="0">
                <a:latin typeface="Times New Roman" panose="02020603050405020304" pitchFamily="18" charset="0"/>
              </a:rPr>
              <a:t>运算的单位元和零元分别为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b="1" dirty="0">
                <a:latin typeface="Times New Roman" panose="02020603050405020304" pitchFamily="18" charset="0"/>
              </a:rPr>
              <a:t>，则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对于任</a:t>
            </a: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意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∘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成立，即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0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由于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运算可交换，所以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是幺元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对于任意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∘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成立，即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x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=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x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0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1/2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给定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，设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的逆元为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则有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∘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0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成立，即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0 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 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/>
              <a:t>≠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1/2</a:t>
            </a:r>
            <a:r>
              <a:rPr lang="en-US" altLang="zh-CN" dirty="0">
                <a:latin typeface="Times New Roman" panose="02020603050405020304" pitchFamily="18" charset="0"/>
              </a:rPr>
              <a:t> )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因此当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1/2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     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的逆元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 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4" name="对象 321542">
            <a:extLst>
              <a:ext uri="{FF2B5EF4-FFF2-40B4-BE49-F238E27FC236}">
                <a16:creationId xmlns:a16="http://schemas.microsoft.com/office/drawing/2014/main" id="{267389DB-4CCB-7DFE-7645-425DFFCFBD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006633"/>
              </p:ext>
            </p:extLst>
          </p:nvPr>
        </p:nvGraphicFramePr>
        <p:xfrm>
          <a:off x="3360596" y="4430652"/>
          <a:ext cx="1016000" cy="631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4680" imgH="406080" progId="Equation.3">
                  <p:embed/>
                </p:oleObj>
              </mc:Choice>
              <mc:Fallback>
                <p:oleObj name="公式" r:id="rId2" imgW="634680" imgH="406080" progId="Equation.3">
                  <p:embed/>
                  <p:pic>
                    <p:nvPicPr>
                      <p:cNvPr id="75783" name="对象 321542">
                        <a:extLst>
                          <a:ext uri="{FF2B5EF4-FFF2-40B4-BE49-F238E27FC236}">
                            <a16:creationId xmlns:a16="http://schemas.microsoft.com/office/drawing/2014/main" id="{8F6E5B7B-9383-3801-04D1-B0490B88AD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596" y="4430652"/>
                        <a:ext cx="1016000" cy="6314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6051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D7A75CDD-8857-48F2-874A-CEC0D1DD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A16961-5AE3-4495-BCB1-5B999FA8E0B5}" type="slidenum">
              <a:rPr lang="en-US" altLang="zh-CN" sz="1400"/>
              <a:pPr eaLnBrk="1" hangingPunct="1"/>
              <a:t>22</a:t>
            </a:fld>
            <a:endParaRPr lang="en-US" altLang="zh-CN" sz="1400"/>
          </a:p>
        </p:txBody>
      </p:sp>
      <p:sp>
        <p:nvSpPr>
          <p:cNvPr id="647170" name="Rectangle 2">
            <a:extLst>
              <a:ext uri="{FF2B5EF4-FFF2-40B4-BE49-F238E27FC236}">
                <a16:creationId xmlns:a16="http://schemas.microsoft.com/office/drawing/2014/main" id="{5C82FE21-6489-43A9-9672-58BE5BF0B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第十章 半群和群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49F320C-98EB-4BE8-9A77-380B9C863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4750" y="1505682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 dirty="0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半群、独异点与群的定义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群的基本性质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子群的判别定理</a:t>
            </a:r>
            <a:endParaRPr lang="en-US" altLang="zh-CN" b="1" dirty="0"/>
          </a:p>
          <a:p>
            <a:pPr marL="0" indent="0" eaLnBrk="1" hangingPunct="1">
              <a:buClr>
                <a:srgbClr val="FF9900"/>
              </a:buClr>
              <a:buNone/>
            </a:pPr>
            <a:r>
              <a:rPr lang="en-US" altLang="zh-CN" b="1" dirty="0"/>
              <a:t>  </a:t>
            </a:r>
            <a:r>
              <a:rPr lang="zh-CN" altLang="en-US" b="1" dirty="0"/>
              <a:t>习题：证明</a:t>
            </a:r>
            <a:r>
              <a:rPr lang="en-US" altLang="zh-CN" b="1" dirty="0"/>
              <a:t>&lt;R,+&gt;</a:t>
            </a:r>
            <a:r>
              <a:rPr lang="zh-CN" altLang="en-US" b="1" dirty="0"/>
              <a:t>是一个群，证明</a:t>
            </a:r>
            <a:r>
              <a:rPr lang="en-US" altLang="zh-CN" b="1" dirty="0"/>
              <a:t>Z</a:t>
            </a:r>
            <a:r>
              <a:rPr lang="zh-CN" altLang="en-US" b="1" dirty="0"/>
              <a:t>是</a:t>
            </a:r>
            <a:r>
              <a:rPr lang="en-US" altLang="zh-CN" b="1" dirty="0"/>
              <a:t>&lt;R,+&gt;</a:t>
            </a:r>
            <a:r>
              <a:rPr lang="zh-CN" altLang="en-US" b="1" dirty="0"/>
              <a:t>的子群。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4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4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标题 364546">
            <a:extLst>
              <a:ext uri="{FF2B5EF4-FFF2-40B4-BE49-F238E27FC236}">
                <a16:creationId xmlns:a16="http://schemas.microsoft.com/office/drawing/2014/main" id="{F33F454D-555F-4904-BF57-44156806A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第十四章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图的基本概念</a:t>
            </a:r>
          </a:p>
        </p:txBody>
      </p:sp>
      <p:sp>
        <p:nvSpPr>
          <p:cNvPr id="111618" name="文本占位符 364557">
            <a:extLst>
              <a:ext uri="{FF2B5EF4-FFF2-40B4-BE49-F238E27FC236}">
                <a16:creationId xmlns:a16="http://schemas.microsoft.com/office/drawing/2014/main" id="{4FE79A58-4881-4F47-86D9-361E9B0BAF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3672" y="1444180"/>
            <a:ext cx="8229600" cy="4525962"/>
          </a:xfrm>
        </p:spPr>
        <p:txBody>
          <a:bodyPr/>
          <a:lstStyle/>
          <a:p>
            <a:r>
              <a:rPr lang="zh-CN" altLang="en-US" b="1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无向图、有向图、关联与相邻、简单图、完全图、正则图、子图、补图；握手定理与推论；图的同构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通路与回路及其分类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无向图的连通性与连通度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有向图的连通性及其分类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图的矩阵表示</a:t>
            </a:r>
          </a:p>
          <a:p>
            <a:pPr>
              <a:buClr>
                <a:srgbClr val="FF9900"/>
              </a:buClr>
            </a:pPr>
            <a:endParaRPr lang="zh-CN" altLang="en-US" dirty="0"/>
          </a:p>
        </p:txBody>
      </p:sp>
      <p:sp>
        <p:nvSpPr>
          <p:cNvPr id="111619" name="灯片编号占位符 1">
            <a:extLst>
              <a:ext uri="{FF2B5EF4-FFF2-40B4-BE49-F238E27FC236}">
                <a16:creationId xmlns:a16="http://schemas.microsoft.com/office/drawing/2014/main" id="{04FE0A71-152B-4EDD-A35C-6283D08CD2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C2C2E2C-B670-4E34-B65C-F3851ACC6964}" type="slidenum">
              <a:rPr lang="zh-CN" altLang="en-US" sz="1400"/>
              <a:pPr/>
              <a:t>23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矩形 370696">
            <a:extLst>
              <a:ext uri="{FF2B5EF4-FFF2-40B4-BE49-F238E27FC236}">
                <a16:creationId xmlns:a16="http://schemas.microsoft.com/office/drawing/2014/main" id="{B891F484-D870-8A3D-97C2-8BB2BFAC3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978" y="579228"/>
            <a:ext cx="75612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习题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．</a:t>
            </a:r>
            <a:r>
              <a:rPr lang="en-US" altLang="zh-CN" b="1" dirty="0">
                <a:latin typeface="Times New Roman" panose="02020603050405020304" pitchFamily="18" charset="0"/>
              </a:rPr>
              <a:t>9</a:t>
            </a:r>
            <a:r>
              <a:rPr lang="zh-CN" altLang="en-US" b="1" dirty="0">
                <a:latin typeface="Times New Roman" panose="02020603050405020304" pitchFamily="18" charset="0"/>
              </a:rPr>
              <a:t>阶无向图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中，每个顶点的度数不是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就是</a:t>
            </a:r>
            <a:r>
              <a:rPr lang="en-US" altLang="zh-CN" b="1" dirty="0">
                <a:latin typeface="Times New Roman" panose="02020603050405020304" pitchFamily="18" charset="0"/>
              </a:rPr>
              <a:t>6. </a:t>
            </a:r>
            <a:r>
              <a:rPr lang="zh-CN" altLang="en-US" b="1" dirty="0">
                <a:latin typeface="Times New Roman" panose="02020603050405020304" pitchFamily="18" charset="0"/>
              </a:rPr>
              <a:t>证明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中至少有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</a:rPr>
              <a:t>度顶点或至少有</a:t>
            </a:r>
            <a:r>
              <a:rPr lang="en-US" altLang="zh-CN" b="1" dirty="0">
                <a:latin typeface="Times New Roman" panose="02020603050405020304" pitchFamily="18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度顶点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15715" name="矩形 370699">
            <a:extLst>
              <a:ext uri="{FF2B5EF4-FFF2-40B4-BE49-F238E27FC236}">
                <a16:creationId xmlns:a16="http://schemas.microsoft.com/office/drawing/2014/main" id="{8711C1A6-2AE0-F03C-68D1-AF1F10445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266" y="1989282"/>
            <a:ext cx="7848600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</a:rPr>
              <a:t>证   关键是利用握手定理的推论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方法一：穷举法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中有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度顶点，则必有</a:t>
            </a:r>
            <a:r>
              <a:rPr lang="en-US" altLang="zh-CN" b="1" dirty="0">
                <a:latin typeface="Times New Roman" panose="02020603050405020304" pitchFamily="18" charset="0"/>
              </a:rPr>
              <a:t>(9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度顶点，由握手定理推论可知，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,9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只有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种可能：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(0,9), (2,7), (4,5), (6,3), (8,1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）它们都满足要求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方法二：反证法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否则，由握手定理推论可知，“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度顶点并且至多有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度顶点”，这与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9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阶图矛盾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115716" name="灯片编号占位符 1">
            <a:extLst>
              <a:ext uri="{FF2B5EF4-FFF2-40B4-BE49-F238E27FC236}">
                <a16:creationId xmlns:a16="http://schemas.microsoft.com/office/drawing/2014/main" id="{DF8D07F7-C8CB-DE9D-4923-A11B6D4345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5EF3AD-04B2-4723-89BC-60204C79DCA0}" type="slidenum">
              <a:rPr lang="zh-CN" altLang="en-US" sz="1400"/>
              <a:pPr/>
              <a:t>24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矩形 358407">
            <a:extLst>
              <a:ext uri="{FF2B5EF4-FFF2-40B4-BE49-F238E27FC236}">
                <a16:creationId xmlns:a16="http://schemas.microsoft.com/office/drawing/2014/main" id="{09842CD3-AE04-4BAF-40BC-77893D511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494" y="802184"/>
            <a:ext cx="8497887" cy="1822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习题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b="1" dirty="0">
                <a:latin typeface="Times New Roman" panose="02020603050405020304" pitchFamily="18" charset="0"/>
              </a:rPr>
              <a:t>有向图</a:t>
            </a:r>
            <a:r>
              <a:rPr lang="en-US" altLang="zh-CN" b="1" i="1" dirty="0"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</a:rPr>
              <a:t>如图所示，求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，并回答诸问题：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</a:rPr>
              <a:t>D </a:t>
            </a:r>
            <a:r>
              <a:rPr lang="zh-CN" altLang="en-US" b="1" dirty="0">
                <a:latin typeface="Times New Roman" panose="02020603050405020304" pitchFamily="18" charset="0"/>
              </a:rPr>
              <a:t>中长度为</a:t>
            </a:r>
            <a:r>
              <a:rPr lang="en-US" altLang="zh-CN" b="1" dirty="0">
                <a:latin typeface="Times New Roman" panose="02020603050405020304" pitchFamily="18" charset="0"/>
              </a:rPr>
              <a:t>1, 2, 3, 4</a:t>
            </a:r>
            <a:r>
              <a:rPr lang="zh-CN" altLang="en-US" b="1" dirty="0">
                <a:latin typeface="Times New Roman" panose="02020603050405020304" pitchFamily="18" charset="0"/>
              </a:rPr>
              <a:t>的通路各有多少条？其中回路分别为多少条？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en-US" altLang="zh-CN" b="1" i="1" dirty="0">
                <a:latin typeface="Times New Roman" panose="02020603050405020304" pitchFamily="18" charset="0"/>
              </a:rPr>
              <a:t>D </a:t>
            </a:r>
            <a:r>
              <a:rPr lang="zh-CN" altLang="en-US" b="1" dirty="0">
                <a:latin typeface="Times New Roman" panose="02020603050405020304" pitchFamily="18" charset="0"/>
              </a:rPr>
              <a:t>中长度小于或等于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的通路为多少条？其中有多少条回路？</a:t>
            </a:r>
          </a:p>
        </p:txBody>
      </p:sp>
      <p:pic>
        <p:nvPicPr>
          <p:cNvPr id="105474" name="图片 358408" descr="14-10">
            <a:extLst>
              <a:ext uri="{FF2B5EF4-FFF2-40B4-BE49-F238E27FC236}">
                <a16:creationId xmlns:a16="http://schemas.microsoft.com/office/drawing/2014/main" id="{EE5E3738-2845-74F2-3ED3-FDFD5B099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63" y="2890341"/>
            <a:ext cx="3887787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6" name="灯片编号占位符 1">
            <a:extLst>
              <a:ext uri="{FF2B5EF4-FFF2-40B4-BE49-F238E27FC236}">
                <a16:creationId xmlns:a16="http://schemas.microsoft.com/office/drawing/2014/main" id="{E5A22C51-AEB3-CF6B-1ABE-9A1824C018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C59B9C2-D265-4CC1-A564-199B40F7487F}" type="slidenum">
              <a:rPr lang="zh-CN" altLang="en-US" sz="1400"/>
              <a:pPr/>
              <a:t>25</a:t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矩形 360455">
            <a:extLst>
              <a:ext uri="{FF2B5EF4-FFF2-40B4-BE49-F238E27FC236}">
                <a16:creationId xmlns:a16="http://schemas.microsoft.com/office/drawing/2014/main" id="{255BE493-30E9-D6B7-6450-FEC5672C9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141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7522" name="对象 360454">
            <a:extLst>
              <a:ext uri="{FF2B5EF4-FFF2-40B4-BE49-F238E27FC236}">
                <a16:creationId xmlns:a16="http://schemas.microsoft.com/office/drawing/2014/main" id="{D8B22843-35FF-8A41-8C50-258726665C19}"/>
              </a:ext>
            </a:extLst>
          </p:cNvPr>
          <p:cNvGraphicFramePr>
            <a:graphicFrameLocks/>
          </p:cNvGraphicFramePr>
          <p:nvPr/>
        </p:nvGraphicFramePr>
        <p:xfrm>
          <a:off x="3008313" y="927101"/>
          <a:ext cx="4953000" cy="335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30500" imgH="1854200" progId="Equation.3">
                  <p:embed/>
                </p:oleObj>
              </mc:Choice>
              <mc:Fallback>
                <p:oleObj r:id="rId3" imgW="2730500" imgH="1854200" progId="Equation.3">
                  <p:embed/>
                  <p:pic>
                    <p:nvPicPr>
                      <p:cNvPr id="107522" name="对象 360454">
                        <a:extLst>
                          <a:ext uri="{FF2B5EF4-FFF2-40B4-BE49-F238E27FC236}">
                            <a16:creationId xmlns:a16="http://schemas.microsoft.com/office/drawing/2014/main" id="{D8B22843-35FF-8A41-8C50-258726665C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927101"/>
                        <a:ext cx="4953000" cy="335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3" name="矩形 360456">
            <a:extLst>
              <a:ext uri="{FF2B5EF4-FFF2-40B4-BE49-F238E27FC236}">
                <a16:creationId xmlns:a16="http://schemas.microsoft.com/office/drawing/2014/main" id="{B0FC5AEA-3B2F-B375-DEE9-31A11A38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4301043"/>
            <a:ext cx="7723589" cy="2265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zh-CN" altLang="en-US" b="1">
                <a:latin typeface="Times New Roman" panose="02020603050405020304" pitchFamily="18" charset="0"/>
              </a:rPr>
              <a:t>中长度为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的通路为</a:t>
            </a:r>
            <a:r>
              <a:rPr lang="en-US" altLang="zh-CN" b="1">
                <a:latin typeface="Times New Roman" panose="02020603050405020304" pitchFamily="18" charset="0"/>
              </a:rPr>
              <a:t>8</a:t>
            </a:r>
            <a:r>
              <a:rPr lang="zh-CN" altLang="en-US" b="1">
                <a:latin typeface="Times New Roman" panose="02020603050405020304" pitchFamily="18" charset="0"/>
              </a:rPr>
              <a:t>条，其中有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条是回路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      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zh-CN" altLang="en-US" b="1">
                <a:latin typeface="Times New Roman" panose="02020603050405020304" pitchFamily="18" charset="0"/>
              </a:rPr>
              <a:t>中长度为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的通路为</a:t>
            </a:r>
            <a:r>
              <a:rPr lang="en-US" altLang="zh-CN" b="1">
                <a:latin typeface="Times New Roman" panose="02020603050405020304" pitchFamily="18" charset="0"/>
              </a:rPr>
              <a:t>11</a:t>
            </a:r>
            <a:r>
              <a:rPr lang="zh-CN" altLang="en-US" b="1">
                <a:latin typeface="Times New Roman" panose="02020603050405020304" pitchFamily="18" charset="0"/>
              </a:rPr>
              <a:t>条，其中有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条是回路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      D</a:t>
            </a:r>
            <a:r>
              <a:rPr lang="zh-CN" altLang="en-US" b="1">
                <a:latin typeface="Times New Roman" panose="02020603050405020304" pitchFamily="18" charset="0"/>
              </a:rPr>
              <a:t>中长度为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的通路分别为</a:t>
            </a:r>
            <a:r>
              <a:rPr lang="en-US" altLang="zh-CN" b="1">
                <a:latin typeface="Times New Roman" panose="02020603050405020304" pitchFamily="18" charset="0"/>
              </a:rPr>
              <a:t>14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17</a:t>
            </a:r>
            <a:r>
              <a:rPr lang="zh-CN" altLang="en-US" b="1">
                <a:latin typeface="Times New Roman" panose="02020603050405020304" pitchFamily="18" charset="0"/>
              </a:rPr>
              <a:t>条，回路分别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      为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条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zh-CN" altLang="en-US" b="1">
                <a:latin typeface="Times New Roman" panose="02020603050405020304" pitchFamily="18" charset="0"/>
              </a:rPr>
              <a:t>中长度小于等于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的通路为</a:t>
            </a:r>
            <a:r>
              <a:rPr lang="en-US" altLang="zh-CN" b="1">
                <a:latin typeface="Times New Roman" panose="02020603050405020304" pitchFamily="18" charset="0"/>
              </a:rPr>
              <a:t>50</a:t>
            </a:r>
            <a:r>
              <a:rPr lang="zh-CN" altLang="en-US" b="1">
                <a:latin typeface="Times New Roman" panose="02020603050405020304" pitchFamily="18" charset="0"/>
              </a:rPr>
              <a:t>条，其中有</a:t>
            </a:r>
            <a:r>
              <a:rPr lang="en-US" altLang="zh-CN" b="1">
                <a:latin typeface="Times New Roman" panose="02020603050405020304" pitchFamily="18" charset="0"/>
              </a:rPr>
              <a:t>8</a:t>
            </a:r>
            <a:r>
              <a:rPr lang="zh-CN" altLang="en-US" b="1">
                <a:latin typeface="Times New Roman" panose="02020603050405020304" pitchFamily="18" charset="0"/>
              </a:rPr>
              <a:t>条是回路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7524" name="矩形 360457">
            <a:extLst>
              <a:ext uri="{FF2B5EF4-FFF2-40B4-BE49-F238E27FC236}">
                <a16:creationId xmlns:a16="http://schemas.microsoft.com/office/drawing/2014/main" id="{4C7C8B6E-B01F-51DE-D193-F5BF20FF7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260351"/>
            <a:ext cx="61214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实例求解</a:t>
            </a:r>
          </a:p>
        </p:txBody>
      </p:sp>
      <p:sp>
        <p:nvSpPr>
          <p:cNvPr id="107525" name="灯片编号占位符 1">
            <a:extLst>
              <a:ext uri="{FF2B5EF4-FFF2-40B4-BE49-F238E27FC236}">
                <a16:creationId xmlns:a16="http://schemas.microsoft.com/office/drawing/2014/main" id="{0FDE8D04-9F80-B696-B700-A98101DCAE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46DA14-8CB8-4FA4-BA17-D0581966348E}" type="slidenum">
              <a:rPr lang="zh-CN" altLang="en-US" sz="1400"/>
              <a:pPr/>
              <a:t>26</a:t>
            </a:fld>
            <a:endParaRPr lang="zh-CN" alt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5" name="标题 325634">
            <a:extLst>
              <a:ext uri="{FF2B5EF4-FFF2-40B4-BE49-F238E27FC236}">
                <a16:creationId xmlns:a16="http://schemas.microsoft.com/office/drawing/2014/main" id="{8B9E7E92-47ED-4D34-BD11-ADD2E282C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第十五章 欧拉图和哈密顿图</a:t>
            </a:r>
            <a:endParaRPr lang="zh-CN" altLang="en-US" dirty="0"/>
          </a:p>
        </p:txBody>
      </p:sp>
      <p:sp>
        <p:nvSpPr>
          <p:cNvPr id="59395" name="文本占位符 325644">
            <a:extLst>
              <a:ext uri="{FF2B5EF4-FFF2-40B4-BE49-F238E27FC236}">
                <a16:creationId xmlns:a16="http://schemas.microsoft.com/office/drawing/2014/main" id="{3D69406D-FE52-48B7-A47C-83ADA8EBF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72087" y="1461136"/>
            <a:ext cx="8229600" cy="5040313"/>
          </a:xfrm>
        </p:spPr>
        <p:txBody>
          <a:bodyPr/>
          <a:lstStyle/>
          <a:p>
            <a:pPr eaLnBrk="1" hangingPunct="1"/>
            <a:r>
              <a:rPr lang="zh-CN" altLang="en-US" b="1" dirty="0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欧拉通路、欧拉回路、欧拉图、半欧拉图及其判别法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哈密顿通路、哈密顿回路、哈密顿图、半哈密顿图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带权图、货郎担问题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 dirty="0"/>
              <a:t>基本要求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深刻理解欧拉图、半欧拉图的定义及判别定理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深刻理解哈密顿图、半哈密顿图的定义</a:t>
            </a:r>
            <a:r>
              <a:rPr lang="en-US" altLang="zh-CN" b="1" dirty="0"/>
              <a:t>. 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会用哈密顿图的必要条件判断某些图不是哈密顿图</a:t>
            </a:r>
            <a:r>
              <a:rPr lang="en-US" altLang="zh-CN" b="1" dirty="0"/>
              <a:t>. 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•"/>
            </a:pPr>
            <a:r>
              <a:rPr lang="zh-CN" altLang="en-US" b="1" dirty="0"/>
              <a:t>会用充分条件判断某些图是哈密顿图</a:t>
            </a:r>
            <a:r>
              <a:rPr lang="en-US" altLang="zh-CN" b="1" dirty="0"/>
              <a:t>. </a:t>
            </a:r>
            <a:r>
              <a:rPr lang="zh-CN" altLang="en-US" b="1" dirty="0"/>
              <a:t>要特别注意的是，不能将必要条件当作充分条件，也不要将充分条件当必要条件</a:t>
            </a:r>
            <a:r>
              <a:rPr lang="en-US" altLang="zh-CN" b="1" dirty="0"/>
              <a:t>. </a:t>
            </a:r>
          </a:p>
        </p:txBody>
      </p:sp>
      <p:sp>
        <p:nvSpPr>
          <p:cNvPr id="59396" name="灯片编号占位符 1">
            <a:extLst>
              <a:ext uri="{FF2B5EF4-FFF2-40B4-BE49-F238E27FC236}">
                <a16:creationId xmlns:a16="http://schemas.microsoft.com/office/drawing/2014/main" id="{3921EF85-A675-4F9A-A7FF-A8E202878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92FB0F-38BF-447D-83B0-292E0520E22A}" type="slidenum">
              <a:rPr lang="zh-CN" altLang="en-US" sz="1400"/>
              <a:pPr eaLnBrk="1" hangingPunct="1"/>
              <a:t>27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矩形 327688">
            <a:extLst>
              <a:ext uri="{FF2B5EF4-FFF2-40B4-BE49-F238E27FC236}">
                <a16:creationId xmlns:a16="http://schemas.microsoft.com/office/drawing/2014/main" id="{38D422FB-1452-A141-E854-5D02A2AC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13" y="638291"/>
            <a:ext cx="95941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3429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）阶无向欧拉图（或哈密顿图），证明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中无桥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见例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思考题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04451" name="矩形 327689">
            <a:extLst>
              <a:ext uri="{FF2B5EF4-FFF2-40B4-BE49-F238E27FC236}">
                <a16:creationId xmlns:a16="http://schemas.microsoft.com/office/drawing/2014/main" id="{5F0729F4-1353-1817-B5D9-5A7D22702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7" y="4262438"/>
            <a:ext cx="8207375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85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方法二：反证法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利用欧拉图无奇度顶点及握手定理的推论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否则，设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中桥，则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产生两个连通分支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，不妨设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由于从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中删除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时，只改变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的度数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各减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，因而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中均只含一个奇度顶点，这与握手定理推论矛盾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4453" name="矩形 327691">
            <a:extLst>
              <a:ext uri="{FF2B5EF4-FFF2-40B4-BE49-F238E27FC236}">
                <a16:creationId xmlns:a16="http://schemas.microsoft.com/office/drawing/2014/main" id="{7A00027A-5460-ACAD-F41B-81BEBA7A7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083" y="1648173"/>
            <a:ext cx="8424862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85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方法一：直接证明法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3000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命题 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(*)</a:t>
            </a:r>
            <a:r>
              <a:rPr lang="zh-CN" altLang="en-US" dirty="0">
                <a:latin typeface="Times New Roman" panose="02020603050405020304" pitchFamily="18" charset="0"/>
              </a:rPr>
              <a:t>：设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为任意简单回路，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上任意一条边，则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连通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  <a:p>
            <a:pPr eaLnBrk="1" hangingPunct="1">
              <a:spcBef>
                <a:spcPct val="3000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证  设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中一条欧拉回路，任意的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可知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的子图，由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()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知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连通，所以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不为桥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104454" name="灯片编号占位符 1">
            <a:extLst>
              <a:ext uri="{FF2B5EF4-FFF2-40B4-BE49-F238E27FC236}">
                <a16:creationId xmlns:a16="http://schemas.microsoft.com/office/drawing/2014/main" id="{9BA0CDAF-22A2-FB02-DBC6-0242BF8FA2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372CA5-BABD-4732-BFF3-FD67F9FBC594}" type="slidenum">
              <a:rPr lang="zh-CN" altLang="en-US" sz="1400" b="0"/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28</a:t>
            </a:fld>
            <a:endParaRPr lang="zh-CN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矩形 327688">
            <a:extLst>
              <a:ext uri="{FF2B5EF4-FFF2-40B4-BE49-F238E27FC236}">
                <a16:creationId xmlns:a16="http://schemas.microsoft.com/office/drawing/2014/main" id="{38D422FB-1452-A141-E854-5D02A2AC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403" y="936963"/>
            <a:ext cx="9594137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3429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为无向连通图，证明：若</a:t>
            </a:r>
            <a:r>
              <a:rPr lang="en-US" altLang="zh-CN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中有桥或割点，则</a:t>
            </a:r>
            <a:r>
              <a:rPr lang="en-US" altLang="zh-CN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不是哈密顿图；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latin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</a:rPr>
              <a:t>完全图</a:t>
            </a:r>
            <a:r>
              <a:rPr lang="en-US" altLang="zh-CN" dirty="0" err="1">
                <a:latin typeface="Times New Roman" panose="02020603050405020304" pitchFamily="18" charset="0"/>
              </a:rPr>
              <a:t>Kn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n&gt;=3</a:t>
            </a:r>
            <a:r>
              <a:rPr lang="zh-CN" altLang="en-US" dirty="0">
                <a:latin typeface="Times New Roman" panose="02020603050405020304" pitchFamily="18" charset="0"/>
              </a:rPr>
              <a:t>）是哈密顿图。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4454" name="灯片编号占位符 1">
            <a:extLst>
              <a:ext uri="{FF2B5EF4-FFF2-40B4-BE49-F238E27FC236}">
                <a16:creationId xmlns:a16="http://schemas.microsoft.com/office/drawing/2014/main" id="{9BA0CDAF-22A2-FB02-DBC6-0242BF8FA2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372CA5-BABD-4732-BFF3-FD67F9FBC594}" type="slidenum">
              <a:rPr lang="zh-CN" altLang="en-US" sz="1400" b="0"/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29</a:t>
            </a:fld>
            <a:endParaRPr lang="zh-CN" altLang="en-US" sz="1400" b="0"/>
          </a:p>
        </p:txBody>
      </p:sp>
    </p:spTree>
    <p:extLst>
      <p:ext uri="{BB962C8B-B14F-4D97-AF65-F5344CB8AC3E}">
        <p14:creationId xmlns:p14="http://schemas.microsoft.com/office/powerpoint/2010/main" val="1697379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>
            <a:extLst>
              <a:ext uri="{FF2B5EF4-FFF2-40B4-BE49-F238E27FC236}">
                <a16:creationId xmlns:a16="http://schemas.microsoft.com/office/drawing/2014/main" id="{F25267F7-ADCC-49E6-B310-1D2380E1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B472FE-2355-468A-AF34-406D9DC71057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400" b="0"/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6A7F9355-8BBB-4C8F-9DB2-C08AD8BF4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 树</a:t>
            </a:r>
          </a:p>
        </p:txBody>
      </p:sp>
      <p:sp>
        <p:nvSpPr>
          <p:cNvPr id="69636" name="Rectangle 12">
            <a:extLst>
              <a:ext uri="{FF2B5EF4-FFF2-40B4-BE49-F238E27FC236}">
                <a16:creationId xmlns:a16="http://schemas.microsoft.com/office/drawing/2014/main" id="{4C49D906-9C02-46C4-9578-F3EABEAC8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052513"/>
            <a:ext cx="8229600" cy="5472112"/>
          </a:xfrm>
        </p:spPr>
        <p:txBody>
          <a:bodyPr/>
          <a:lstStyle/>
          <a:p>
            <a:pPr eaLnBrk="1" hangingPunct="1"/>
            <a:r>
              <a:rPr lang="zh-CN" altLang="en-US" b="1" dirty="0"/>
              <a:t>主要内容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无向树及其性质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生成树、最小生成树、基本回路系统、基本割集系统、有向树的遍历</a:t>
            </a:r>
          </a:p>
          <a:p>
            <a:pPr eaLnBrk="1" hangingPunct="1">
              <a:spcBef>
                <a:spcPct val="40000"/>
              </a:spcBef>
            </a:pPr>
            <a:endParaRPr lang="en-US" altLang="zh-CN" b="1" dirty="0"/>
          </a:p>
          <a:p>
            <a:pPr eaLnBrk="1" hangingPunct="1">
              <a:spcBef>
                <a:spcPct val="40000"/>
              </a:spcBef>
            </a:pPr>
            <a:r>
              <a:rPr lang="zh-CN" altLang="en-US" b="1" dirty="0"/>
              <a:t>基本要求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</a:rPr>
              <a:t>深刻理解无向树的定义及性质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</a:rPr>
              <a:t>熟练地求解无向树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</a:rPr>
              <a:t>准确地求出给定带权连通图的最小生成树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</a:rPr>
              <a:t>深刻理解基本回路、基本割集的概念，并会计算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</a:rPr>
              <a:t>有向树的三种遍历方法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EC8F7-FC21-D8ED-0640-E69D352A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56" y="542616"/>
            <a:ext cx="8946541" cy="4195481"/>
          </a:xfrm>
        </p:spPr>
        <p:txBody>
          <a:bodyPr>
            <a:normAutofit/>
          </a:bodyPr>
          <a:lstStyle/>
          <a:p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一棵无向树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片树叶，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度分支点，其余分支点都是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度顶点，请问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有几个顶点？并证明此树的所有非同构图，都不是哈密顿图或者欧拉图。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47713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EC8F7-FC21-D8ED-0640-E69D352A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56" y="542616"/>
            <a:ext cx="8946541" cy="4195481"/>
          </a:xfrm>
        </p:spPr>
        <p:txBody>
          <a:bodyPr>
            <a:normAutofit/>
          </a:bodyPr>
          <a:lstStyle/>
          <a:p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图为一颗二叉树，试用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序、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序以及后序的方法对二叉树进行遍历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735159-3E32-E07D-2732-FACC1C966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250" y="1361059"/>
            <a:ext cx="4534724" cy="30482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3E3C0C-5A1D-D5D3-E15F-5725C786A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237" y="5010459"/>
            <a:ext cx="75247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3401</Words>
  <Application>Microsoft Office PowerPoint</Application>
  <PresentationFormat>宽屏</PresentationFormat>
  <Paragraphs>315</Paragraphs>
  <Slides>32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 Unicode MS</vt:lpstr>
      <vt:lpstr>等线</vt:lpstr>
      <vt:lpstr>华文中宋</vt:lpstr>
      <vt:lpstr>宋体</vt:lpstr>
      <vt:lpstr>Arial</vt:lpstr>
      <vt:lpstr>Century Gothic</vt:lpstr>
      <vt:lpstr>Lucida Sans Unicode</vt:lpstr>
      <vt:lpstr>Palace Script MT</vt:lpstr>
      <vt:lpstr>Times New Roman</vt:lpstr>
      <vt:lpstr>Wingdings</vt:lpstr>
      <vt:lpstr>Wingdings 3</vt:lpstr>
      <vt:lpstr>离子</vt:lpstr>
      <vt:lpstr>Microsoft 公式 3.0</vt:lpstr>
      <vt:lpstr>总复习</vt:lpstr>
      <vt:lpstr>第一章 命题逻辑的基本概念</vt:lpstr>
      <vt:lpstr>PowerPoint 演示文稿</vt:lpstr>
      <vt:lpstr>第二章 命题逻辑的等值演算</vt:lpstr>
      <vt:lpstr>PowerPoint 演示文稿</vt:lpstr>
      <vt:lpstr>PowerPoint 演示文稿</vt:lpstr>
      <vt:lpstr>第三章 命题逻辑的推理理论</vt:lpstr>
      <vt:lpstr>推理定律——重言蕴涵式</vt:lpstr>
      <vt:lpstr>PowerPoint 演示文稿</vt:lpstr>
      <vt:lpstr>第四章 一阶逻辑的基本概念</vt:lpstr>
      <vt:lpstr>PowerPoint 演示文稿</vt:lpstr>
      <vt:lpstr>PowerPoint 演示文稿</vt:lpstr>
      <vt:lpstr>第六章 集合代数</vt:lpstr>
      <vt:lpstr>PowerPoint 演示文稿</vt:lpstr>
      <vt:lpstr>第七章  二元关系</vt:lpstr>
      <vt:lpstr>PowerPoint 演示文稿</vt:lpstr>
      <vt:lpstr>PowerPoint 演示文稿</vt:lpstr>
      <vt:lpstr>PowerPoint 演示文稿</vt:lpstr>
      <vt:lpstr>第九章 代数系统</vt:lpstr>
      <vt:lpstr>PowerPoint 演示文稿</vt:lpstr>
      <vt:lpstr>PowerPoint 演示文稿</vt:lpstr>
      <vt:lpstr>第十章 半群和群</vt:lpstr>
      <vt:lpstr>第十四章 图的基本概念</vt:lpstr>
      <vt:lpstr>PowerPoint 演示文稿</vt:lpstr>
      <vt:lpstr>PowerPoint 演示文稿</vt:lpstr>
      <vt:lpstr>PowerPoint 演示文稿</vt:lpstr>
      <vt:lpstr>第十五章 欧拉图和哈密顿图</vt:lpstr>
      <vt:lpstr>PowerPoint 演示文稿</vt:lpstr>
      <vt:lpstr>PowerPoint 演示文稿</vt:lpstr>
      <vt:lpstr>第十六章 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总复习</dc:title>
  <dc:creator>liu tt</dc:creator>
  <cp:lastModifiedBy>liu tt</cp:lastModifiedBy>
  <cp:revision>8</cp:revision>
  <dcterms:created xsi:type="dcterms:W3CDTF">2021-11-28T13:18:14Z</dcterms:created>
  <dcterms:modified xsi:type="dcterms:W3CDTF">2023-06-14T03:17:55Z</dcterms:modified>
</cp:coreProperties>
</file>