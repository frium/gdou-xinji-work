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78" r:id="rId6"/>
    <p:sldId id="259" r:id="rId7"/>
    <p:sldId id="271" r:id="rId8"/>
    <p:sldId id="329" r:id="rId9"/>
    <p:sldId id="261" r:id="rId10"/>
    <p:sldId id="330" r:id="rId11"/>
    <p:sldId id="279" r:id="rId12"/>
    <p:sldId id="264" r:id="rId13"/>
    <p:sldId id="263" r:id="rId14"/>
    <p:sldId id="265" r:id="rId15"/>
    <p:sldId id="280" r:id="rId16"/>
    <p:sldId id="281" r:id="rId17"/>
    <p:sldId id="266" r:id="rId18"/>
    <p:sldId id="268" r:id="rId19"/>
    <p:sldId id="289" r:id="rId20"/>
    <p:sldId id="290" r:id="rId21"/>
    <p:sldId id="291" r:id="rId22"/>
    <p:sldId id="286" r:id="rId23"/>
    <p:sldId id="331" r:id="rId24"/>
    <p:sldId id="282" r:id="rId25"/>
    <p:sldId id="267" r:id="rId26"/>
    <p:sldId id="283" r:id="rId27"/>
    <p:sldId id="287" r:id="rId28"/>
    <p:sldId id="284" r:id="rId29"/>
    <p:sldId id="288" r:id="rId30"/>
    <p:sldId id="270" r:id="rId31"/>
    <p:sldId id="272" r:id="rId32"/>
    <p:sldId id="274" r:id="rId33"/>
    <p:sldId id="293" r:id="rId34"/>
    <p:sldId id="294" r:id="rId35"/>
    <p:sldId id="295" r:id="rId36"/>
    <p:sldId id="332" r:id="rId37"/>
    <p:sldId id="299" r:id="rId38"/>
    <p:sldId id="301" r:id="rId39"/>
    <p:sldId id="302" r:id="rId40"/>
    <p:sldId id="303" r:id="rId41"/>
    <p:sldId id="304" r:id="rId42"/>
    <p:sldId id="305" r:id="rId43"/>
    <p:sldId id="306" r:id="rId44"/>
    <p:sldId id="333" r:id="rId45"/>
    <p:sldId id="307" r:id="rId46"/>
    <p:sldId id="308" r:id="rId47"/>
    <p:sldId id="309" r:id="rId48"/>
    <p:sldId id="310" r:id="rId49"/>
    <p:sldId id="323" r:id="rId50"/>
    <p:sldId id="324" r:id="rId51"/>
    <p:sldId id="328" r:id="rId52"/>
    <p:sldId id="326" r:id="rId53"/>
    <p:sldId id="325" r:id="rId54"/>
    <p:sldId id="327" r:id="rId55"/>
    <p:sldId id="311" r:id="rId56"/>
    <p:sldId id="312" r:id="rId5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1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2022/6/1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472" y="1142984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5400" b="1" dirty="0" smtClean="0">
                <a:solidFill>
                  <a:srgbClr val="0033CC"/>
                </a:solidFill>
              </a:rPr>
              <a:t>数学分析</a:t>
            </a:r>
            <a:r>
              <a:rPr lang="en-US" altLang="zh-CN" sz="5400" b="1" dirty="0" smtClean="0">
                <a:solidFill>
                  <a:srgbClr val="0033CC"/>
                </a:solidFill>
              </a:rPr>
              <a:t>2</a:t>
            </a:r>
            <a:r>
              <a:rPr lang="zh-CN" altLang="en-US" sz="5400" b="1" dirty="0" smtClean="0">
                <a:solidFill>
                  <a:srgbClr val="0033CC"/>
                </a:solidFill>
              </a:rPr>
              <a:t>复习</a:t>
            </a:r>
            <a:r>
              <a:rPr lang="en-US" altLang="zh-CN" sz="5400" b="1" dirty="0" smtClean="0">
                <a:solidFill>
                  <a:srgbClr val="0033CC"/>
                </a:solidFill>
              </a:rPr>
              <a:t>2</a:t>
            </a:r>
            <a:endParaRPr lang="zh-CN" altLang="en-US" sz="5400" b="1" dirty="0">
              <a:solidFill>
                <a:srgbClr val="0033CC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33CC"/>
                </a:solidFill>
              </a:rPr>
              <a:t>李升</a:t>
            </a:r>
            <a:endParaRPr lang="zh-CN" altLang="en-US" b="1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33CC"/>
                </a:solidFill>
              </a:rPr>
              <a:t>三、数项级数</a:t>
            </a:r>
          </a:p>
        </p:txBody>
      </p:sp>
      <p:sp>
        <p:nvSpPr>
          <p:cNvPr id="5" name="矩形 4"/>
          <p:cNvSpPr/>
          <p:nvPr/>
        </p:nvSpPr>
        <p:spPr>
          <a:xfrm>
            <a:off x="285720" y="1428736"/>
            <a:ext cx="8643998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1.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理解部分和与通项之间的关系，掌握由裂项相消、错位相减等方法求级数的和；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2.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理解级数收敛、部分和收敛以及通项趋于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0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之间的关系；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3.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理解正项级数的比较判别法“快收慢散”的涵义，熟练掌握比值法和根值法（两种形式）并应用于判断正项级数的敛散性；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4.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熟练掌握莱布尼兹判别法和狄利克雷判别法，了解阿贝尔判别法。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642910" y="214290"/>
            <a:ext cx="7932737" cy="6429396"/>
            <a:chOff x="642910" y="214290"/>
            <a:chExt cx="7932737" cy="6429396"/>
          </a:xfrm>
        </p:grpSpPr>
        <p:grpSp>
          <p:nvGrpSpPr>
            <p:cNvPr id="9" name="组合 8"/>
            <p:cNvGrpSpPr/>
            <p:nvPr/>
          </p:nvGrpSpPr>
          <p:grpSpPr>
            <a:xfrm>
              <a:off x="642910" y="214290"/>
              <a:ext cx="7932737" cy="6429396"/>
              <a:chOff x="568353" y="71438"/>
              <a:chExt cx="7932737" cy="6429396"/>
            </a:xfrm>
          </p:grpSpPr>
          <p:graphicFrame>
            <p:nvGraphicFramePr>
              <p:cNvPr id="40962" name="Object 2"/>
              <p:cNvGraphicFramePr>
                <a:graphicFrameLocks noChangeAspect="1"/>
              </p:cNvGraphicFramePr>
              <p:nvPr/>
            </p:nvGraphicFramePr>
            <p:xfrm>
              <a:off x="854105" y="6024584"/>
              <a:ext cx="6838950" cy="476250"/>
            </p:xfrm>
            <a:graphic>
              <a:graphicData uri="http://schemas.openxmlformats.org/presentationml/2006/ole">
                <p:oleObj spid="_x0000_s40962" name="Equation" r:id="rId3" imgW="3288960" imgH="228600" progId="Equation.DSMT4">
                  <p:embed/>
                </p:oleObj>
              </a:graphicData>
            </a:graphic>
          </p:graphicFrame>
          <p:pic>
            <p:nvPicPr>
              <p:cNvPr id="40963" name="Picture 3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68353" y="3357562"/>
                <a:ext cx="7929618" cy="25216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0964" name="Picture 4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568353" y="71438"/>
                <a:ext cx="7932737" cy="33147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40965" name="Picture 5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905776" y="2643182"/>
              <a:ext cx="381000" cy="571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0966" name="Picture 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905776" y="1219188"/>
              <a:ext cx="381000" cy="495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57238" y="700088"/>
            <a:ext cx="7529538" cy="5457825"/>
            <a:chOff x="757238" y="700088"/>
            <a:chExt cx="7529538" cy="5457825"/>
          </a:xfrm>
        </p:grpSpPr>
        <p:pic>
          <p:nvPicPr>
            <p:cNvPr id="39937" name="Picture 1"/>
            <p:cNvPicPr>
              <a:picLocks noChangeAspect="1" noChangeArrowheads="1"/>
            </p:cNvPicPr>
            <p:nvPr/>
          </p:nvPicPr>
          <p:blipFill>
            <a:blip r:embed="rId2"/>
            <a:srcRect r="3105"/>
            <a:stretch>
              <a:fillRect/>
            </a:stretch>
          </p:blipFill>
          <p:spPr bwMode="auto">
            <a:xfrm>
              <a:off x="757238" y="700088"/>
              <a:ext cx="7529538" cy="545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857232"/>
              <a:ext cx="326048" cy="423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38175" y="542925"/>
            <a:ext cx="7866063" cy="5772150"/>
            <a:chOff x="638175" y="542925"/>
            <a:chExt cx="7866063" cy="5772150"/>
          </a:xfrm>
        </p:grpSpPr>
        <p:pic>
          <p:nvPicPr>
            <p:cNvPr id="3891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38175" y="542925"/>
              <a:ext cx="7866063" cy="5772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891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42976" y="576246"/>
              <a:ext cx="381000" cy="495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00034" y="571480"/>
            <a:ext cx="8001056" cy="5081612"/>
            <a:chOff x="500034" y="571480"/>
            <a:chExt cx="8001056" cy="5081612"/>
          </a:xfrm>
        </p:grpSpPr>
        <p:grpSp>
          <p:nvGrpSpPr>
            <p:cNvPr id="7" name="组合 6"/>
            <p:cNvGrpSpPr/>
            <p:nvPr/>
          </p:nvGrpSpPr>
          <p:grpSpPr>
            <a:xfrm>
              <a:off x="500034" y="571480"/>
              <a:ext cx="8001056" cy="5081612"/>
              <a:chOff x="500034" y="571480"/>
              <a:chExt cx="8001056" cy="5081612"/>
            </a:xfrm>
          </p:grpSpPr>
          <p:pic>
            <p:nvPicPr>
              <p:cNvPr id="2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00034" y="571480"/>
                <a:ext cx="7999413" cy="441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7891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 t="54217" r="1756"/>
              <a:stretch>
                <a:fillRect/>
              </a:stretch>
            </p:blipFill>
            <p:spPr bwMode="auto">
              <a:xfrm>
                <a:off x="511203" y="4929198"/>
                <a:ext cx="7989887" cy="7238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37892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2643182"/>
              <a:ext cx="1428760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357422" y="3643314"/>
              <a:ext cx="1428760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04850" y="1071563"/>
            <a:ext cx="7732713" cy="4714875"/>
            <a:chOff x="704850" y="1071563"/>
            <a:chExt cx="7732713" cy="4714875"/>
          </a:xfrm>
        </p:grpSpPr>
        <p:pic>
          <p:nvPicPr>
            <p:cNvPr id="77825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04850" y="1071563"/>
              <a:ext cx="7732713" cy="471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78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71604" y="1404926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/>
          <a:srcRect r="6335"/>
          <a:stretch>
            <a:fillRect/>
          </a:stretch>
        </p:blipFill>
        <p:spPr bwMode="auto">
          <a:xfrm>
            <a:off x="704851" y="604838"/>
            <a:ext cx="7510487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500438"/>
            <a:ext cx="6599237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4572008"/>
            <a:ext cx="34290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组合 10"/>
          <p:cNvGrpSpPr/>
          <p:nvPr/>
        </p:nvGrpSpPr>
        <p:grpSpPr>
          <a:xfrm>
            <a:off x="642910" y="428604"/>
            <a:ext cx="7866063" cy="2562225"/>
            <a:chOff x="642910" y="428604"/>
            <a:chExt cx="7866063" cy="2562225"/>
          </a:xfrm>
        </p:grpSpPr>
        <p:pic>
          <p:nvPicPr>
            <p:cNvPr id="76801" name="Picture 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42910" y="428604"/>
              <a:ext cx="7866063" cy="2562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6804" name="Picture 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428728" y="1000108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85786" y="1428736"/>
            <a:ext cx="7646987" cy="3028950"/>
            <a:chOff x="785786" y="1428736"/>
            <a:chExt cx="7646987" cy="3028950"/>
          </a:xfrm>
        </p:grpSpPr>
        <p:pic>
          <p:nvPicPr>
            <p:cNvPr id="798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85786" y="1428736"/>
              <a:ext cx="7646987" cy="3028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98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71604" y="2071678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14348" y="500042"/>
            <a:ext cx="7808913" cy="5695950"/>
            <a:chOff x="714348" y="500042"/>
            <a:chExt cx="7808913" cy="5695950"/>
          </a:xfrm>
        </p:grpSpPr>
        <p:pic>
          <p:nvPicPr>
            <p:cNvPr id="75777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14348" y="500042"/>
              <a:ext cx="7808913" cy="5695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577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571480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00034" y="500042"/>
            <a:ext cx="8052938" cy="2286016"/>
            <a:chOff x="500034" y="500042"/>
            <a:chExt cx="8052938" cy="2286016"/>
          </a:xfrm>
        </p:grpSpPr>
        <p:pic>
          <p:nvPicPr>
            <p:cNvPr id="74753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00034" y="500042"/>
              <a:ext cx="8052938" cy="2286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475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1000108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9" name="组合 8"/>
          <p:cNvGrpSpPr/>
          <p:nvPr/>
        </p:nvGrpSpPr>
        <p:grpSpPr>
          <a:xfrm>
            <a:off x="571472" y="3000372"/>
            <a:ext cx="8011433" cy="2500330"/>
            <a:chOff x="571472" y="3000372"/>
            <a:chExt cx="8011433" cy="2500330"/>
          </a:xfrm>
        </p:grpSpPr>
        <p:pic>
          <p:nvPicPr>
            <p:cNvPr id="74754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1472" y="3000372"/>
              <a:ext cx="8011433" cy="2500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475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3714752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852488" y="557213"/>
            <a:ext cx="7437437" cy="5743575"/>
            <a:chOff x="852488" y="557213"/>
            <a:chExt cx="7437437" cy="5743575"/>
          </a:xfrm>
        </p:grpSpPr>
        <p:pic>
          <p:nvPicPr>
            <p:cNvPr id="73729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2488" y="557213"/>
              <a:ext cx="7437437" cy="5743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373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642918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23900" y="1395413"/>
            <a:ext cx="7694613" cy="4067175"/>
            <a:chOff x="723900" y="1395413"/>
            <a:chExt cx="7694613" cy="4067175"/>
          </a:xfrm>
        </p:grpSpPr>
        <p:pic>
          <p:nvPicPr>
            <p:cNvPr id="72705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71538" y="1428736"/>
              <a:ext cx="6951663" cy="3781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270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23900" y="1395413"/>
              <a:ext cx="7694613" cy="4067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2707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214414" y="1785926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61975" y="890588"/>
            <a:ext cx="8018463" cy="5076825"/>
            <a:chOff x="561975" y="890588"/>
            <a:chExt cx="8018463" cy="5076825"/>
          </a:xfrm>
        </p:grpSpPr>
        <p:pic>
          <p:nvPicPr>
            <p:cNvPr id="71681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61975" y="890588"/>
              <a:ext cx="8018463" cy="5076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682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30" y="1643050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42910" y="1000108"/>
            <a:ext cx="7742237" cy="3124200"/>
            <a:chOff x="642910" y="1000108"/>
            <a:chExt cx="7742237" cy="3124200"/>
          </a:xfrm>
        </p:grpSpPr>
        <p:pic>
          <p:nvPicPr>
            <p:cNvPr id="70657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42910" y="1000108"/>
              <a:ext cx="7742237" cy="312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065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2" y="2500306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847725" y="1300163"/>
            <a:ext cx="7446963" cy="4257675"/>
            <a:chOff x="847725" y="1300163"/>
            <a:chExt cx="7446963" cy="4257675"/>
          </a:xfrm>
        </p:grpSpPr>
        <p:pic>
          <p:nvPicPr>
            <p:cNvPr id="69633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7725" y="1300163"/>
              <a:ext cx="7446963" cy="4257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9634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1571612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00034" y="1107368"/>
            <a:ext cx="8215370" cy="3069356"/>
            <a:chOff x="500034" y="1216900"/>
            <a:chExt cx="8215370" cy="3069356"/>
          </a:xfrm>
        </p:grpSpPr>
        <p:pic>
          <p:nvPicPr>
            <p:cNvPr id="68609" name="Picture 1"/>
            <p:cNvPicPr>
              <a:picLocks noChangeAspect="1" noChangeArrowheads="1"/>
            </p:cNvPicPr>
            <p:nvPr/>
          </p:nvPicPr>
          <p:blipFill>
            <a:blip r:embed="rId2"/>
            <a:srcRect b="31107"/>
            <a:stretch>
              <a:fillRect/>
            </a:stretch>
          </p:blipFill>
          <p:spPr bwMode="auto">
            <a:xfrm>
              <a:off x="500034" y="1216900"/>
              <a:ext cx="8199466" cy="3069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8611" name="Picture 3"/>
            <p:cNvPicPr>
              <a:picLocks noChangeAspect="1" noChangeArrowheads="1"/>
            </p:cNvPicPr>
            <p:nvPr/>
          </p:nvPicPr>
          <p:blipFill>
            <a:blip r:embed="rId3"/>
            <a:srcRect r="1716"/>
            <a:stretch>
              <a:fillRect/>
            </a:stretch>
          </p:blipFill>
          <p:spPr bwMode="auto">
            <a:xfrm>
              <a:off x="532006" y="1928802"/>
              <a:ext cx="8183398" cy="2352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00232" y="4676790"/>
            <a:ext cx="52197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738188" y="952500"/>
            <a:ext cx="7666037" cy="4953000"/>
            <a:chOff x="738188" y="952500"/>
            <a:chExt cx="7666037" cy="4953000"/>
          </a:xfrm>
        </p:grpSpPr>
        <p:pic>
          <p:nvPicPr>
            <p:cNvPr id="67585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38188" y="952500"/>
              <a:ext cx="7666037" cy="495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758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1285860"/>
              <a:ext cx="2857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3" y="1071546"/>
            <a:ext cx="9067829" cy="2227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6" y="3643314"/>
            <a:ext cx="8786842" cy="1484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14282" y="0"/>
            <a:ext cx="8675718" cy="5910263"/>
            <a:chOff x="214282" y="0"/>
            <a:chExt cx="8675718" cy="5910263"/>
          </a:xfrm>
        </p:grpSpPr>
        <p:pic>
          <p:nvPicPr>
            <p:cNvPr id="65537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14282" y="0"/>
              <a:ext cx="8637587" cy="1009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553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2413" y="947738"/>
              <a:ext cx="8637587" cy="496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5540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76276" y="357166"/>
              <a:ext cx="266700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8" y="1762125"/>
            <a:ext cx="8428037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rgbClr val="0033CC"/>
                </a:solidFill>
              </a:rPr>
              <a:t>四、函数列与函数项级数</a:t>
            </a:r>
          </a:p>
        </p:txBody>
      </p:sp>
      <p:sp>
        <p:nvSpPr>
          <p:cNvPr id="5" name="矩形 4"/>
          <p:cNvSpPr/>
          <p:nvPr/>
        </p:nvSpPr>
        <p:spPr>
          <a:xfrm>
            <a:off x="285720" y="1428736"/>
            <a:ext cx="864399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1.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理解函数列逐点收敛和一致收敛的概念，以及它们的关系，会计算极限函数；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2.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熟练应用余项定理（定理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11.1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）判断函数列的一致收敛性；掌握应用定理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11.2.1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证明连续函数列不一致收敛的思想方法；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3.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理解函数项级数收敛、绝对收敛和一致收敛的概念，以及它们的关系；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4.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理解掌握函数项级数一致收敛与通项一致收敛于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0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的关系；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5.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熟练应用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M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判别法和狄利克雷判别法讨论函数项级数的一致收敛性，了解阿贝尔判别法。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28604"/>
            <a:ext cx="8143932" cy="5964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33375" y="1138238"/>
            <a:ext cx="8475663" cy="4581525"/>
            <a:chOff x="333375" y="1138238"/>
            <a:chExt cx="8475663" cy="4581525"/>
          </a:xfrm>
        </p:grpSpPr>
        <p:pic>
          <p:nvPicPr>
            <p:cNvPr id="6246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33375" y="1138238"/>
              <a:ext cx="8475663" cy="4581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14744" y="5214950"/>
              <a:ext cx="1643074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" y="1400175"/>
            <a:ext cx="8818563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500042"/>
            <a:ext cx="8143932" cy="567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45981"/>
            <a:ext cx="6858048" cy="3168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6503" y="3571876"/>
            <a:ext cx="6994521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14348" y="714356"/>
            <a:ext cx="7532715" cy="5162569"/>
            <a:chOff x="895350" y="981075"/>
            <a:chExt cx="7351713" cy="4895850"/>
          </a:xfrm>
        </p:grpSpPr>
        <p:pic>
          <p:nvPicPr>
            <p:cNvPr id="286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95350" y="981075"/>
              <a:ext cx="7351713" cy="4895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86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780" y="1071546"/>
              <a:ext cx="266700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57166"/>
            <a:ext cx="8509397" cy="2523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720" y="3286125"/>
            <a:ext cx="8620090" cy="3042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170211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2928934"/>
            <a:ext cx="8072462" cy="2245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81100" y="5072075"/>
            <a:ext cx="6780213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85720" y="285728"/>
            <a:ext cx="8807573" cy="6137665"/>
            <a:chOff x="285720" y="285728"/>
            <a:chExt cx="8807573" cy="6137665"/>
          </a:xfrm>
        </p:grpSpPr>
        <p:pic>
          <p:nvPicPr>
            <p:cNvPr id="15365" name="Picture 5"/>
            <p:cNvPicPr>
              <a:picLocks noChangeAspect="1" noChangeArrowheads="1"/>
            </p:cNvPicPr>
            <p:nvPr/>
          </p:nvPicPr>
          <p:blipFill>
            <a:blip r:embed="rId2"/>
            <a:srcRect b="22757"/>
            <a:stretch>
              <a:fillRect/>
            </a:stretch>
          </p:blipFill>
          <p:spPr bwMode="auto">
            <a:xfrm>
              <a:off x="285720" y="285728"/>
              <a:ext cx="8513147" cy="2643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366" name="Picture 6"/>
            <p:cNvPicPr>
              <a:picLocks noChangeAspect="1" noChangeArrowheads="1"/>
            </p:cNvPicPr>
            <p:nvPr/>
          </p:nvPicPr>
          <p:blipFill>
            <a:blip r:embed="rId3"/>
            <a:srcRect t="51349"/>
            <a:stretch>
              <a:fillRect/>
            </a:stretch>
          </p:blipFill>
          <p:spPr bwMode="auto">
            <a:xfrm>
              <a:off x="785786" y="3929066"/>
              <a:ext cx="7667408" cy="2494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3"/>
            <a:srcRect t="-3111" b="82883"/>
            <a:stretch>
              <a:fillRect/>
            </a:stretch>
          </p:blipFill>
          <p:spPr bwMode="auto">
            <a:xfrm>
              <a:off x="642910" y="2928934"/>
              <a:ext cx="8450383" cy="1143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6322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71604" y="3286124"/>
              <a:ext cx="209550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4646" y="928670"/>
            <a:ext cx="8402196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14348" y="192786"/>
            <a:ext cx="7327901" cy="6450924"/>
            <a:chOff x="857224" y="192786"/>
            <a:chExt cx="7185025" cy="6288962"/>
          </a:xfrm>
        </p:grpSpPr>
        <p:pic>
          <p:nvPicPr>
            <p:cNvPr id="8192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7224" y="192786"/>
              <a:ext cx="7143800" cy="1099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192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28662" y="1357298"/>
              <a:ext cx="7113587" cy="5124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46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714480" y="419081"/>
              <a:ext cx="209550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428736"/>
            <a:ext cx="7933254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rgbClr val="0033CC"/>
                </a:solidFill>
              </a:rPr>
              <a:t>五、幂级数和傅里叶级数</a:t>
            </a:r>
          </a:p>
        </p:txBody>
      </p:sp>
      <p:sp>
        <p:nvSpPr>
          <p:cNvPr id="5" name="矩形 4"/>
          <p:cNvSpPr/>
          <p:nvPr/>
        </p:nvSpPr>
        <p:spPr>
          <a:xfrm>
            <a:off x="285720" y="1142984"/>
            <a:ext cx="864399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1.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理解幂级数的概念，理解幂级数收敛半径的定义，熟练掌握计算收敛半径和收敛域的方法；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2.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熟练应用逐项积分和逐项求导进行级数求和，并应用于特殊级数和的计算；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3.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理解函数与它对应的幂级数之间的关系，熟练掌握几个基本函数的麦克劳林级数，熟练利用间接法进行级数展开；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70C0"/>
                </a:solidFill>
              </a:rPr>
              <a:t>4.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理解函数与它对应的傅里叶级数之间的关系，了解狄利克雷条件；牢记计算给定函数的傅里叶级数的公式，掌握“取等号”的条件；熟练掌握由“奇周期延拓”得到余弦级数和“偶周期延拓”得到正项级数的思想方法。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57158" y="714356"/>
            <a:ext cx="8427700" cy="5143536"/>
            <a:chOff x="357158" y="571480"/>
            <a:chExt cx="8427700" cy="5143536"/>
          </a:xfrm>
        </p:grpSpPr>
        <p:pic>
          <p:nvPicPr>
            <p:cNvPr id="5837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7158" y="714356"/>
              <a:ext cx="8427700" cy="5000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837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8596" y="571480"/>
              <a:ext cx="6370260" cy="928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 r="3503"/>
          <a:stretch>
            <a:fillRect/>
          </a:stretch>
        </p:blipFill>
        <p:spPr bwMode="auto">
          <a:xfrm>
            <a:off x="785786" y="357166"/>
            <a:ext cx="7572428" cy="2443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071810"/>
            <a:ext cx="7836900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2038" y="1119188"/>
            <a:ext cx="7018337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785786" y="642918"/>
            <a:ext cx="7351713" cy="5257800"/>
            <a:chOff x="785786" y="642918"/>
            <a:chExt cx="7351713" cy="5257800"/>
          </a:xfrm>
        </p:grpSpPr>
        <p:pic>
          <p:nvPicPr>
            <p:cNvPr id="6144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85786" y="642918"/>
              <a:ext cx="7351713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144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714356"/>
              <a:ext cx="2667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666750" y="590550"/>
            <a:ext cx="7808913" cy="5676900"/>
            <a:chOff x="666750" y="590550"/>
            <a:chExt cx="7808913" cy="5676900"/>
          </a:xfrm>
        </p:grpSpPr>
        <p:pic>
          <p:nvPicPr>
            <p:cNvPr id="6246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66750" y="590550"/>
              <a:ext cx="7808913" cy="5676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57290" y="838184"/>
              <a:ext cx="2381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800100" y="595313"/>
            <a:ext cx="7542213" cy="5667375"/>
            <a:chOff x="800100" y="595313"/>
            <a:chExt cx="7542213" cy="5667375"/>
          </a:xfrm>
        </p:grpSpPr>
        <p:pic>
          <p:nvPicPr>
            <p:cNvPr id="6349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00100" y="595313"/>
              <a:ext cx="7542213" cy="5667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349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1285860"/>
              <a:ext cx="2476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571480"/>
            <a:ext cx="7818437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71472" y="3357562"/>
          <a:ext cx="7934722" cy="2857520"/>
        </p:xfrm>
        <a:graphic>
          <a:graphicData uri="http://schemas.openxmlformats.org/presentationml/2006/ole">
            <p:oleObj spid="_x0000_s64515" name="Equation" r:id="rId4" imgW="3949560" imgH="142236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428596" y="1214422"/>
          <a:ext cx="8304213" cy="3375025"/>
        </p:xfrm>
        <a:graphic>
          <a:graphicData uri="http://schemas.openxmlformats.org/presentationml/2006/ole">
            <p:oleObj spid="_x0000_s65538" name="Equation" r:id="rId3" imgW="3936960" imgH="16002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8" y="714375"/>
            <a:ext cx="8199437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642918"/>
            <a:ext cx="7342187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52475" y="547688"/>
            <a:ext cx="7637463" cy="5762625"/>
            <a:chOff x="752475" y="547688"/>
            <a:chExt cx="7637463" cy="5762625"/>
          </a:xfrm>
        </p:grpSpPr>
        <p:pic>
          <p:nvPicPr>
            <p:cNvPr id="68611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52475" y="547688"/>
              <a:ext cx="7637463" cy="5762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861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947722"/>
              <a:ext cx="228600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76288" y="504825"/>
            <a:ext cx="7589837" cy="5848350"/>
            <a:chOff x="776288" y="504825"/>
            <a:chExt cx="7589837" cy="5848350"/>
          </a:xfrm>
        </p:grpSpPr>
        <p:pic>
          <p:nvPicPr>
            <p:cNvPr id="6963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76288" y="504825"/>
              <a:ext cx="7589837" cy="5848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963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85880" y="714356"/>
              <a:ext cx="228600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571500"/>
            <a:ext cx="8094663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57200" y="523875"/>
            <a:ext cx="8228013" cy="5810250"/>
            <a:chOff x="457200" y="523875"/>
            <a:chExt cx="8228013" cy="5810250"/>
          </a:xfrm>
        </p:grpSpPr>
        <p:pic>
          <p:nvPicPr>
            <p:cNvPr id="7168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57200" y="523875"/>
              <a:ext cx="8228013" cy="5810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68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81065" y="890572"/>
              <a:ext cx="276225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500042"/>
            <a:ext cx="7380287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19125" y="566738"/>
            <a:ext cx="7904163" cy="5724525"/>
            <a:chOff x="619125" y="566738"/>
            <a:chExt cx="7904163" cy="5724525"/>
          </a:xfrm>
        </p:grpSpPr>
        <p:pic>
          <p:nvPicPr>
            <p:cNvPr id="7475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19125" y="566738"/>
              <a:ext cx="7904163" cy="5724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475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42976" y="785794"/>
              <a:ext cx="2381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76250" y="528638"/>
            <a:ext cx="8189913" cy="5800725"/>
            <a:chOff x="476250" y="528638"/>
            <a:chExt cx="8189913" cy="5800725"/>
          </a:xfrm>
        </p:grpSpPr>
        <p:pic>
          <p:nvPicPr>
            <p:cNvPr id="7373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76250" y="528638"/>
              <a:ext cx="8189913" cy="5800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373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0100" y="714356"/>
              <a:ext cx="2381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81013" y="538163"/>
            <a:ext cx="8180387" cy="5781675"/>
            <a:chOff x="481013" y="538163"/>
            <a:chExt cx="8180387" cy="5781675"/>
          </a:xfrm>
        </p:grpSpPr>
        <p:pic>
          <p:nvPicPr>
            <p:cNvPr id="7577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1013" y="538163"/>
              <a:ext cx="8180387" cy="578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5780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1000108"/>
              <a:ext cx="2381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04813" y="604838"/>
            <a:ext cx="8332787" cy="5648325"/>
            <a:chOff x="404813" y="604838"/>
            <a:chExt cx="8332787" cy="5648325"/>
          </a:xfrm>
        </p:grpSpPr>
        <p:pic>
          <p:nvPicPr>
            <p:cNvPr id="7680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4813" y="604838"/>
              <a:ext cx="8332787" cy="564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6804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28662" y="728646"/>
              <a:ext cx="2381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33400" y="561975"/>
            <a:ext cx="8075613" cy="5734050"/>
            <a:chOff x="533400" y="561975"/>
            <a:chExt cx="8075613" cy="5734050"/>
          </a:xfrm>
        </p:grpSpPr>
        <p:pic>
          <p:nvPicPr>
            <p:cNvPr id="778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33400" y="561975"/>
              <a:ext cx="8075613" cy="5734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78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71538" y="714356"/>
              <a:ext cx="238125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345</Words>
  <PresentationFormat>全屏显示(4:3)</PresentationFormat>
  <Paragraphs>18</Paragraphs>
  <Slides>56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58" baseType="lpstr">
      <vt:lpstr>Office 主题</vt:lpstr>
      <vt:lpstr>Equation</vt:lpstr>
      <vt:lpstr>数学分析2复习2</vt:lpstr>
      <vt:lpstr>三、数项级数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四、函数列与函数项级数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五、幂级数和傅里叶级数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数学分析2复习1</dc:title>
  <dc:creator>lenovo</dc:creator>
  <cp:lastModifiedBy>Windows 用户</cp:lastModifiedBy>
  <cp:revision>64</cp:revision>
  <dcterms:created xsi:type="dcterms:W3CDTF">2021-06-13T23:37:31Z</dcterms:created>
  <dcterms:modified xsi:type="dcterms:W3CDTF">2022-05-31T22:42:36Z</dcterms:modified>
</cp:coreProperties>
</file>