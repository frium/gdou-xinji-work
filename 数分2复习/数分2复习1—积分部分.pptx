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78" r:id="rId6"/>
    <p:sldId id="259" r:id="rId7"/>
    <p:sldId id="271" r:id="rId8"/>
    <p:sldId id="261" r:id="rId9"/>
    <p:sldId id="279" r:id="rId10"/>
    <p:sldId id="264" r:id="rId11"/>
    <p:sldId id="263" r:id="rId12"/>
    <p:sldId id="265" r:id="rId13"/>
    <p:sldId id="280" r:id="rId14"/>
    <p:sldId id="281" r:id="rId15"/>
    <p:sldId id="266" r:id="rId16"/>
    <p:sldId id="268" r:id="rId17"/>
    <p:sldId id="289" r:id="rId18"/>
    <p:sldId id="290" r:id="rId19"/>
    <p:sldId id="291" r:id="rId20"/>
    <p:sldId id="286" r:id="rId21"/>
    <p:sldId id="282" r:id="rId22"/>
    <p:sldId id="267" r:id="rId23"/>
    <p:sldId id="283" r:id="rId24"/>
    <p:sldId id="287" r:id="rId25"/>
    <p:sldId id="284" r:id="rId26"/>
    <p:sldId id="288" r:id="rId27"/>
    <p:sldId id="270" r:id="rId28"/>
    <p:sldId id="272" r:id="rId29"/>
    <p:sldId id="273" r:id="rId30"/>
    <p:sldId id="274" r:id="rId31"/>
    <p:sldId id="293" r:id="rId32"/>
    <p:sldId id="294" r:id="rId33"/>
    <p:sldId id="295" r:id="rId34"/>
    <p:sldId id="275" r:id="rId35"/>
    <p:sldId id="292" r:id="rId36"/>
    <p:sldId id="276" r:id="rId37"/>
    <p:sldId id="277" r:id="rId38"/>
    <p:sldId id="297" r:id="rId39"/>
    <p:sldId id="298" r:id="rId40"/>
    <p:sldId id="300" r:id="rId41"/>
    <p:sldId id="299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23" r:id="rId53"/>
    <p:sldId id="324" r:id="rId54"/>
    <p:sldId id="328" r:id="rId55"/>
    <p:sldId id="325" r:id="rId56"/>
    <p:sldId id="326" r:id="rId57"/>
    <p:sldId id="327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51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472" y="1142984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5400" b="1" dirty="0" smtClean="0">
                <a:solidFill>
                  <a:srgbClr val="0033CC"/>
                </a:solidFill>
              </a:rPr>
              <a:t>数学分析</a:t>
            </a:r>
            <a:r>
              <a:rPr lang="en-US" altLang="zh-CN" sz="5400" b="1" dirty="0" smtClean="0">
                <a:solidFill>
                  <a:srgbClr val="0033CC"/>
                </a:solidFill>
              </a:rPr>
              <a:t>2</a:t>
            </a:r>
            <a:r>
              <a:rPr lang="zh-CN" altLang="en-US" sz="5400" b="1" dirty="0" smtClean="0">
                <a:solidFill>
                  <a:srgbClr val="0033CC"/>
                </a:solidFill>
              </a:rPr>
              <a:t>复习</a:t>
            </a:r>
            <a:r>
              <a:rPr lang="en-US" altLang="zh-CN" sz="5400" b="1" dirty="0" smtClean="0">
                <a:solidFill>
                  <a:srgbClr val="0033CC"/>
                </a:solidFill>
              </a:rPr>
              <a:t>1</a:t>
            </a:r>
            <a:endParaRPr lang="zh-CN" altLang="en-US" sz="5400" b="1" dirty="0">
              <a:solidFill>
                <a:srgbClr val="0033CC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0033CC"/>
                </a:solidFill>
              </a:rPr>
              <a:t>李升</a:t>
            </a:r>
            <a:endParaRPr lang="zh-CN" altLang="en-US" b="1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0033CC"/>
                </a:solidFill>
              </a:rPr>
              <a:t>一、  积分的概念和计算</a:t>
            </a:r>
          </a:p>
        </p:txBody>
      </p:sp>
      <p:sp>
        <p:nvSpPr>
          <p:cNvPr id="5" name="矩形 4"/>
          <p:cNvSpPr/>
          <p:nvPr/>
        </p:nvSpPr>
        <p:spPr>
          <a:xfrm>
            <a:off x="285720" y="1428736"/>
            <a:ext cx="8643998" cy="5015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1.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理解不定积分和定积分的概念，掌握可积与连续，可积与有界的关系；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2.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掌握积分的性质（线性性、单调性、积分路径的可加性等）并应用于计算积分；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3.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熟记基本积分表，熟练掌握公式法、凑微分、换元积分和分部积分等基本方法并应用于计算积分；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4.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理解掌握变上限积分函数的定义和计算公式，并应用于求导和计算极限；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5.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熟练利用定积分计算特殊形式的极限。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50363"/>
            <a:ext cx="6858048" cy="2668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3179321"/>
            <a:ext cx="6858047" cy="3464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 r="4136"/>
          <a:stretch>
            <a:fillRect/>
          </a:stretch>
        </p:blipFill>
        <p:spPr bwMode="auto">
          <a:xfrm>
            <a:off x="357158" y="1928802"/>
            <a:ext cx="8446873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 l="1185"/>
          <a:stretch>
            <a:fillRect/>
          </a:stretch>
        </p:blipFill>
        <p:spPr bwMode="auto">
          <a:xfrm>
            <a:off x="1428728" y="785794"/>
            <a:ext cx="5957887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514350"/>
            <a:ext cx="8380413" cy="582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19475" y="2643182"/>
            <a:ext cx="4395929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7889" name="Object 1"/>
          <p:cNvGraphicFramePr>
            <a:graphicFrameLocks noChangeAspect="1"/>
          </p:cNvGraphicFramePr>
          <p:nvPr/>
        </p:nvGraphicFramePr>
        <p:xfrm>
          <a:off x="4487887" y="2928942"/>
          <a:ext cx="3960418" cy="1214438"/>
        </p:xfrm>
        <a:graphic>
          <a:graphicData uri="http://schemas.openxmlformats.org/presentationml/2006/ole">
            <p:oleObj spid="_x0000_s37889" name="Equation" r:id="rId5" imgW="1904760" imgH="58392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857232"/>
            <a:ext cx="8025286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14290"/>
            <a:ext cx="7416828" cy="20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0" name="组合 9"/>
          <p:cNvGrpSpPr/>
          <p:nvPr/>
        </p:nvGrpSpPr>
        <p:grpSpPr>
          <a:xfrm>
            <a:off x="857224" y="2285992"/>
            <a:ext cx="6932613" cy="4381500"/>
            <a:chOff x="857224" y="2285992"/>
            <a:chExt cx="6932613" cy="4381500"/>
          </a:xfrm>
        </p:grpSpPr>
        <p:pic>
          <p:nvPicPr>
            <p:cNvPr id="5126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57224" y="2285992"/>
              <a:ext cx="6932613" cy="4381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127" name="Picture 7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90605" y="2571744"/>
              <a:ext cx="523875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142984"/>
            <a:ext cx="6476936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500042"/>
            <a:ext cx="7090221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4713" y="3286124"/>
            <a:ext cx="7369187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2910" y="3857628"/>
            <a:ext cx="8072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0033CC"/>
                </a:solidFill>
              </a:rPr>
              <a:t>主要思想：</a:t>
            </a:r>
            <a:r>
              <a:rPr lang="zh-CN" altLang="en-US" sz="2400" dirty="0" smtClean="0"/>
              <a:t>根据积分表达式的特点使用</a:t>
            </a:r>
            <a:r>
              <a:rPr lang="zh-CN" altLang="en-US" sz="2400" b="1" dirty="0" smtClean="0"/>
              <a:t>三角代换，平移代换，根式代换</a:t>
            </a:r>
            <a:r>
              <a:rPr lang="zh-CN" altLang="en-US" sz="2400" dirty="0" smtClean="0"/>
              <a:t>等简化被积函数</a:t>
            </a:r>
            <a:endParaRPr lang="zh-CN" altLang="en-US" sz="2400" dirty="0"/>
          </a:p>
        </p:txBody>
      </p:sp>
      <p:grpSp>
        <p:nvGrpSpPr>
          <p:cNvPr id="8" name="组合 7"/>
          <p:cNvGrpSpPr/>
          <p:nvPr/>
        </p:nvGrpSpPr>
        <p:grpSpPr>
          <a:xfrm>
            <a:off x="714348" y="642918"/>
            <a:ext cx="7865646" cy="2643189"/>
            <a:chOff x="714348" y="642918"/>
            <a:chExt cx="7865646" cy="2643189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14348" y="642918"/>
              <a:ext cx="7865646" cy="2643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148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14348" y="714356"/>
              <a:ext cx="523875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819170"/>
            <a:ext cx="594360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071538" y="642918"/>
            <a:ext cx="6970713" cy="5457825"/>
            <a:chOff x="1071538" y="642918"/>
            <a:chExt cx="6970713" cy="5457825"/>
          </a:xfrm>
        </p:grpSpPr>
        <p:pic>
          <p:nvPicPr>
            <p:cNvPr id="20482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71538" y="642918"/>
              <a:ext cx="6970713" cy="545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483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14414" y="642918"/>
              <a:ext cx="682306" cy="642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76300" y="528638"/>
            <a:ext cx="7389813" cy="5800725"/>
            <a:chOff x="876300" y="528638"/>
            <a:chExt cx="7389813" cy="5800725"/>
          </a:xfrm>
        </p:grpSpPr>
        <p:pic>
          <p:nvPicPr>
            <p:cNvPr id="2150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76300" y="528638"/>
              <a:ext cx="7389813" cy="5800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150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28728" y="2000239"/>
              <a:ext cx="357190" cy="306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642918"/>
            <a:ext cx="8072494" cy="5399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 r="1685"/>
          <a:stretch>
            <a:fillRect/>
          </a:stretch>
        </p:blipFill>
        <p:spPr bwMode="auto">
          <a:xfrm>
            <a:off x="714348" y="771526"/>
            <a:ext cx="7715304" cy="201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2771790"/>
            <a:ext cx="7695546" cy="287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57224" y="1357298"/>
            <a:ext cx="7037387" cy="3838575"/>
            <a:chOff x="857224" y="1357298"/>
            <a:chExt cx="7037387" cy="3838575"/>
          </a:xfrm>
        </p:grpSpPr>
        <p:pic>
          <p:nvPicPr>
            <p:cNvPr id="2969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57224" y="1357298"/>
              <a:ext cx="7037387" cy="3838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9699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95392" y="1514464"/>
              <a:ext cx="24765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014413" y="681038"/>
            <a:ext cx="7113587" cy="5495925"/>
            <a:chOff x="1014413" y="681038"/>
            <a:chExt cx="7113587" cy="5495925"/>
          </a:xfrm>
        </p:grpSpPr>
        <p:pic>
          <p:nvPicPr>
            <p:cNvPr id="3174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14413" y="681038"/>
              <a:ext cx="7113587" cy="5495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174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90656" y="857232"/>
              <a:ext cx="266700" cy="352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71538" y="661988"/>
            <a:ext cx="7399337" cy="5534025"/>
            <a:chOff x="871538" y="661988"/>
            <a:chExt cx="7399337" cy="5534025"/>
          </a:xfrm>
        </p:grpSpPr>
        <p:pic>
          <p:nvPicPr>
            <p:cNvPr id="30722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71538" y="661988"/>
              <a:ext cx="7399337" cy="5534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23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85852" y="785794"/>
              <a:ext cx="266700" cy="295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357298"/>
            <a:ext cx="8027987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40" y="428604"/>
            <a:ext cx="25622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57166"/>
            <a:ext cx="8297541" cy="604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000100" y="500042"/>
            <a:ext cx="7143800" cy="5669249"/>
            <a:chOff x="1000100" y="500042"/>
            <a:chExt cx="7143800" cy="5669249"/>
          </a:xfrm>
        </p:grpSpPr>
        <p:pic>
          <p:nvPicPr>
            <p:cNvPr id="10245" name="Picture 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00100" y="500042"/>
              <a:ext cx="7143800" cy="5669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47" name="Picture 7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71604" y="785794"/>
              <a:ext cx="200025" cy="266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714348" y="415717"/>
            <a:ext cx="7715304" cy="6013679"/>
            <a:chOff x="714348" y="344279"/>
            <a:chExt cx="7715304" cy="6013679"/>
          </a:xfrm>
        </p:grpSpPr>
        <p:grpSp>
          <p:nvGrpSpPr>
            <p:cNvPr id="6" name="组合 5"/>
            <p:cNvGrpSpPr/>
            <p:nvPr/>
          </p:nvGrpSpPr>
          <p:grpSpPr>
            <a:xfrm>
              <a:off x="714348" y="344279"/>
              <a:ext cx="7715304" cy="6013679"/>
              <a:chOff x="571472" y="285728"/>
              <a:chExt cx="7715304" cy="6013679"/>
            </a:xfrm>
          </p:grpSpPr>
          <p:pic>
            <p:nvPicPr>
              <p:cNvPr id="23554" name="Picture 2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571472" y="285728"/>
                <a:ext cx="7715304" cy="60136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3555" name="Picture 3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071538" y="633395"/>
                <a:ext cx="209550" cy="295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23556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357290" y="1428736"/>
              <a:ext cx="2000264" cy="556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76313" y="500063"/>
            <a:ext cx="7189787" cy="5857875"/>
            <a:chOff x="976313" y="500063"/>
            <a:chExt cx="7189787" cy="5857875"/>
          </a:xfrm>
        </p:grpSpPr>
        <p:pic>
          <p:nvPicPr>
            <p:cNvPr id="276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6313" y="500063"/>
              <a:ext cx="7189787" cy="5857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765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28728" y="714356"/>
              <a:ext cx="238125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285860"/>
            <a:ext cx="5934075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95350" y="981075"/>
            <a:ext cx="7351713" cy="4895850"/>
            <a:chOff x="895350" y="981075"/>
            <a:chExt cx="7351713" cy="4895850"/>
          </a:xfrm>
        </p:grpSpPr>
        <p:pic>
          <p:nvPicPr>
            <p:cNvPr id="286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95350" y="981075"/>
              <a:ext cx="7351713" cy="4895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867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780" y="1071546"/>
              <a:ext cx="266700" cy="409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5" y="523875"/>
            <a:ext cx="8285163" cy="581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714356"/>
            <a:ext cx="8234036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28604"/>
            <a:ext cx="8109122" cy="3629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500167" y="4635926"/>
          <a:ext cx="4714908" cy="843720"/>
        </p:xfrm>
        <a:graphic>
          <a:graphicData uri="http://schemas.openxmlformats.org/presentationml/2006/ole">
            <p:oleObj spid="_x0000_s14339" name="Equation" r:id="rId4" imgW="2412720" imgH="43164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571480"/>
            <a:ext cx="8237537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142976" y="4837072"/>
          <a:ext cx="5643602" cy="1634346"/>
        </p:xfrm>
        <a:graphic>
          <a:graphicData uri="http://schemas.openxmlformats.org/presentationml/2006/ole">
            <p:oleObj spid="_x0000_s15364" name="Equation" r:id="rId4" imgW="2806560" imgH="81252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71472" y="500042"/>
            <a:ext cx="7723187" cy="5686425"/>
            <a:chOff x="566736" y="752475"/>
            <a:chExt cx="7723187" cy="5686425"/>
          </a:xfrm>
        </p:grpSpPr>
        <p:pic>
          <p:nvPicPr>
            <p:cNvPr id="32771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66736" y="752475"/>
              <a:ext cx="7723187" cy="5686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2772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142976" y="928670"/>
              <a:ext cx="285750" cy="333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281113" y="628650"/>
            <a:ext cx="6580187" cy="5600700"/>
            <a:chOff x="1281113" y="628650"/>
            <a:chExt cx="6580187" cy="5600700"/>
          </a:xfrm>
        </p:grpSpPr>
        <p:pic>
          <p:nvPicPr>
            <p:cNvPr id="3379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81113" y="628650"/>
              <a:ext cx="6580187" cy="5600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379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785918" y="1142984"/>
              <a:ext cx="285750" cy="333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09638" y="776288"/>
            <a:ext cx="7323137" cy="5305425"/>
            <a:chOff x="909638" y="776288"/>
            <a:chExt cx="7323137" cy="5305425"/>
          </a:xfrm>
        </p:grpSpPr>
        <p:pic>
          <p:nvPicPr>
            <p:cNvPr id="3481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09638" y="776288"/>
              <a:ext cx="7323137" cy="5305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4819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71604" y="928670"/>
              <a:ext cx="257175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6482" y="214290"/>
            <a:ext cx="6793104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8" name="组合 7"/>
          <p:cNvGrpSpPr/>
          <p:nvPr/>
        </p:nvGrpSpPr>
        <p:grpSpPr>
          <a:xfrm>
            <a:off x="714348" y="1000108"/>
            <a:ext cx="7847013" cy="5429250"/>
            <a:chOff x="714348" y="1000108"/>
            <a:chExt cx="7847013" cy="5429250"/>
          </a:xfrm>
        </p:grpSpPr>
        <p:pic>
          <p:nvPicPr>
            <p:cNvPr id="1638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14348" y="1000108"/>
              <a:ext cx="7847013" cy="5429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388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001024" y="6015058"/>
              <a:ext cx="523875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85825" y="695325"/>
            <a:ext cx="7370763" cy="5467350"/>
            <a:chOff x="885825" y="695325"/>
            <a:chExt cx="7370763" cy="5467350"/>
          </a:xfrm>
        </p:grpSpPr>
        <p:pic>
          <p:nvPicPr>
            <p:cNvPr id="35842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85825" y="695325"/>
              <a:ext cx="7370763" cy="5467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5843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28743" y="785794"/>
              <a:ext cx="257175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857224" y="571480"/>
            <a:ext cx="6684963" cy="1714500"/>
            <a:chOff x="1214414" y="2214554"/>
            <a:chExt cx="6684963" cy="1714500"/>
          </a:xfrm>
        </p:grpSpPr>
        <p:pic>
          <p:nvPicPr>
            <p:cNvPr id="1741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14414" y="2214554"/>
              <a:ext cx="6684963" cy="1714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415" name="Picture 7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57290" y="2357429"/>
              <a:ext cx="714380" cy="42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16" name="组合 15"/>
          <p:cNvGrpSpPr/>
          <p:nvPr/>
        </p:nvGrpSpPr>
        <p:grpSpPr>
          <a:xfrm>
            <a:off x="668363" y="3357562"/>
            <a:ext cx="7618413" cy="1962150"/>
            <a:chOff x="668363" y="3357562"/>
            <a:chExt cx="7618413" cy="1962150"/>
          </a:xfrm>
        </p:grpSpPr>
        <p:pic>
          <p:nvPicPr>
            <p:cNvPr id="13" name="Picture 8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68363" y="3357562"/>
              <a:ext cx="7618413" cy="1962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417" name="Picture 9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68891" y="4610111"/>
              <a:ext cx="3546331" cy="676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418" name="Picture 1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071538" y="3500438"/>
              <a:ext cx="257175" cy="314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500166" y="154987"/>
            <a:ext cx="6072230" cy="6631599"/>
            <a:chOff x="1500166" y="-2212"/>
            <a:chExt cx="6072230" cy="6631599"/>
          </a:xfrm>
        </p:grpSpPr>
        <p:pic>
          <p:nvPicPr>
            <p:cNvPr id="17410" name="Picture 2"/>
            <p:cNvPicPr>
              <a:picLocks noChangeAspect="1" noChangeArrowheads="1"/>
            </p:cNvPicPr>
            <p:nvPr/>
          </p:nvPicPr>
          <p:blipFill>
            <a:blip r:embed="rId2"/>
            <a:srcRect l="1164"/>
            <a:stretch>
              <a:fillRect/>
            </a:stretch>
          </p:blipFill>
          <p:spPr bwMode="auto">
            <a:xfrm>
              <a:off x="1500166" y="-2212"/>
              <a:ext cx="6065020" cy="15738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414" name="Picture 6"/>
            <p:cNvPicPr>
              <a:picLocks noChangeAspect="1" noChangeArrowheads="1"/>
            </p:cNvPicPr>
            <p:nvPr/>
          </p:nvPicPr>
          <p:blipFill>
            <a:blip r:embed="rId3"/>
            <a:srcRect r="234"/>
            <a:stretch>
              <a:fillRect/>
            </a:stretch>
          </p:blipFill>
          <p:spPr bwMode="auto">
            <a:xfrm>
              <a:off x="1500166" y="1571612"/>
              <a:ext cx="6072230" cy="5057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9458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00166" y="0"/>
              <a:ext cx="654812" cy="4286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785926"/>
            <a:ext cx="8349908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571471" y="214290"/>
            <a:ext cx="8071795" cy="4505352"/>
            <a:chOff x="571471" y="214290"/>
            <a:chExt cx="8071795" cy="4505352"/>
          </a:xfrm>
        </p:grpSpPr>
        <p:pic>
          <p:nvPicPr>
            <p:cNvPr id="3789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71472" y="214290"/>
              <a:ext cx="8071794" cy="1785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789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471" y="2214555"/>
              <a:ext cx="4429157" cy="12517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7892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214414" y="3429000"/>
              <a:ext cx="5788909" cy="12906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7893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285852" y="428604"/>
              <a:ext cx="228600" cy="333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37894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71604" y="5143512"/>
            <a:ext cx="6143668" cy="148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0033CC"/>
                </a:solidFill>
              </a:rPr>
              <a:t>二、积分的应用</a:t>
            </a:r>
          </a:p>
        </p:txBody>
      </p:sp>
      <p:sp>
        <p:nvSpPr>
          <p:cNvPr id="5" name="矩形 4"/>
          <p:cNvSpPr/>
          <p:nvPr/>
        </p:nvSpPr>
        <p:spPr>
          <a:xfrm>
            <a:off x="357158" y="1750451"/>
            <a:ext cx="8643998" cy="3250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0070C0"/>
                </a:solidFill>
              </a:rPr>
              <a:t>1.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理解微元法的思想方法，理解反常积分的本质是“变限积分函数的极限”；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0070C0"/>
                </a:solidFill>
              </a:rPr>
              <a:t>2.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熟练应用定积分计算图形的面积、弧长和体积；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0070C0"/>
                </a:solidFill>
              </a:rPr>
              <a:t>3.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掌握反常积分的计算，了解判断反常积分敛散性的方法，掌握两类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P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积分收敛和发散的条件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3888" y="852488"/>
            <a:ext cx="7894637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61988" y="952500"/>
            <a:ext cx="7818437" cy="4953000"/>
            <a:chOff x="661988" y="952500"/>
            <a:chExt cx="7818437" cy="4953000"/>
          </a:xfrm>
        </p:grpSpPr>
        <p:pic>
          <p:nvPicPr>
            <p:cNvPr id="3993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61988" y="952500"/>
              <a:ext cx="7818437" cy="495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9939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214942" y="1028687"/>
              <a:ext cx="561978" cy="542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1038" y="866775"/>
            <a:ext cx="7780337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14348" y="714356"/>
            <a:ext cx="7646987" cy="5191125"/>
            <a:chOff x="714348" y="714356"/>
            <a:chExt cx="7646987" cy="5191125"/>
          </a:xfrm>
        </p:grpSpPr>
        <p:pic>
          <p:nvPicPr>
            <p:cNvPr id="4198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14348" y="714356"/>
              <a:ext cx="7646987" cy="5191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198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14415" y="785794"/>
              <a:ext cx="357189" cy="448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14314" y="714356"/>
            <a:ext cx="8786842" cy="3605167"/>
            <a:chOff x="142844" y="714356"/>
            <a:chExt cx="8786842" cy="3605167"/>
          </a:xfrm>
        </p:grpSpPr>
        <p:grpSp>
          <p:nvGrpSpPr>
            <p:cNvPr id="11" name="组合 10"/>
            <p:cNvGrpSpPr/>
            <p:nvPr/>
          </p:nvGrpSpPr>
          <p:grpSpPr>
            <a:xfrm>
              <a:off x="142844" y="714356"/>
              <a:ext cx="8786842" cy="3605167"/>
              <a:chOff x="285720" y="928669"/>
              <a:chExt cx="8786842" cy="3605167"/>
            </a:xfrm>
          </p:grpSpPr>
          <p:pic>
            <p:nvPicPr>
              <p:cNvPr id="43011" name="Picture 3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85720" y="928669"/>
                <a:ext cx="8786842" cy="36051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3015" name="Picture 7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500033" y="1142984"/>
                <a:ext cx="1473409" cy="7143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" name="Picture 7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7643834" y="2714620"/>
                <a:ext cx="1178727" cy="5715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43017" name="Picture 9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785918" y="1000108"/>
              <a:ext cx="2428892" cy="716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3016" name="Picture 8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000364" y="1000108"/>
              <a:ext cx="3317894" cy="714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429520" y="5310203"/>
            <a:ext cx="762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8851" name="Object 3"/>
          <p:cNvGraphicFramePr>
            <a:graphicFrameLocks noChangeAspect="1"/>
          </p:cNvGraphicFramePr>
          <p:nvPr/>
        </p:nvGraphicFramePr>
        <p:xfrm>
          <a:off x="698500" y="4572000"/>
          <a:ext cx="7786688" cy="850900"/>
        </p:xfrm>
        <a:graphic>
          <a:graphicData uri="http://schemas.openxmlformats.org/presentationml/2006/ole">
            <p:oleObj spid="_x0000_s78851" name="Equation" r:id="rId8" imgW="3022560" imgH="33012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00034" y="500042"/>
            <a:ext cx="8143932" cy="5715039"/>
            <a:chOff x="719138" y="785813"/>
            <a:chExt cx="7704137" cy="5286375"/>
          </a:xfrm>
        </p:grpSpPr>
        <p:pic>
          <p:nvPicPr>
            <p:cNvPr id="4403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19138" y="785813"/>
              <a:ext cx="7704137" cy="5286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403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86012" y="1104886"/>
              <a:ext cx="228600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066800"/>
            <a:ext cx="8075613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47713" y="900113"/>
            <a:ext cx="7646987" cy="5057775"/>
            <a:chOff x="747713" y="900113"/>
            <a:chExt cx="7646987" cy="5057775"/>
          </a:xfrm>
        </p:grpSpPr>
        <p:pic>
          <p:nvPicPr>
            <p:cNvPr id="46082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47713" y="900113"/>
              <a:ext cx="7646987" cy="5057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6083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00128" y="1071546"/>
              <a:ext cx="22860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14348" y="857232"/>
            <a:ext cx="7856537" cy="5781675"/>
            <a:chOff x="714348" y="857232"/>
            <a:chExt cx="7856537" cy="5781675"/>
          </a:xfrm>
        </p:grpSpPr>
        <p:pic>
          <p:nvPicPr>
            <p:cNvPr id="4710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14348" y="857232"/>
              <a:ext cx="7856537" cy="578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710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14414" y="995348"/>
              <a:ext cx="266700" cy="361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71604" y="142852"/>
            <a:ext cx="6193237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2463" y="971550"/>
            <a:ext cx="7837487" cy="491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766763" y="557213"/>
            <a:ext cx="7608887" cy="5743575"/>
            <a:chOff x="766763" y="557213"/>
            <a:chExt cx="7608887" cy="5743575"/>
          </a:xfrm>
        </p:grpSpPr>
        <p:pic>
          <p:nvPicPr>
            <p:cNvPr id="4915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66763" y="557213"/>
              <a:ext cx="7608887" cy="5743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915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90630" y="857235"/>
              <a:ext cx="323850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9156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00166" y="1857367"/>
              <a:ext cx="323850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571480"/>
            <a:ext cx="8027113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71500" y="852488"/>
            <a:ext cx="7999413" cy="5153025"/>
            <a:chOff x="571500" y="852488"/>
            <a:chExt cx="7999413" cy="5153025"/>
          </a:xfrm>
        </p:grpSpPr>
        <p:pic>
          <p:nvPicPr>
            <p:cNvPr id="5837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71500" y="852488"/>
              <a:ext cx="7999413" cy="5153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837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14414" y="1142984"/>
              <a:ext cx="1905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2488" y="747713"/>
            <a:ext cx="7437437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81025" y="733425"/>
            <a:ext cx="7980363" cy="5410219"/>
            <a:chOff x="581025" y="733425"/>
            <a:chExt cx="7980363" cy="5410219"/>
          </a:xfrm>
        </p:grpSpPr>
        <p:pic>
          <p:nvPicPr>
            <p:cNvPr id="6041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81025" y="733425"/>
              <a:ext cx="7980363" cy="5391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0419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143900" y="5619769"/>
              <a:ext cx="381000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0420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134319" y="809609"/>
              <a:ext cx="294409" cy="404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6775" y="628650"/>
            <a:ext cx="7408863" cy="560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19100" y="800100"/>
            <a:ext cx="8304213" cy="5257800"/>
            <a:chOff x="419100" y="800100"/>
            <a:chExt cx="8304213" cy="5257800"/>
          </a:xfrm>
        </p:grpSpPr>
        <p:pic>
          <p:nvPicPr>
            <p:cNvPr id="6246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19100" y="800100"/>
              <a:ext cx="8304213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246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57252" y="1085836"/>
              <a:ext cx="22860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2450" y="1114425"/>
            <a:ext cx="8037513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8926" y="214290"/>
            <a:ext cx="2786082" cy="768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071546"/>
            <a:ext cx="7866063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14348" y="571480"/>
            <a:ext cx="7943880" cy="5605484"/>
            <a:chOff x="914400" y="966788"/>
            <a:chExt cx="7313613" cy="4924425"/>
          </a:xfrm>
        </p:grpSpPr>
        <p:pic>
          <p:nvPicPr>
            <p:cNvPr id="5222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14400" y="966788"/>
              <a:ext cx="7313613" cy="492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222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76368" y="1133461"/>
              <a:ext cx="209550" cy="295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857232"/>
            <a:ext cx="7408187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500166" y="1428736"/>
            <a:ext cx="6357982" cy="4357718"/>
            <a:chOff x="500034" y="714356"/>
            <a:chExt cx="8221756" cy="5214974"/>
          </a:xfrm>
        </p:grpSpPr>
        <p:pic>
          <p:nvPicPr>
            <p:cNvPr id="542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00034" y="714356"/>
              <a:ext cx="8221756" cy="5214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427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85852" y="1142984"/>
              <a:ext cx="428628" cy="607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5" y="214289"/>
            <a:ext cx="7715305" cy="3447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3500438"/>
            <a:ext cx="8001056" cy="3009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642918"/>
            <a:ext cx="8082699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071537" y="500042"/>
            <a:ext cx="7566217" cy="5429288"/>
            <a:chOff x="1071537" y="500042"/>
            <a:chExt cx="7566217" cy="5429288"/>
          </a:xfrm>
        </p:grpSpPr>
        <p:pic>
          <p:nvPicPr>
            <p:cNvPr id="57347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71537" y="500042"/>
              <a:ext cx="6790095" cy="12858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7348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142976" y="1857364"/>
              <a:ext cx="7494778" cy="4071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7349" name="Picture 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714480" y="642918"/>
              <a:ext cx="180975" cy="228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14290"/>
            <a:ext cx="7500990" cy="6312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428604"/>
            <a:ext cx="6786610" cy="5855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418" y="571480"/>
            <a:ext cx="8217548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1518" y="3571876"/>
            <a:ext cx="8506762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209</Words>
  <PresentationFormat>全屏显示(4:3)</PresentationFormat>
  <Paragraphs>13</Paragraphs>
  <Slides>68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0" baseType="lpstr">
      <vt:lpstr>Office 主题</vt:lpstr>
      <vt:lpstr>Equation</vt:lpstr>
      <vt:lpstr>数学分析2复习1</vt:lpstr>
      <vt:lpstr>一、  积分的概念和计算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二、积分的应用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幻灯片 60</vt:lpstr>
      <vt:lpstr>幻灯片 61</vt:lpstr>
      <vt:lpstr>幻灯片 62</vt:lpstr>
      <vt:lpstr>幻灯片 63</vt:lpstr>
      <vt:lpstr>幻灯片 64</vt:lpstr>
      <vt:lpstr>幻灯片 65</vt:lpstr>
      <vt:lpstr>幻灯片 66</vt:lpstr>
      <vt:lpstr>幻灯片 67</vt:lpstr>
      <vt:lpstr>幻灯片 68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数学分析2复习1</dc:title>
  <dc:creator>lenovo</dc:creator>
  <cp:lastModifiedBy>Windows 用户</cp:lastModifiedBy>
  <cp:revision>46</cp:revision>
  <dcterms:created xsi:type="dcterms:W3CDTF">2021-06-13T23:37:31Z</dcterms:created>
  <dcterms:modified xsi:type="dcterms:W3CDTF">2022-05-31T22:40:53Z</dcterms:modified>
</cp:coreProperties>
</file>