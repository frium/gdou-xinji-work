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wdp" ContentType="image/vnd.ms-photo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370" r:id="rId4"/>
    <p:sldId id="695" r:id="rId5"/>
    <p:sldId id="518" r:id="rId7"/>
    <p:sldId id="506" r:id="rId8"/>
    <p:sldId id="507" r:id="rId9"/>
    <p:sldId id="508" r:id="rId10"/>
    <p:sldId id="510" r:id="rId11"/>
    <p:sldId id="509" r:id="rId12"/>
    <p:sldId id="666" r:id="rId13"/>
    <p:sldId id="667" r:id="rId14"/>
    <p:sldId id="652" r:id="rId15"/>
    <p:sldId id="697" r:id="rId16"/>
    <p:sldId id="696" r:id="rId17"/>
    <p:sldId id="698" r:id="rId18"/>
    <p:sldId id="259" r:id="rId19"/>
    <p:sldId id="260" r:id="rId20"/>
    <p:sldId id="261" r:id="rId21"/>
    <p:sldId id="262" r:id="rId22"/>
    <p:sldId id="263" r:id="rId23"/>
    <p:sldId id="319" r:id="rId24"/>
    <p:sldId id="320" r:id="rId25"/>
    <p:sldId id="699" r:id="rId26"/>
    <p:sldId id="700" r:id="rId27"/>
    <p:sldId id="701" r:id="rId28"/>
    <p:sldId id="702" r:id="rId29"/>
    <p:sldId id="703" r:id="rId30"/>
    <p:sldId id="704" r:id="rId31"/>
    <p:sldId id="705" r:id="rId32"/>
    <p:sldId id="706" r:id="rId33"/>
    <p:sldId id="707" r:id="rId34"/>
    <p:sldId id="708" r:id="rId35"/>
    <p:sldId id="709" r:id="rId36"/>
    <p:sldId id="710" r:id="rId37"/>
    <p:sldId id="711" r:id="rId38"/>
    <p:sldId id="712" r:id="rId39"/>
    <p:sldId id="713" r:id="rId40"/>
    <p:sldId id="714" r:id="rId41"/>
    <p:sldId id="715" r:id="rId42"/>
    <p:sldId id="716" r:id="rId43"/>
    <p:sldId id="717" r:id="rId44"/>
    <p:sldId id="718" r:id="rId45"/>
    <p:sldId id="719" r:id="rId46"/>
    <p:sldId id="720" r:id="rId47"/>
    <p:sldId id="721" r:id="rId48"/>
    <p:sldId id="722" r:id="rId49"/>
    <p:sldId id="723" r:id="rId50"/>
  </p:sldIdLst>
  <p:sldSz cx="12192000" cy="6858000"/>
  <p:notesSz cx="6858000" cy="9144000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744" y="77"/>
      </p:cViewPr>
      <p:guideLst>
        <p:guide orient="horz" pos="2131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4" Type="http://schemas.openxmlformats.org/officeDocument/2006/relationships/tags" Target="tags/tag7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image" Target="../media/image11.wmf"/><Relationship Id="rId7" Type="http://schemas.openxmlformats.org/officeDocument/2006/relationships/image" Target="../media/image10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4" Type="http://schemas.openxmlformats.org/officeDocument/2006/relationships/image" Target="../media/image17.wmf"/><Relationship Id="rId13" Type="http://schemas.openxmlformats.org/officeDocument/2006/relationships/image" Target="../media/image16.wmf"/><Relationship Id="rId12" Type="http://schemas.openxmlformats.org/officeDocument/2006/relationships/image" Target="../media/image15.wmf"/><Relationship Id="rId11" Type="http://schemas.openxmlformats.org/officeDocument/2006/relationships/image" Target="../media/image14.wmf"/><Relationship Id="rId10" Type="http://schemas.openxmlformats.org/officeDocument/2006/relationships/image" Target="../media/image13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.wmf"/><Relationship Id="rId8" Type="http://schemas.openxmlformats.org/officeDocument/2006/relationships/image" Target="../media/image20.wmf"/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1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3" Type="http://schemas.openxmlformats.org/officeDocument/2006/relationships/image" Target="../media/image25.wmf"/><Relationship Id="rId12" Type="http://schemas.openxmlformats.org/officeDocument/2006/relationships/image" Target="../media/image24.wmf"/><Relationship Id="rId11" Type="http://schemas.openxmlformats.org/officeDocument/2006/relationships/image" Target="../media/image23.wmf"/><Relationship Id="rId10" Type="http://schemas.openxmlformats.org/officeDocument/2006/relationships/image" Target="../media/image22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7" Type="http://schemas.openxmlformats.org/officeDocument/2006/relationships/image" Target="../media/image34.wmf"/><Relationship Id="rId6" Type="http://schemas.openxmlformats.org/officeDocument/2006/relationships/image" Target="../media/image33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9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emf"/><Relationship Id="rId1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83.wmf"/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20.vml.rels><?xml version="1.0" encoding="UTF-8" standalone="yes"?>
<Relationships xmlns="http://schemas.openxmlformats.org/package/2006/relationships"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wmf"/><Relationship Id="rId8" Type="http://schemas.openxmlformats.org/officeDocument/2006/relationships/image" Target="../media/image114.wmf"/><Relationship Id="rId7" Type="http://schemas.openxmlformats.org/officeDocument/2006/relationships/image" Target="../media/image113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0" Type="http://schemas.openxmlformats.org/officeDocument/2006/relationships/image" Target="../media/image116.wmf"/><Relationship Id="rId1" Type="http://schemas.openxmlformats.org/officeDocument/2006/relationships/image" Target="../media/image107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wmf"/><Relationship Id="rId8" Type="http://schemas.openxmlformats.org/officeDocument/2006/relationships/image" Target="../media/image124.wmf"/><Relationship Id="rId7" Type="http://schemas.openxmlformats.org/officeDocument/2006/relationships/image" Target="../media/image123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7" Type="http://schemas.openxmlformats.org/officeDocument/2006/relationships/image" Target="../media/image133.wmf"/><Relationship Id="rId16" Type="http://schemas.openxmlformats.org/officeDocument/2006/relationships/image" Target="../media/image132.wmf"/><Relationship Id="rId15" Type="http://schemas.openxmlformats.org/officeDocument/2006/relationships/image" Target="../media/image131.wmf"/><Relationship Id="rId14" Type="http://schemas.openxmlformats.org/officeDocument/2006/relationships/image" Target="../media/image130.wmf"/><Relationship Id="rId13" Type="http://schemas.openxmlformats.org/officeDocument/2006/relationships/image" Target="../media/image129.wmf"/><Relationship Id="rId12" Type="http://schemas.openxmlformats.org/officeDocument/2006/relationships/image" Target="../media/image128.wmf"/><Relationship Id="rId11" Type="http://schemas.openxmlformats.org/officeDocument/2006/relationships/image" Target="../media/image127.wmf"/><Relationship Id="rId10" Type="http://schemas.openxmlformats.org/officeDocument/2006/relationships/image" Target="../media/image126.wmf"/><Relationship Id="rId1" Type="http://schemas.openxmlformats.org/officeDocument/2006/relationships/image" Target="../media/image117.wmf"/></Relationships>
</file>

<file path=ppt/drawings/_rels/vmlDrawing26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7" Type="http://schemas.openxmlformats.org/officeDocument/2006/relationships/image" Target="../media/image146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2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wmf"/><Relationship Id="rId8" Type="http://schemas.openxmlformats.org/officeDocument/2006/relationships/image" Target="../media/image159.wmf"/><Relationship Id="rId7" Type="http://schemas.openxmlformats.org/officeDocument/2006/relationships/image" Target="../media/image150.wmf"/><Relationship Id="rId6" Type="http://schemas.openxmlformats.org/officeDocument/2006/relationships/image" Target="../media/image158.wmf"/><Relationship Id="rId5" Type="http://schemas.openxmlformats.org/officeDocument/2006/relationships/image" Target="../media/image148.wmf"/><Relationship Id="rId4" Type="http://schemas.openxmlformats.org/officeDocument/2006/relationships/image" Target="../media/image157.wmf"/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7.wmf"/><Relationship Id="rId8" Type="http://schemas.openxmlformats.org/officeDocument/2006/relationships/image" Target="../media/image166.wmf"/><Relationship Id="rId7" Type="http://schemas.openxmlformats.org/officeDocument/2006/relationships/image" Target="../media/image165.wmf"/><Relationship Id="rId6" Type="http://schemas.openxmlformats.org/officeDocument/2006/relationships/image" Target="../media/image164.wmf"/><Relationship Id="rId5" Type="http://schemas.openxmlformats.org/officeDocument/2006/relationships/image" Target="../media/image150.wmf"/><Relationship Id="rId4" Type="http://schemas.openxmlformats.org/officeDocument/2006/relationships/image" Target="../media/image163.wmf"/><Relationship Id="rId3" Type="http://schemas.openxmlformats.org/officeDocument/2006/relationships/image" Target="../media/image148.wmf"/><Relationship Id="rId2" Type="http://schemas.openxmlformats.org/officeDocument/2006/relationships/image" Target="../media/image162.wmf"/><Relationship Id="rId17" Type="http://schemas.openxmlformats.org/officeDocument/2006/relationships/image" Target="../media/image170.wmf"/><Relationship Id="rId16" Type="http://schemas.openxmlformats.org/officeDocument/2006/relationships/image" Target="../media/image169.wmf"/><Relationship Id="rId15" Type="http://schemas.openxmlformats.org/officeDocument/2006/relationships/image" Target="../media/image168.wmf"/><Relationship Id="rId14" Type="http://schemas.openxmlformats.org/officeDocument/2006/relationships/image" Target="../media/image144.wmf"/><Relationship Id="rId13" Type="http://schemas.openxmlformats.org/officeDocument/2006/relationships/image" Target="../media/image143.wmf"/><Relationship Id="rId12" Type="http://schemas.openxmlformats.org/officeDocument/2006/relationships/image" Target="../media/image142.wmf"/><Relationship Id="rId11" Type="http://schemas.openxmlformats.org/officeDocument/2006/relationships/image" Target="../media/image141.wmf"/><Relationship Id="rId10" Type="http://schemas.openxmlformats.org/officeDocument/2006/relationships/image" Target="../media/image140.wmf"/><Relationship Id="rId1" Type="http://schemas.openxmlformats.org/officeDocument/2006/relationships/image" Target="../media/image161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/Relationships>
</file>

<file path=ppt/drawings/_rels/vmlDrawing3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81.wmf"/><Relationship Id="rId4" Type="http://schemas.openxmlformats.org/officeDocument/2006/relationships/image" Target="../media/image180.wmf"/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/Relationships>
</file>

<file path=ppt/drawings/_rels/vmlDrawing3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5.wmf"/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/Relationships>
</file>

<file path=ppt/drawings/_rels/vmlDrawing3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93.wmf"/><Relationship Id="rId4" Type="http://schemas.openxmlformats.org/officeDocument/2006/relationships/image" Target="../media/image192.wmf"/><Relationship Id="rId3" Type="http://schemas.openxmlformats.org/officeDocument/2006/relationships/image" Target="../media/image191.wmf"/><Relationship Id="rId2" Type="http://schemas.openxmlformats.org/officeDocument/2006/relationships/image" Target="../media/image190.wmf"/><Relationship Id="rId1" Type="http://schemas.openxmlformats.org/officeDocument/2006/relationships/image" Target="../media/image189.wmf"/></Relationships>
</file>

<file path=ppt/drawings/_rels/vmlDrawing3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98.wmf"/><Relationship Id="rId4" Type="http://schemas.openxmlformats.org/officeDocument/2006/relationships/image" Target="../media/image197.wmf"/><Relationship Id="rId3" Type="http://schemas.openxmlformats.org/officeDocument/2006/relationships/image" Target="../media/image196.wmf"/><Relationship Id="rId2" Type="http://schemas.openxmlformats.org/officeDocument/2006/relationships/image" Target="../media/image195.wmf"/><Relationship Id="rId1" Type="http://schemas.openxmlformats.org/officeDocument/2006/relationships/image" Target="../media/image194.wmf"/></Relationships>
</file>

<file path=ppt/drawings/_rels/vmlDrawing38.vml.rels><?xml version="1.0" encoding="UTF-8" standalone="yes"?>
<Relationships xmlns="http://schemas.openxmlformats.org/package/2006/relationships"><Relationship Id="rId7" Type="http://schemas.openxmlformats.org/officeDocument/2006/relationships/image" Target="../media/image205.wmf"/><Relationship Id="rId6" Type="http://schemas.openxmlformats.org/officeDocument/2006/relationships/image" Target="../media/image204.wmf"/><Relationship Id="rId5" Type="http://schemas.openxmlformats.org/officeDocument/2006/relationships/image" Target="../media/image203.wmf"/><Relationship Id="rId4" Type="http://schemas.openxmlformats.org/officeDocument/2006/relationships/image" Target="../media/image202.wmf"/><Relationship Id="rId3" Type="http://schemas.openxmlformats.org/officeDocument/2006/relationships/image" Target="../media/image201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665602" name="幻灯片图像占位符 66560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03" name="文本占位符 66560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666626" name="幻灯片图像占位符 66662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6627" name="文本占位符 6666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667650" name="幻灯片图像占位符 66764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7651" name="文本占位符 66765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668674" name="幻灯片图像占位符 66867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8675" name="文本占位符 66867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669698" name="幻灯片图像占位符 66969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9699" name="文本占位符 66969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670722" name="幻灯片图像占位符 67072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0723" name="文本占位符 6707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671746" name="幻灯片图像占位符 67174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1747" name="文本占位符 67174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78242" name="幻灯片图像占位符 77824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43" name="文本占位符 77824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80290" name="幻灯片图像占位符 78028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0291" name="文本占位符 78029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49570" name="幻灯片图像占位符 74956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9571" name="文本占位符 74957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9605963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4900613" y="752475"/>
            <a:ext cx="2390775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2495600" y="1826578"/>
            <a:ext cx="7200800" cy="949878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2495600" y="2826092"/>
            <a:ext cx="72008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038475" y="2284413"/>
            <a:ext cx="6115050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1850" y="3373606"/>
            <a:ext cx="10515600" cy="1061467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2207568" y="4527773"/>
            <a:ext cx="7776864" cy="106146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FCB4D56-782D-442B-9B32-0BC325ED746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D269E1A-4DF9-4A6A-B519-38EBE42E33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9605963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726808" y="2313806"/>
            <a:ext cx="6738385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416EC6-90A0-4FF7-BF22-87F915FB23B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38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38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32" Type="http://schemas.openxmlformats.org/officeDocument/2006/relationships/notesSlide" Target="../notesSlides/notesSlide3.xml"/><Relationship Id="rId31" Type="http://schemas.openxmlformats.org/officeDocument/2006/relationships/vmlDrawing" Target="../drawings/vmlDrawing1.vml"/><Relationship Id="rId30" Type="http://schemas.openxmlformats.org/officeDocument/2006/relationships/slideLayout" Target="../slideLayouts/slideLayout12.xml"/><Relationship Id="rId3" Type="http://schemas.openxmlformats.org/officeDocument/2006/relationships/oleObject" Target="../embeddings/oleObject2.bin"/><Relationship Id="rId29" Type="http://schemas.openxmlformats.org/officeDocument/2006/relationships/image" Target="../media/image17.wmf"/><Relationship Id="rId28" Type="http://schemas.openxmlformats.org/officeDocument/2006/relationships/oleObject" Target="../embeddings/oleObject15.bin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6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5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4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3.wmf"/><Relationship Id="rId2" Type="http://schemas.openxmlformats.org/officeDocument/2006/relationships/image" Target="../media/image4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2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11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10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17.bin"/><Relationship Id="rId29" Type="http://schemas.openxmlformats.org/officeDocument/2006/relationships/notesSlide" Target="../notesSlides/notesSlide4.xml"/><Relationship Id="rId28" Type="http://schemas.openxmlformats.org/officeDocument/2006/relationships/vmlDrawing" Target="../drawings/vmlDrawing2.v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25.wmf"/><Relationship Id="rId25" Type="http://schemas.openxmlformats.org/officeDocument/2006/relationships/oleObject" Target="../embeddings/oleObject28.bin"/><Relationship Id="rId24" Type="http://schemas.openxmlformats.org/officeDocument/2006/relationships/image" Target="../media/image24.wmf"/><Relationship Id="rId23" Type="http://schemas.openxmlformats.org/officeDocument/2006/relationships/oleObject" Target="../embeddings/oleObject27.bin"/><Relationship Id="rId22" Type="http://schemas.openxmlformats.org/officeDocument/2006/relationships/image" Target="../media/image23.wmf"/><Relationship Id="rId21" Type="http://schemas.openxmlformats.org/officeDocument/2006/relationships/oleObject" Target="../embeddings/oleObject26.bin"/><Relationship Id="rId20" Type="http://schemas.openxmlformats.org/officeDocument/2006/relationships/image" Target="../media/image22.wmf"/><Relationship Id="rId2" Type="http://schemas.openxmlformats.org/officeDocument/2006/relationships/image" Target="../media/image5.wmf"/><Relationship Id="rId19" Type="http://schemas.openxmlformats.org/officeDocument/2006/relationships/oleObject" Target="../embeddings/oleObject25.bin"/><Relationship Id="rId18" Type="http://schemas.openxmlformats.org/officeDocument/2006/relationships/image" Target="../media/image21.wmf"/><Relationship Id="rId17" Type="http://schemas.openxmlformats.org/officeDocument/2006/relationships/oleObject" Target="../embeddings/oleObject24.bin"/><Relationship Id="rId16" Type="http://schemas.openxmlformats.org/officeDocument/2006/relationships/image" Target="../media/image20.wmf"/><Relationship Id="rId15" Type="http://schemas.openxmlformats.org/officeDocument/2006/relationships/oleObject" Target="../embeddings/oleObject23.bin"/><Relationship Id="rId14" Type="http://schemas.openxmlformats.org/officeDocument/2006/relationships/image" Target="../media/image19.wmf"/><Relationship Id="rId13" Type="http://schemas.openxmlformats.org/officeDocument/2006/relationships/oleObject" Target="../embeddings/oleObject22.bin"/><Relationship Id="rId12" Type="http://schemas.openxmlformats.org/officeDocument/2006/relationships/image" Target="../media/image18.wmf"/><Relationship Id="rId11" Type="http://schemas.openxmlformats.org/officeDocument/2006/relationships/oleObject" Target="../embeddings/oleObject21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29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6.wmf"/><Relationship Id="rId15" Type="http://schemas.openxmlformats.org/officeDocument/2006/relationships/notesSlide" Target="../notesSlides/notesSlide5.xml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1.wmf"/><Relationship Id="rId11" Type="http://schemas.openxmlformats.org/officeDocument/2006/relationships/oleObject" Target="../embeddings/oleObject34.bin"/><Relationship Id="rId10" Type="http://schemas.openxmlformats.org/officeDocument/2006/relationships/image" Target="../media/image30.wmf"/><Relationship Id="rId1" Type="http://schemas.openxmlformats.org/officeDocument/2006/relationships/oleObject" Target="../embeddings/oleObject2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2.wmf"/><Relationship Id="rId19" Type="http://schemas.openxmlformats.org/officeDocument/2006/relationships/notesSlide" Target="../notesSlides/notesSlide6.xml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35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34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33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35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36.wmf"/><Relationship Id="rId12" Type="http://schemas.openxmlformats.org/officeDocument/2006/relationships/notesSlide" Target="../notesSlides/notesSlide7.xml"/><Relationship Id="rId11" Type="http://schemas.openxmlformats.org/officeDocument/2006/relationships/vmlDrawing" Target="../drawings/vmlDrawing5.vml"/><Relationship Id="rId10" Type="http://schemas.openxmlformats.org/officeDocument/2006/relationships/slideLayout" Target="../slideLayouts/slideLayout13.xml"/><Relationship Id="rId1" Type="http://schemas.openxmlformats.org/officeDocument/2006/relationships/oleObject" Target="../embeddings/oleObject43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8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39.wmf"/><Relationship Id="rId1" Type="http://schemas.openxmlformats.org/officeDocument/2006/relationships/oleObject" Target="../embeddings/oleObject48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41.wdp"/><Relationship Id="rId1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6.w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43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5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48.e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5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1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60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58.bin"/><Relationship Id="rId2" Type="http://schemas.openxmlformats.org/officeDocument/2006/relationships/image" Target="../media/image50.w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5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56.w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55.wmf"/><Relationship Id="rId1" Type="http://schemas.openxmlformats.org/officeDocument/2006/relationships/oleObject" Target="../embeddings/oleObject6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59.wmf"/><Relationship Id="rId3" Type="http://schemas.openxmlformats.org/officeDocument/2006/relationships/oleObject" Target="../embeddings/oleObject66.bin"/><Relationship Id="rId2" Type="http://schemas.openxmlformats.org/officeDocument/2006/relationships/image" Target="../media/image58.wmf"/><Relationship Id="rId1" Type="http://schemas.openxmlformats.org/officeDocument/2006/relationships/oleObject" Target="../embeddings/oleObject65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1.wmf"/><Relationship Id="rId1" Type="http://schemas.openxmlformats.org/officeDocument/2006/relationships/oleObject" Target="../embeddings/oleObject68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w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63.wmf"/><Relationship Id="rId11" Type="http://schemas.openxmlformats.org/officeDocument/2006/relationships/vmlDrawing" Target="../drawings/vmlDrawing13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6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74.bin"/><Relationship Id="rId2" Type="http://schemas.openxmlformats.org/officeDocument/2006/relationships/image" Target="../media/image68.wmf"/><Relationship Id="rId1" Type="http://schemas.openxmlformats.org/officeDocument/2006/relationships/oleObject" Target="../embeddings/oleObject7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71.wmf"/><Relationship Id="rId1" Type="http://schemas.openxmlformats.org/officeDocument/2006/relationships/oleObject" Target="../embeddings/oleObject7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80.bin"/><Relationship Id="rId2" Type="http://schemas.openxmlformats.org/officeDocument/2006/relationships/image" Target="../media/image74.wmf"/><Relationship Id="rId1" Type="http://schemas.openxmlformats.org/officeDocument/2006/relationships/oleObject" Target="../embeddings/oleObject7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77.wmf"/><Relationship Id="rId1" Type="http://schemas.openxmlformats.org/officeDocument/2006/relationships/oleObject" Target="../embeddings/oleObject82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3.wmf"/><Relationship Id="rId7" Type="http://schemas.openxmlformats.org/officeDocument/2006/relationships/oleObject" Target="../embeddings/oleObject88.bin"/><Relationship Id="rId6" Type="http://schemas.openxmlformats.org/officeDocument/2006/relationships/image" Target="../media/image82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80.w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85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84.wmf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89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2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89.wmf"/><Relationship Id="rId10" Type="http://schemas.openxmlformats.org/officeDocument/2006/relationships/vmlDrawing" Target="../drawings/vmlDrawing20.vml"/><Relationship Id="rId1" Type="http://schemas.openxmlformats.org/officeDocument/2006/relationships/oleObject" Target="../embeddings/oleObject94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6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93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98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0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99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98.wmf"/><Relationship Id="rId3" Type="http://schemas.openxmlformats.org/officeDocument/2006/relationships/oleObject" Target="../embeddings/oleObject103.bin"/><Relationship Id="rId2" Type="http://schemas.openxmlformats.org/officeDocument/2006/relationships/image" Target="../media/image97.w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102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0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107.bin"/><Relationship Id="rId2" Type="http://schemas.openxmlformats.org/officeDocument/2006/relationships/image" Target="../media/image101.wmf"/><Relationship Id="rId14" Type="http://schemas.openxmlformats.org/officeDocument/2006/relationships/vmlDrawing" Target="../drawings/vmlDrawing2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111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106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6.bin"/><Relationship Id="rId8" Type="http://schemas.openxmlformats.org/officeDocument/2006/relationships/image" Target="../media/image110.w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08.wmf"/><Relationship Id="rId3" Type="http://schemas.openxmlformats.org/officeDocument/2006/relationships/oleObject" Target="../embeddings/oleObject113.bin"/><Relationship Id="rId26" Type="http://schemas.openxmlformats.org/officeDocument/2006/relationships/vmlDrawing" Target="../drawings/vmlDrawing24.vml"/><Relationship Id="rId25" Type="http://schemas.openxmlformats.org/officeDocument/2006/relationships/slideLayout" Target="../slideLayouts/slideLayout7.xml"/><Relationship Id="rId24" Type="http://schemas.openxmlformats.org/officeDocument/2006/relationships/oleObject" Target="../embeddings/oleObject125.bin"/><Relationship Id="rId23" Type="http://schemas.openxmlformats.org/officeDocument/2006/relationships/image" Target="../media/image116.wmf"/><Relationship Id="rId22" Type="http://schemas.openxmlformats.org/officeDocument/2006/relationships/oleObject" Target="../embeddings/oleObject124.bin"/><Relationship Id="rId21" Type="http://schemas.openxmlformats.org/officeDocument/2006/relationships/image" Target="../media/image115.wmf"/><Relationship Id="rId20" Type="http://schemas.openxmlformats.org/officeDocument/2006/relationships/oleObject" Target="../embeddings/oleObject123.bin"/><Relationship Id="rId2" Type="http://schemas.openxmlformats.org/officeDocument/2006/relationships/image" Target="../media/image107.wmf"/><Relationship Id="rId19" Type="http://schemas.openxmlformats.org/officeDocument/2006/relationships/image" Target="../media/image114.wmf"/><Relationship Id="rId18" Type="http://schemas.openxmlformats.org/officeDocument/2006/relationships/oleObject" Target="../embeddings/oleObject122.bin"/><Relationship Id="rId17" Type="http://schemas.openxmlformats.org/officeDocument/2006/relationships/oleObject" Target="../embeddings/oleObject121.bin"/><Relationship Id="rId16" Type="http://schemas.openxmlformats.org/officeDocument/2006/relationships/oleObject" Target="../embeddings/oleObject120.bin"/><Relationship Id="rId15" Type="http://schemas.openxmlformats.org/officeDocument/2006/relationships/oleObject" Target="../embeddings/oleObject119.bin"/><Relationship Id="rId14" Type="http://schemas.openxmlformats.org/officeDocument/2006/relationships/image" Target="../media/image113.wmf"/><Relationship Id="rId13" Type="http://schemas.openxmlformats.org/officeDocument/2006/relationships/oleObject" Target="../embeddings/oleObject118.bin"/><Relationship Id="rId12" Type="http://schemas.openxmlformats.org/officeDocument/2006/relationships/image" Target="../media/image112.wmf"/><Relationship Id="rId11" Type="http://schemas.openxmlformats.org/officeDocument/2006/relationships/oleObject" Target="../embeddings/oleObject117.bin"/><Relationship Id="rId10" Type="http://schemas.openxmlformats.org/officeDocument/2006/relationships/image" Target="../media/image111.wmf"/><Relationship Id="rId1" Type="http://schemas.openxmlformats.org/officeDocument/2006/relationships/oleObject" Target="../embeddings/oleObject112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0.bin"/><Relationship Id="rId8" Type="http://schemas.openxmlformats.org/officeDocument/2006/relationships/image" Target="../media/image120.wmf"/><Relationship Id="rId7" Type="http://schemas.openxmlformats.org/officeDocument/2006/relationships/oleObject" Target="../embeddings/oleObject129.bin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28.bin"/><Relationship Id="rId41" Type="http://schemas.openxmlformats.org/officeDocument/2006/relationships/vmlDrawing" Target="../drawings/vmlDrawing25.vml"/><Relationship Id="rId40" Type="http://schemas.openxmlformats.org/officeDocument/2006/relationships/slideLayout" Target="../slideLayouts/slideLayout2.xml"/><Relationship Id="rId4" Type="http://schemas.openxmlformats.org/officeDocument/2006/relationships/image" Target="../media/image118.wmf"/><Relationship Id="rId39" Type="http://schemas.openxmlformats.org/officeDocument/2006/relationships/image" Target="../media/image133.wmf"/><Relationship Id="rId38" Type="http://schemas.openxmlformats.org/officeDocument/2006/relationships/oleObject" Target="../embeddings/oleObject147.bin"/><Relationship Id="rId37" Type="http://schemas.openxmlformats.org/officeDocument/2006/relationships/image" Target="../media/image132.wmf"/><Relationship Id="rId36" Type="http://schemas.openxmlformats.org/officeDocument/2006/relationships/oleObject" Target="../embeddings/oleObject146.bin"/><Relationship Id="rId35" Type="http://schemas.openxmlformats.org/officeDocument/2006/relationships/image" Target="../media/image131.wmf"/><Relationship Id="rId34" Type="http://schemas.openxmlformats.org/officeDocument/2006/relationships/oleObject" Target="../embeddings/oleObject145.bin"/><Relationship Id="rId33" Type="http://schemas.openxmlformats.org/officeDocument/2006/relationships/image" Target="../media/image130.wmf"/><Relationship Id="rId32" Type="http://schemas.openxmlformats.org/officeDocument/2006/relationships/oleObject" Target="../embeddings/oleObject144.bin"/><Relationship Id="rId31" Type="http://schemas.openxmlformats.org/officeDocument/2006/relationships/image" Target="../media/image129.wmf"/><Relationship Id="rId30" Type="http://schemas.openxmlformats.org/officeDocument/2006/relationships/oleObject" Target="../embeddings/oleObject143.bin"/><Relationship Id="rId3" Type="http://schemas.openxmlformats.org/officeDocument/2006/relationships/oleObject" Target="../embeddings/oleObject127.bin"/><Relationship Id="rId29" Type="http://schemas.openxmlformats.org/officeDocument/2006/relationships/image" Target="../media/image128.wmf"/><Relationship Id="rId28" Type="http://schemas.openxmlformats.org/officeDocument/2006/relationships/oleObject" Target="../embeddings/oleObject142.bin"/><Relationship Id="rId27" Type="http://schemas.openxmlformats.org/officeDocument/2006/relationships/image" Target="../media/image127.wmf"/><Relationship Id="rId26" Type="http://schemas.openxmlformats.org/officeDocument/2006/relationships/oleObject" Target="../embeddings/oleObject141.bin"/><Relationship Id="rId25" Type="http://schemas.openxmlformats.org/officeDocument/2006/relationships/image" Target="../media/image126.wmf"/><Relationship Id="rId24" Type="http://schemas.openxmlformats.org/officeDocument/2006/relationships/oleObject" Target="../embeddings/oleObject140.bin"/><Relationship Id="rId23" Type="http://schemas.openxmlformats.org/officeDocument/2006/relationships/oleObject" Target="../embeddings/oleObject139.bin"/><Relationship Id="rId22" Type="http://schemas.openxmlformats.org/officeDocument/2006/relationships/oleObject" Target="../embeddings/oleObject138.bin"/><Relationship Id="rId21" Type="http://schemas.openxmlformats.org/officeDocument/2006/relationships/image" Target="../media/image125.wmf"/><Relationship Id="rId20" Type="http://schemas.openxmlformats.org/officeDocument/2006/relationships/oleObject" Target="../embeddings/oleObject137.bin"/><Relationship Id="rId2" Type="http://schemas.openxmlformats.org/officeDocument/2006/relationships/image" Target="../media/image117.wmf"/><Relationship Id="rId19" Type="http://schemas.openxmlformats.org/officeDocument/2006/relationships/image" Target="../media/image124.wmf"/><Relationship Id="rId18" Type="http://schemas.openxmlformats.org/officeDocument/2006/relationships/oleObject" Target="../embeddings/oleObject136.bin"/><Relationship Id="rId17" Type="http://schemas.openxmlformats.org/officeDocument/2006/relationships/oleObject" Target="../embeddings/oleObject135.bin"/><Relationship Id="rId16" Type="http://schemas.openxmlformats.org/officeDocument/2006/relationships/oleObject" Target="../embeddings/oleObject134.bin"/><Relationship Id="rId15" Type="http://schemas.openxmlformats.org/officeDocument/2006/relationships/image" Target="../media/image123.wmf"/><Relationship Id="rId14" Type="http://schemas.openxmlformats.org/officeDocument/2006/relationships/oleObject" Target="../embeddings/oleObject133.bin"/><Relationship Id="rId13" Type="http://schemas.openxmlformats.org/officeDocument/2006/relationships/image" Target="../media/image122.wmf"/><Relationship Id="rId12" Type="http://schemas.openxmlformats.org/officeDocument/2006/relationships/oleObject" Target="../embeddings/oleObject132.bin"/><Relationship Id="rId11" Type="http://schemas.openxmlformats.org/officeDocument/2006/relationships/oleObject" Target="../embeddings/oleObject131.bin"/><Relationship Id="rId10" Type="http://schemas.openxmlformats.org/officeDocument/2006/relationships/image" Target="../media/image121.wmf"/><Relationship Id="rId1" Type="http://schemas.openxmlformats.org/officeDocument/2006/relationships/oleObject" Target="../embeddings/oleObject126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2.bin"/><Relationship Id="rId8" Type="http://schemas.openxmlformats.org/officeDocument/2006/relationships/image" Target="../media/image137.wmf"/><Relationship Id="rId7" Type="http://schemas.openxmlformats.org/officeDocument/2006/relationships/oleObject" Target="../embeddings/oleObject151.bin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49.bin"/><Relationship Id="rId2" Type="http://schemas.openxmlformats.org/officeDocument/2006/relationships/image" Target="../media/image134.wmf"/><Relationship Id="rId14" Type="http://schemas.openxmlformats.org/officeDocument/2006/relationships/vmlDrawing" Target="../drawings/vmlDrawing2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39.wmf"/><Relationship Id="rId11" Type="http://schemas.openxmlformats.org/officeDocument/2006/relationships/oleObject" Target="../embeddings/oleObject153.bin"/><Relationship Id="rId10" Type="http://schemas.openxmlformats.org/officeDocument/2006/relationships/image" Target="../media/image138.wmf"/><Relationship Id="rId1" Type="http://schemas.openxmlformats.org/officeDocument/2006/relationships/oleObject" Target="../embeddings/oleObject148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8.bin"/><Relationship Id="rId8" Type="http://schemas.openxmlformats.org/officeDocument/2006/relationships/image" Target="../media/image143.wmf"/><Relationship Id="rId7" Type="http://schemas.openxmlformats.org/officeDocument/2006/relationships/oleObject" Target="../embeddings/oleObject157.bin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41.wmf"/><Relationship Id="rId3" Type="http://schemas.openxmlformats.org/officeDocument/2006/relationships/oleObject" Target="../embeddings/oleObject155.bin"/><Relationship Id="rId2" Type="http://schemas.openxmlformats.org/officeDocument/2006/relationships/image" Target="../media/image140.wmf"/><Relationship Id="rId18" Type="http://schemas.openxmlformats.org/officeDocument/2006/relationships/vmlDrawing" Target="../drawings/vmlDrawing27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47.wmf"/><Relationship Id="rId15" Type="http://schemas.openxmlformats.org/officeDocument/2006/relationships/oleObject" Target="../embeddings/oleObject161.bin"/><Relationship Id="rId14" Type="http://schemas.openxmlformats.org/officeDocument/2006/relationships/image" Target="../media/image146.wmf"/><Relationship Id="rId13" Type="http://schemas.openxmlformats.org/officeDocument/2006/relationships/oleObject" Target="../embeddings/oleObject160.bin"/><Relationship Id="rId12" Type="http://schemas.openxmlformats.org/officeDocument/2006/relationships/image" Target="../media/image145.wmf"/><Relationship Id="rId11" Type="http://schemas.openxmlformats.org/officeDocument/2006/relationships/oleObject" Target="../embeddings/oleObject159.bin"/><Relationship Id="rId10" Type="http://schemas.openxmlformats.org/officeDocument/2006/relationships/image" Target="../media/image144.wmf"/><Relationship Id="rId1" Type="http://schemas.openxmlformats.org/officeDocument/2006/relationships/oleObject" Target="../embeddings/oleObject154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6.bin"/><Relationship Id="rId8" Type="http://schemas.openxmlformats.org/officeDocument/2006/relationships/image" Target="../media/image151.wmf"/><Relationship Id="rId7" Type="http://schemas.openxmlformats.org/officeDocument/2006/relationships/oleObject" Target="../embeddings/oleObject165.bin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49.wmf"/><Relationship Id="rId3" Type="http://schemas.openxmlformats.org/officeDocument/2006/relationships/oleObject" Target="../embeddings/oleObject163.bin"/><Relationship Id="rId2" Type="http://schemas.openxmlformats.org/officeDocument/2006/relationships/image" Target="../media/image148.wmf"/><Relationship Id="rId14" Type="http://schemas.openxmlformats.org/officeDocument/2006/relationships/vmlDrawing" Target="../drawings/vmlDrawing2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53.wmf"/><Relationship Id="rId11" Type="http://schemas.openxmlformats.org/officeDocument/2006/relationships/oleObject" Target="../embeddings/oleObject167.bin"/><Relationship Id="rId10" Type="http://schemas.openxmlformats.org/officeDocument/2006/relationships/image" Target="../media/image152.wmf"/><Relationship Id="rId1" Type="http://schemas.openxmlformats.org/officeDocument/2006/relationships/oleObject" Target="../embeddings/oleObject162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2.bin"/><Relationship Id="rId8" Type="http://schemas.openxmlformats.org/officeDocument/2006/relationships/image" Target="../media/image157.wmf"/><Relationship Id="rId7" Type="http://schemas.openxmlformats.org/officeDocument/2006/relationships/oleObject" Target="../embeddings/oleObject171.bin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55.wmf"/><Relationship Id="rId3" Type="http://schemas.openxmlformats.org/officeDocument/2006/relationships/oleObject" Target="../embeddings/oleObject169.bin"/><Relationship Id="rId20" Type="http://schemas.openxmlformats.org/officeDocument/2006/relationships/vmlDrawing" Target="../drawings/vmlDrawing29.vml"/><Relationship Id="rId2" Type="http://schemas.openxmlformats.org/officeDocument/2006/relationships/image" Target="../media/image154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60.wmf"/><Relationship Id="rId17" Type="http://schemas.openxmlformats.org/officeDocument/2006/relationships/oleObject" Target="../embeddings/oleObject176.bin"/><Relationship Id="rId16" Type="http://schemas.openxmlformats.org/officeDocument/2006/relationships/image" Target="../media/image159.wmf"/><Relationship Id="rId15" Type="http://schemas.openxmlformats.org/officeDocument/2006/relationships/oleObject" Target="../embeddings/oleObject175.bin"/><Relationship Id="rId14" Type="http://schemas.openxmlformats.org/officeDocument/2006/relationships/image" Target="../media/image150.wmf"/><Relationship Id="rId13" Type="http://schemas.openxmlformats.org/officeDocument/2006/relationships/oleObject" Target="../embeddings/oleObject174.bin"/><Relationship Id="rId12" Type="http://schemas.openxmlformats.org/officeDocument/2006/relationships/image" Target="../media/image158.wmf"/><Relationship Id="rId11" Type="http://schemas.openxmlformats.org/officeDocument/2006/relationships/oleObject" Target="../embeddings/oleObject173.bin"/><Relationship Id="rId10" Type="http://schemas.openxmlformats.org/officeDocument/2006/relationships/image" Target="../media/image148.wmf"/><Relationship Id="rId1" Type="http://schemas.openxmlformats.org/officeDocument/2006/relationships/oleObject" Target="../embeddings/oleObject168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1.bin"/><Relationship Id="rId8" Type="http://schemas.openxmlformats.org/officeDocument/2006/relationships/image" Target="../media/image163.wmf"/><Relationship Id="rId7" Type="http://schemas.openxmlformats.org/officeDocument/2006/relationships/oleObject" Target="../embeddings/oleObject180.bin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79.bin"/><Relationship Id="rId40" Type="http://schemas.openxmlformats.org/officeDocument/2006/relationships/vmlDrawing" Target="../drawings/vmlDrawing30.vml"/><Relationship Id="rId4" Type="http://schemas.openxmlformats.org/officeDocument/2006/relationships/image" Target="../media/image162.wmf"/><Relationship Id="rId39" Type="http://schemas.openxmlformats.org/officeDocument/2006/relationships/slideLayout" Target="../slideLayouts/slideLayout7.xml"/><Relationship Id="rId38" Type="http://schemas.openxmlformats.org/officeDocument/2006/relationships/image" Target="../media/image170.wmf"/><Relationship Id="rId37" Type="http://schemas.openxmlformats.org/officeDocument/2006/relationships/oleObject" Target="../embeddings/oleObject197.bin"/><Relationship Id="rId36" Type="http://schemas.openxmlformats.org/officeDocument/2006/relationships/image" Target="../media/image169.wmf"/><Relationship Id="rId35" Type="http://schemas.openxmlformats.org/officeDocument/2006/relationships/oleObject" Target="../embeddings/oleObject196.bin"/><Relationship Id="rId34" Type="http://schemas.openxmlformats.org/officeDocument/2006/relationships/image" Target="../media/image168.wmf"/><Relationship Id="rId33" Type="http://schemas.openxmlformats.org/officeDocument/2006/relationships/oleObject" Target="../embeddings/oleObject195.bin"/><Relationship Id="rId32" Type="http://schemas.openxmlformats.org/officeDocument/2006/relationships/image" Target="../media/image144.wmf"/><Relationship Id="rId31" Type="http://schemas.openxmlformats.org/officeDocument/2006/relationships/oleObject" Target="../embeddings/oleObject194.bin"/><Relationship Id="rId30" Type="http://schemas.openxmlformats.org/officeDocument/2006/relationships/image" Target="../media/image143.wmf"/><Relationship Id="rId3" Type="http://schemas.openxmlformats.org/officeDocument/2006/relationships/oleObject" Target="../embeddings/oleObject178.bin"/><Relationship Id="rId29" Type="http://schemas.openxmlformats.org/officeDocument/2006/relationships/oleObject" Target="../embeddings/oleObject193.bin"/><Relationship Id="rId28" Type="http://schemas.openxmlformats.org/officeDocument/2006/relationships/image" Target="../media/image142.wmf"/><Relationship Id="rId27" Type="http://schemas.openxmlformats.org/officeDocument/2006/relationships/oleObject" Target="../embeddings/oleObject192.bin"/><Relationship Id="rId26" Type="http://schemas.openxmlformats.org/officeDocument/2006/relationships/image" Target="../media/image141.wmf"/><Relationship Id="rId25" Type="http://schemas.openxmlformats.org/officeDocument/2006/relationships/oleObject" Target="../embeddings/oleObject191.bin"/><Relationship Id="rId24" Type="http://schemas.openxmlformats.org/officeDocument/2006/relationships/image" Target="../media/image140.wmf"/><Relationship Id="rId23" Type="http://schemas.openxmlformats.org/officeDocument/2006/relationships/oleObject" Target="../embeddings/oleObject190.bin"/><Relationship Id="rId22" Type="http://schemas.openxmlformats.org/officeDocument/2006/relationships/oleObject" Target="../embeddings/oleObject189.bin"/><Relationship Id="rId21" Type="http://schemas.openxmlformats.org/officeDocument/2006/relationships/oleObject" Target="../embeddings/oleObject188.bin"/><Relationship Id="rId20" Type="http://schemas.openxmlformats.org/officeDocument/2006/relationships/image" Target="../media/image167.wmf"/><Relationship Id="rId2" Type="http://schemas.openxmlformats.org/officeDocument/2006/relationships/image" Target="../media/image161.wmf"/><Relationship Id="rId19" Type="http://schemas.openxmlformats.org/officeDocument/2006/relationships/oleObject" Target="../embeddings/oleObject187.bin"/><Relationship Id="rId18" Type="http://schemas.openxmlformats.org/officeDocument/2006/relationships/oleObject" Target="../embeddings/oleObject186.bin"/><Relationship Id="rId17" Type="http://schemas.openxmlformats.org/officeDocument/2006/relationships/image" Target="../media/image166.wmf"/><Relationship Id="rId16" Type="http://schemas.openxmlformats.org/officeDocument/2006/relationships/oleObject" Target="../embeddings/oleObject185.bin"/><Relationship Id="rId15" Type="http://schemas.openxmlformats.org/officeDocument/2006/relationships/oleObject" Target="../embeddings/oleObject184.bin"/><Relationship Id="rId14" Type="http://schemas.openxmlformats.org/officeDocument/2006/relationships/image" Target="../media/image165.wmf"/><Relationship Id="rId13" Type="http://schemas.openxmlformats.org/officeDocument/2006/relationships/oleObject" Target="../embeddings/oleObject183.bin"/><Relationship Id="rId12" Type="http://schemas.openxmlformats.org/officeDocument/2006/relationships/image" Target="../media/image164.wmf"/><Relationship Id="rId11" Type="http://schemas.openxmlformats.org/officeDocument/2006/relationships/oleObject" Target="../embeddings/oleObject182.bin"/><Relationship Id="rId10" Type="http://schemas.openxmlformats.org/officeDocument/2006/relationships/image" Target="../media/image150.wmf"/><Relationship Id="rId1" Type="http://schemas.openxmlformats.org/officeDocument/2006/relationships/oleObject" Target="../embeddings/oleObject177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3.w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172.wmf"/><Relationship Id="rId3" Type="http://schemas.openxmlformats.org/officeDocument/2006/relationships/oleObject" Target="../embeddings/oleObject199.bin"/><Relationship Id="rId2" Type="http://schemas.openxmlformats.org/officeDocument/2006/relationships/image" Target="../media/image171.wmf"/><Relationship Id="rId1" Type="http://schemas.openxmlformats.org/officeDocument/2006/relationships/oleObject" Target="../embeddings/oleObject198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6.wmf"/><Relationship Id="rId5" Type="http://schemas.openxmlformats.org/officeDocument/2006/relationships/oleObject" Target="../embeddings/oleObject203.bin"/><Relationship Id="rId4" Type="http://schemas.openxmlformats.org/officeDocument/2006/relationships/image" Target="../media/image175.wmf"/><Relationship Id="rId3" Type="http://schemas.openxmlformats.org/officeDocument/2006/relationships/oleObject" Target="../embeddings/oleObject202.bin"/><Relationship Id="rId2" Type="http://schemas.openxmlformats.org/officeDocument/2006/relationships/image" Target="../media/image174.wmf"/><Relationship Id="rId1" Type="http://schemas.openxmlformats.org/officeDocument/2006/relationships/oleObject" Target="../embeddings/oleObject201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8.bin"/><Relationship Id="rId8" Type="http://schemas.openxmlformats.org/officeDocument/2006/relationships/image" Target="../media/image180.wmf"/><Relationship Id="rId7" Type="http://schemas.openxmlformats.org/officeDocument/2006/relationships/oleObject" Target="../embeddings/oleObject207.bin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206.bin"/><Relationship Id="rId4" Type="http://schemas.openxmlformats.org/officeDocument/2006/relationships/image" Target="../media/image178.wmf"/><Relationship Id="rId3" Type="http://schemas.openxmlformats.org/officeDocument/2006/relationships/oleObject" Target="../embeddings/oleObject205.bin"/><Relationship Id="rId2" Type="http://schemas.openxmlformats.org/officeDocument/2006/relationships/image" Target="../media/image177.wmf"/><Relationship Id="rId12" Type="http://schemas.openxmlformats.org/officeDocument/2006/relationships/vmlDrawing" Target="../drawings/vmlDrawing3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81.wmf"/><Relationship Id="rId1" Type="http://schemas.openxmlformats.org/officeDocument/2006/relationships/oleObject" Target="../embeddings/oleObject204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85.wmf"/><Relationship Id="rId7" Type="http://schemas.openxmlformats.org/officeDocument/2006/relationships/oleObject" Target="../embeddings/oleObject212.bin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211.bin"/><Relationship Id="rId4" Type="http://schemas.openxmlformats.org/officeDocument/2006/relationships/image" Target="../media/image183.wmf"/><Relationship Id="rId3" Type="http://schemas.openxmlformats.org/officeDocument/2006/relationships/oleObject" Target="../embeddings/oleObject210.bin"/><Relationship Id="rId2" Type="http://schemas.openxmlformats.org/officeDocument/2006/relationships/image" Target="../media/image182.wmf"/><Relationship Id="rId10" Type="http://schemas.openxmlformats.org/officeDocument/2006/relationships/vmlDrawing" Target="../drawings/vmlDrawing34.vml"/><Relationship Id="rId1" Type="http://schemas.openxmlformats.org/officeDocument/2006/relationships/oleObject" Target="../embeddings/oleObject209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215.bin"/><Relationship Id="rId4" Type="http://schemas.openxmlformats.org/officeDocument/2006/relationships/image" Target="../media/image187.wmf"/><Relationship Id="rId3" Type="http://schemas.openxmlformats.org/officeDocument/2006/relationships/oleObject" Target="../embeddings/oleObject214.bin"/><Relationship Id="rId2" Type="http://schemas.openxmlformats.org/officeDocument/2006/relationships/image" Target="../media/image186.wmf"/><Relationship Id="rId1" Type="http://schemas.openxmlformats.org/officeDocument/2006/relationships/oleObject" Target="../embeddings/oleObject213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0.bin"/><Relationship Id="rId8" Type="http://schemas.openxmlformats.org/officeDocument/2006/relationships/image" Target="../media/image192.wmf"/><Relationship Id="rId7" Type="http://schemas.openxmlformats.org/officeDocument/2006/relationships/oleObject" Target="../embeddings/oleObject219.bin"/><Relationship Id="rId6" Type="http://schemas.openxmlformats.org/officeDocument/2006/relationships/image" Target="../media/image191.wmf"/><Relationship Id="rId5" Type="http://schemas.openxmlformats.org/officeDocument/2006/relationships/oleObject" Target="../embeddings/oleObject218.bin"/><Relationship Id="rId4" Type="http://schemas.openxmlformats.org/officeDocument/2006/relationships/image" Target="../media/image190.wmf"/><Relationship Id="rId3" Type="http://schemas.openxmlformats.org/officeDocument/2006/relationships/oleObject" Target="../embeddings/oleObject217.bin"/><Relationship Id="rId2" Type="http://schemas.openxmlformats.org/officeDocument/2006/relationships/image" Target="../media/image189.wmf"/><Relationship Id="rId12" Type="http://schemas.openxmlformats.org/officeDocument/2006/relationships/vmlDrawing" Target="../drawings/vmlDrawing3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93.wmf"/><Relationship Id="rId1" Type="http://schemas.openxmlformats.org/officeDocument/2006/relationships/oleObject" Target="../embeddings/oleObject216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5.bin"/><Relationship Id="rId8" Type="http://schemas.openxmlformats.org/officeDocument/2006/relationships/image" Target="../media/image197.wmf"/><Relationship Id="rId7" Type="http://schemas.openxmlformats.org/officeDocument/2006/relationships/oleObject" Target="../embeddings/oleObject224.bin"/><Relationship Id="rId6" Type="http://schemas.openxmlformats.org/officeDocument/2006/relationships/image" Target="../media/image196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195.wmf"/><Relationship Id="rId3" Type="http://schemas.openxmlformats.org/officeDocument/2006/relationships/oleObject" Target="../embeddings/oleObject222.bin"/><Relationship Id="rId2" Type="http://schemas.openxmlformats.org/officeDocument/2006/relationships/image" Target="../media/image194.wmf"/><Relationship Id="rId12" Type="http://schemas.openxmlformats.org/officeDocument/2006/relationships/vmlDrawing" Target="../drawings/vmlDrawing37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98.wmf"/><Relationship Id="rId1" Type="http://schemas.openxmlformats.org/officeDocument/2006/relationships/oleObject" Target="../embeddings/oleObject221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0.bin"/><Relationship Id="rId8" Type="http://schemas.openxmlformats.org/officeDocument/2006/relationships/image" Target="../media/image202.wmf"/><Relationship Id="rId7" Type="http://schemas.openxmlformats.org/officeDocument/2006/relationships/oleObject" Target="../embeddings/oleObject229.bin"/><Relationship Id="rId6" Type="http://schemas.openxmlformats.org/officeDocument/2006/relationships/image" Target="../media/image201.wmf"/><Relationship Id="rId5" Type="http://schemas.openxmlformats.org/officeDocument/2006/relationships/oleObject" Target="../embeddings/oleObject228.bin"/><Relationship Id="rId4" Type="http://schemas.openxmlformats.org/officeDocument/2006/relationships/image" Target="../media/image200.wmf"/><Relationship Id="rId3" Type="http://schemas.openxmlformats.org/officeDocument/2006/relationships/oleObject" Target="../embeddings/oleObject227.bin"/><Relationship Id="rId2" Type="http://schemas.openxmlformats.org/officeDocument/2006/relationships/image" Target="../media/image199.wmf"/><Relationship Id="rId16" Type="http://schemas.openxmlformats.org/officeDocument/2006/relationships/vmlDrawing" Target="../drawings/vmlDrawing38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05.wmf"/><Relationship Id="rId13" Type="http://schemas.openxmlformats.org/officeDocument/2006/relationships/oleObject" Target="../embeddings/oleObject232.bin"/><Relationship Id="rId12" Type="http://schemas.openxmlformats.org/officeDocument/2006/relationships/image" Target="../media/image204.wmf"/><Relationship Id="rId11" Type="http://schemas.openxmlformats.org/officeDocument/2006/relationships/oleObject" Target="../embeddings/oleObject231.bin"/><Relationship Id="rId10" Type="http://schemas.openxmlformats.org/officeDocument/2006/relationships/image" Target="../media/image203.wmf"/><Relationship Id="rId1" Type="http://schemas.openxmlformats.org/officeDocument/2006/relationships/oleObject" Target="../embeddings/oleObject22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495600" y="1679893"/>
            <a:ext cx="7200800" cy="949878"/>
          </a:xfrm>
        </p:spPr>
        <p:txBody>
          <a:bodyPr>
            <a:noAutofit/>
          </a:bodyPr>
          <a:lstStyle/>
          <a:p>
            <a:r>
              <a:rPr lang="zh-CN" altLang="zh-CN" sz="5400"/>
              <a:t>数学物理方法</a:t>
            </a:r>
            <a:endParaRPr lang="zh-CN" altLang="zh-CN" sz="5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719705" y="3571875"/>
            <a:ext cx="7200900" cy="1356995"/>
          </a:xfrm>
        </p:spPr>
        <p:txBody>
          <a:bodyPr>
            <a:normAutofit/>
          </a:bodyPr>
          <a:lstStyle/>
          <a:p>
            <a:pPr>
              <a:lnSpc>
                <a:spcPct val="60000"/>
              </a:lnSpc>
            </a:pPr>
            <a:r>
              <a:rPr lang="zh-CN" altLang="en-US" dirty="0"/>
              <a:t>任课教师：曹宁</a:t>
            </a:r>
            <a:r>
              <a:rPr lang="en-US" altLang="zh-CN" dirty="0"/>
              <a:t> </a:t>
            </a:r>
            <a:endParaRPr lang="en-US" altLang="zh-CN" dirty="0"/>
          </a:p>
          <a:p>
            <a:pPr>
              <a:lnSpc>
                <a:spcPct val="60000"/>
              </a:lnSpc>
            </a:pPr>
            <a:r>
              <a:rPr lang="en-US" altLang="zh-CN" dirty="0"/>
              <a:t>Email: ncao@gdou.edu.cn</a:t>
            </a:r>
            <a:endParaRPr lang="zh-CN" altLang="en-US" dirty="0"/>
          </a:p>
          <a:p>
            <a:pPr>
              <a:lnSpc>
                <a:spcPct val="60000"/>
              </a:lnSpc>
            </a:pPr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zh-CN" altLang="en-US" dirty="0"/>
              <a:t>秋季学期</a:t>
            </a:r>
            <a:endParaRPr lang="zh-CN" altLang="en-US" dirty="0"/>
          </a:p>
        </p:txBody>
      </p:sp>
      <p:pic>
        <p:nvPicPr>
          <p:cNvPr id="5" name="图片 4" descr="校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67410"/>
            <a:ext cx="2248535" cy="490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65120" y="2756535"/>
            <a:ext cx="6407785" cy="52322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eaLnBrk="1" hangingPunct="1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第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章 波动方程的初值问题与行波法</a:t>
            </a:r>
            <a:endParaRPr lang="zh-CN" alt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Rot="1"/>
          </p:cNvSpPr>
          <p:nvPr/>
        </p:nvSpPr>
        <p:spPr bwMode="auto">
          <a:xfrm>
            <a:off x="1919289" y="260351"/>
            <a:ext cx="7489825" cy="936625"/>
          </a:xfrm>
          <a:prstGeom prst="rect">
            <a:avLst/>
          </a:prstGeom>
          <a:noFill/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  <a:softEdge rad="31750"/>
          </a:effectLst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章 波动方程与行波法、降维法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2476212" y="1400175"/>
            <a:ext cx="7489825" cy="5111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457200" indent="-4572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.1 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一维波动方程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indent="-4572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d’Alembert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公式推导  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indent="-4572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二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d’Alembert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公式物理意义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indent="-4572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依赖区间、决定区域和影响区域  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>
              <a:spcBef>
                <a:spcPct val="2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 四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半无界弦自由振动问题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0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spcBef>
                <a:spcPct val="10000"/>
              </a:spcBef>
              <a:buClr>
                <a:schemeClr val="hlink"/>
              </a:buClr>
            </a:pPr>
            <a:r>
              <a:rPr lang="zh-CN" altLang="en-US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3.2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三维波动方程柯西问题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一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三维波动方程和球对称解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二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三维波动方程的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Poisson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和球对称解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spcBef>
                <a:spcPct val="20000"/>
              </a:spcBef>
              <a:buClr>
                <a:schemeClr val="hlink"/>
              </a:buClr>
            </a:pPr>
            <a:endParaRPr lang="en-US" altLang="zh-CN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标题 445441"/>
          <p:cNvSpPr>
            <a:spLocks noGrp="1"/>
          </p:cNvSpPr>
          <p:nvPr>
            <p:ph type="title"/>
          </p:nvPr>
        </p:nvSpPr>
        <p:spPr>
          <a:xfrm>
            <a:off x="1415256" y="295274"/>
            <a:ext cx="8785225" cy="1143000"/>
          </a:xfrm>
        </p:spPr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微元法</a:t>
            </a:r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3200" b="1" dirty="0">
                <a:solidFill>
                  <a:srgbClr val="0000FF"/>
                </a:solidFill>
                <a:ea typeface="黑体" panose="02010609060101010101" pitchFamily="49" charset="-122"/>
              </a:rPr>
              <a:t>弦振动方程</a:t>
            </a:r>
            <a:endParaRPr lang="zh-CN" altLang="en-US" sz="32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445443" name="文本占位符 445442"/>
          <p:cNvSpPr>
            <a:spLocks noGrp="1"/>
          </p:cNvSpPr>
          <p:nvPr>
            <p:ph type="body" sz="half" idx="1"/>
          </p:nvPr>
        </p:nvSpPr>
        <p:spPr>
          <a:xfrm>
            <a:off x="2279650" y="1557338"/>
            <a:ext cx="7632700" cy="4525962"/>
          </a:xfrm>
        </p:spPr>
        <p:txBody>
          <a:bodyPr/>
          <a:lstStyle/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平衡位置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弦被绷紧，内部有张力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设为</a:t>
            </a:r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</a:t>
            </a:r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长度为</a:t>
            </a:r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L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，水平安置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位于</a:t>
            </a:r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轴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endParaRPr lang="en-US" altLang="zh-CN" sz="1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5444" name="左箭头 445443"/>
          <p:cNvSpPr/>
          <p:nvPr/>
        </p:nvSpPr>
        <p:spPr>
          <a:xfrm>
            <a:off x="3432175" y="3141664"/>
            <a:ext cx="431800" cy="485775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445" name="左箭头 445444"/>
          <p:cNvSpPr/>
          <p:nvPr/>
        </p:nvSpPr>
        <p:spPr>
          <a:xfrm rot="10800000">
            <a:off x="7391400" y="3141664"/>
            <a:ext cx="431800" cy="485775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446" name="直接连接符 445445"/>
          <p:cNvSpPr/>
          <p:nvPr/>
        </p:nvSpPr>
        <p:spPr>
          <a:xfrm>
            <a:off x="3863976" y="3382963"/>
            <a:ext cx="3527425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447" name="直接连接符 445446"/>
          <p:cNvSpPr/>
          <p:nvPr/>
        </p:nvSpPr>
        <p:spPr>
          <a:xfrm>
            <a:off x="7824788" y="3376613"/>
            <a:ext cx="10080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448" name="文本框 445447"/>
          <p:cNvSpPr txBox="1"/>
          <p:nvPr/>
        </p:nvSpPr>
        <p:spPr>
          <a:xfrm>
            <a:off x="8543925" y="3284538"/>
            <a:ext cx="4318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445450" name="文本框 445449"/>
          <p:cNvSpPr txBox="1"/>
          <p:nvPr/>
        </p:nvSpPr>
        <p:spPr>
          <a:xfrm>
            <a:off x="3719513" y="3429001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45466" name="文本框 445465"/>
          <p:cNvSpPr txBox="1"/>
          <p:nvPr/>
        </p:nvSpPr>
        <p:spPr>
          <a:xfrm>
            <a:off x="3719513" y="5734051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45467" name="文本框 445466"/>
          <p:cNvSpPr txBox="1"/>
          <p:nvPr/>
        </p:nvSpPr>
        <p:spPr>
          <a:xfrm>
            <a:off x="8616950" y="5516563"/>
            <a:ext cx="4318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445468" name="左箭头 445467"/>
          <p:cNvSpPr/>
          <p:nvPr/>
        </p:nvSpPr>
        <p:spPr>
          <a:xfrm>
            <a:off x="3432175" y="5445126"/>
            <a:ext cx="431800" cy="485775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469" name="左箭头 445468"/>
          <p:cNvSpPr/>
          <p:nvPr/>
        </p:nvSpPr>
        <p:spPr>
          <a:xfrm rot="10800000">
            <a:off x="7391400" y="5445126"/>
            <a:ext cx="431800" cy="485775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471" name="直接连接符 445470"/>
          <p:cNvSpPr/>
          <p:nvPr/>
        </p:nvSpPr>
        <p:spPr>
          <a:xfrm>
            <a:off x="7824788" y="5680075"/>
            <a:ext cx="10080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473" name="直接连接符 445472"/>
          <p:cNvSpPr/>
          <p:nvPr/>
        </p:nvSpPr>
        <p:spPr>
          <a:xfrm flipV="1">
            <a:off x="3863976" y="5013325"/>
            <a:ext cx="2519363" cy="6477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474" name="直接连接符 445473"/>
          <p:cNvSpPr/>
          <p:nvPr/>
        </p:nvSpPr>
        <p:spPr>
          <a:xfrm>
            <a:off x="6383338" y="5013325"/>
            <a:ext cx="1008062" cy="6477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475" name="直接连接符 445474"/>
          <p:cNvSpPr/>
          <p:nvPr/>
        </p:nvSpPr>
        <p:spPr>
          <a:xfrm>
            <a:off x="3863976" y="5661025"/>
            <a:ext cx="35274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476" name="文本框 445475"/>
          <p:cNvSpPr txBox="1"/>
          <p:nvPr/>
        </p:nvSpPr>
        <p:spPr>
          <a:xfrm>
            <a:off x="1846263" y="4176365"/>
            <a:ext cx="6913562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初始状态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（例如）弦被拉成下列形状：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5477" name="文本框 445476"/>
          <p:cNvSpPr txBox="1"/>
          <p:nvPr/>
        </p:nvSpPr>
        <p:spPr>
          <a:xfrm>
            <a:off x="7175501" y="3500439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L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445478" name="文本框 445477"/>
          <p:cNvSpPr txBox="1"/>
          <p:nvPr/>
        </p:nvSpPr>
        <p:spPr>
          <a:xfrm>
            <a:off x="7175501" y="5805489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L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0021455" y="175491"/>
            <a:ext cx="2050472" cy="692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复习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标题 481281"/>
          <p:cNvSpPr>
            <a:spLocks noGrp="1"/>
          </p:cNvSpPr>
          <p:nvPr>
            <p:ph type="title"/>
          </p:nvPr>
        </p:nvSpPr>
        <p:spPr>
          <a:xfrm>
            <a:off x="1524001" y="260350"/>
            <a:ext cx="8785225" cy="1143000"/>
          </a:xfrm>
        </p:spPr>
        <p:txBody>
          <a:bodyPr anchor="ctr" anchorCtr="0"/>
          <a:lstStyle/>
          <a:p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49" charset="-122"/>
              </a:rPr>
              <a:t>弦振动方程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481283" name="文本占位符 481282"/>
          <p:cNvSpPr>
            <a:spLocks noGrp="1"/>
          </p:cNvSpPr>
          <p:nvPr>
            <p:ph type="body" sz="half" idx="1"/>
          </p:nvPr>
        </p:nvSpPr>
        <p:spPr>
          <a:xfrm>
            <a:off x="2279650" y="1557338"/>
            <a:ext cx="7632700" cy="4525962"/>
          </a:xfrm>
        </p:spPr>
        <p:txBody>
          <a:bodyPr/>
          <a:lstStyle/>
          <a:p>
            <a:pPr>
              <a:buClrTx/>
              <a:buSzTx/>
              <a:buFontTx/>
              <a:buNone/>
            </a:pP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290" name="文本框 481289"/>
          <p:cNvSpPr txBox="1"/>
          <p:nvPr/>
        </p:nvSpPr>
        <p:spPr>
          <a:xfrm>
            <a:off x="2855913" y="1557339"/>
            <a:ext cx="7199312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dirty="0">
                <a:latin typeface="Verdana" panose="020B0604030504040204" pitchFamily="34" charset="0"/>
                <a:ea typeface="黑体" panose="02010609060101010101" pitchFamily="49" charset="-122"/>
              </a:rPr>
              <a:t>任意 </a:t>
            </a:r>
            <a:r>
              <a:rPr lang="en-US" altLang="zh-CN" sz="3200" i="1"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zh-CN" altLang="en-US" sz="3200" dirty="0">
                <a:latin typeface="Verdana" panose="020B0604030504040204" pitchFamily="34" charset="0"/>
                <a:ea typeface="黑体" panose="02010609060101010101" pitchFamily="49" charset="-122"/>
              </a:rPr>
              <a:t>时刻弦的形状 </a:t>
            </a:r>
            <a:r>
              <a:rPr lang="en-US" altLang="zh-CN" sz="3200">
                <a:latin typeface="Verdana" panose="020B0604030504040204" pitchFamily="34" charset="0"/>
                <a:ea typeface="黑体" panose="02010609060101010101" pitchFamily="49" charset="-122"/>
              </a:rPr>
              <a:t>:</a:t>
            </a:r>
            <a:endParaRPr lang="en-US" altLang="zh-CN" sz="320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81291" name="左箭头 481290"/>
          <p:cNvSpPr/>
          <p:nvPr/>
        </p:nvSpPr>
        <p:spPr>
          <a:xfrm>
            <a:off x="3216275" y="4149726"/>
            <a:ext cx="431800" cy="485775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dirty="0">
                <a:latin typeface="Verdana" panose="020B0604030504040204" pitchFamily="34" charset="0"/>
              </a:rPr>
              <a:t>              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481292" name="左箭头 481291"/>
          <p:cNvSpPr/>
          <p:nvPr/>
        </p:nvSpPr>
        <p:spPr>
          <a:xfrm rot="10800000">
            <a:off x="7175500" y="4149726"/>
            <a:ext cx="431800" cy="485775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293" name="直接连接符 481292"/>
          <p:cNvSpPr/>
          <p:nvPr/>
        </p:nvSpPr>
        <p:spPr>
          <a:xfrm>
            <a:off x="7608888" y="4384675"/>
            <a:ext cx="10080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294" name="任意多边形 481293"/>
          <p:cNvSpPr/>
          <p:nvPr/>
        </p:nvSpPr>
        <p:spPr>
          <a:xfrm rot="5400000" flipH="1">
            <a:off x="6203951" y="3463926"/>
            <a:ext cx="576263" cy="136842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295" name="任意多边形 481294"/>
          <p:cNvSpPr/>
          <p:nvPr/>
        </p:nvSpPr>
        <p:spPr>
          <a:xfrm flipH="1">
            <a:off x="3648076" y="3860801"/>
            <a:ext cx="2232025" cy="576263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dirty="0">
                <a:latin typeface="Verdana" panose="020B0604030504040204" pitchFamily="34" charset="0"/>
              </a:rPr>
              <a:t> 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481296" name="文本框 481295"/>
          <p:cNvSpPr txBox="1"/>
          <p:nvPr/>
        </p:nvSpPr>
        <p:spPr>
          <a:xfrm>
            <a:off x="3503613" y="4510089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81297" name="文本框 481296"/>
          <p:cNvSpPr txBox="1"/>
          <p:nvPr/>
        </p:nvSpPr>
        <p:spPr>
          <a:xfrm>
            <a:off x="8401050" y="4292600"/>
            <a:ext cx="4318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481298" name="直接连接符 481297"/>
          <p:cNvSpPr/>
          <p:nvPr/>
        </p:nvSpPr>
        <p:spPr>
          <a:xfrm flipV="1">
            <a:off x="3648075" y="2709863"/>
            <a:ext cx="0" cy="16557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299" name="直接连接符 481298"/>
          <p:cNvSpPr/>
          <p:nvPr/>
        </p:nvSpPr>
        <p:spPr>
          <a:xfrm>
            <a:off x="3648076" y="4381500"/>
            <a:ext cx="35274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00" name="文本框 481299"/>
          <p:cNvSpPr txBox="1"/>
          <p:nvPr/>
        </p:nvSpPr>
        <p:spPr>
          <a:xfrm>
            <a:off x="3287714" y="2349500"/>
            <a:ext cx="358775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</a:rPr>
              <a:t>u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481301" name="文本框 481300"/>
          <p:cNvSpPr txBox="1"/>
          <p:nvPr/>
        </p:nvSpPr>
        <p:spPr>
          <a:xfrm>
            <a:off x="2711451" y="5084764"/>
            <a:ext cx="6767513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现在的问题：任意时刻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弦上任意点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离开其平衡位置的位移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x, t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02" name="直接连接符 481301"/>
          <p:cNvSpPr/>
          <p:nvPr/>
        </p:nvSpPr>
        <p:spPr>
          <a:xfrm flipV="1">
            <a:off x="4440238" y="4005263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03" name="直接连接符 481302"/>
          <p:cNvSpPr/>
          <p:nvPr/>
        </p:nvSpPr>
        <p:spPr>
          <a:xfrm flipH="1">
            <a:off x="3648076" y="4005263"/>
            <a:ext cx="7921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04" name="文本框 481303"/>
          <p:cNvSpPr txBox="1"/>
          <p:nvPr/>
        </p:nvSpPr>
        <p:spPr>
          <a:xfrm>
            <a:off x="4151313" y="4292600"/>
            <a:ext cx="4318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481305" name="文本框 481304"/>
          <p:cNvSpPr txBox="1"/>
          <p:nvPr/>
        </p:nvSpPr>
        <p:spPr>
          <a:xfrm>
            <a:off x="3287714" y="3644900"/>
            <a:ext cx="358775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</a:rPr>
              <a:t>u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481306" name="文本框 481305"/>
          <p:cNvSpPr txBox="1"/>
          <p:nvPr/>
        </p:nvSpPr>
        <p:spPr>
          <a:xfrm>
            <a:off x="7032626" y="4508501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L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481307" name="直接连接符 481306"/>
          <p:cNvSpPr/>
          <p:nvPr/>
        </p:nvSpPr>
        <p:spPr>
          <a:xfrm>
            <a:off x="4440238" y="4005263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08" name="椭圆 481307"/>
          <p:cNvSpPr/>
          <p:nvPr/>
        </p:nvSpPr>
        <p:spPr>
          <a:xfrm>
            <a:off x="4398964" y="3965575"/>
            <a:ext cx="65087" cy="65088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/>
          <p:cNvSpPr/>
          <p:nvPr/>
        </p:nvSpPr>
        <p:spPr>
          <a:xfrm>
            <a:off x="10021455" y="175491"/>
            <a:ext cx="2050472" cy="692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复习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7" name="文本占位符 446466"/>
          <p:cNvSpPr>
            <a:spLocks noGrp="1"/>
          </p:cNvSpPr>
          <p:nvPr>
            <p:ph type="body" sz="half" idx="1"/>
          </p:nvPr>
        </p:nvSpPr>
        <p:spPr>
          <a:xfrm>
            <a:off x="2387600" y="1196976"/>
            <a:ext cx="8280400" cy="4525963"/>
          </a:xfrm>
        </p:spPr>
        <p:txBody>
          <a:bodyPr/>
          <a:lstStyle/>
          <a:p>
            <a:pPr>
              <a:buClrTx/>
              <a:buSzTx/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考察任意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altLang="zh-CN" sz="3600" i="1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zh-CN" altLang="en-US" sz="800" dirty="0">
                <a:latin typeface="Times New Roman" panose="02020603050405020304" pitchFamily="18" charset="0"/>
                <a:ea typeface="黑体" panose="02010609060101010101" pitchFamily="49" charset="-122"/>
              </a:rPr>
              <a:t>　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时刻在</a:t>
            </a:r>
            <a:r>
              <a:rPr lang="zh-CN" altLang="en-US" sz="800" dirty="0">
                <a:latin typeface="Times New Roman" panose="02020603050405020304" pitchFamily="18" charset="0"/>
                <a:ea typeface="黑体" panose="02010609060101010101" pitchFamily="49" charset="-122"/>
              </a:rPr>
              <a:t>　</a:t>
            </a:r>
            <a:r>
              <a:rPr lang="en-US" altLang="zh-CN" sz="36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zh-CN" altLang="en-US" sz="800" dirty="0">
                <a:latin typeface="Times New Roman" panose="02020603050405020304" pitchFamily="18" charset="0"/>
                <a:ea typeface="黑体" panose="02010609060101010101" pitchFamily="49" charset="-122"/>
              </a:rPr>
              <a:t>　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位置的一小段弦  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其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受力为张力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　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弦的切线方向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6561" name="内容占位符 446560"/>
          <p:cNvGraphicFramePr>
            <a:graphicFrameLocks noGrp="1"/>
          </p:cNvGraphicFramePr>
          <p:nvPr>
            <p:ph sz="quarter" idx="2"/>
          </p:nvPr>
        </p:nvGraphicFramePr>
        <p:xfrm>
          <a:off x="6167438" y="4365625"/>
          <a:ext cx="1727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749300" imgH="419100" progId="Equation.3">
                  <p:embed/>
                </p:oleObj>
              </mc:Choice>
              <mc:Fallback>
                <p:oleObj name="" r:id="rId1" imgW="749300" imgH="419100" progId="Equation.3">
                  <p:embed/>
                  <p:pic>
                    <p:nvPicPr>
                      <p:cNvPr id="0" name="内容占位符 44656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67438" y="4365625"/>
                        <a:ext cx="1727200" cy="965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480" name="文本框 446479"/>
          <p:cNvSpPr txBox="1"/>
          <p:nvPr/>
        </p:nvSpPr>
        <p:spPr>
          <a:xfrm>
            <a:off x="2495551" y="5300664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46481" name="文本框 446480"/>
          <p:cNvSpPr txBox="1"/>
          <p:nvPr/>
        </p:nvSpPr>
        <p:spPr>
          <a:xfrm>
            <a:off x="5159375" y="5300664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446482" name="直接连接符 446481"/>
          <p:cNvSpPr/>
          <p:nvPr/>
        </p:nvSpPr>
        <p:spPr>
          <a:xfrm>
            <a:off x="2711450" y="5300663"/>
            <a:ext cx="27368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483" name="直接连接符 446482"/>
          <p:cNvSpPr/>
          <p:nvPr/>
        </p:nvSpPr>
        <p:spPr>
          <a:xfrm flipV="1">
            <a:off x="2711450" y="3141663"/>
            <a:ext cx="0" cy="2159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489" name="任意多边形 446488"/>
          <p:cNvSpPr/>
          <p:nvPr/>
        </p:nvSpPr>
        <p:spPr>
          <a:xfrm rot="10800000" flipV="1">
            <a:off x="3287714" y="3357564"/>
            <a:ext cx="1654175" cy="719137"/>
          </a:xfrm>
          <a:custGeom>
            <a:avLst/>
            <a:gdLst>
              <a:gd name="txL" fmla="*/ 0 w 21578"/>
              <a:gd name="txT" fmla="*/ 0 h 21600"/>
              <a:gd name="txR" fmla="*/ 21578 w 21578"/>
              <a:gd name="txB" fmla="*/ 21600 h 21600"/>
            </a:gdLst>
            <a:ahLst/>
            <a:cxnLst>
              <a:cxn ang="270">
                <a:pos x="0" y="0"/>
              </a:cxn>
              <a:cxn ang="0">
                <a:pos x="21577" y="20618"/>
              </a:cxn>
              <a:cxn ang="90">
                <a:pos x="0" y="21600"/>
              </a:cxn>
            </a:cxnLst>
            <a:rect l="txL" t="txT" r="txR" b="txB"/>
            <a:pathLst>
              <a:path w="21578" h="21600" fill="none">
                <a:moveTo>
                  <a:pt x="0" y="0"/>
                </a:moveTo>
                <a:arcTo wR="21600" hR="21600" stAng="-5400000" swAng="5243651"/>
              </a:path>
              <a:path w="21578" h="21600" stroke="0">
                <a:moveTo>
                  <a:pt x="0" y="0"/>
                </a:moveTo>
                <a:arcTo wR="21600" hR="21600" stAng="-5400000" swAng="5243651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492" name="直接连接符 446491"/>
          <p:cNvSpPr/>
          <p:nvPr/>
        </p:nvSpPr>
        <p:spPr>
          <a:xfrm flipH="1">
            <a:off x="3000376" y="3860800"/>
            <a:ext cx="358775" cy="431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493" name="直接连接符 446492"/>
          <p:cNvSpPr/>
          <p:nvPr/>
        </p:nvSpPr>
        <p:spPr>
          <a:xfrm>
            <a:off x="4367213" y="3284538"/>
            <a:ext cx="0" cy="1979612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497" name="直接连接符 446496"/>
          <p:cNvSpPr/>
          <p:nvPr/>
        </p:nvSpPr>
        <p:spPr>
          <a:xfrm>
            <a:off x="3359150" y="3933825"/>
            <a:ext cx="0" cy="1366838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499" name="文本框 446498"/>
          <p:cNvSpPr txBox="1"/>
          <p:nvPr/>
        </p:nvSpPr>
        <p:spPr>
          <a:xfrm>
            <a:off x="3071813" y="5300664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446502" name="直接连接符 446501"/>
          <p:cNvSpPr/>
          <p:nvPr/>
        </p:nvSpPr>
        <p:spPr>
          <a:xfrm>
            <a:off x="4367214" y="3429000"/>
            <a:ext cx="8032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05" name="直接连接符 446504"/>
          <p:cNvSpPr/>
          <p:nvPr/>
        </p:nvSpPr>
        <p:spPr>
          <a:xfrm flipH="1">
            <a:off x="4367214" y="3213100"/>
            <a:ext cx="7207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08" name="直接连接符 446507"/>
          <p:cNvSpPr/>
          <p:nvPr/>
        </p:nvSpPr>
        <p:spPr>
          <a:xfrm>
            <a:off x="3359150" y="3860801"/>
            <a:ext cx="0" cy="46831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09" name="直接连接符 446508"/>
          <p:cNvSpPr/>
          <p:nvPr/>
        </p:nvSpPr>
        <p:spPr>
          <a:xfrm flipV="1">
            <a:off x="4367213" y="3213100"/>
            <a:ext cx="792162" cy="2159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10" name="直接连接符 446509"/>
          <p:cNvSpPr/>
          <p:nvPr/>
        </p:nvSpPr>
        <p:spPr>
          <a:xfrm flipV="1">
            <a:off x="4367213" y="3213100"/>
            <a:ext cx="0" cy="2159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11" name="直接连接符 446510"/>
          <p:cNvSpPr/>
          <p:nvPr/>
        </p:nvSpPr>
        <p:spPr>
          <a:xfrm>
            <a:off x="5159375" y="3213100"/>
            <a:ext cx="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12" name="直接连接符 446511"/>
          <p:cNvSpPr/>
          <p:nvPr/>
        </p:nvSpPr>
        <p:spPr>
          <a:xfrm flipH="1">
            <a:off x="3000376" y="3860800"/>
            <a:ext cx="3587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13" name="直接连接符 446512"/>
          <p:cNvSpPr/>
          <p:nvPr/>
        </p:nvSpPr>
        <p:spPr>
          <a:xfrm>
            <a:off x="3000375" y="3860800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14" name="直接连接符 446513"/>
          <p:cNvSpPr/>
          <p:nvPr/>
        </p:nvSpPr>
        <p:spPr>
          <a:xfrm>
            <a:off x="3000376" y="4292600"/>
            <a:ext cx="3587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17" name="文本框 446516"/>
          <p:cNvSpPr txBox="1"/>
          <p:nvPr/>
        </p:nvSpPr>
        <p:spPr>
          <a:xfrm>
            <a:off x="2351089" y="2852738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u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446522" name="任意多边形 446521"/>
          <p:cNvSpPr/>
          <p:nvPr/>
        </p:nvSpPr>
        <p:spPr>
          <a:xfrm flipV="1">
            <a:off x="5016501" y="3068639"/>
            <a:ext cx="360363" cy="28892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arrow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24" name="矩形 446523"/>
          <p:cNvSpPr/>
          <p:nvPr/>
        </p:nvSpPr>
        <p:spPr>
          <a:xfrm>
            <a:off x="1524000" y="32845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6523" name="对象 446522"/>
          <p:cNvGraphicFramePr/>
          <p:nvPr/>
        </p:nvGraphicFramePr>
        <p:xfrm>
          <a:off x="5303839" y="2781301"/>
          <a:ext cx="2508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90500" imgH="215900" progId="Equation.3">
                  <p:embed/>
                </p:oleObj>
              </mc:Choice>
              <mc:Fallback>
                <p:oleObj name="" r:id="rId3" imgW="190500" imgH="215900" progId="Equation.3">
                  <p:embed/>
                  <p:pic>
                    <p:nvPicPr>
                      <p:cNvPr id="0" name="对象 4465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3839" y="2781301"/>
                        <a:ext cx="2508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25" name="任意多边形 446524"/>
          <p:cNvSpPr/>
          <p:nvPr/>
        </p:nvSpPr>
        <p:spPr>
          <a:xfrm flipH="1">
            <a:off x="2855914" y="3933826"/>
            <a:ext cx="288925" cy="576263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arrow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31" name="矩形 446530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6530" name="对象 446529"/>
          <p:cNvGraphicFramePr/>
          <p:nvPr/>
        </p:nvGraphicFramePr>
        <p:xfrm>
          <a:off x="2711451" y="4437064"/>
          <a:ext cx="2381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77800" imgH="215900" progId="Equation.3">
                  <p:embed/>
                </p:oleObj>
              </mc:Choice>
              <mc:Fallback>
                <p:oleObj name="" r:id="rId5" imgW="177800" imgH="215900" progId="Equation.3">
                  <p:embed/>
                  <p:pic>
                    <p:nvPicPr>
                      <p:cNvPr id="0" name="对象 4465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1451" y="4437064"/>
                        <a:ext cx="238125" cy="287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33" name="矩形 446532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35" name="矩形 446534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6534" name="对象 446533"/>
          <p:cNvGraphicFramePr/>
          <p:nvPr/>
        </p:nvGraphicFramePr>
        <p:xfrm>
          <a:off x="2927350" y="4292601"/>
          <a:ext cx="2667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65100" imgH="215900" progId="Equation.3">
                  <p:embed/>
                </p:oleObj>
              </mc:Choice>
              <mc:Fallback>
                <p:oleObj name="" r:id="rId7" imgW="165100" imgH="215900" progId="Equation.3">
                  <p:embed/>
                  <p:pic>
                    <p:nvPicPr>
                      <p:cNvPr id="0" name="对象 44653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7350" y="4292601"/>
                        <a:ext cx="266700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39" name="矩形 446538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6538" name="对象 446537"/>
          <p:cNvGraphicFramePr/>
          <p:nvPr/>
        </p:nvGraphicFramePr>
        <p:xfrm>
          <a:off x="5016501" y="2852739"/>
          <a:ext cx="295275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77800" imgH="215265" progId="Equation.3">
                  <p:embed/>
                </p:oleObj>
              </mc:Choice>
              <mc:Fallback>
                <p:oleObj name="" r:id="rId9" imgW="177800" imgH="215265" progId="Equation.3">
                  <p:embed/>
                  <p:pic>
                    <p:nvPicPr>
                      <p:cNvPr id="0" name="对象 4465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6501" y="2852739"/>
                        <a:ext cx="295275" cy="363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43" name="矩形 446542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6542" name="对象 446541"/>
          <p:cNvGraphicFramePr/>
          <p:nvPr/>
        </p:nvGraphicFramePr>
        <p:xfrm>
          <a:off x="3720308" y="2213612"/>
          <a:ext cx="1079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456565" imgH="215900" progId="Equation.3">
                  <p:embed/>
                </p:oleObj>
              </mc:Choice>
              <mc:Fallback>
                <p:oleObj name="" r:id="rId11" imgW="456565" imgH="215900" progId="Equation.3">
                  <p:embed/>
                  <p:pic>
                    <p:nvPicPr>
                      <p:cNvPr id="0" name="对象 44654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20308" y="2213612"/>
                        <a:ext cx="10795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44" name="文本框 446543"/>
          <p:cNvSpPr txBox="1"/>
          <p:nvPr/>
        </p:nvSpPr>
        <p:spPr>
          <a:xfrm>
            <a:off x="5951538" y="2636838"/>
            <a:ext cx="25209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Verdana" panose="020B0604030504040204" pitchFamily="34" charset="0"/>
                <a:ea typeface="黑体" panose="02010609060101010101" pitchFamily="49" charset="-122"/>
              </a:rPr>
              <a:t>水平方向：</a:t>
            </a:r>
            <a:endParaRPr lang="zh-CN" altLang="en-US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46546" name="矩形 446545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6545" name="对象 446544"/>
          <p:cNvGraphicFramePr/>
          <p:nvPr/>
        </p:nvGraphicFramePr>
        <p:xfrm>
          <a:off x="7680325" y="2708275"/>
          <a:ext cx="25923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1536065" imgH="215900" progId="Equation.3">
                  <p:embed/>
                </p:oleObj>
              </mc:Choice>
              <mc:Fallback>
                <p:oleObj name="" r:id="rId13" imgW="1536065" imgH="215900" progId="Equation.3">
                  <p:embed/>
                  <p:pic>
                    <p:nvPicPr>
                      <p:cNvPr id="0" name="对象 44654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80325" y="2708275"/>
                        <a:ext cx="2592388" cy="369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47" name="文本框 446546"/>
          <p:cNvSpPr txBox="1"/>
          <p:nvPr/>
        </p:nvSpPr>
        <p:spPr>
          <a:xfrm>
            <a:off x="5951538" y="3213100"/>
            <a:ext cx="25209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Verdana" panose="020B0604030504040204" pitchFamily="34" charset="0"/>
                <a:ea typeface="黑体" panose="02010609060101010101" pitchFamily="49" charset="-122"/>
              </a:rPr>
              <a:t>竖直方向：</a:t>
            </a:r>
            <a:endParaRPr lang="zh-CN" altLang="en-US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46551" name="矩形 446550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6550" name="对象 446549"/>
          <p:cNvGraphicFramePr/>
          <p:nvPr/>
        </p:nvGraphicFramePr>
        <p:xfrm>
          <a:off x="7751763" y="3355976"/>
          <a:ext cx="25209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5" imgW="1511300" imgH="215900" progId="Equation.3">
                  <p:embed/>
                </p:oleObj>
              </mc:Choice>
              <mc:Fallback>
                <p:oleObj name="" r:id="rId15" imgW="1511300" imgH="215900" progId="Equation.3">
                  <p:embed/>
                  <p:pic>
                    <p:nvPicPr>
                      <p:cNvPr id="0" name="对象 44654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51763" y="3355976"/>
                        <a:ext cx="252095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53" name="矩形 446552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6565" name="内容占位符 446564"/>
          <p:cNvGraphicFramePr>
            <a:graphicFrameLocks noGrp="1"/>
          </p:cNvGraphicFramePr>
          <p:nvPr>
            <p:ph sz="quarter" idx="3"/>
          </p:nvPr>
        </p:nvGraphicFramePr>
        <p:xfrm>
          <a:off x="6167439" y="4005264"/>
          <a:ext cx="9366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7" imgW="405765" imgH="215900" progId="Equation.3">
                  <p:embed/>
                </p:oleObj>
              </mc:Choice>
              <mc:Fallback>
                <p:oleObj name="" r:id="rId17" imgW="405765" imgH="215900" progId="Equation.3">
                  <p:embed/>
                  <p:pic>
                    <p:nvPicPr>
                      <p:cNvPr id="0" name="内容占位符 44656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167439" y="4005264"/>
                        <a:ext cx="936625" cy="4984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67" name="文本框 446566"/>
          <p:cNvSpPr txBox="1"/>
          <p:nvPr/>
        </p:nvSpPr>
        <p:spPr>
          <a:xfrm>
            <a:off x="7967664" y="4652963"/>
            <a:ext cx="23764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牛顿第二定律</a:t>
            </a:r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4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6568" name="对象 446567"/>
          <p:cNvGraphicFramePr/>
          <p:nvPr/>
        </p:nvGraphicFramePr>
        <p:xfrm>
          <a:off x="4079875" y="5373688"/>
          <a:ext cx="649288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9" imgW="431165" imgH="177800" progId="Equation.3">
                  <p:embed/>
                </p:oleObj>
              </mc:Choice>
              <mc:Fallback>
                <p:oleObj name="" r:id="rId19" imgW="431165" imgH="177800" progId="Equation.3">
                  <p:embed/>
                  <p:pic>
                    <p:nvPicPr>
                      <p:cNvPr id="0" name="对象 44656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79875" y="5373688"/>
                        <a:ext cx="649288" cy="266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570" name="对象 446569"/>
          <p:cNvGraphicFramePr/>
          <p:nvPr/>
        </p:nvGraphicFramePr>
        <p:xfrm>
          <a:off x="6401594" y="1378983"/>
          <a:ext cx="541338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21" imgW="202565" imgH="177800" progId="Equation.3">
                  <p:embed/>
                </p:oleObj>
              </mc:Choice>
              <mc:Fallback>
                <p:oleObj name="" r:id="rId21" imgW="202565" imgH="177800" progId="Equation.3">
                  <p:embed/>
                  <p:pic>
                    <p:nvPicPr>
                      <p:cNvPr id="0" name="对象 44656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401594" y="1378983"/>
                        <a:ext cx="541338" cy="474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72" name="文本框 446571"/>
          <p:cNvSpPr txBox="1"/>
          <p:nvPr/>
        </p:nvSpPr>
        <p:spPr>
          <a:xfrm>
            <a:off x="6024563" y="5445125"/>
            <a:ext cx="2735262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弦    的质量</a:t>
            </a:r>
            <a:r>
              <a:rPr lang="en-US" altLang="zh-CN" dirty="0">
                <a:latin typeface="Verdana" panose="020B0604030504040204" pitchFamily="34" charset="0"/>
              </a:rPr>
              <a:t>: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446573" name="直接连接符 446572"/>
          <p:cNvSpPr/>
          <p:nvPr/>
        </p:nvSpPr>
        <p:spPr>
          <a:xfrm>
            <a:off x="3359151" y="5300663"/>
            <a:ext cx="1008063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6574" name="对象 446573"/>
          <p:cNvGraphicFramePr/>
          <p:nvPr/>
        </p:nvGraphicFramePr>
        <p:xfrm>
          <a:off x="6366191" y="5430839"/>
          <a:ext cx="4318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23" imgW="202565" imgH="177800" progId="Equation.3">
                  <p:embed/>
                </p:oleObj>
              </mc:Choice>
              <mc:Fallback>
                <p:oleObj name="" r:id="rId23" imgW="202565" imgH="177800" progId="Equation.3">
                  <p:embed/>
                  <p:pic>
                    <p:nvPicPr>
                      <p:cNvPr id="0" name="对象 44657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366191" y="5430839"/>
                        <a:ext cx="4318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575" name="对象 446574"/>
          <p:cNvGraphicFramePr/>
          <p:nvPr/>
        </p:nvGraphicFramePr>
        <p:xfrm>
          <a:off x="8112126" y="5516564"/>
          <a:ext cx="14398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5" imgW="608965" imgH="203200" progId="Equation.3">
                  <p:embed/>
                </p:oleObj>
              </mc:Choice>
              <mc:Fallback>
                <p:oleObj name="" r:id="rId25" imgW="608965" imgH="203200" progId="Equation.3">
                  <p:embed/>
                  <p:pic>
                    <p:nvPicPr>
                      <p:cNvPr id="0" name="对象 44657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112126" y="5516564"/>
                        <a:ext cx="1439863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578" name="对象 446577"/>
          <p:cNvGraphicFramePr/>
          <p:nvPr/>
        </p:nvGraphicFramePr>
        <p:xfrm>
          <a:off x="3575050" y="3157539"/>
          <a:ext cx="433388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27" imgW="202565" imgH="177800" progId="Equation.3">
                  <p:embed/>
                </p:oleObj>
              </mc:Choice>
              <mc:Fallback>
                <p:oleObj name="" r:id="rId27" imgW="202565" imgH="177800" progId="Equation.3">
                  <p:embed/>
                  <p:pic>
                    <p:nvPicPr>
                      <p:cNvPr id="0" name="对象 44657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575050" y="3157539"/>
                        <a:ext cx="433388" cy="376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81" name="文本框 446580"/>
          <p:cNvSpPr txBox="1"/>
          <p:nvPr/>
        </p:nvSpPr>
        <p:spPr>
          <a:xfrm>
            <a:off x="3071814" y="5805489"/>
            <a:ext cx="86518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Verdana" panose="020B0604030504040204" pitchFamily="34" charset="0"/>
                <a:ea typeface="黑体" panose="02010609060101010101" pitchFamily="49" charset="-122"/>
              </a:rPr>
              <a:t>密度</a:t>
            </a:r>
            <a:endParaRPr lang="zh-CN" altLang="en-US" sz="20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446582" name="对象 446581"/>
          <p:cNvGraphicFramePr/>
          <p:nvPr/>
        </p:nvGraphicFramePr>
        <p:xfrm>
          <a:off x="3648075" y="5876925"/>
          <a:ext cx="355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28" imgW="177800" imgH="165100" progId="Equation.3">
                  <p:embed/>
                </p:oleObj>
              </mc:Choice>
              <mc:Fallback>
                <p:oleObj name="" r:id="rId28" imgW="177800" imgH="165100" progId="Equation.3">
                  <p:embed/>
                  <p:pic>
                    <p:nvPicPr>
                      <p:cNvPr id="0" name="对象 44658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648075" y="5876925"/>
                        <a:ext cx="3556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83" name="任意多边形 446582"/>
          <p:cNvSpPr/>
          <p:nvPr/>
        </p:nvSpPr>
        <p:spPr>
          <a:xfrm flipV="1">
            <a:off x="3648075" y="5300663"/>
            <a:ext cx="215900" cy="576262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85" name="任意多边形 446584"/>
          <p:cNvSpPr/>
          <p:nvPr/>
        </p:nvSpPr>
        <p:spPr>
          <a:xfrm>
            <a:off x="4943476" y="3284538"/>
            <a:ext cx="73025" cy="144462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87" name="任意多边形 446586"/>
          <p:cNvSpPr/>
          <p:nvPr/>
        </p:nvSpPr>
        <p:spPr>
          <a:xfrm flipH="1" flipV="1">
            <a:off x="3143250" y="3860800"/>
            <a:ext cx="71438" cy="179388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589" name="矩形 446588"/>
          <p:cNvSpPr/>
          <p:nvPr/>
        </p:nvSpPr>
        <p:spPr>
          <a:xfrm>
            <a:off x="8256589" y="3716339"/>
            <a:ext cx="1590675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20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忽略重力</a:t>
            </a:r>
            <a:r>
              <a:rPr lang="en-US" altLang="zh-CN" sz="22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标题 481281"/>
          <p:cNvSpPr txBox="1"/>
          <p:nvPr/>
        </p:nvSpPr>
        <p:spPr bwMode="auto">
          <a:xfrm>
            <a:off x="1524001" y="260350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zh-CN" altLang="en-US" sz="4000">
                <a:solidFill>
                  <a:srgbClr val="CC0000"/>
                </a:solidFill>
                <a:ea typeface="黑体" panose="02010609060101010101" pitchFamily="49" charset="-122"/>
              </a:rPr>
              <a:t>弦振动方程</a:t>
            </a:r>
            <a:endParaRPr lang="zh-CN" altLang="en-US" sz="40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18" name="矩形: 圆角 1"/>
          <p:cNvSpPr/>
          <p:nvPr/>
        </p:nvSpPr>
        <p:spPr>
          <a:xfrm>
            <a:off x="10021455" y="175491"/>
            <a:ext cx="2050472" cy="692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复习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5" name="文本占位符 458754"/>
          <p:cNvSpPr>
            <a:spLocks noGrp="1"/>
          </p:cNvSpPr>
          <p:nvPr>
            <p:ph type="body" sz="half" idx="1"/>
          </p:nvPr>
        </p:nvSpPr>
        <p:spPr>
          <a:xfrm>
            <a:off x="2135189" y="836613"/>
            <a:ext cx="8002587" cy="4525962"/>
          </a:xfrm>
        </p:spPr>
        <p:txBody>
          <a:bodyPr/>
          <a:lstStyle/>
          <a:p>
            <a:pPr>
              <a:buClrTx/>
              <a:buSzTx/>
              <a:buFontTx/>
              <a:buNone/>
            </a:pP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对于微振动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8757" name="文本框 458756"/>
          <p:cNvSpPr txBox="1"/>
          <p:nvPr/>
        </p:nvSpPr>
        <p:spPr>
          <a:xfrm>
            <a:off x="2495551" y="5300664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58758" name="文本框 458757"/>
          <p:cNvSpPr txBox="1"/>
          <p:nvPr/>
        </p:nvSpPr>
        <p:spPr>
          <a:xfrm>
            <a:off x="5159375" y="5229226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458759" name="直接连接符 458758"/>
          <p:cNvSpPr/>
          <p:nvPr/>
        </p:nvSpPr>
        <p:spPr>
          <a:xfrm>
            <a:off x="2711450" y="5300663"/>
            <a:ext cx="27368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60" name="直接连接符 458759"/>
          <p:cNvSpPr/>
          <p:nvPr/>
        </p:nvSpPr>
        <p:spPr>
          <a:xfrm flipV="1">
            <a:off x="2711450" y="3141663"/>
            <a:ext cx="0" cy="2159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61" name="任意多边形 458760"/>
          <p:cNvSpPr/>
          <p:nvPr/>
        </p:nvSpPr>
        <p:spPr>
          <a:xfrm rot="10800000" flipV="1">
            <a:off x="3287713" y="3357564"/>
            <a:ext cx="1655762" cy="719137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62" name="直接连接符 458761"/>
          <p:cNvSpPr/>
          <p:nvPr/>
        </p:nvSpPr>
        <p:spPr>
          <a:xfrm flipH="1">
            <a:off x="3000376" y="3860800"/>
            <a:ext cx="358775" cy="431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63" name="直接连接符 458762"/>
          <p:cNvSpPr/>
          <p:nvPr/>
        </p:nvSpPr>
        <p:spPr>
          <a:xfrm>
            <a:off x="4367213" y="3284538"/>
            <a:ext cx="0" cy="1979612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64" name="直接连接符 458763"/>
          <p:cNvSpPr/>
          <p:nvPr/>
        </p:nvSpPr>
        <p:spPr>
          <a:xfrm>
            <a:off x="3359150" y="3933825"/>
            <a:ext cx="0" cy="1366838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65" name="文本框 458764"/>
          <p:cNvSpPr txBox="1"/>
          <p:nvPr/>
        </p:nvSpPr>
        <p:spPr>
          <a:xfrm>
            <a:off x="3071813" y="5300664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458767" name="直接连接符 458766"/>
          <p:cNvSpPr/>
          <p:nvPr/>
        </p:nvSpPr>
        <p:spPr>
          <a:xfrm>
            <a:off x="4367214" y="3429000"/>
            <a:ext cx="8032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68" name="直接连接符 458767"/>
          <p:cNvSpPr/>
          <p:nvPr/>
        </p:nvSpPr>
        <p:spPr>
          <a:xfrm flipH="1">
            <a:off x="4367214" y="3213100"/>
            <a:ext cx="7207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69" name="直接连接符 458768"/>
          <p:cNvSpPr/>
          <p:nvPr/>
        </p:nvSpPr>
        <p:spPr>
          <a:xfrm>
            <a:off x="3359150" y="3860801"/>
            <a:ext cx="0" cy="46831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70" name="直接连接符 458769"/>
          <p:cNvSpPr/>
          <p:nvPr/>
        </p:nvSpPr>
        <p:spPr>
          <a:xfrm flipV="1">
            <a:off x="4367213" y="3213100"/>
            <a:ext cx="792162" cy="2159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71" name="直接连接符 458770"/>
          <p:cNvSpPr/>
          <p:nvPr/>
        </p:nvSpPr>
        <p:spPr>
          <a:xfrm flipV="1">
            <a:off x="4367213" y="3213100"/>
            <a:ext cx="0" cy="2159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72" name="直接连接符 458771"/>
          <p:cNvSpPr/>
          <p:nvPr/>
        </p:nvSpPr>
        <p:spPr>
          <a:xfrm>
            <a:off x="5159375" y="3213100"/>
            <a:ext cx="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73" name="直接连接符 458772"/>
          <p:cNvSpPr/>
          <p:nvPr/>
        </p:nvSpPr>
        <p:spPr>
          <a:xfrm flipH="1">
            <a:off x="3000376" y="3860800"/>
            <a:ext cx="3587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74" name="直接连接符 458773"/>
          <p:cNvSpPr/>
          <p:nvPr/>
        </p:nvSpPr>
        <p:spPr>
          <a:xfrm>
            <a:off x="3000375" y="3860800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75" name="直接连接符 458774"/>
          <p:cNvSpPr/>
          <p:nvPr/>
        </p:nvSpPr>
        <p:spPr>
          <a:xfrm>
            <a:off x="3000376" y="4292600"/>
            <a:ext cx="3587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77" name="文本框 458776"/>
          <p:cNvSpPr txBox="1"/>
          <p:nvPr/>
        </p:nvSpPr>
        <p:spPr>
          <a:xfrm>
            <a:off x="2351089" y="2852738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u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458779" name="任意多边形 458778"/>
          <p:cNvSpPr/>
          <p:nvPr/>
        </p:nvSpPr>
        <p:spPr>
          <a:xfrm flipV="1">
            <a:off x="5016501" y="3068639"/>
            <a:ext cx="360363" cy="28892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arrow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80" name="矩形 458779"/>
          <p:cNvSpPr/>
          <p:nvPr/>
        </p:nvSpPr>
        <p:spPr>
          <a:xfrm>
            <a:off x="1524000" y="32845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8781" name="对象 458780"/>
          <p:cNvGraphicFramePr/>
          <p:nvPr/>
        </p:nvGraphicFramePr>
        <p:xfrm>
          <a:off x="5375276" y="2852739"/>
          <a:ext cx="2508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90500" imgH="215900" progId="Equation.3">
                  <p:embed/>
                </p:oleObj>
              </mc:Choice>
              <mc:Fallback>
                <p:oleObj name="" r:id="rId1" imgW="190500" imgH="215900" progId="Equation.3">
                  <p:embed/>
                  <p:pic>
                    <p:nvPicPr>
                      <p:cNvPr id="0" name="对象 4587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75276" y="2852739"/>
                        <a:ext cx="2508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8782" name="任意多边形 458781"/>
          <p:cNvSpPr/>
          <p:nvPr/>
        </p:nvSpPr>
        <p:spPr>
          <a:xfrm flipH="1">
            <a:off x="2855914" y="4005263"/>
            <a:ext cx="288925" cy="576262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arrow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83" name="矩形 458782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8784" name="对象 458783"/>
          <p:cNvGraphicFramePr/>
          <p:nvPr/>
        </p:nvGraphicFramePr>
        <p:xfrm>
          <a:off x="2782889" y="4508500"/>
          <a:ext cx="23812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77800" imgH="215900" progId="Equation.3">
                  <p:embed/>
                </p:oleObj>
              </mc:Choice>
              <mc:Fallback>
                <p:oleObj name="" r:id="rId3" imgW="177800" imgH="215900" progId="Equation.3">
                  <p:embed/>
                  <p:pic>
                    <p:nvPicPr>
                      <p:cNvPr id="0" name="对象 4587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2889" y="4508500"/>
                        <a:ext cx="238125" cy="287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8785" name="矩形 458784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86" name="矩形 458785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8787" name="对象 458786"/>
          <p:cNvGraphicFramePr/>
          <p:nvPr/>
        </p:nvGraphicFramePr>
        <p:xfrm>
          <a:off x="2927350" y="4292601"/>
          <a:ext cx="2667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65100" imgH="215900" progId="Equation.3">
                  <p:embed/>
                </p:oleObj>
              </mc:Choice>
              <mc:Fallback>
                <p:oleObj name="" r:id="rId5" imgW="165100" imgH="215900" progId="Equation.3">
                  <p:embed/>
                  <p:pic>
                    <p:nvPicPr>
                      <p:cNvPr id="0" name="对象 4587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7350" y="4292601"/>
                        <a:ext cx="266700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8788" name="矩形 458787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8789" name="对象 458788"/>
          <p:cNvGraphicFramePr/>
          <p:nvPr/>
        </p:nvGraphicFramePr>
        <p:xfrm>
          <a:off x="5016501" y="2852739"/>
          <a:ext cx="295275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77800" imgH="215265" progId="Equation.3">
                  <p:embed/>
                </p:oleObj>
              </mc:Choice>
              <mc:Fallback>
                <p:oleObj name="" r:id="rId7" imgW="177800" imgH="215265" progId="Equation.3">
                  <p:embed/>
                  <p:pic>
                    <p:nvPicPr>
                      <p:cNvPr id="0" name="对象 45878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16501" y="2852739"/>
                        <a:ext cx="295275" cy="363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8790" name="矩形 45878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92" name="文本框 458791"/>
          <p:cNvSpPr txBox="1"/>
          <p:nvPr/>
        </p:nvSpPr>
        <p:spPr>
          <a:xfrm>
            <a:off x="5664200" y="2133600"/>
            <a:ext cx="25209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Verdana" panose="020B0604030504040204" pitchFamily="34" charset="0"/>
                <a:ea typeface="黑体" panose="02010609060101010101" pitchFamily="49" charset="-122"/>
              </a:rPr>
              <a:t>水平方向：</a:t>
            </a:r>
            <a:endParaRPr lang="zh-CN" altLang="en-US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58793" name="矩形 458792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795" name="文本框 458794"/>
          <p:cNvSpPr txBox="1"/>
          <p:nvPr/>
        </p:nvSpPr>
        <p:spPr>
          <a:xfrm>
            <a:off x="5738813" y="3500438"/>
            <a:ext cx="25209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Verdana" panose="020B0604030504040204" pitchFamily="34" charset="0"/>
                <a:ea typeface="黑体" panose="02010609060101010101" pitchFamily="49" charset="-122"/>
              </a:rPr>
              <a:t>竖直方向：</a:t>
            </a:r>
            <a:endParaRPr lang="zh-CN" altLang="en-US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58796" name="矩形 458795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8797" name="对象 458796"/>
          <p:cNvGraphicFramePr/>
          <p:nvPr/>
        </p:nvGraphicFramePr>
        <p:xfrm>
          <a:off x="7466013" y="3644901"/>
          <a:ext cx="266541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511300" imgH="215900" progId="Equation.3">
                  <p:embed/>
                </p:oleObj>
              </mc:Choice>
              <mc:Fallback>
                <p:oleObj name="" r:id="rId9" imgW="1511300" imgH="215900" progId="Equation.3">
                  <p:embed/>
                  <p:pic>
                    <p:nvPicPr>
                      <p:cNvPr id="0" name="对象 4587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66013" y="3644901"/>
                        <a:ext cx="2665412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8798" name="矩形 458797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803" name="矩形 458802"/>
          <p:cNvSpPr/>
          <p:nvPr/>
        </p:nvSpPr>
        <p:spPr>
          <a:xfrm>
            <a:off x="152400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8802" name="对象 458801"/>
          <p:cNvGraphicFramePr/>
          <p:nvPr/>
        </p:nvGraphicFramePr>
        <p:xfrm>
          <a:off x="5016501" y="1409700"/>
          <a:ext cx="20161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685165" imgH="215900" progId="Equation.3">
                  <p:embed/>
                </p:oleObj>
              </mc:Choice>
              <mc:Fallback>
                <p:oleObj name="" r:id="rId11" imgW="685165" imgH="215900" progId="Equation.3">
                  <p:embed/>
                  <p:pic>
                    <p:nvPicPr>
                      <p:cNvPr id="0" name="对象 45880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16501" y="1409700"/>
                        <a:ext cx="2016125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806" name="对象 458805"/>
          <p:cNvGraphicFramePr/>
          <p:nvPr/>
        </p:nvGraphicFramePr>
        <p:xfrm>
          <a:off x="8183564" y="2798764"/>
          <a:ext cx="20161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977265" imgH="241300" progId="Equation.3">
                  <p:embed/>
                </p:oleObj>
              </mc:Choice>
              <mc:Fallback>
                <p:oleObj name="" r:id="rId13" imgW="977265" imgH="241300" progId="Equation.3">
                  <p:embed/>
                  <p:pic>
                    <p:nvPicPr>
                      <p:cNvPr id="0" name="对象 45880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183564" y="2798764"/>
                        <a:ext cx="2016125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809" name="内容占位符 458808"/>
          <p:cNvGraphicFramePr>
            <a:graphicFrameLocks noGrp="1"/>
          </p:cNvGraphicFramePr>
          <p:nvPr>
            <p:ph sz="quarter" idx="3"/>
          </p:nvPr>
        </p:nvGraphicFramePr>
        <p:xfrm>
          <a:off x="5810251" y="4221163"/>
          <a:ext cx="2392363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5" imgW="1497965" imgH="444500" progId="Equation.3">
                  <p:embed/>
                </p:oleObj>
              </mc:Choice>
              <mc:Fallback>
                <p:oleObj name="" r:id="rId15" imgW="1497965" imgH="444500" progId="Equation.3">
                  <p:embed/>
                  <p:pic>
                    <p:nvPicPr>
                      <p:cNvPr id="0" name="内容占位符 45880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10251" y="4221163"/>
                        <a:ext cx="2392363" cy="7096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811" name="对象 458810"/>
          <p:cNvGraphicFramePr/>
          <p:nvPr/>
        </p:nvGraphicFramePr>
        <p:xfrm>
          <a:off x="8402639" y="4221164"/>
          <a:ext cx="212407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7" imgW="1345565" imgH="444500" progId="Equation.3">
                  <p:embed/>
                </p:oleObj>
              </mc:Choice>
              <mc:Fallback>
                <p:oleObj name="" r:id="rId17" imgW="1345565" imgH="444500" progId="Equation.3">
                  <p:embed/>
                  <p:pic>
                    <p:nvPicPr>
                      <p:cNvPr id="0" name="对象 45881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402639" y="4221164"/>
                        <a:ext cx="2124075" cy="700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813" name="内容占位符 458812"/>
          <p:cNvGraphicFramePr>
            <a:graphicFrameLocks noGrp="1"/>
          </p:cNvGraphicFramePr>
          <p:nvPr>
            <p:ph sz="quarter" idx="2"/>
          </p:nvPr>
        </p:nvGraphicFramePr>
        <p:xfrm>
          <a:off x="6384926" y="5084764"/>
          <a:ext cx="26638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9" imgW="1421765" imgH="482600" progId="Equation.3">
                  <p:embed/>
                </p:oleObj>
              </mc:Choice>
              <mc:Fallback>
                <p:oleObj name="" r:id="rId19" imgW="1421765" imgH="482600" progId="Equation.3">
                  <p:embed/>
                  <p:pic>
                    <p:nvPicPr>
                      <p:cNvPr id="0" name="内容占位符 45881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84926" y="5084764"/>
                        <a:ext cx="2663825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814" name="对象 458813"/>
          <p:cNvGraphicFramePr/>
          <p:nvPr/>
        </p:nvGraphicFramePr>
        <p:xfrm>
          <a:off x="4079876" y="5373689"/>
          <a:ext cx="576263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21" imgW="431165" imgH="177800" progId="Equation.3">
                  <p:embed/>
                </p:oleObj>
              </mc:Choice>
              <mc:Fallback>
                <p:oleObj name="" r:id="rId21" imgW="431165" imgH="177800" progId="Equation.3">
                  <p:embed/>
                  <p:pic>
                    <p:nvPicPr>
                      <p:cNvPr id="0" name="对象 45881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079876" y="5373689"/>
                        <a:ext cx="576263" cy="236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818" name="对象 458817"/>
          <p:cNvGraphicFramePr/>
          <p:nvPr/>
        </p:nvGraphicFramePr>
        <p:xfrm>
          <a:off x="5816600" y="2852738"/>
          <a:ext cx="23304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23" imgW="1154430" imgH="215900" progId="Equation.3">
                  <p:embed/>
                </p:oleObj>
              </mc:Choice>
              <mc:Fallback>
                <p:oleObj name="" r:id="rId23" imgW="1154430" imgH="215900" progId="Equation.3">
                  <p:embed/>
                  <p:pic>
                    <p:nvPicPr>
                      <p:cNvPr id="0" name="对象 45881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816600" y="2852738"/>
                        <a:ext cx="2330450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819" name="对象 458818"/>
          <p:cNvGraphicFramePr/>
          <p:nvPr/>
        </p:nvGraphicFramePr>
        <p:xfrm>
          <a:off x="7392988" y="2276476"/>
          <a:ext cx="28114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5" imgW="1711960" imgH="215900" progId="Equation.3">
                  <p:embed/>
                </p:oleObj>
              </mc:Choice>
              <mc:Fallback>
                <p:oleObj name="" r:id="rId25" imgW="1711960" imgH="215900" progId="Equation.3">
                  <p:embed/>
                  <p:pic>
                    <p:nvPicPr>
                      <p:cNvPr id="0" name="对象 458818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392988" y="2276476"/>
                        <a:ext cx="2811462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8820" name="任意多边形 458819"/>
          <p:cNvSpPr/>
          <p:nvPr/>
        </p:nvSpPr>
        <p:spPr>
          <a:xfrm>
            <a:off x="4943476" y="3284538"/>
            <a:ext cx="73025" cy="144462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821" name="任意多边形 458820"/>
          <p:cNvSpPr/>
          <p:nvPr/>
        </p:nvSpPr>
        <p:spPr>
          <a:xfrm flipH="1" flipV="1">
            <a:off x="3143250" y="3860800"/>
            <a:ext cx="71438" cy="179388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标题 481281"/>
          <p:cNvSpPr>
            <a:spLocks noGrp="1"/>
          </p:cNvSpPr>
          <p:nvPr>
            <p:ph type="title"/>
          </p:nvPr>
        </p:nvSpPr>
        <p:spPr>
          <a:xfrm>
            <a:off x="1524001" y="260350"/>
            <a:ext cx="8785225" cy="1143000"/>
          </a:xfrm>
        </p:spPr>
        <p:txBody>
          <a:bodyPr anchor="ctr" anchorCtr="0"/>
          <a:lstStyle/>
          <a:p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49" charset="-122"/>
              </a:rPr>
              <a:t>弦振动方程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16" name="矩形: 圆角 1"/>
          <p:cNvSpPr/>
          <p:nvPr/>
        </p:nvSpPr>
        <p:spPr>
          <a:xfrm>
            <a:off x="10021455" y="175491"/>
            <a:ext cx="2050472" cy="692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复习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3" name="文本占位符 460802"/>
          <p:cNvSpPr>
            <a:spLocks noGrp="1"/>
          </p:cNvSpPr>
          <p:nvPr>
            <p:ph type="body" sz="half" idx="1"/>
          </p:nvPr>
        </p:nvSpPr>
        <p:spPr>
          <a:xfrm>
            <a:off x="1981200" y="1196975"/>
            <a:ext cx="8218488" cy="4929188"/>
          </a:xfrm>
        </p:spPr>
        <p:txBody>
          <a:bodyPr/>
          <a:lstStyle/>
          <a:p>
            <a:pPr>
              <a:buClrTx/>
              <a:buSzTx/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        是  的变化量，可以用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endParaRPr lang="zh-CN" altLang="en-US" sz="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微分近似代替，即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60810" name="内容占位符 460809"/>
          <p:cNvGraphicFramePr>
            <a:graphicFrameLocks noGrp="1"/>
          </p:cNvGraphicFramePr>
          <p:nvPr>
            <p:ph sz="quarter" idx="3"/>
          </p:nvPr>
        </p:nvGraphicFramePr>
        <p:xfrm>
          <a:off x="3503614" y="3717925"/>
          <a:ext cx="38877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070100" imgH="419100" progId="Equation.3">
                  <p:embed/>
                </p:oleObj>
              </mc:Choice>
              <mc:Fallback>
                <p:oleObj name="" r:id="rId1" imgW="2070100" imgH="419100" progId="Equation.3">
                  <p:embed/>
                  <p:pic>
                    <p:nvPicPr>
                      <p:cNvPr id="0" name="内容占位符 4608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3614" y="3717925"/>
                        <a:ext cx="3887787" cy="7874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13" name="对象 460812"/>
          <p:cNvGraphicFramePr/>
          <p:nvPr/>
        </p:nvGraphicFramePr>
        <p:xfrm>
          <a:off x="4583114" y="4797426"/>
          <a:ext cx="180022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889000" imgH="419100" progId="Equation.3">
                  <p:embed/>
                </p:oleObj>
              </mc:Choice>
              <mc:Fallback>
                <p:oleObj name="" r:id="rId3" imgW="889000" imgH="419100" progId="Equation.3">
                  <p:embed/>
                  <p:pic>
                    <p:nvPicPr>
                      <p:cNvPr id="0" name="对象 4608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3114" y="4797426"/>
                        <a:ext cx="1800225" cy="84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17" name="文本框 460816"/>
          <p:cNvSpPr txBox="1"/>
          <p:nvPr/>
        </p:nvSpPr>
        <p:spPr>
          <a:xfrm>
            <a:off x="6456363" y="50133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6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弦振动方程</a:t>
            </a:r>
            <a:r>
              <a:rPr lang="en-US" altLang="zh-CN" sz="26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6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60819" name="对象 460818"/>
          <p:cNvGraphicFramePr/>
          <p:nvPr/>
        </p:nvGraphicFramePr>
        <p:xfrm>
          <a:off x="4008916" y="1196974"/>
          <a:ext cx="13684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015365" imgH="482600" progId="Equation.3">
                  <p:embed/>
                </p:oleObj>
              </mc:Choice>
              <mc:Fallback>
                <p:oleObj name="" r:id="rId5" imgW="1015365" imgH="482600" progId="Equation.3">
                  <p:embed/>
                  <p:pic>
                    <p:nvPicPr>
                      <p:cNvPr id="0" name="对象 4608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8916" y="1196974"/>
                        <a:ext cx="1368425" cy="65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1" name="矩形 460820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0822" name="对象 460821"/>
          <p:cNvGraphicFramePr/>
          <p:nvPr/>
        </p:nvGraphicFramePr>
        <p:xfrm>
          <a:off x="6049964" y="1211261"/>
          <a:ext cx="3333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228600" imgH="393700" progId="Equation.3">
                  <p:embed/>
                </p:oleObj>
              </mc:Choice>
              <mc:Fallback>
                <p:oleObj name="" r:id="rId7" imgW="228600" imgH="393700" progId="Equation.3">
                  <p:embed/>
                  <p:pic>
                    <p:nvPicPr>
                      <p:cNvPr id="0" name="对象 4608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49964" y="1211261"/>
                        <a:ext cx="333375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24" name="内容占位符 460823"/>
          <p:cNvGraphicFramePr>
            <a:graphicFrameLocks noGrp="1"/>
          </p:cNvGraphicFramePr>
          <p:nvPr>
            <p:ph sz="quarter" idx="2"/>
          </p:nvPr>
        </p:nvGraphicFramePr>
        <p:xfrm>
          <a:off x="3287714" y="2349501"/>
          <a:ext cx="5113337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2957830" imgH="660400" progId="Equation.3">
                  <p:embed/>
                </p:oleObj>
              </mc:Choice>
              <mc:Fallback>
                <p:oleObj name="" r:id="rId9" imgW="2957830" imgH="660400" progId="Equation.3">
                  <p:embed/>
                  <p:pic>
                    <p:nvPicPr>
                      <p:cNvPr id="0" name="内容占位符 46082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87714" y="2349501"/>
                        <a:ext cx="5113337" cy="11414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27" name="对象 460826"/>
          <p:cNvGraphicFramePr/>
          <p:nvPr/>
        </p:nvGraphicFramePr>
        <p:xfrm>
          <a:off x="7967663" y="3860800"/>
          <a:ext cx="709612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457200" imgH="419100" progId="Equation.3">
                  <p:embed/>
                </p:oleObj>
              </mc:Choice>
              <mc:Fallback>
                <p:oleObj name="" r:id="rId11" imgW="457200" imgH="419100" progId="Equation.3">
                  <p:embed/>
                  <p:pic>
                    <p:nvPicPr>
                      <p:cNvPr id="0" name="对象 46082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67663" y="3860800"/>
                        <a:ext cx="709612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8" name="双括号 460827"/>
          <p:cNvSpPr/>
          <p:nvPr/>
        </p:nvSpPr>
        <p:spPr>
          <a:xfrm>
            <a:off x="7824789" y="3789363"/>
            <a:ext cx="935037" cy="792162"/>
          </a:xfrm>
          <a:prstGeom prst="bracketPair">
            <a:avLst>
              <a:gd name="adj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标题 481281"/>
          <p:cNvSpPr>
            <a:spLocks noGrp="1"/>
          </p:cNvSpPr>
          <p:nvPr>
            <p:ph type="title"/>
          </p:nvPr>
        </p:nvSpPr>
        <p:spPr>
          <a:xfrm>
            <a:off x="1524001" y="260350"/>
            <a:ext cx="8785225" cy="1143000"/>
          </a:xfrm>
        </p:spPr>
        <p:txBody>
          <a:bodyPr anchor="ctr" anchorCtr="0"/>
          <a:lstStyle/>
          <a:p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49" charset="-122"/>
              </a:rPr>
              <a:t>弦振动方程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9" name="矩形: 圆角 1"/>
          <p:cNvSpPr/>
          <p:nvPr/>
        </p:nvSpPr>
        <p:spPr>
          <a:xfrm>
            <a:off x="10021455" y="175491"/>
            <a:ext cx="2050472" cy="692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复习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7" name="文本占位符 466946"/>
          <p:cNvSpPr>
            <a:spLocks noGrp="1"/>
          </p:cNvSpPr>
          <p:nvPr>
            <p:ph type="body" sz="half" idx="1"/>
          </p:nvPr>
        </p:nvSpPr>
        <p:spPr>
          <a:xfrm>
            <a:off x="1138238" y="1412876"/>
            <a:ext cx="9144000" cy="4525963"/>
          </a:xfrm>
        </p:spPr>
        <p:txBody>
          <a:bodyPr/>
          <a:lstStyle/>
          <a:p>
            <a:pPr>
              <a:buClrTx/>
              <a:buSzTx/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若弦还受到时空依赖的外力的作用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设弦单位长度受力为　　   ，其方向竖直于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轴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):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67003" name="内容占位符 467002"/>
          <p:cNvGraphicFramePr>
            <a:graphicFrameLocks noGrp="1"/>
          </p:cNvGraphicFramePr>
          <p:nvPr>
            <p:ph sz="quarter" idx="3"/>
          </p:nvPr>
        </p:nvGraphicFramePr>
        <p:xfrm>
          <a:off x="6700520" y="1392079"/>
          <a:ext cx="8636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443865" imgH="203200" progId="Equation.3">
                  <p:embed/>
                </p:oleObj>
              </mc:Choice>
              <mc:Fallback>
                <p:oleObj name="" r:id="rId1" imgW="443865" imgH="203200" progId="Equation.3">
                  <p:embed/>
                  <p:pic>
                    <p:nvPicPr>
                      <p:cNvPr id="0" name="内容占位符 4670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00520" y="1392079"/>
                        <a:ext cx="863600" cy="3968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48" name="文本框 466947"/>
          <p:cNvSpPr txBox="1"/>
          <p:nvPr/>
        </p:nvSpPr>
        <p:spPr>
          <a:xfrm>
            <a:off x="2495551" y="5300664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66949" name="文本框 466948"/>
          <p:cNvSpPr txBox="1"/>
          <p:nvPr/>
        </p:nvSpPr>
        <p:spPr>
          <a:xfrm>
            <a:off x="5159375" y="5229226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466950" name="直接连接符 466949"/>
          <p:cNvSpPr/>
          <p:nvPr/>
        </p:nvSpPr>
        <p:spPr>
          <a:xfrm>
            <a:off x="2711450" y="5300663"/>
            <a:ext cx="27368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51" name="直接连接符 466950"/>
          <p:cNvSpPr/>
          <p:nvPr/>
        </p:nvSpPr>
        <p:spPr>
          <a:xfrm flipV="1">
            <a:off x="2711450" y="3141663"/>
            <a:ext cx="0" cy="2159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52" name="任意多边形 466951"/>
          <p:cNvSpPr/>
          <p:nvPr/>
        </p:nvSpPr>
        <p:spPr>
          <a:xfrm rot="10800000" flipV="1">
            <a:off x="3287713" y="3357564"/>
            <a:ext cx="1655762" cy="719137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53" name="直接连接符 466952"/>
          <p:cNvSpPr/>
          <p:nvPr/>
        </p:nvSpPr>
        <p:spPr>
          <a:xfrm flipH="1">
            <a:off x="3000376" y="3860800"/>
            <a:ext cx="358775" cy="431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54" name="直接连接符 466953"/>
          <p:cNvSpPr/>
          <p:nvPr/>
        </p:nvSpPr>
        <p:spPr>
          <a:xfrm>
            <a:off x="4367213" y="3284538"/>
            <a:ext cx="0" cy="1979612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55" name="直接连接符 466954"/>
          <p:cNvSpPr/>
          <p:nvPr/>
        </p:nvSpPr>
        <p:spPr>
          <a:xfrm>
            <a:off x="3359150" y="3933825"/>
            <a:ext cx="0" cy="1366838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56" name="文本框 466955"/>
          <p:cNvSpPr txBox="1"/>
          <p:nvPr/>
        </p:nvSpPr>
        <p:spPr>
          <a:xfrm>
            <a:off x="3071813" y="5300664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466957" name="直接连接符 466956"/>
          <p:cNvSpPr/>
          <p:nvPr/>
        </p:nvSpPr>
        <p:spPr>
          <a:xfrm>
            <a:off x="4367214" y="3429000"/>
            <a:ext cx="8032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58" name="直接连接符 466957"/>
          <p:cNvSpPr/>
          <p:nvPr/>
        </p:nvSpPr>
        <p:spPr>
          <a:xfrm flipH="1">
            <a:off x="4367214" y="3213100"/>
            <a:ext cx="7207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59" name="直接连接符 466958"/>
          <p:cNvSpPr/>
          <p:nvPr/>
        </p:nvSpPr>
        <p:spPr>
          <a:xfrm>
            <a:off x="3359150" y="3860801"/>
            <a:ext cx="0" cy="46831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60" name="直接连接符 466959"/>
          <p:cNvSpPr/>
          <p:nvPr/>
        </p:nvSpPr>
        <p:spPr>
          <a:xfrm flipV="1">
            <a:off x="4367213" y="3213100"/>
            <a:ext cx="792162" cy="2159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61" name="直接连接符 466960"/>
          <p:cNvSpPr/>
          <p:nvPr/>
        </p:nvSpPr>
        <p:spPr>
          <a:xfrm flipV="1">
            <a:off x="4367213" y="3213100"/>
            <a:ext cx="0" cy="2159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62" name="直接连接符 466961"/>
          <p:cNvSpPr/>
          <p:nvPr/>
        </p:nvSpPr>
        <p:spPr>
          <a:xfrm>
            <a:off x="5159375" y="3213100"/>
            <a:ext cx="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63" name="直接连接符 466962"/>
          <p:cNvSpPr/>
          <p:nvPr/>
        </p:nvSpPr>
        <p:spPr>
          <a:xfrm flipH="1">
            <a:off x="3000376" y="3860800"/>
            <a:ext cx="3587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64" name="直接连接符 466963"/>
          <p:cNvSpPr/>
          <p:nvPr/>
        </p:nvSpPr>
        <p:spPr>
          <a:xfrm>
            <a:off x="3000375" y="3860800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65" name="直接连接符 466964"/>
          <p:cNvSpPr/>
          <p:nvPr/>
        </p:nvSpPr>
        <p:spPr>
          <a:xfrm>
            <a:off x="3000376" y="4292600"/>
            <a:ext cx="3587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66" name="文本框 466965"/>
          <p:cNvSpPr txBox="1"/>
          <p:nvPr/>
        </p:nvSpPr>
        <p:spPr>
          <a:xfrm>
            <a:off x="2351089" y="2852738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u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466967" name="任意多边形 466966"/>
          <p:cNvSpPr/>
          <p:nvPr/>
        </p:nvSpPr>
        <p:spPr>
          <a:xfrm flipV="1">
            <a:off x="5016501" y="3068639"/>
            <a:ext cx="360363" cy="28892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arrow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68" name="矩形 466967"/>
          <p:cNvSpPr/>
          <p:nvPr/>
        </p:nvSpPr>
        <p:spPr>
          <a:xfrm>
            <a:off x="1524000" y="32845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6969" name="对象 466968"/>
          <p:cNvGraphicFramePr/>
          <p:nvPr/>
        </p:nvGraphicFramePr>
        <p:xfrm>
          <a:off x="5375276" y="2852739"/>
          <a:ext cx="2508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90500" imgH="215900" progId="Equation.3">
                  <p:embed/>
                </p:oleObj>
              </mc:Choice>
              <mc:Fallback>
                <p:oleObj name="" r:id="rId3" imgW="190500" imgH="215900" progId="Equation.3">
                  <p:embed/>
                  <p:pic>
                    <p:nvPicPr>
                      <p:cNvPr id="0" name="对象 4669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75276" y="2852739"/>
                        <a:ext cx="2508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70" name="任意多边形 466969"/>
          <p:cNvSpPr/>
          <p:nvPr/>
        </p:nvSpPr>
        <p:spPr>
          <a:xfrm flipH="1">
            <a:off x="2855914" y="4005263"/>
            <a:ext cx="288925" cy="576262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arrow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71" name="矩形 466970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6972" name="对象 466971"/>
          <p:cNvGraphicFramePr/>
          <p:nvPr/>
        </p:nvGraphicFramePr>
        <p:xfrm>
          <a:off x="2782889" y="4508500"/>
          <a:ext cx="23812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77800" imgH="215900" progId="Equation.3">
                  <p:embed/>
                </p:oleObj>
              </mc:Choice>
              <mc:Fallback>
                <p:oleObj name="" r:id="rId5" imgW="177800" imgH="215900" progId="Equation.3">
                  <p:embed/>
                  <p:pic>
                    <p:nvPicPr>
                      <p:cNvPr id="0" name="对象 46697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2889" y="4508500"/>
                        <a:ext cx="238125" cy="287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73" name="矩形 466972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74" name="矩形 466973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6975" name="对象 466974"/>
          <p:cNvGraphicFramePr/>
          <p:nvPr/>
        </p:nvGraphicFramePr>
        <p:xfrm>
          <a:off x="2927350" y="4292601"/>
          <a:ext cx="2667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65100" imgH="215900" progId="Equation.3">
                  <p:embed/>
                </p:oleObj>
              </mc:Choice>
              <mc:Fallback>
                <p:oleObj name="" r:id="rId7" imgW="165100" imgH="215900" progId="Equation.3">
                  <p:embed/>
                  <p:pic>
                    <p:nvPicPr>
                      <p:cNvPr id="0" name="对象 46697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7350" y="4292601"/>
                        <a:ext cx="266700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76" name="矩形 466975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6977" name="对象 466976"/>
          <p:cNvGraphicFramePr/>
          <p:nvPr/>
        </p:nvGraphicFramePr>
        <p:xfrm>
          <a:off x="5016501" y="2852739"/>
          <a:ext cx="295275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77800" imgH="215265" progId="Equation.3">
                  <p:embed/>
                </p:oleObj>
              </mc:Choice>
              <mc:Fallback>
                <p:oleObj name="" r:id="rId9" imgW="177800" imgH="215265" progId="Equation.3">
                  <p:embed/>
                  <p:pic>
                    <p:nvPicPr>
                      <p:cNvPr id="0" name="对象 4669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6501" y="2852739"/>
                        <a:ext cx="295275" cy="363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78" name="矩形 466977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80" name="文本框 466979"/>
          <p:cNvSpPr txBox="1"/>
          <p:nvPr/>
        </p:nvSpPr>
        <p:spPr>
          <a:xfrm>
            <a:off x="5951539" y="2781300"/>
            <a:ext cx="4105275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Verdana" panose="020B0604030504040204" pitchFamily="34" charset="0"/>
                <a:ea typeface="黑体" panose="02010609060101010101" pitchFamily="49" charset="-122"/>
              </a:rPr>
              <a:t>水平方向：没有变化</a:t>
            </a:r>
            <a:endParaRPr lang="zh-CN" altLang="en-US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66981" name="矩形 466980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82" name="文本框 466981"/>
          <p:cNvSpPr txBox="1"/>
          <p:nvPr/>
        </p:nvSpPr>
        <p:spPr>
          <a:xfrm>
            <a:off x="5951538" y="3357563"/>
            <a:ext cx="25209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Verdana" panose="020B0604030504040204" pitchFamily="34" charset="0"/>
                <a:ea typeface="黑体" panose="02010609060101010101" pitchFamily="49" charset="-122"/>
              </a:rPr>
              <a:t>竖直方向：</a:t>
            </a:r>
            <a:endParaRPr lang="zh-CN" altLang="en-US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66983" name="矩形 466982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85" name="矩形 466984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986" name="矩形 466985"/>
          <p:cNvSpPr/>
          <p:nvPr/>
        </p:nvSpPr>
        <p:spPr>
          <a:xfrm>
            <a:off x="152400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6992" name="对象 466991"/>
          <p:cNvGraphicFramePr/>
          <p:nvPr/>
        </p:nvGraphicFramePr>
        <p:xfrm>
          <a:off x="4079876" y="5373689"/>
          <a:ext cx="576263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431165" imgH="177800" progId="Equation.3">
                  <p:embed/>
                </p:oleObj>
              </mc:Choice>
              <mc:Fallback>
                <p:oleObj name="" r:id="rId11" imgW="431165" imgH="177800" progId="Equation.3">
                  <p:embed/>
                  <p:pic>
                    <p:nvPicPr>
                      <p:cNvPr id="0" name="对象 46699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79876" y="5373689"/>
                        <a:ext cx="576263" cy="236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007" name="直接连接符 467006"/>
          <p:cNvSpPr/>
          <p:nvPr/>
        </p:nvSpPr>
        <p:spPr>
          <a:xfrm flipV="1">
            <a:off x="3792538" y="2997201"/>
            <a:ext cx="0" cy="576263"/>
          </a:xfrm>
          <a:prstGeom prst="line">
            <a:avLst/>
          </a:prstGeom>
          <a:ln w="3175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7008" name="对象 467007"/>
          <p:cNvGraphicFramePr/>
          <p:nvPr/>
        </p:nvGraphicFramePr>
        <p:xfrm>
          <a:off x="3503613" y="2708276"/>
          <a:ext cx="576262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443865" imgH="203200" progId="Equation.3">
                  <p:embed/>
                </p:oleObj>
              </mc:Choice>
              <mc:Fallback>
                <p:oleObj name="" r:id="rId13" imgW="443865" imgH="203200" progId="Equation.3">
                  <p:embed/>
                  <p:pic>
                    <p:nvPicPr>
                      <p:cNvPr id="0" name="对象 46700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03613" y="2708276"/>
                        <a:ext cx="576262" cy="265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009" name="任意多边形 467008"/>
          <p:cNvSpPr/>
          <p:nvPr/>
        </p:nvSpPr>
        <p:spPr>
          <a:xfrm flipH="1" flipV="1">
            <a:off x="3143250" y="3860800"/>
            <a:ext cx="71438" cy="179388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7010" name="任意多边形 467009"/>
          <p:cNvSpPr/>
          <p:nvPr/>
        </p:nvSpPr>
        <p:spPr>
          <a:xfrm>
            <a:off x="4943476" y="3284538"/>
            <a:ext cx="73025" cy="144462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7012" name="内容占位符 467011"/>
          <p:cNvGraphicFramePr>
            <a:graphicFrameLocks noGrp="1"/>
          </p:cNvGraphicFramePr>
          <p:nvPr>
            <p:ph sz="quarter" idx="2"/>
          </p:nvPr>
        </p:nvGraphicFramePr>
        <p:xfrm>
          <a:off x="6311900" y="3976689"/>
          <a:ext cx="3240088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5" imgW="1866900" imgH="1143000" progId="Equation.3">
                  <p:embed/>
                </p:oleObj>
              </mc:Choice>
              <mc:Fallback>
                <p:oleObj name="" r:id="rId15" imgW="1866900" imgH="1143000" progId="Equation.3">
                  <p:embed/>
                  <p:pic>
                    <p:nvPicPr>
                      <p:cNvPr id="0" name="内容占位符 46701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11900" y="3976689"/>
                        <a:ext cx="3240088" cy="19843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标题 481281"/>
          <p:cNvSpPr>
            <a:spLocks noGrp="1"/>
          </p:cNvSpPr>
          <p:nvPr>
            <p:ph type="title"/>
          </p:nvPr>
        </p:nvSpPr>
        <p:spPr>
          <a:xfrm>
            <a:off x="1524001" y="260350"/>
            <a:ext cx="8785225" cy="1143000"/>
          </a:xfrm>
        </p:spPr>
        <p:txBody>
          <a:bodyPr anchor="ctr" anchorCtr="0"/>
          <a:lstStyle/>
          <a:p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49" charset="-122"/>
              </a:rPr>
              <a:t>弦振动方程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11" name="矩形: 圆角 1"/>
          <p:cNvSpPr/>
          <p:nvPr/>
        </p:nvSpPr>
        <p:spPr>
          <a:xfrm>
            <a:off x="10021455" y="175491"/>
            <a:ext cx="2050472" cy="692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复习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5931" name="内容占位符 465930"/>
          <p:cNvGraphicFramePr>
            <a:graphicFrameLocks noGrp="1"/>
          </p:cNvGraphicFramePr>
          <p:nvPr>
            <p:ph sz="quarter" idx="1"/>
          </p:nvPr>
        </p:nvGraphicFramePr>
        <p:xfrm>
          <a:off x="4416426" y="1484314"/>
          <a:ext cx="3070225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63065" imgH="482600" progId="Equation.3">
                  <p:embed/>
                </p:oleObj>
              </mc:Choice>
              <mc:Fallback>
                <p:oleObj name="" r:id="rId1" imgW="1663065" imgH="482600" progId="Equation.3">
                  <p:embed/>
                  <p:pic>
                    <p:nvPicPr>
                      <p:cNvPr id="0" name="内容占位符 46593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16426" y="1484314"/>
                        <a:ext cx="3070225" cy="8905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34" name="内容占位符 465933"/>
          <p:cNvGraphicFramePr>
            <a:graphicFrameLocks noGrp="1"/>
          </p:cNvGraphicFramePr>
          <p:nvPr>
            <p:ph sz="quarter" idx="2"/>
          </p:nvPr>
        </p:nvGraphicFramePr>
        <p:xfrm>
          <a:off x="6888164" y="2595563"/>
          <a:ext cx="2160587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206500" imgH="457200" progId="Equation.3">
                  <p:embed/>
                </p:oleObj>
              </mc:Choice>
              <mc:Fallback>
                <p:oleObj name="" r:id="rId3" imgW="1206500" imgH="457200" progId="Equation.3">
                  <p:embed/>
                  <p:pic>
                    <p:nvPicPr>
                      <p:cNvPr id="0" name="内容占位符 4659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88164" y="2595563"/>
                        <a:ext cx="2160587" cy="8191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41" name="内容占位符 465940"/>
          <p:cNvGraphicFramePr>
            <a:graphicFrameLocks noGrp="1"/>
          </p:cNvGraphicFramePr>
          <p:nvPr>
            <p:ph sz="quarter" idx="3"/>
          </p:nvPr>
        </p:nvGraphicFramePr>
        <p:xfrm>
          <a:off x="3287714" y="4221163"/>
          <a:ext cx="17287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850265" imgH="419100" progId="Equation.3">
                  <p:embed/>
                </p:oleObj>
              </mc:Choice>
              <mc:Fallback>
                <p:oleObj name="" r:id="rId5" imgW="850265" imgH="419100" progId="Equation.3">
                  <p:embed/>
                  <p:pic>
                    <p:nvPicPr>
                      <p:cNvPr id="0" name="内容占位符 4659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7714" y="4221163"/>
                        <a:ext cx="1728787" cy="8509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26" name="对象 465925"/>
          <p:cNvGraphicFramePr/>
          <p:nvPr/>
        </p:nvGraphicFramePr>
        <p:xfrm>
          <a:off x="3216276" y="2492376"/>
          <a:ext cx="30908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384300" imgH="419100" progId="Equation.3">
                  <p:embed/>
                </p:oleObj>
              </mc:Choice>
              <mc:Fallback>
                <p:oleObj name="" r:id="rId7" imgW="1384300" imgH="419100" progId="Equation.3">
                  <p:embed/>
                  <p:pic>
                    <p:nvPicPr>
                      <p:cNvPr id="0" name="对象 4659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16276" y="2492376"/>
                        <a:ext cx="3090863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36" name="直接连接符 465935"/>
          <p:cNvSpPr/>
          <p:nvPr/>
        </p:nvSpPr>
        <p:spPr>
          <a:xfrm>
            <a:off x="3287714" y="3429000"/>
            <a:ext cx="28797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5937" name="矩形 465936"/>
          <p:cNvSpPr/>
          <p:nvPr/>
        </p:nvSpPr>
        <p:spPr>
          <a:xfrm>
            <a:off x="2352675" y="3796786"/>
            <a:ext cx="3527425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强迫振动方程</a:t>
            </a:r>
            <a:endParaRPr lang="zh-CN" altLang="en-US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65938" name="文本框 465937"/>
          <p:cNvSpPr txBox="1"/>
          <p:nvPr/>
        </p:nvSpPr>
        <p:spPr>
          <a:xfrm>
            <a:off x="2566989" y="4365625"/>
            <a:ext cx="720725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65943" name="内容占位符 465942"/>
          <p:cNvGraphicFramePr>
            <a:graphicFrameLocks noGrp="1"/>
          </p:cNvGraphicFramePr>
          <p:nvPr>
            <p:ph sz="quarter" idx="4"/>
          </p:nvPr>
        </p:nvGraphicFramePr>
        <p:xfrm>
          <a:off x="6600825" y="4221163"/>
          <a:ext cx="280828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384300" imgH="419100" progId="Equation.3">
                  <p:embed/>
                </p:oleObj>
              </mc:Choice>
              <mc:Fallback>
                <p:oleObj name="" r:id="rId9" imgW="1384300" imgH="419100" progId="Equation.3">
                  <p:embed/>
                  <p:pic>
                    <p:nvPicPr>
                      <p:cNvPr id="0" name="内容占位符 46594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00825" y="4221163"/>
                        <a:ext cx="2808288" cy="8509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46" name="文本框 465945"/>
          <p:cNvSpPr txBox="1"/>
          <p:nvPr/>
        </p:nvSpPr>
        <p:spPr>
          <a:xfrm>
            <a:off x="3000376" y="5157789"/>
            <a:ext cx="2232025" cy="727075"/>
          </a:xfrm>
          <a:prstGeom prst="rect">
            <a:avLst/>
          </a:prstGeom>
          <a:solidFill>
            <a:srgbClr val="FFFF99"/>
          </a:solidFill>
          <a:ln w="254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齐次方程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只含有对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zh-CN" altLang="en-US" sz="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　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的各种运算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5949" name="文本框 465948"/>
          <p:cNvSpPr txBox="1"/>
          <p:nvPr/>
        </p:nvSpPr>
        <p:spPr>
          <a:xfrm>
            <a:off x="6024563" y="5157789"/>
            <a:ext cx="4032250" cy="727075"/>
          </a:xfrm>
          <a:prstGeom prst="rect">
            <a:avLst/>
          </a:prstGeom>
          <a:solidFill>
            <a:srgbClr val="CCFFFF"/>
          </a:solidFill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Verdana" panose="020B0604030504040204" pitchFamily="34" charset="0"/>
                <a:ea typeface="黑体" panose="02010609060101010101" pitchFamily="49" charset="-122"/>
              </a:rPr>
              <a:t>非齐次方程：含有对</a:t>
            </a:r>
            <a:r>
              <a:rPr lang="zh-CN" altLang="en-US" sz="1400" dirty="0">
                <a:latin typeface="Verdana" panose="020B060403050404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1400" i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Verdana" panose="020B0604030504040204" pitchFamily="34" charset="0"/>
                <a:ea typeface="黑体" panose="02010609060101010101" pitchFamily="49" charset="-122"/>
              </a:rPr>
              <a:t>运算之外的项 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</a:rPr>
              <a:t>x,</a:t>
            </a:r>
            <a:r>
              <a:rPr lang="zh-CN" altLang="en-US" sz="2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　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),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被称为驱动项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, 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或自由项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标题 481281"/>
          <p:cNvSpPr>
            <a:spLocks noGrp="1"/>
          </p:cNvSpPr>
          <p:nvPr>
            <p:ph type="title"/>
          </p:nvPr>
        </p:nvSpPr>
        <p:spPr>
          <a:xfrm>
            <a:off x="1524001" y="260350"/>
            <a:ext cx="8785225" cy="1143000"/>
          </a:xfrm>
        </p:spPr>
        <p:txBody>
          <a:bodyPr anchor="ctr" anchorCtr="0"/>
          <a:lstStyle/>
          <a:p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49" charset="-122"/>
              </a:rPr>
              <a:t>弦振动方程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8" name="矩形: 圆角 1"/>
          <p:cNvSpPr/>
          <p:nvPr/>
        </p:nvSpPr>
        <p:spPr>
          <a:xfrm>
            <a:off x="10021455" y="175491"/>
            <a:ext cx="2050472" cy="692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复习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标题 777217"/>
          <p:cNvSpPr>
            <a:spLocks noGrp="1"/>
          </p:cNvSpPr>
          <p:nvPr>
            <p:ph type="title" sz="quarter"/>
          </p:nvPr>
        </p:nvSpPr>
        <p:spPr/>
        <p:txBody>
          <a:bodyPr anchor="ctr" anchorCtr="0"/>
          <a:lstStyle/>
          <a:p>
            <a:r>
              <a:rPr lang="zh-CN" altLang="en-US" sz="36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弦</a:t>
            </a:r>
            <a:r>
              <a:rPr lang="zh-CN" altLang="en-US" sz="3600" b="1" dirty="0">
                <a:solidFill>
                  <a:srgbClr val="CC0000"/>
                </a:solidFill>
                <a:ea typeface="黑体" panose="02010609060101010101" pitchFamily="49" charset="-122"/>
              </a:rPr>
              <a:t>振动方程 </a:t>
            </a:r>
            <a:r>
              <a:rPr lang="en-US" altLang="zh-CN" sz="3600" b="1" dirty="0">
                <a:solidFill>
                  <a:srgbClr val="CC0000"/>
                </a:solidFill>
                <a:ea typeface="黑体" panose="02010609060101010101" pitchFamily="49" charset="-122"/>
              </a:rPr>
              <a:t>= </a:t>
            </a:r>
            <a:r>
              <a:rPr lang="zh-CN" altLang="en-US" sz="3600" b="1" dirty="0">
                <a:solidFill>
                  <a:srgbClr val="CC0000"/>
                </a:solidFill>
                <a:ea typeface="黑体" panose="02010609060101010101" pitchFamily="49" charset="-122"/>
              </a:rPr>
              <a:t>波动方程</a:t>
            </a:r>
            <a:endParaRPr lang="zh-CN" altLang="en-US" sz="3600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777219" name="对象 777218"/>
          <p:cNvGraphicFramePr/>
          <p:nvPr/>
        </p:nvGraphicFramePr>
        <p:xfrm>
          <a:off x="5880101" y="1484314"/>
          <a:ext cx="30908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384300" imgH="419100" progId="Equation.3">
                  <p:embed/>
                </p:oleObj>
              </mc:Choice>
              <mc:Fallback>
                <p:oleObj name="" r:id="rId1" imgW="1384300" imgH="419100" progId="Equation.3">
                  <p:embed/>
                  <p:pic>
                    <p:nvPicPr>
                      <p:cNvPr id="0" name="对象 7772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80101" y="1484314"/>
                        <a:ext cx="3090863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7220" name="文本框 777219"/>
          <p:cNvSpPr txBox="1"/>
          <p:nvPr/>
        </p:nvSpPr>
        <p:spPr>
          <a:xfrm>
            <a:off x="2063751" y="2924175"/>
            <a:ext cx="3960813" cy="267765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  <a:ea typeface="黑体" panose="02010609060101010101" pitchFamily="49" charset="-122"/>
              </a:rPr>
              <a:t>弦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振动方程的解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u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表示位于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处的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“弦点”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在任意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t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时刻离开其平衡位置的位移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其实，</a:t>
            </a:r>
            <a:r>
              <a:rPr lang="zh-CN" altLang="en-US" sz="2400" dirty="0">
                <a:latin typeface="Verdana" panose="020B0604030504040204" pitchFamily="34" charset="0"/>
                <a:ea typeface="黑体" panose="02010609060101010101" pitchFamily="49" charset="-122"/>
              </a:rPr>
              <a:t>弦</a:t>
            </a:r>
            <a:r>
              <a:rPr lang="zh-CN" altLang="en-US" sz="2400" dirty="0">
                <a:latin typeface="宋体" panose="02010600030101010101" pitchFamily="2" charset="-122"/>
                <a:ea typeface="黑体" panose="02010609060101010101" pitchFamily="49" charset="-122"/>
              </a:rPr>
              <a:t>振动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方程就是波动方程，因为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波是振动的传播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。因此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解 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dirty="0" err="1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Verdana" panose="020B0604030504040204" pitchFamily="34" charset="0"/>
                <a:ea typeface="黑体" panose="02010609060101010101" pitchFamily="49" charset="-122"/>
              </a:rPr>
              <a:t>也表示空间任意点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latin typeface="Verdana" panose="020B0604030504040204" pitchFamily="34" charset="0"/>
                <a:ea typeface="黑体" panose="02010609060101010101" pitchFamily="49" charset="-122"/>
              </a:rPr>
              <a:t>的波形。</a:t>
            </a:r>
            <a:endParaRPr lang="zh-CN" altLang="en-US" sz="240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777221" name="内容占位符 777220"/>
          <p:cNvGraphicFramePr>
            <a:graphicFrameLocks noGrp="1"/>
          </p:cNvGraphicFramePr>
          <p:nvPr>
            <p:ph sz="quarter" idx="3"/>
          </p:nvPr>
        </p:nvGraphicFramePr>
        <p:xfrm>
          <a:off x="3287714" y="1557338"/>
          <a:ext cx="17287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850265" imgH="419100" progId="Equation.3">
                  <p:embed/>
                </p:oleObj>
              </mc:Choice>
              <mc:Fallback>
                <p:oleObj name="" r:id="rId3" imgW="850265" imgH="419100" progId="Equation.3">
                  <p:embed/>
                  <p:pic>
                    <p:nvPicPr>
                      <p:cNvPr id="0" name="内容占位符 7772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7714" y="1557338"/>
                        <a:ext cx="1728787" cy="8509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7223" name="任意多边形 777222"/>
          <p:cNvSpPr/>
          <p:nvPr/>
        </p:nvSpPr>
        <p:spPr>
          <a:xfrm flipH="1">
            <a:off x="6743700" y="3716339"/>
            <a:ext cx="1081088" cy="1512887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7224" name="任意多边形 777223"/>
          <p:cNvSpPr/>
          <p:nvPr/>
        </p:nvSpPr>
        <p:spPr>
          <a:xfrm>
            <a:off x="7824788" y="3716338"/>
            <a:ext cx="1655762" cy="151130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7225" name="直接连接符 777224"/>
          <p:cNvSpPr/>
          <p:nvPr/>
        </p:nvSpPr>
        <p:spPr>
          <a:xfrm>
            <a:off x="6527801" y="5229225"/>
            <a:ext cx="3598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7226" name="直接连接符 777225"/>
          <p:cNvSpPr/>
          <p:nvPr/>
        </p:nvSpPr>
        <p:spPr>
          <a:xfrm flipV="1">
            <a:off x="6527800" y="2997201"/>
            <a:ext cx="0" cy="2232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7227" name="文本框 777226"/>
          <p:cNvSpPr txBox="1"/>
          <p:nvPr/>
        </p:nvSpPr>
        <p:spPr>
          <a:xfrm>
            <a:off x="9983789" y="5229225"/>
            <a:ext cx="504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777228" name="矩形 777227"/>
          <p:cNvSpPr/>
          <p:nvPr/>
        </p:nvSpPr>
        <p:spPr>
          <a:xfrm>
            <a:off x="6527800" y="27813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en-US" altLang="zh-CN" sz="2400" i="1">
                <a:latin typeface="Times New Roman" panose="02020603050405020304" pitchFamily="18" charset="0"/>
              </a:rPr>
              <a:t>u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777229" name="文本框 777228"/>
          <p:cNvSpPr txBox="1"/>
          <p:nvPr/>
        </p:nvSpPr>
        <p:spPr>
          <a:xfrm>
            <a:off x="7104064" y="3068638"/>
            <a:ext cx="237648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空间任意点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的波形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: 圆角 1"/>
          <p:cNvSpPr/>
          <p:nvPr/>
        </p:nvSpPr>
        <p:spPr>
          <a:xfrm>
            <a:off x="10021455" y="175491"/>
            <a:ext cx="2050472" cy="692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复习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标题 779265"/>
          <p:cNvSpPr>
            <a:spLocks noGrp="1"/>
          </p:cNvSpPr>
          <p:nvPr>
            <p:ph type="title" sz="quarter"/>
          </p:nvPr>
        </p:nvSpPr>
        <p:spPr>
          <a:xfrm>
            <a:off x="1919288" y="549275"/>
            <a:ext cx="8229600" cy="1143000"/>
          </a:xfrm>
        </p:spPr>
        <p:txBody>
          <a:bodyPr anchor="ctr" anchorCtr="0"/>
          <a:lstStyle/>
          <a:p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49" charset="-122"/>
              </a:rPr>
              <a:t>波动方程的应用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779267" name="文本框 779266"/>
          <p:cNvSpPr txBox="1"/>
          <p:nvPr/>
        </p:nvSpPr>
        <p:spPr>
          <a:xfrm>
            <a:off x="2566988" y="2060576"/>
            <a:ext cx="7129462" cy="3021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自然界许多弹性振动，例如机械振动，建筑物的剪振动，潮汐波，地震声波，声波，以及电磁波等都可以用波动方程来描述。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0021455" y="175491"/>
            <a:ext cx="2050472" cy="692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复习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标题 748545"/>
          <p:cNvSpPr>
            <a:spLocks noGrp="1"/>
          </p:cNvSpPr>
          <p:nvPr>
            <p:ph type="title" sz="quarter"/>
          </p:nvPr>
        </p:nvSpPr>
        <p:spPr>
          <a:xfrm>
            <a:off x="1881980" y="1773236"/>
            <a:ext cx="8229600" cy="1143000"/>
          </a:xfrm>
        </p:spPr>
        <p:txBody>
          <a:bodyPr anchor="ctr" anchorCtr="0"/>
          <a:lstStyle/>
          <a:p>
            <a:r>
              <a:rPr lang="zh-CN" altLang="en-US" sz="4800" dirty="0">
                <a:solidFill>
                  <a:srgbClr val="CC0000"/>
                </a:solidFill>
                <a:ea typeface="黑体" panose="02010609060101010101" pitchFamily="49" charset="-122"/>
              </a:rPr>
              <a:t>数学物理方程：</a:t>
            </a:r>
            <a:r>
              <a:rPr lang="zh-CN" altLang="en-US" sz="4800" dirty="0">
                <a:solidFill>
                  <a:srgbClr val="0000FF"/>
                </a:solidFill>
                <a:ea typeface="黑体" panose="02010609060101010101" pitchFamily="49" charset="-122"/>
              </a:rPr>
              <a:t>完整表述</a:t>
            </a:r>
            <a:endParaRPr lang="zh-CN" altLang="en-US" sz="4800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748547" name="文本框 748546"/>
          <p:cNvSpPr txBox="1"/>
          <p:nvPr/>
        </p:nvSpPr>
        <p:spPr>
          <a:xfrm>
            <a:off x="3610768" y="3429000"/>
            <a:ext cx="5402263" cy="408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泛定方程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定解条件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8549" name="文本框 748548"/>
          <p:cNvSpPr txBox="1"/>
          <p:nvPr/>
        </p:nvSpPr>
        <p:spPr>
          <a:xfrm>
            <a:off x="6096000" y="3936712"/>
            <a:ext cx="25193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定解问题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48550" name="右大括号 748549"/>
          <p:cNvSpPr/>
          <p:nvPr/>
        </p:nvSpPr>
        <p:spPr>
          <a:xfrm>
            <a:off x="5880099" y="3793837"/>
            <a:ext cx="431800" cy="1008063"/>
          </a:xfrm>
          <a:prstGeom prst="rightBrace">
            <a:avLst>
              <a:gd name="adj1" fmla="val 19454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问题的提出：无界弦的自由振动问题</a:t>
            </a:r>
            <a:endParaRPr lang="zh-CN" altLang="en-US" sz="3200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9925" y="1409551"/>
            <a:ext cx="10852150" cy="447546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问题的提出：无界弦的自由振动问题</a:t>
            </a:r>
            <a:endParaRPr lang="zh-CN" altLang="en-US" sz="3200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7416" y="2046505"/>
            <a:ext cx="11257167" cy="2488550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Rot="1"/>
          </p:cNvSpPr>
          <p:nvPr/>
        </p:nvSpPr>
        <p:spPr bwMode="auto">
          <a:xfrm>
            <a:off x="1992314" y="476251"/>
            <a:ext cx="7704137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>
                <a:latin typeface="+mj-lt"/>
                <a:ea typeface="黑体" panose="02010609060101010101" pitchFamily="49" charset="-122"/>
              </a:rPr>
              <a:t>3.1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  一维波动方程</a:t>
            </a:r>
            <a:endParaRPr lang="zh-CN" alt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751513" y="281622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51513" y="281622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2208214" y="2205038"/>
            <a:ext cx="79914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初始位移</a:t>
            </a:r>
            <a:r>
              <a:rPr lang="zh-CN" altLang="en-US" sz="2800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，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初始速度</a:t>
            </a:r>
            <a:r>
              <a:rPr lang="zh-CN" altLang="en-US" sz="2800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无界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弦自由振动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383338" y="2276476"/>
          <a:ext cx="7921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406400" imgH="228600" progId="Equation.DSMT4">
                  <p:embed/>
                </p:oleObj>
              </mc:Choice>
              <mc:Fallback>
                <p:oleObj name="" r:id="rId3" imgW="406400" imgH="2286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83338" y="2276476"/>
                        <a:ext cx="792162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792538" y="2244725"/>
          <a:ext cx="8636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5" imgW="393700" imgH="228600" progId="Equation.DSMT4">
                  <p:embed/>
                </p:oleObj>
              </mc:Choice>
              <mc:Fallback>
                <p:oleObj name="" r:id="rId5" imgW="393700" imgH="2286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92538" y="2244725"/>
                        <a:ext cx="86360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424113" y="3068639"/>
          <a:ext cx="7332662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7" imgW="6731000" imgH="1206500" progId="Equation.DSMT4">
                  <p:embed/>
                </p:oleObj>
              </mc:Choice>
              <mc:Fallback>
                <p:oleObj name="" r:id="rId7" imgW="6731000" imgH="12065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24113" y="3068639"/>
                        <a:ext cx="7332662" cy="131127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12"/>
          <p:cNvSpPr/>
          <p:nvPr/>
        </p:nvSpPr>
        <p:spPr>
          <a:xfrm>
            <a:off x="6959600" y="5084764"/>
            <a:ext cx="3492500" cy="1152525"/>
          </a:xfrm>
          <a:prstGeom prst="cloudCallout">
            <a:avLst>
              <a:gd name="adj1" fmla="val -45134"/>
              <a:gd name="adj2" fmla="val -103995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>
              <a:spcBef>
                <a:spcPct val="20000"/>
              </a:spcBef>
            </a:pPr>
            <a:r>
              <a:rPr lang="zh-CN" altLang="en-US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初值问题 </a:t>
            </a:r>
            <a:r>
              <a:rPr lang="en-US" altLang="zh-CN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(Cauchy</a:t>
            </a:r>
            <a:r>
              <a:rPr lang="zh-CN" altLang="en-US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/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13"/>
          <p:cNvSpPr>
            <a:spLocks noRot="1"/>
          </p:cNvSpPr>
          <p:nvPr/>
        </p:nvSpPr>
        <p:spPr>
          <a:xfrm>
            <a:off x="2135189" y="1412875"/>
            <a:ext cx="4465637" cy="6492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d’Alembert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公式推导  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1" name="Object 12"/>
          <p:cNvGraphicFramePr>
            <a:graphicFrameLocks noChangeAspect="1"/>
          </p:cNvGraphicFramePr>
          <p:nvPr/>
        </p:nvGraphicFramePr>
        <p:xfrm>
          <a:off x="2782888" y="4292601"/>
          <a:ext cx="7123112" cy="229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314700" imgH="1066800" progId="Equation.DSMT4">
                  <p:embed/>
                </p:oleObj>
              </mc:Choice>
              <mc:Fallback>
                <p:oleObj name="" r:id="rId1" imgW="3314700" imgH="10668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2888" y="4292601"/>
                        <a:ext cx="7123112" cy="2290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2" name="Rectangle 2"/>
          <p:cNvSpPr/>
          <p:nvPr/>
        </p:nvSpPr>
        <p:spPr>
          <a:xfrm>
            <a:off x="2208214" y="620713"/>
            <a:ext cx="6840537" cy="5191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我们可以求出方程的通解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考虑变量代换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172" name="Object 4"/>
          <p:cNvGraphicFramePr/>
          <p:nvPr/>
        </p:nvGraphicFramePr>
        <p:xfrm>
          <a:off x="4008438" y="1341438"/>
          <a:ext cx="2386012" cy="127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143000" imgH="584200" progId="Equation.DSMT4">
                  <p:embed/>
                </p:oleObj>
              </mc:Choice>
              <mc:Fallback>
                <p:oleObj name="" r:id="rId3" imgW="1143000" imgH="5842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E4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08438" y="1341438"/>
                        <a:ext cx="2386012" cy="1274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Rectangle 5"/>
          <p:cNvSpPr/>
          <p:nvPr/>
        </p:nvSpPr>
        <p:spPr>
          <a:xfrm>
            <a:off x="2208213" y="2708276"/>
            <a:ext cx="4113212" cy="519113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利用复合函数求导法则得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174" name="Object 6"/>
          <p:cNvGraphicFramePr/>
          <p:nvPr/>
        </p:nvGraphicFramePr>
        <p:xfrm>
          <a:off x="2855913" y="3284538"/>
          <a:ext cx="482441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057400" imgH="431800" progId="Equation.DSMT4">
                  <p:embed/>
                </p:oleObj>
              </mc:Choice>
              <mc:Fallback>
                <p:oleObj name="" r:id="rId5" imgW="2057400" imgH="4318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55913" y="3284538"/>
                        <a:ext cx="4824412" cy="1008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7"/>
          <p:cNvSpPr/>
          <p:nvPr/>
        </p:nvSpPr>
        <p:spPr>
          <a:xfrm>
            <a:off x="5917910" y="2128322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7" name="AutoShape 14"/>
          <p:cNvSpPr/>
          <p:nvPr/>
        </p:nvSpPr>
        <p:spPr>
          <a:xfrm>
            <a:off x="7391400" y="1125538"/>
            <a:ext cx="2952750" cy="647700"/>
          </a:xfrm>
          <a:prstGeom prst="cloudCallout">
            <a:avLst>
              <a:gd name="adj1" fmla="val -81236"/>
              <a:gd name="adj2" fmla="val 45588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>
              <a:spcBef>
                <a:spcPct val="2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为什么？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/>
          <p:nvPr/>
        </p:nvSpPr>
        <p:spPr>
          <a:xfrm>
            <a:off x="6003635" y="2810947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6" name="Rectangle 4"/>
          <p:cNvSpPr/>
          <p:nvPr/>
        </p:nvSpPr>
        <p:spPr>
          <a:xfrm>
            <a:off x="2351088" y="836613"/>
            <a:ext cx="1962150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同理可得：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1267" name="Object 5"/>
          <p:cNvGraphicFramePr/>
          <p:nvPr/>
        </p:nvGraphicFramePr>
        <p:xfrm>
          <a:off x="4440238" y="549275"/>
          <a:ext cx="4762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260600" imgH="444500" progId="Equation.DSMT4">
                  <p:embed/>
                </p:oleObj>
              </mc:Choice>
              <mc:Fallback>
                <p:oleObj name="" r:id="rId1" imgW="2260600" imgH="4445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40238" y="549275"/>
                        <a:ext cx="4762500" cy="10795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6"/>
          <p:cNvSpPr/>
          <p:nvPr/>
        </p:nvSpPr>
        <p:spPr>
          <a:xfrm>
            <a:off x="2351088" y="1989138"/>
            <a:ext cx="4273550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将两式代入原方程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可得：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200" name="Object 8"/>
          <p:cNvGraphicFramePr/>
          <p:nvPr/>
        </p:nvGraphicFramePr>
        <p:xfrm>
          <a:off x="5264151" y="2565401"/>
          <a:ext cx="159226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635000" imgH="444500" progId="Equation.DSMT4">
                  <p:embed/>
                </p:oleObj>
              </mc:Choice>
              <mc:Fallback>
                <p:oleObj name="" r:id="rId3" imgW="635000" imgH="4445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64151" y="2565401"/>
                        <a:ext cx="1592263" cy="100806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10"/>
          <p:cNvSpPr/>
          <p:nvPr/>
        </p:nvSpPr>
        <p:spPr>
          <a:xfrm>
            <a:off x="2351088" y="3789363"/>
            <a:ext cx="2684462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连续积分两次得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1271" name="Object 11"/>
          <p:cNvGraphicFramePr/>
          <p:nvPr/>
        </p:nvGraphicFramePr>
        <p:xfrm>
          <a:off x="5483225" y="3789364"/>
          <a:ext cx="34036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600200" imgH="254000" progId="Equation.DSMT4">
                  <p:embed/>
                </p:oleObj>
              </mc:Choice>
              <mc:Fallback>
                <p:oleObj name="" r:id="rId5" imgW="1600200" imgH="2540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83225" y="3789364"/>
                        <a:ext cx="3403600" cy="60007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Rectangle 13"/>
          <p:cNvSpPr/>
          <p:nvPr/>
        </p:nvSpPr>
        <p:spPr>
          <a:xfrm>
            <a:off x="2351088" y="4724401"/>
            <a:ext cx="7054850" cy="519113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其中            是任意二次连续可微函数，即有 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1273" name="Object 14"/>
          <p:cNvGraphicFramePr>
            <a:graphicFrameLocks noChangeAspect="1"/>
          </p:cNvGraphicFramePr>
          <p:nvPr/>
        </p:nvGraphicFramePr>
        <p:xfrm>
          <a:off x="3336925" y="4814888"/>
          <a:ext cx="74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748665" imgH="393700" progId="Equation.DSMT4">
                  <p:embed/>
                </p:oleObj>
              </mc:Choice>
              <mc:Fallback>
                <p:oleObj name="" r:id="rId7" imgW="748665" imgH="3937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36925" y="4814888"/>
                        <a:ext cx="749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16"/>
          <p:cNvGraphicFramePr/>
          <p:nvPr/>
        </p:nvGraphicFramePr>
        <p:xfrm>
          <a:off x="3708401" y="5373688"/>
          <a:ext cx="47736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2032000" imgH="254000" progId="Equation.DSMT4">
                  <p:embed/>
                </p:oleObj>
              </mc:Choice>
              <mc:Fallback>
                <p:oleObj name="" r:id="rId9" imgW="2032000" imgH="254000" progId="Equation.DSMT4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08401" y="5373688"/>
                        <a:ext cx="4773613" cy="6477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/>
          <p:nvPr/>
        </p:nvSpPr>
        <p:spPr>
          <a:xfrm>
            <a:off x="6075073" y="3264972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9219" name="Group 3"/>
          <p:cNvGrpSpPr/>
          <p:nvPr/>
        </p:nvGrpSpPr>
        <p:grpSpPr>
          <a:xfrm>
            <a:off x="2495550" y="908050"/>
            <a:ext cx="7215188" cy="2103438"/>
            <a:chOff x="567" y="391"/>
            <a:chExt cx="4545" cy="1325"/>
          </a:xfrm>
        </p:grpSpPr>
        <p:sp>
          <p:nvSpPr>
            <p:cNvPr id="12291" name="Rectangle 4"/>
            <p:cNvSpPr/>
            <p:nvPr/>
          </p:nvSpPr>
          <p:spPr>
            <a:xfrm>
              <a:off x="567" y="391"/>
              <a:ext cx="4545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注：</a:t>
              </a: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                             </a:t>
              </a:r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是方程</a:t>
              </a: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2292" name="Object 5"/>
            <p:cNvGraphicFramePr>
              <a:graphicFrameLocks noChangeAspect="1"/>
            </p:cNvGraphicFramePr>
            <p:nvPr/>
          </p:nvGraphicFramePr>
          <p:xfrm>
            <a:off x="1406" y="845"/>
            <a:ext cx="2858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4635500" imgH="482600" progId="Equation.DSMT4">
                    <p:embed/>
                  </p:oleObj>
                </mc:Choice>
                <mc:Fallback>
                  <p:oleObj name="" r:id="rId1" imgW="4635500" imgH="482600" progId="Equation.DSMT4">
                    <p:embed/>
                    <p:pic>
                      <p:nvPicPr>
                        <p:cNvPr id="0" name="Object 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06" y="845"/>
                          <a:ext cx="2858" cy="3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3" name="Rectangle 6"/>
            <p:cNvSpPr/>
            <p:nvPr/>
          </p:nvSpPr>
          <p:spPr>
            <a:xfrm>
              <a:off x="567" y="1389"/>
              <a:ext cx="3209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的通解</a:t>
              </a:r>
              <a:r>
                <a:rPr lang="en-US" altLang="zh-CN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, </a:t>
              </a:r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它包含两个任意函数。 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2294" name="Object 7"/>
            <p:cNvGraphicFramePr/>
            <p:nvPr/>
          </p:nvGraphicFramePr>
          <p:xfrm>
            <a:off x="1158" y="437"/>
            <a:ext cx="2947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2032000" imgH="254000" progId="Equation.DSMT4">
                    <p:embed/>
                  </p:oleObj>
                </mc:Choice>
                <mc:Fallback>
                  <p:oleObj name="" r:id="rId3" imgW="2032000" imgH="254000" progId="Equation.DSMT4">
                    <p:embed/>
                    <p:pic>
                      <p:nvPicPr>
                        <p:cNvPr id="0" name="Object 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58" y="437"/>
                          <a:ext cx="2947" cy="3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4" name="Rectangle 8"/>
          <p:cNvSpPr/>
          <p:nvPr/>
        </p:nvSpPr>
        <p:spPr>
          <a:xfrm>
            <a:off x="2351089" y="3211513"/>
            <a:ext cx="7705725" cy="5191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对无限长的自由振动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利用初始条件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则：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9226" name="Object 10"/>
          <p:cNvGraphicFramePr>
            <a:graphicFrameLocks noChangeAspect="1"/>
          </p:cNvGraphicFramePr>
          <p:nvPr/>
        </p:nvGraphicFramePr>
        <p:xfrm>
          <a:off x="3282951" y="4133850"/>
          <a:ext cx="5116513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5105400" imgH="1168400" progId="Equation.DSMT4">
                  <p:embed/>
                </p:oleObj>
              </mc:Choice>
              <mc:Fallback>
                <p:oleObj name="" r:id="rId5" imgW="5105400" imgH="11684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2951" y="4133850"/>
                        <a:ext cx="5116513" cy="11493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Rectangle 11"/>
          <p:cNvSpPr/>
          <p:nvPr/>
        </p:nvSpPr>
        <p:spPr>
          <a:xfrm>
            <a:off x="6003635" y="3388797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3" name="Group 2"/>
          <p:cNvGrpSpPr/>
          <p:nvPr/>
        </p:nvGrpSpPr>
        <p:grpSpPr>
          <a:xfrm>
            <a:off x="4872039" y="547689"/>
            <a:ext cx="5184775" cy="1512887"/>
            <a:chOff x="2290" y="300"/>
            <a:chExt cx="3221" cy="862"/>
          </a:xfrm>
        </p:grpSpPr>
        <p:graphicFrame>
          <p:nvGraphicFramePr>
            <p:cNvPr id="13314" name="Object 3"/>
            <p:cNvGraphicFramePr>
              <a:graphicFrameLocks noChangeAspect="1"/>
            </p:cNvGraphicFramePr>
            <p:nvPr/>
          </p:nvGraphicFramePr>
          <p:xfrm>
            <a:off x="2462" y="436"/>
            <a:ext cx="2922" cy="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5105400" imgH="1168400" progId="Equation.DSMT4">
                    <p:embed/>
                  </p:oleObj>
                </mc:Choice>
                <mc:Fallback>
                  <p:oleObj name="" r:id="rId1" imgW="5105400" imgH="1168400" progId="Equation.DSMT4">
                    <p:embed/>
                    <p:pic>
                      <p:nvPicPr>
                        <p:cNvPr id="0" name="Object 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62" y="436"/>
                          <a:ext cx="2922" cy="6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15" name="Rectangle 4"/>
            <p:cNvSpPr/>
            <p:nvPr/>
          </p:nvSpPr>
          <p:spPr>
            <a:xfrm>
              <a:off x="2290" y="300"/>
              <a:ext cx="3221" cy="862"/>
            </a:xfrm>
            <a:prstGeom prst="rect">
              <a:avLst/>
            </a:prstGeom>
            <a:noFill/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45" name="Text Box 5"/>
          <p:cNvSpPr txBox="1"/>
          <p:nvPr/>
        </p:nvSpPr>
        <p:spPr>
          <a:xfrm>
            <a:off x="2351088" y="979489"/>
            <a:ext cx="2673350" cy="1031875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两端对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积分，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可得：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46" name="Line 6"/>
          <p:cNvSpPr/>
          <p:nvPr/>
        </p:nvSpPr>
        <p:spPr>
          <a:xfrm flipH="1" flipV="1">
            <a:off x="4008438" y="1484314"/>
            <a:ext cx="1079500" cy="287337"/>
          </a:xfrm>
          <a:prstGeom prst="line">
            <a:avLst/>
          </a:prstGeom>
          <a:ln w="31750" cap="flat" cmpd="sng">
            <a:solidFill>
              <a:schemeClr val="tx2"/>
            </a:solidFill>
            <a:prstDash val="solid"/>
            <a:round/>
            <a:headEnd type="triangle" w="lg" len="med"/>
            <a:tailEnd type="oval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47" name="Object 7"/>
          <p:cNvGraphicFramePr/>
          <p:nvPr/>
        </p:nvGraphicFramePr>
        <p:xfrm>
          <a:off x="3648075" y="2247900"/>
          <a:ext cx="489743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120900" imgH="495300" progId="Equation.DSMT4">
                  <p:embed/>
                </p:oleObj>
              </mc:Choice>
              <mc:Fallback>
                <p:oleObj name="" r:id="rId3" imgW="2120900" imgH="4953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8075" y="2247900"/>
                        <a:ext cx="4897438" cy="1136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AutoShape 8"/>
          <p:cNvSpPr/>
          <p:nvPr/>
        </p:nvSpPr>
        <p:spPr>
          <a:xfrm>
            <a:off x="2495551" y="3787776"/>
            <a:ext cx="576263" cy="144463"/>
          </a:xfrm>
          <a:prstGeom prst="rightArrow">
            <a:avLst>
              <a:gd name="adj1" fmla="val 50000"/>
              <a:gd name="adj2" fmla="val 99688"/>
            </a:avLst>
          </a:prstGeom>
          <a:noFill/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lg" len="lg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0249" name="Object 9"/>
          <p:cNvGraphicFramePr/>
          <p:nvPr/>
        </p:nvGraphicFramePr>
        <p:xfrm>
          <a:off x="3505201" y="3589338"/>
          <a:ext cx="5326063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387600" imgH="1028700" progId="Equation.DSMT4">
                  <p:embed/>
                </p:oleObj>
              </mc:Choice>
              <mc:Fallback>
                <p:oleObj name="" r:id="rId5" imgW="2387600" imgH="10287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5201" y="3589338"/>
                        <a:ext cx="5326063" cy="2273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/>
      <p:bldP spid="1024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/>
          <p:nvPr/>
        </p:nvSpPr>
        <p:spPr>
          <a:xfrm>
            <a:off x="2351088" y="1268413"/>
            <a:ext cx="4292600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由此即得原定解问题的解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267" name="Object 3"/>
          <p:cNvGraphicFramePr/>
          <p:nvPr/>
        </p:nvGraphicFramePr>
        <p:xfrm>
          <a:off x="1992313" y="2133600"/>
          <a:ext cx="80645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289300" imgH="469900" progId="Equation.DSMT4">
                  <p:embed/>
                </p:oleObj>
              </mc:Choice>
              <mc:Fallback>
                <p:oleObj name="" r:id="rId1" imgW="3289300" imgH="4699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92313" y="2133600"/>
                        <a:ext cx="8064500" cy="1295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Rectangle 4"/>
          <p:cNvSpPr/>
          <p:nvPr/>
        </p:nvSpPr>
        <p:spPr>
          <a:xfrm>
            <a:off x="2351088" y="4221163"/>
            <a:ext cx="7848600" cy="519112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无限长弦自由振动的达朗贝尔</a:t>
            </a:r>
            <a:r>
              <a:rPr lang="en-US" altLang="zh-CN" sz="2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d’Alembert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行波法 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—— d’Alembert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zh-CN" altLang="en-US" dirty="0"/>
              <a:t> </a:t>
            </a:r>
            <a:endParaRPr lang="zh-CN" altLang="en-US" dirty="0"/>
          </a:p>
        </p:txBody>
      </p:sp>
      <p:pic>
        <p:nvPicPr>
          <p:cNvPr id="6146" name="Picture 3" descr="d'alembert_j_l_r"/>
          <p:cNvPicPr>
            <a:picLocks noGrp="1" noRot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98701" y="1798639"/>
            <a:ext cx="2339975" cy="2998787"/>
          </a:xfrm>
        </p:spPr>
      </p:pic>
      <p:sp>
        <p:nvSpPr>
          <p:cNvPr id="6147" name="Rectangle 4"/>
          <p:cNvSpPr/>
          <p:nvPr/>
        </p:nvSpPr>
        <p:spPr>
          <a:xfrm>
            <a:off x="2135189" y="5157789"/>
            <a:ext cx="2808287" cy="854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d’Alembert</a:t>
            </a:r>
            <a:endParaRPr lang="en-US" altLang="zh-CN" sz="3200" dirty="0">
              <a:solidFill>
                <a:srgbClr val="33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2028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(1717.11.17~1783.10.29)</a:t>
            </a:r>
            <a:endParaRPr lang="en-US" altLang="zh-CN" dirty="0">
              <a:solidFill>
                <a:srgbClr val="02028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Rectangle 5"/>
          <p:cNvSpPr/>
          <p:nvPr/>
        </p:nvSpPr>
        <p:spPr>
          <a:xfrm>
            <a:off x="5232401" y="1557338"/>
            <a:ext cx="4176713" cy="39354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SzPct val="75000"/>
              <a:buFont typeface="Wingdings" panose="05000000000000000000" pitchFamily="2" charset="2"/>
              <a:buChar char="&amp;"/>
            </a:pPr>
            <a:r>
              <a:rPr lang="en-US" altLang="zh-CN" sz="2800" dirty="0">
                <a:solidFill>
                  <a:srgbClr val="000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法国著名的物理学家、数学家和天文学家，最著名的有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卷巨著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数学手册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、力学专著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动力学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23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卷的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文集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百科全书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的序言等。他的很多研究成果记载于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宇宙体系的几个要点研究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中。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2"/>
          <p:cNvSpPr txBox="1"/>
          <p:nvPr/>
        </p:nvSpPr>
        <p:spPr>
          <a:xfrm>
            <a:off x="1992314" y="260351"/>
            <a:ext cx="8207375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行波法小结 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注：行波法仅适用于双曲型方程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2" name="Text Box 3"/>
          <p:cNvSpPr txBox="1"/>
          <p:nvPr/>
        </p:nvSpPr>
        <p:spPr>
          <a:xfrm>
            <a:off x="2063750" y="3429001"/>
            <a:ext cx="2089150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3. 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变量替换：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5363" name="Rectangle 4"/>
          <p:cNvSpPr/>
          <p:nvPr/>
        </p:nvSpPr>
        <p:spPr>
          <a:xfrm>
            <a:off x="1919289" y="1341438"/>
            <a:ext cx="237648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1. 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波动方程：</a:t>
            </a:r>
            <a:endParaRPr lang="zh-CN" altLang="en-US" sz="28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5364" name="Rectangle 5"/>
          <p:cNvSpPr/>
          <p:nvPr/>
        </p:nvSpPr>
        <p:spPr>
          <a:xfrm>
            <a:off x="2063750" y="2565401"/>
            <a:ext cx="36004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2. 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特征方程与特征根：</a:t>
            </a:r>
            <a:endParaRPr lang="zh-CN" altLang="en-US" sz="28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5365" name="Object 6"/>
          <p:cNvGraphicFramePr>
            <a:graphicFrameLocks noChangeAspect="1"/>
          </p:cNvGraphicFramePr>
          <p:nvPr/>
        </p:nvGraphicFramePr>
        <p:xfrm>
          <a:off x="4283076" y="795338"/>
          <a:ext cx="5908675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073400" imgH="774700" progId="Equation.DSMT4">
                  <p:embed/>
                </p:oleObj>
              </mc:Choice>
              <mc:Fallback>
                <p:oleObj name="" r:id="rId1" imgW="3073400" imgH="7747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83076" y="795338"/>
                        <a:ext cx="5908675" cy="151130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8"/>
          <p:cNvGraphicFramePr>
            <a:graphicFrameLocks noChangeAspect="1"/>
          </p:cNvGraphicFramePr>
          <p:nvPr/>
        </p:nvGraphicFramePr>
        <p:xfrm>
          <a:off x="4197350" y="3482975"/>
          <a:ext cx="3556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1586865" imgH="215900" progId="Equation.DSMT4">
                  <p:embed/>
                </p:oleObj>
              </mc:Choice>
              <mc:Fallback>
                <p:oleObj name="" r:id="rId3" imgW="1586865" imgH="2159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7350" y="3482975"/>
                        <a:ext cx="3556000" cy="48260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9"/>
          <p:cNvGraphicFramePr>
            <a:graphicFrameLocks noChangeAspect="1"/>
          </p:cNvGraphicFramePr>
          <p:nvPr/>
        </p:nvGraphicFramePr>
        <p:xfrm>
          <a:off x="4211638" y="4048126"/>
          <a:ext cx="54229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2806700" imgH="508000" progId="Equation.DSMT4">
                  <p:embed/>
                </p:oleObj>
              </mc:Choice>
              <mc:Fallback>
                <p:oleObj name="" r:id="rId5" imgW="2806700" imgH="5080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11638" y="4048126"/>
                        <a:ext cx="5422900" cy="102711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ext Box 10"/>
          <p:cNvSpPr txBox="1"/>
          <p:nvPr/>
        </p:nvSpPr>
        <p:spPr>
          <a:xfrm>
            <a:off x="2135188" y="4149726"/>
            <a:ext cx="2303462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4. 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解方程：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5370" name="Text Box 11"/>
          <p:cNvSpPr txBox="1"/>
          <p:nvPr/>
        </p:nvSpPr>
        <p:spPr>
          <a:xfrm>
            <a:off x="2063751" y="5157788"/>
            <a:ext cx="4392613" cy="5191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5. 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利用初始条件解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zh-CN" altLang="en-US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5371" name="Object 12"/>
          <p:cNvGraphicFramePr/>
          <p:nvPr/>
        </p:nvGraphicFramePr>
        <p:xfrm>
          <a:off x="2279650" y="5734050"/>
          <a:ext cx="80645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3276600" imgH="406400" progId="Equation.DSMT4">
                  <p:embed/>
                </p:oleObj>
              </mc:Choice>
              <mc:Fallback>
                <p:oleObj name="" r:id="rId7" imgW="3276600" imgH="4064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79650" y="5734050"/>
                        <a:ext cx="8064500" cy="93503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4200" y="2440940"/>
            <a:ext cx="4006850" cy="9848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Rot="1"/>
          </p:cNvSpPr>
          <p:nvPr>
            <p:ph type="title"/>
          </p:nvPr>
        </p:nvSpPr>
        <p:spPr>
          <a:xfrm>
            <a:off x="2135189" y="404814"/>
            <a:ext cx="7056437" cy="720725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 eaLnBrk="1" hangingPunct="1"/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3333CC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：求解无界自由振动波动方程柯西问题：</a:t>
            </a:r>
            <a:endParaRPr lang="zh-CN" altLang="en-US" sz="2800" dirty="0">
              <a:solidFill>
                <a:srgbClr val="3333CC"/>
              </a:solidFill>
              <a:ea typeface="黑体" panose="02010609060101010101" pitchFamily="49" charset="-122"/>
            </a:endParaRPr>
          </a:p>
        </p:txBody>
      </p:sp>
      <p:sp>
        <p:nvSpPr>
          <p:cNvPr id="16386" name="Rectangle 3"/>
          <p:cNvSpPr/>
          <p:nvPr/>
        </p:nvSpPr>
        <p:spPr>
          <a:xfrm>
            <a:off x="6003635" y="2877622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387" name="Object 4"/>
          <p:cNvGraphicFramePr>
            <a:graphicFrameLocks noChangeAspect="1"/>
          </p:cNvGraphicFramePr>
          <p:nvPr/>
        </p:nvGraphicFramePr>
        <p:xfrm>
          <a:off x="3792538" y="1052514"/>
          <a:ext cx="6083300" cy="206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235200" imgH="762000" progId="Equation.DSMT4">
                  <p:embed/>
                </p:oleObj>
              </mc:Choice>
              <mc:Fallback>
                <p:oleObj name="" r:id="rId1" imgW="2235200" imgH="7620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2538" y="1052514"/>
                        <a:ext cx="6083300" cy="2065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Rectangle 5"/>
          <p:cNvSpPr/>
          <p:nvPr/>
        </p:nvSpPr>
        <p:spPr>
          <a:xfrm>
            <a:off x="2208214" y="3284538"/>
            <a:ext cx="421163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解：由达朗贝尔公式：</a:t>
            </a:r>
            <a:endParaRPr lang="zh-CN" altLang="en-US" sz="2800" dirty="0">
              <a:solidFill>
                <a:srgbClr val="3333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69990" name="Object 6"/>
          <p:cNvGraphicFramePr>
            <a:graphicFrameLocks noChangeAspect="1"/>
          </p:cNvGraphicFramePr>
          <p:nvPr/>
        </p:nvGraphicFramePr>
        <p:xfrm>
          <a:off x="2403475" y="3917950"/>
          <a:ext cx="7602538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933700" imgH="406400" progId="Equation.DSMT4">
                  <p:embed/>
                </p:oleObj>
              </mc:Choice>
              <mc:Fallback>
                <p:oleObj name="" r:id="rId3" imgW="2933700" imgH="4064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03475" y="3917950"/>
                        <a:ext cx="7602538" cy="1023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1" name="Object 7"/>
          <p:cNvGraphicFramePr>
            <a:graphicFrameLocks noChangeAspect="1"/>
          </p:cNvGraphicFramePr>
          <p:nvPr/>
        </p:nvGraphicFramePr>
        <p:xfrm>
          <a:off x="2759076" y="4926013"/>
          <a:ext cx="46577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841500" imgH="406400" progId="Equation.DSMT4">
                  <p:embed/>
                </p:oleObj>
              </mc:Choice>
              <mc:Fallback>
                <p:oleObj name="" r:id="rId5" imgW="1841500" imgH="4064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59076" y="4926013"/>
                        <a:ext cx="4657725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/>
          <p:nvPr/>
        </p:nvSpPr>
        <p:spPr>
          <a:xfrm>
            <a:off x="6003635" y="2649022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0" name="Rectangle 4"/>
          <p:cNvSpPr/>
          <p:nvPr/>
        </p:nvSpPr>
        <p:spPr>
          <a:xfrm>
            <a:off x="2279651" y="692151"/>
            <a:ext cx="4608513" cy="519113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：解定解问题</a:t>
            </a:r>
            <a:r>
              <a:rPr lang="en-US" altLang="zh-CN" sz="2800" dirty="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:</a:t>
            </a:r>
            <a:endParaRPr lang="en-US" altLang="zh-CN" sz="2800" dirty="0">
              <a:solidFill>
                <a:srgbClr val="3333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7411" name="Object 5"/>
          <p:cNvGraphicFramePr/>
          <p:nvPr/>
        </p:nvGraphicFramePr>
        <p:xfrm>
          <a:off x="3071813" y="1412876"/>
          <a:ext cx="5795962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120900" imgH="508000" progId="Equation.DSMT4">
                  <p:embed/>
                </p:oleObj>
              </mc:Choice>
              <mc:Fallback>
                <p:oleObj name="" r:id="rId1" imgW="2120900" imgH="5080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1813" y="1412876"/>
                        <a:ext cx="5795962" cy="1325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7"/>
          <p:cNvSpPr/>
          <p:nvPr/>
        </p:nvSpPr>
        <p:spPr>
          <a:xfrm>
            <a:off x="6003635" y="2568059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71018" name="Group 10"/>
          <p:cNvGrpSpPr/>
          <p:nvPr/>
        </p:nvGrpSpPr>
        <p:grpSpPr>
          <a:xfrm>
            <a:off x="2495551" y="3141664"/>
            <a:ext cx="7559675" cy="2700337"/>
            <a:chOff x="612" y="1979"/>
            <a:chExt cx="4762" cy="1701"/>
          </a:xfrm>
        </p:grpSpPr>
        <p:sp>
          <p:nvSpPr>
            <p:cNvPr id="17414" name="Rectangle 6"/>
            <p:cNvSpPr/>
            <p:nvPr/>
          </p:nvSpPr>
          <p:spPr>
            <a:xfrm>
              <a:off x="612" y="1979"/>
              <a:ext cx="471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: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7415" name="Object 8"/>
            <p:cNvGraphicFramePr/>
            <p:nvPr/>
          </p:nvGraphicFramePr>
          <p:xfrm>
            <a:off x="657" y="2341"/>
            <a:ext cx="4717" cy="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3454400" imgH="469900" progId="Equation.DSMT4">
                    <p:embed/>
                  </p:oleObj>
                </mc:Choice>
                <mc:Fallback>
                  <p:oleObj name="" r:id="rId3" imgW="3454400" imgH="469900" progId="Equation.DSMT4">
                    <p:embed/>
                    <p:pic>
                      <p:nvPicPr>
                        <p:cNvPr id="0" name="Object 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57" y="2341"/>
                          <a:ext cx="4717" cy="6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6" name="Object 9"/>
            <p:cNvGraphicFramePr>
              <a:graphicFrameLocks noChangeAspect="1"/>
            </p:cNvGraphicFramePr>
            <p:nvPr/>
          </p:nvGraphicFramePr>
          <p:xfrm>
            <a:off x="1292" y="3067"/>
            <a:ext cx="2721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802765" imgH="406400" progId="Equation.DSMT4">
                    <p:embed/>
                  </p:oleObj>
                </mc:Choice>
                <mc:Fallback>
                  <p:oleObj name="" r:id="rId5" imgW="1802765" imgH="406400" progId="Equation.DSMT4">
                    <p:embed/>
                    <p:pic>
                      <p:nvPicPr>
                        <p:cNvPr id="0" name="Object 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92" y="3067"/>
                          <a:ext cx="2721" cy="6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Rot="1"/>
          </p:cNvSpPr>
          <p:nvPr>
            <p:ph type="title"/>
          </p:nvPr>
        </p:nvSpPr>
        <p:spPr>
          <a:xfrm>
            <a:off x="1919288" y="260350"/>
            <a:ext cx="8540750" cy="86360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 eaLnBrk="1" hangingPunct="1"/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3333CC"/>
                </a:solidFill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：求解波动方程柯西问题</a:t>
            </a:r>
            <a:endParaRPr lang="zh-CN" altLang="en-US" sz="2800" dirty="0">
              <a:solidFill>
                <a:srgbClr val="3333CC"/>
              </a:solidFill>
              <a:ea typeface="黑体" panose="02010609060101010101" pitchFamily="49" charset="-122"/>
            </a:endParaRPr>
          </a:p>
        </p:txBody>
      </p:sp>
      <p:sp>
        <p:nvSpPr>
          <p:cNvPr id="18434" name="Rectangle 3"/>
          <p:cNvSpPr/>
          <p:nvPr/>
        </p:nvSpPr>
        <p:spPr>
          <a:xfrm>
            <a:off x="6003635" y="2877622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435" name="Object 4"/>
          <p:cNvGraphicFramePr>
            <a:graphicFrameLocks noChangeAspect="1"/>
          </p:cNvGraphicFramePr>
          <p:nvPr/>
        </p:nvGraphicFramePr>
        <p:xfrm>
          <a:off x="2782888" y="1125539"/>
          <a:ext cx="7156450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870200" imgH="685800" progId="Equation.DSMT4">
                  <p:embed/>
                </p:oleObj>
              </mc:Choice>
              <mc:Fallback>
                <p:oleObj name="" r:id="rId1" imgW="2870200" imgH="6858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2888" y="1125539"/>
                        <a:ext cx="7156450" cy="1703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1867" name="Group 11"/>
          <p:cNvGrpSpPr/>
          <p:nvPr/>
        </p:nvGrpSpPr>
        <p:grpSpPr>
          <a:xfrm>
            <a:off x="1919289" y="3068638"/>
            <a:ext cx="7373937" cy="3021012"/>
            <a:chOff x="249" y="1933"/>
            <a:chExt cx="4645" cy="1903"/>
          </a:xfrm>
        </p:grpSpPr>
        <p:sp>
          <p:nvSpPr>
            <p:cNvPr id="18437" name="Rectangle 5"/>
            <p:cNvSpPr/>
            <p:nvPr/>
          </p:nvSpPr>
          <p:spPr>
            <a:xfrm>
              <a:off x="249" y="1933"/>
              <a:ext cx="26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解：由达朗贝尔公式：</a:t>
              </a:r>
              <a:endParaRPr lang="zh-CN" altLang="en-US" sz="2800" dirty="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8438" name="Object 7"/>
            <p:cNvGraphicFramePr>
              <a:graphicFrameLocks noChangeAspect="1"/>
            </p:cNvGraphicFramePr>
            <p:nvPr/>
          </p:nvGraphicFramePr>
          <p:xfrm>
            <a:off x="969" y="2422"/>
            <a:ext cx="2239" cy="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371600" imgH="431800" progId="Equation.DSMT4">
                    <p:embed/>
                  </p:oleObj>
                </mc:Choice>
                <mc:Fallback>
                  <p:oleObj name="" r:id="rId3" imgW="1371600" imgH="431800" progId="Equation.DSMT4">
                    <p:embed/>
                    <p:pic>
                      <p:nvPicPr>
                        <p:cNvPr id="0" name="Object 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69" y="2422"/>
                          <a:ext cx="2239" cy="6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9" name="Object 9"/>
            <p:cNvGraphicFramePr>
              <a:graphicFrameLocks noChangeAspect="1"/>
            </p:cNvGraphicFramePr>
            <p:nvPr/>
          </p:nvGraphicFramePr>
          <p:xfrm>
            <a:off x="1071" y="3193"/>
            <a:ext cx="3823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2400300" imgH="406400" progId="Equation.DSMT4">
                    <p:embed/>
                  </p:oleObj>
                </mc:Choice>
                <mc:Fallback>
                  <p:oleObj name="" r:id="rId5" imgW="2400300" imgH="406400" progId="Equation.DSMT4">
                    <p:embed/>
                    <p:pic>
                      <p:nvPicPr>
                        <p:cNvPr id="0" name="Object 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71" y="3193"/>
                          <a:ext cx="3823" cy="6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/>
          <p:nvPr/>
        </p:nvSpPr>
        <p:spPr>
          <a:xfrm>
            <a:off x="1919289" y="620713"/>
            <a:ext cx="7559675" cy="519112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 求二阶线性偏微分方程初值问题的解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9458" name="Rectangle 4"/>
          <p:cNvSpPr/>
          <p:nvPr/>
        </p:nvSpPr>
        <p:spPr>
          <a:xfrm>
            <a:off x="6003635" y="3006209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3935413" y="1341438"/>
          <a:ext cx="3744912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619500" imgH="1181100" progId="Equation.DSMT4">
                  <p:embed/>
                </p:oleObj>
              </mc:Choice>
              <mc:Fallback>
                <p:oleObj name="" r:id="rId1" imgW="3619500" imgH="11811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35413" y="1341438"/>
                        <a:ext cx="3744912" cy="1230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Rectangle 6"/>
          <p:cNvSpPr/>
          <p:nvPr/>
        </p:nvSpPr>
        <p:spPr>
          <a:xfrm>
            <a:off x="2135189" y="2852738"/>
            <a:ext cx="7775575" cy="519112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 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先确定所给方程的特征曲线。特征方程为：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9461" name="Object 7"/>
          <p:cNvGraphicFramePr>
            <a:graphicFrameLocks noChangeAspect="1"/>
          </p:cNvGraphicFramePr>
          <p:nvPr/>
        </p:nvGraphicFramePr>
        <p:xfrm>
          <a:off x="3863975" y="3602038"/>
          <a:ext cx="446405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924300" imgH="571500" progId="Equation.DSMT4">
                  <p:embed/>
                </p:oleObj>
              </mc:Choice>
              <mc:Fallback>
                <p:oleObj name="" r:id="rId3" imgW="3924300" imgH="5715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63975" y="3602038"/>
                        <a:ext cx="4464050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7" name="Group 11"/>
          <p:cNvGrpSpPr/>
          <p:nvPr/>
        </p:nvGrpSpPr>
        <p:grpSpPr>
          <a:xfrm>
            <a:off x="2711450" y="4508500"/>
            <a:ext cx="5327650" cy="1163638"/>
            <a:chOff x="703" y="391"/>
            <a:chExt cx="2788" cy="642"/>
          </a:xfrm>
        </p:grpSpPr>
        <p:sp>
          <p:nvSpPr>
            <p:cNvPr id="19463" name="Rectangle 12"/>
            <p:cNvSpPr/>
            <p:nvPr/>
          </p:nvSpPr>
          <p:spPr>
            <a:xfrm>
              <a:off x="703" y="547"/>
              <a:ext cx="517" cy="2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或者</a:t>
              </a: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9464" name="Object 13"/>
            <p:cNvGraphicFramePr/>
            <p:nvPr/>
          </p:nvGraphicFramePr>
          <p:xfrm>
            <a:off x="1701" y="391"/>
            <a:ext cx="1790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346200" imgH="469900" progId="Equation.DSMT4">
                    <p:embed/>
                  </p:oleObj>
                </mc:Choice>
                <mc:Fallback>
                  <p:oleObj name="" r:id="rId5" imgW="1346200" imgH="469900" progId="Equation.DSMT4">
                    <p:embed/>
                    <p:pic>
                      <p:nvPicPr>
                        <p:cNvPr id="0" name="Object 1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01" y="391"/>
                          <a:ext cx="1790" cy="6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2458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/>
          <p:nvPr/>
        </p:nvSpPr>
        <p:spPr>
          <a:xfrm>
            <a:off x="6003635" y="2829997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6" name="Rectangle 6"/>
          <p:cNvSpPr/>
          <p:nvPr/>
        </p:nvSpPr>
        <p:spPr>
          <a:xfrm>
            <a:off x="2711450" y="1341438"/>
            <a:ext cx="3398838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它的两族积分曲线为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483" name="Rectangle 7"/>
          <p:cNvSpPr/>
          <p:nvPr/>
        </p:nvSpPr>
        <p:spPr>
          <a:xfrm>
            <a:off x="6003635" y="2739509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608" name="Object 8"/>
          <p:cNvGraphicFramePr/>
          <p:nvPr/>
        </p:nvGraphicFramePr>
        <p:xfrm>
          <a:off x="6240463" y="1052513"/>
          <a:ext cx="2057400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850265" imgH="482600" progId="Equation.DSMT4">
                  <p:embed/>
                </p:oleObj>
              </mc:Choice>
              <mc:Fallback>
                <p:oleObj name="" r:id="rId1" imgW="850265" imgH="4826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40463" y="1052513"/>
                        <a:ext cx="2057400" cy="1223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9" name="Group 9"/>
          <p:cNvGrpSpPr/>
          <p:nvPr/>
        </p:nvGrpSpPr>
        <p:grpSpPr>
          <a:xfrm>
            <a:off x="2927351" y="2708275"/>
            <a:ext cx="4105275" cy="1119188"/>
            <a:chOff x="703" y="1979"/>
            <a:chExt cx="2586" cy="705"/>
          </a:xfrm>
        </p:grpSpPr>
        <p:sp>
          <p:nvSpPr>
            <p:cNvPr id="20486" name="Rectangle 10"/>
            <p:cNvSpPr/>
            <p:nvPr/>
          </p:nvSpPr>
          <p:spPr>
            <a:xfrm>
              <a:off x="703" y="2024"/>
              <a:ext cx="1241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做特征变换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0487" name="Object 11"/>
            <p:cNvGraphicFramePr>
              <a:graphicFrameLocks noChangeAspect="1"/>
            </p:cNvGraphicFramePr>
            <p:nvPr/>
          </p:nvGraphicFramePr>
          <p:xfrm>
            <a:off x="2064" y="1979"/>
            <a:ext cx="1225" cy="7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752600" imgH="1003300" progId="Equation.DSMT4">
                    <p:embed/>
                  </p:oleObj>
                </mc:Choice>
                <mc:Fallback>
                  <p:oleObj name="" r:id="rId3" imgW="1752600" imgH="1003300" progId="Equation.DSMT4">
                    <p:embed/>
                    <p:pic>
                      <p:nvPicPr>
                        <p:cNvPr id="0" name="Object 1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64" y="1979"/>
                          <a:ext cx="1225" cy="7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8" name="Rectangle 12"/>
          <p:cNvSpPr/>
          <p:nvPr/>
        </p:nvSpPr>
        <p:spPr>
          <a:xfrm>
            <a:off x="6003635" y="2763322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5613" name="Group 13"/>
          <p:cNvGrpSpPr/>
          <p:nvPr/>
        </p:nvGrpSpPr>
        <p:grpSpPr>
          <a:xfrm>
            <a:off x="2711451" y="3933825"/>
            <a:ext cx="6911975" cy="1081088"/>
            <a:chOff x="703" y="2704"/>
            <a:chExt cx="4354" cy="681"/>
          </a:xfrm>
        </p:grpSpPr>
        <p:sp>
          <p:nvSpPr>
            <p:cNvPr id="20490" name="Rectangle 14"/>
            <p:cNvSpPr/>
            <p:nvPr/>
          </p:nvSpPr>
          <p:spPr>
            <a:xfrm>
              <a:off x="703" y="2840"/>
              <a:ext cx="3266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容易验证，经过变换原方程化成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0491" name="Object 15"/>
            <p:cNvGraphicFramePr/>
            <p:nvPr/>
          </p:nvGraphicFramePr>
          <p:xfrm>
            <a:off x="4059" y="2704"/>
            <a:ext cx="998" cy="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660400" imgH="444500" progId="Equation.DSMT4">
                    <p:embed/>
                  </p:oleObj>
                </mc:Choice>
                <mc:Fallback>
                  <p:oleObj name="" r:id="rId5" imgW="660400" imgH="444500" progId="Equation.DSMT4">
                    <p:embed/>
                    <p:pic>
                      <p:nvPicPr>
                        <p:cNvPr id="0" name="Object 1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059" y="2704"/>
                          <a:ext cx="998" cy="6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2" name="Rectangle 16"/>
          <p:cNvSpPr/>
          <p:nvPr/>
        </p:nvSpPr>
        <p:spPr>
          <a:xfrm>
            <a:off x="6003635" y="3015734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5617" name="Group 17"/>
          <p:cNvGrpSpPr/>
          <p:nvPr/>
        </p:nvGrpSpPr>
        <p:grpSpPr>
          <a:xfrm>
            <a:off x="2782888" y="4941889"/>
            <a:ext cx="4837112" cy="885825"/>
            <a:chOff x="703" y="3339"/>
            <a:chExt cx="3047" cy="558"/>
          </a:xfrm>
        </p:grpSpPr>
        <p:sp>
          <p:nvSpPr>
            <p:cNvPr id="20494" name="Rectangle 18"/>
            <p:cNvSpPr/>
            <p:nvPr/>
          </p:nvSpPr>
          <p:spPr>
            <a:xfrm>
              <a:off x="703" y="3339"/>
              <a:ext cx="1292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它的通解为 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0495" name="Object 19"/>
            <p:cNvGraphicFramePr>
              <a:graphicFrameLocks noChangeAspect="1"/>
            </p:cNvGraphicFramePr>
            <p:nvPr/>
          </p:nvGraphicFramePr>
          <p:xfrm>
            <a:off x="2020" y="3566"/>
            <a:ext cx="1730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2552700" imgH="495300" progId="Equation.DSMT4">
                    <p:embed/>
                  </p:oleObj>
                </mc:Choice>
                <mc:Fallback>
                  <p:oleObj name="" r:id="rId7" imgW="2552700" imgH="495300" progId="Equation.DSMT4">
                    <p:embed/>
                    <p:pic>
                      <p:nvPicPr>
                        <p:cNvPr id="0" name="Object 1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20" y="3566"/>
                          <a:ext cx="1730" cy="3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/>
          <p:nvPr/>
        </p:nvGrpSpPr>
        <p:grpSpPr>
          <a:xfrm>
            <a:off x="2568575" y="835026"/>
            <a:ext cx="7054850" cy="519113"/>
            <a:chOff x="567" y="3113"/>
            <a:chExt cx="4444" cy="327"/>
          </a:xfrm>
        </p:grpSpPr>
        <p:sp>
          <p:nvSpPr>
            <p:cNvPr id="21506" name="Rectangle 3"/>
            <p:cNvSpPr/>
            <p:nvPr/>
          </p:nvSpPr>
          <p:spPr>
            <a:xfrm>
              <a:off x="567" y="3113"/>
              <a:ext cx="4444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其中            是任意二次连续可微函数，即有 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1507" name="Object 4"/>
            <p:cNvGraphicFramePr>
              <a:graphicFrameLocks noChangeAspect="1"/>
            </p:cNvGraphicFramePr>
            <p:nvPr/>
          </p:nvGraphicFramePr>
          <p:xfrm>
            <a:off x="1200" y="3178"/>
            <a:ext cx="44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711200" imgH="368300" progId="Equation.DSMT4">
                    <p:embed/>
                  </p:oleObj>
                </mc:Choice>
                <mc:Fallback>
                  <p:oleObj name="" r:id="rId1" imgW="711200" imgH="3683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00" y="3178"/>
                          <a:ext cx="448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629" name="Object 5"/>
          <p:cNvGraphicFramePr/>
          <p:nvPr/>
        </p:nvGraphicFramePr>
        <p:xfrm>
          <a:off x="3792538" y="1700214"/>
          <a:ext cx="47053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044700" imgH="254000" progId="Equation.DSMT4">
                  <p:embed/>
                </p:oleObj>
              </mc:Choice>
              <mc:Fallback>
                <p:oleObj name="" r:id="rId3" imgW="2044700" imgH="2540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2538" y="1700214"/>
                        <a:ext cx="4705350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0" name="Group 6"/>
          <p:cNvGrpSpPr/>
          <p:nvPr/>
        </p:nvGrpSpPr>
        <p:grpSpPr>
          <a:xfrm>
            <a:off x="2495550" y="2565400"/>
            <a:ext cx="7277100" cy="533400"/>
            <a:chOff x="612" y="1525"/>
            <a:chExt cx="4584" cy="336"/>
          </a:xfrm>
        </p:grpSpPr>
        <p:sp>
          <p:nvSpPr>
            <p:cNvPr id="21510" name="Rectangle 7"/>
            <p:cNvSpPr/>
            <p:nvPr/>
          </p:nvSpPr>
          <p:spPr>
            <a:xfrm>
              <a:off x="612" y="1525"/>
              <a:ext cx="2422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把这个函数代入到条件</a:t>
              </a: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511" name="Object 8"/>
            <p:cNvGraphicFramePr>
              <a:graphicFrameLocks noChangeAspect="1"/>
            </p:cNvGraphicFramePr>
            <p:nvPr/>
          </p:nvGraphicFramePr>
          <p:xfrm>
            <a:off x="2988" y="1525"/>
            <a:ext cx="220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3505200" imgH="533400" progId="Equation.DSMT4">
                    <p:embed/>
                  </p:oleObj>
                </mc:Choice>
                <mc:Fallback>
                  <p:oleObj name="" r:id="rId5" imgW="3505200" imgH="533400" progId="Equation.DSMT4">
                    <p:embed/>
                    <p:pic>
                      <p:nvPicPr>
                        <p:cNvPr id="0" name="Object 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88" y="1525"/>
                          <a:ext cx="2208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2" name="Rectangle 9"/>
          <p:cNvSpPr/>
          <p:nvPr/>
        </p:nvSpPr>
        <p:spPr>
          <a:xfrm>
            <a:off x="6003635" y="3049072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6634" name="Object 10"/>
          <p:cNvGraphicFramePr>
            <a:graphicFrameLocks noChangeAspect="1"/>
          </p:cNvGraphicFramePr>
          <p:nvPr/>
        </p:nvGraphicFramePr>
        <p:xfrm>
          <a:off x="3563939" y="3500439"/>
          <a:ext cx="31908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365500" imgH="1181100" progId="Equation.DSMT4">
                  <p:embed/>
                </p:oleObj>
              </mc:Choice>
              <mc:Fallback>
                <p:oleObj name="" r:id="rId7" imgW="3365500" imgH="11811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63939" y="3500439"/>
                        <a:ext cx="3190875" cy="1108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Rectangle 11"/>
          <p:cNvSpPr/>
          <p:nvPr/>
        </p:nvSpPr>
        <p:spPr>
          <a:xfrm>
            <a:off x="6003635" y="3058597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6" name="AutoShape 12"/>
          <p:cNvSpPr/>
          <p:nvPr/>
        </p:nvSpPr>
        <p:spPr>
          <a:xfrm>
            <a:off x="2711451" y="3789364"/>
            <a:ext cx="504825" cy="287337"/>
          </a:xfrm>
          <a:prstGeom prst="rightArrow">
            <a:avLst>
              <a:gd name="adj1" fmla="val 50000"/>
              <a:gd name="adj2" fmla="val 43906"/>
            </a:avLst>
          </a:prstGeom>
          <a:noFill/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lg" len="lg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6" name="Rectangle 13"/>
          <p:cNvSpPr/>
          <p:nvPr/>
        </p:nvSpPr>
        <p:spPr>
          <a:xfrm>
            <a:off x="6003635" y="2887147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6638" name="Object 14"/>
          <p:cNvGraphicFramePr>
            <a:graphicFrameLocks noChangeAspect="1"/>
          </p:cNvGraphicFramePr>
          <p:nvPr/>
        </p:nvGraphicFramePr>
        <p:xfrm>
          <a:off x="5651501" y="5084764"/>
          <a:ext cx="319087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3352800" imgH="838200" progId="Equation.DSMT4">
                  <p:embed/>
                </p:oleObj>
              </mc:Choice>
              <mc:Fallback>
                <p:oleObj name="" r:id="rId9" imgW="3352800" imgH="8382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51501" y="5084764"/>
                        <a:ext cx="3190875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9" name="AutoShape 15"/>
          <p:cNvSpPr/>
          <p:nvPr/>
        </p:nvSpPr>
        <p:spPr>
          <a:xfrm rot="2227012">
            <a:off x="5187951" y="4781550"/>
            <a:ext cx="504825" cy="287338"/>
          </a:xfrm>
          <a:prstGeom prst="rightArrow">
            <a:avLst>
              <a:gd name="adj1" fmla="val 50000"/>
              <a:gd name="adj2" fmla="val 43906"/>
            </a:avLst>
          </a:prstGeom>
          <a:noFill/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lg" len="lg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6" grpId="0" bldLvl="0" animBg="1"/>
      <p:bldP spid="26639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/>
          <p:nvPr/>
        </p:nvSpPr>
        <p:spPr>
          <a:xfrm>
            <a:off x="6003635" y="2563297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2530" name="Group 4"/>
          <p:cNvGrpSpPr/>
          <p:nvPr/>
        </p:nvGrpSpPr>
        <p:grpSpPr>
          <a:xfrm>
            <a:off x="2208213" y="836613"/>
            <a:ext cx="3727450" cy="1943100"/>
            <a:chOff x="567" y="482"/>
            <a:chExt cx="2348" cy="1224"/>
          </a:xfrm>
        </p:grpSpPr>
        <p:graphicFrame>
          <p:nvGraphicFramePr>
            <p:cNvPr id="22531" name="Object 5"/>
            <p:cNvGraphicFramePr/>
            <p:nvPr/>
          </p:nvGraphicFramePr>
          <p:xfrm>
            <a:off x="1029" y="482"/>
            <a:ext cx="1886" cy="1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308100" imgH="838200" progId="Equation.DSMT4">
                    <p:embed/>
                  </p:oleObj>
                </mc:Choice>
                <mc:Fallback>
                  <p:oleObj name="" r:id="rId1" imgW="1308100" imgH="838200" progId="Equation.DSMT4">
                    <p:embed/>
                    <p:pic>
                      <p:nvPicPr>
                        <p:cNvPr id="0" name="Object 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29" y="482"/>
                          <a:ext cx="1886" cy="1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2" name="AutoShape 6"/>
            <p:cNvSpPr/>
            <p:nvPr/>
          </p:nvSpPr>
          <p:spPr>
            <a:xfrm>
              <a:off x="567" y="981"/>
              <a:ext cx="363" cy="90"/>
            </a:xfrm>
            <a:prstGeom prst="rightArrow">
              <a:avLst>
                <a:gd name="adj1" fmla="val 50000"/>
                <a:gd name="adj2" fmla="val 100795"/>
              </a:avLst>
            </a:prstGeom>
            <a:noFill/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662" name="Group 14"/>
          <p:cNvGrpSpPr/>
          <p:nvPr/>
        </p:nvGrpSpPr>
        <p:grpSpPr>
          <a:xfrm>
            <a:off x="6167438" y="765175"/>
            <a:ext cx="3714750" cy="1968500"/>
            <a:chOff x="2925" y="482"/>
            <a:chExt cx="2340" cy="1240"/>
          </a:xfrm>
        </p:grpSpPr>
        <p:graphicFrame>
          <p:nvGraphicFramePr>
            <p:cNvPr id="22534" name="Object 3"/>
            <p:cNvGraphicFramePr>
              <a:graphicFrameLocks noChangeAspect="1"/>
            </p:cNvGraphicFramePr>
            <p:nvPr/>
          </p:nvGraphicFramePr>
          <p:xfrm>
            <a:off x="3443" y="482"/>
            <a:ext cx="1822" cy="1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231265" imgH="837565" progId="Equation.DSMT4">
                    <p:embed/>
                  </p:oleObj>
                </mc:Choice>
                <mc:Fallback>
                  <p:oleObj name="" r:id="rId3" imgW="1231265" imgH="837565" progId="Equation.DSMT4">
                    <p:embed/>
                    <p:pic>
                      <p:nvPicPr>
                        <p:cNvPr id="0" name="Object 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43" y="482"/>
                          <a:ext cx="1822" cy="1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5" name="AutoShape 7"/>
            <p:cNvSpPr/>
            <p:nvPr/>
          </p:nvSpPr>
          <p:spPr>
            <a:xfrm>
              <a:off x="2925" y="1026"/>
              <a:ext cx="363" cy="90"/>
            </a:xfrm>
            <a:prstGeom prst="rightArrow">
              <a:avLst>
                <a:gd name="adj1" fmla="val 50000"/>
                <a:gd name="adj2" fmla="val 100795"/>
              </a:avLst>
            </a:prstGeom>
            <a:noFill/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656" name="Group 8"/>
          <p:cNvGrpSpPr/>
          <p:nvPr/>
        </p:nvGrpSpPr>
        <p:grpSpPr>
          <a:xfrm>
            <a:off x="2495550" y="2997200"/>
            <a:ext cx="6350000" cy="647700"/>
            <a:chOff x="612" y="1888"/>
            <a:chExt cx="4000" cy="408"/>
          </a:xfrm>
        </p:grpSpPr>
        <p:graphicFrame>
          <p:nvGraphicFramePr>
            <p:cNvPr id="22537" name="Object 9"/>
            <p:cNvGraphicFramePr/>
            <p:nvPr/>
          </p:nvGraphicFramePr>
          <p:xfrm>
            <a:off x="1511" y="1888"/>
            <a:ext cx="3101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2095500" imgH="254000" progId="Equation.DSMT4">
                    <p:embed/>
                  </p:oleObj>
                </mc:Choice>
                <mc:Fallback>
                  <p:oleObj name="" r:id="rId5" imgW="2095500" imgH="254000" progId="Equation.DSMT4">
                    <p:embed/>
                    <p:pic>
                      <p:nvPicPr>
                        <p:cNvPr id="0" name="Object 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11" y="1888"/>
                          <a:ext cx="3101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8" name="Rectangle 10"/>
            <p:cNvSpPr/>
            <p:nvPr/>
          </p:nvSpPr>
          <p:spPr>
            <a:xfrm>
              <a:off x="612" y="1888"/>
              <a:ext cx="791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代入到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7659" name="Rectangle 11"/>
          <p:cNvSpPr/>
          <p:nvPr/>
        </p:nvSpPr>
        <p:spPr>
          <a:xfrm>
            <a:off x="2495550" y="3933826"/>
            <a:ext cx="3221038" cy="519113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得原问题的解为：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40" name="Rectangle 12"/>
          <p:cNvSpPr/>
          <p:nvPr/>
        </p:nvSpPr>
        <p:spPr>
          <a:xfrm>
            <a:off x="6003635" y="2668072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661" name="Object 13"/>
          <p:cNvGraphicFramePr>
            <a:graphicFrameLocks noChangeAspect="1"/>
          </p:cNvGraphicFramePr>
          <p:nvPr/>
        </p:nvGraphicFramePr>
        <p:xfrm>
          <a:off x="2927350" y="4724400"/>
          <a:ext cx="640873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6578600" imgH="838200" progId="Equation.DSMT4">
                  <p:embed/>
                </p:oleObj>
              </mc:Choice>
              <mc:Fallback>
                <p:oleObj name="" r:id="rId7" imgW="6578600" imgH="8382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7350" y="4724400"/>
                        <a:ext cx="6408738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/>
          <p:nvPr/>
        </p:nvSpPr>
        <p:spPr>
          <a:xfrm>
            <a:off x="2208213" y="620713"/>
            <a:ext cx="6121400" cy="519112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求二阶线性偏微分方程的通解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3554" name="Object 3"/>
          <p:cNvGraphicFramePr/>
          <p:nvPr/>
        </p:nvGraphicFramePr>
        <p:xfrm>
          <a:off x="3359150" y="1270000"/>
          <a:ext cx="50625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930400" imgH="254000" progId="Equation.DSMT4">
                  <p:embed/>
                </p:oleObj>
              </mc:Choice>
              <mc:Fallback>
                <p:oleObj name="" r:id="rId1" imgW="1930400" imgH="2540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9150" y="1270000"/>
                        <a:ext cx="5062538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4"/>
          <p:cNvSpPr/>
          <p:nvPr/>
        </p:nvSpPr>
        <p:spPr>
          <a:xfrm>
            <a:off x="2495550" y="1989138"/>
            <a:ext cx="2863850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解：特征方程为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556" name="Rectangle 5"/>
          <p:cNvSpPr/>
          <p:nvPr/>
        </p:nvSpPr>
        <p:spPr>
          <a:xfrm>
            <a:off x="6075073" y="2704584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2998789" y="2709863"/>
          <a:ext cx="58324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5346700" imgH="571500" progId="Equation.DSMT4">
                  <p:embed/>
                </p:oleObj>
              </mc:Choice>
              <mc:Fallback>
                <p:oleObj name="" r:id="rId3" imgW="5346700" imgH="5715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8789" y="2709863"/>
                        <a:ext cx="5832475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7"/>
          <p:cNvSpPr/>
          <p:nvPr/>
        </p:nvSpPr>
        <p:spPr>
          <a:xfrm>
            <a:off x="6075073" y="2447409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9" name="Rectangle 11"/>
          <p:cNvSpPr/>
          <p:nvPr/>
        </p:nvSpPr>
        <p:spPr>
          <a:xfrm>
            <a:off x="6075073" y="2442647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8687" name="Object 15"/>
          <p:cNvGraphicFramePr>
            <a:graphicFrameLocks noChangeAspect="1"/>
          </p:cNvGraphicFramePr>
          <p:nvPr/>
        </p:nvGraphicFramePr>
        <p:xfrm>
          <a:off x="2109789" y="3575051"/>
          <a:ext cx="7540625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162300" imgH="495300" progId="Equation.DSMT4">
                  <p:embed/>
                </p:oleObj>
              </mc:Choice>
              <mc:Fallback>
                <p:oleObj name="" r:id="rId5" imgW="3162300" imgH="495300" progId="Equation.DSMT4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09789" y="3575051"/>
                        <a:ext cx="7540625" cy="1179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90" name="Group 18"/>
          <p:cNvGrpSpPr/>
          <p:nvPr/>
        </p:nvGrpSpPr>
        <p:grpSpPr>
          <a:xfrm>
            <a:off x="2495551" y="4941888"/>
            <a:ext cx="6107113" cy="1181100"/>
            <a:chOff x="612" y="3113"/>
            <a:chExt cx="3847" cy="744"/>
          </a:xfrm>
        </p:grpSpPr>
        <p:sp>
          <p:nvSpPr>
            <p:cNvPr id="23562" name="Rectangle 9"/>
            <p:cNvSpPr/>
            <p:nvPr/>
          </p:nvSpPr>
          <p:spPr>
            <a:xfrm>
              <a:off x="612" y="3249"/>
              <a:ext cx="1579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积分曲线为： </a:t>
              </a:r>
              <a:endPara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3563" name="Object 16"/>
            <p:cNvGraphicFramePr>
              <a:graphicFrameLocks noChangeAspect="1"/>
            </p:cNvGraphicFramePr>
            <p:nvPr/>
          </p:nvGraphicFramePr>
          <p:xfrm>
            <a:off x="2129" y="3113"/>
            <a:ext cx="2330" cy="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511300" imgH="482600" progId="Equation.DSMT4">
                    <p:embed/>
                  </p:oleObj>
                </mc:Choice>
                <mc:Fallback>
                  <p:oleObj name="" r:id="rId7" imgW="1511300" imgH="482600" progId="Equation.DSMT4">
                    <p:embed/>
                    <p:pic>
                      <p:nvPicPr>
                        <p:cNvPr id="0" name="Object 1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29" y="3113"/>
                          <a:ext cx="2330" cy="7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/>
          <p:nvPr/>
        </p:nvGrpSpPr>
        <p:grpSpPr>
          <a:xfrm>
            <a:off x="2495551" y="2133600"/>
            <a:ext cx="5154613" cy="1081088"/>
            <a:chOff x="567" y="482"/>
            <a:chExt cx="3247" cy="681"/>
          </a:xfrm>
        </p:grpSpPr>
        <p:sp>
          <p:nvSpPr>
            <p:cNvPr id="24578" name="Rectangle 3"/>
            <p:cNvSpPr/>
            <p:nvPr/>
          </p:nvSpPr>
          <p:spPr>
            <a:xfrm>
              <a:off x="567" y="663"/>
              <a:ext cx="2141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经过变换原方程化成</a:t>
              </a:r>
              <a:endPara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4579" name="Object 4"/>
            <p:cNvGraphicFramePr/>
            <p:nvPr/>
          </p:nvGraphicFramePr>
          <p:xfrm>
            <a:off x="2854" y="482"/>
            <a:ext cx="960" cy="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635000" imgH="444500" progId="Equation.DSMT4">
                    <p:embed/>
                  </p:oleObj>
                </mc:Choice>
                <mc:Fallback>
                  <p:oleObj name="" r:id="rId1" imgW="635000" imgH="4445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54" y="482"/>
                          <a:ext cx="960" cy="6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0" name="Rectangle 5"/>
          <p:cNvSpPr/>
          <p:nvPr/>
        </p:nvSpPr>
        <p:spPr>
          <a:xfrm>
            <a:off x="6003635" y="3044309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12"/>
          <p:cNvSpPr/>
          <p:nvPr/>
        </p:nvSpPr>
        <p:spPr>
          <a:xfrm>
            <a:off x="2566989" y="908051"/>
            <a:ext cx="1614487" cy="519113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4582" name="Object 13"/>
          <p:cNvGraphicFramePr>
            <a:graphicFrameLocks noChangeAspect="1"/>
          </p:cNvGraphicFramePr>
          <p:nvPr/>
        </p:nvGraphicFramePr>
        <p:xfrm>
          <a:off x="4257676" y="674689"/>
          <a:ext cx="3173413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346200" imgH="533400" progId="Equation.DSMT4">
                  <p:embed/>
                </p:oleObj>
              </mc:Choice>
              <mc:Fallback>
                <p:oleObj name="" r:id="rId3" imgW="1346200" imgH="5334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57676" y="674689"/>
                        <a:ext cx="3173413" cy="1258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12" name="Group 16"/>
          <p:cNvGrpSpPr/>
          <p:nvPr/>
        </p:nvGrpSpPr>
        <p:grpSpPr>
          <a:xfrm>
            <a:off x="2398714" y="3679826"/>
            <a:ext cx="7559675" cy="2246313"/>
            <a:chOff x="521" y="2280"/>
            <a:chExt cx="4672" cy="1318"/>
          </a:xfrm>
        </p:grpSpPr>
        <p:grpSp>
          <p:nvGrpSpPr>
            <p:cNvPr id="24584" name="Group 15"/>
            <p:cNvGrpSpPr/>
            <p:nvPr/>
          </p:nvGrpSpPr>
          <p:grpSpPr>
            <a:xfrm>
              <a:off x="521" y="3042"/>
              <a:ext cx="4672" cy="556"/>
              <a:chOff x="521" y="3042"/>
              <a:chExt cx="4672" cy="556"/>
            </a:xfrm>
          </p:grpSpPr>
          <p:graphicFrame>
            <p:nvGraphicFramePr>
              <p:cNvPr id="24585" name="Object 10"/>
              <p:cNvGraphicFramePr>
                <a:graphicFrameLocks noChangeAspect="1"/>
              </p:cNvGraphicFramePr>
              <p:nvPr/>
            </p:nvGraphicFramePr>
            <p:xfrm>
              <a:off x="2880" y="3067"/>
              <a:ext cx="433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" r:id="rId5" imgW="850265" imgH="431800" progId="Equation.DSMT4">
                      <p:embed/>
                    </p:oleObj>
                  </mc:Choice>
                  <mc:Fallback>
                    <p:oleObj name="" r:id="rId5" imgW="850265" imgH="431800" progId="Equation.DSMT4">
                      <p:embed/>
                      <p:pic>
                        <p:nvPicPr>
                          <p:cNvPr id="0" name="Object 10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80" y="3067"/>
                            <a:ext cx="433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586" name="Rectangle 11"/>
              <p:cNvSpPr/>
              <p:nvPr/>
            </p:nvSpPr>
            <p:spPr>
              <a:xfrm>
                <a:off x="521" y="3042"/>
                <a:ext cx="4672" cy="5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anchor="ctr" anchorCtr="0">
                <a:spAutoFit/>
              </a:bodyPr>
              <a:lstStyle/>
              <a:p>
                <a:r>
                  <a:rPr lang="zh-CN" altLang="en-US" sz="2800" dirty="0">
                    <a:solidFill>
                      <a:srgbClr val="3333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为原问题的通解，其中     是任意二次连续可微函数。</a:t>
                </a:r>
                <a:endParaRPr lang="zh-CN" altLang="en-US" sz="2800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aphicFrame>
          <p:nvGraphicFramePr>
            <p:cNvPr id="24587" name="Object 14"/>
            <p:cNvGraphicFramePr>
              <a:graphicFrameLocks noChangeAspect="1"/>
            </p:cNvGraphicFramePr>
            <p:nvPr/>
          </p:nvGraphicFramePr>
          <p:xfrm>
            <a:off x="749" y="2280"/>
            <a:ext cx="4125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2844800" imgH="228600" progId="Equation.DSMT4">
                    <p:embed/>
                  </p:oleObj>
                </mc:Choice>
                <mc:Fallback>
                  <p:oleObj name="" r:id="rId7" imgW="2844800" imgH="228600" progId="Equation.DSMT4">
                    <p:embed/>
                    <p:pic>
                      <p:nvPicPr>
                        <p:cNvPr id="0" name="Object 1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49" y="2280"/>
                          <a:ext cx="4125" cy="3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/>
          <p:nvPr/>
        </p:nvSpPr>
        <p:spPr>
          <a:xfrm>
            <a:off x="1919288" y="765175"/>
            <a:ext cx="5905500" cy="579438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</a:t>
            </a:r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d’Alembert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公式物理意义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2291" name="Object 3"/>
          <p:cNvGraphicFramePr/>
          <p:nvPr/>
        </p:nvGraphicFramePr>
        <p:xfrm>
          <a:off x="3719513" y="1557338"/>
          <a:ext cx="46783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032000" imgH="254000" progId="Equation.DSMT4">
                  <p:embed/>
                </p:oleObj>
              </mc:Choice>
              <mc:Fallback>
                <p:oleObj name="" r:id="rId1" imgW="2032000" imgH="2540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19513" y="1557338"/>
                        <a:ext cx="4678362" cy="576262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5"/>
          <p:cNvSpPr/>
          <p:nvPr/>
        </p:nvSpPr>
        <p:spPr>
          <a:xfrm>
            <a:off x="2262189" y="2430464"/>
            <a:ext cx="8010525" cy="1800225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考虑               若     的图形已经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给定，那么，随着时间 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的推移，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的图形以速度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 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轴正方向平行移动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故称齐次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波动方程形如             的解为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右行波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604" name="Object 6"/>
          <p:cNvGraphicFramePr>
            <a:graphicFrameLocks noChangeAspect="1"/>
          </p:cNvGraphicFramePr>
          <p:nvPr/>
        </p:nvGraphicFramePr>
        <p:xfrm>
          <a:off x="3648076" y="2420939"/>
          <a:ext cx="24479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298700" imgH="495300" progId="Equation.DSMT4">
                  <p:embed/>
                </p:oleObj>
              </mc:Choice>
              <mc:Fallback>
                <p:oleObj name="" r:id="rId3" imgW="2298700" imgH="4953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8076" y="2420939"/>
                        <a:ext cx="2447925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7"/>
          <p:cNvGraphicFramePr>
            <a:graphicFrameLocks noChangeAspect="1"/>
          </p:cNvGraphicFramePr>
          <p:nvPr/>
        </p:nvGraphicFramePr>
        <p:xfrm>
          <a:off x="6527800" y="2565400"/>
          <a:ext cx="6746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774065" imgH="393700" progId="Equation.DSMT4">
                  <p:embed/>
                </p:oleObj>
              </mc:Choice>
              <mc:Fallback>
                <p:oleObj name="" r:id="rId5" imgW="774065" imgH="3937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7800" y="2565400"/>
                        <a:ext cx="674688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8"/>
          <p:cNvGraphicFramePr>
            <a:graphicFrameLocks noChangeAspect="1"/>
          </p:cNvGraphicFramePr>
          <p:nvPr/>
        </p:nvGraphicFramePr>
        <p:xfrm>
          <a:off x="7724775" y="2922588"/>
          <a:ext cx="1900238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2171700" imgH="495300" progId="Equation.DSMT4">
                  <p:embed/>
                </p:oleObj>
              </mc:Choice>
              <mc:Fallback>
                <p:oleObj name="" r:id="rId7" imgW="2171700" imgH="4953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24775" y="2922588"/>
                        <a:ext cx="1900238" cy="423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9"/>
          <p:cNvGraphicFramePr>
            <a:graphicFrameLocks noChangeAspect="1"/>
          </p:cNvGraphicFramePr>
          <p:nvPr/>
        </p:nvGraphicFramePr>
        <p:xfrm>
          <a:off x="4625975" y="3816350"/>
          <a:ext cx="19748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2171700" imgH="495300" progId="Equation.DSMT4">
                  <p:embed/>
                </p:oleObj>
              </mc:Choice>
              <mc:Fallback>
                <p:oleObj name="" r:id="rId9" imgW="2171700" imgH="4953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25975" y="3816350"/>
                        <a:ext cx="1974850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Rectangle 11"/>
          <p:cNvSpPr/>
          <p:nvPr/>
        </p:nvSpPr>
        <p:spPr>
          <a:xfrm>
            <a:off x="2279651" y="4652964"/>
            <a:ext cx="7777163" cy="1373187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2,            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表示一个以速度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轴负 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方向传播的行波，且传播过程中，波形也不变化。 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左行波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5609" name="Object 12"/>
          <p:cNvGraphicFramePr>
            <a:graphicFrameLocks noChangeAspect="1"/>
          </p:cNvGraphicFramePr>
          <p:nvPr/>
        </p:nvGraphicFramePr>
        <p:xfrm>
          <a:off x="2782889" y="4652964"/>
          <a:ext cx="216058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2184400" imgH="495300" progId="Equation.DSMT4">
                  <p:embed/>
                </p:oleObj>
              </mc:Choice>
              <mc:Fallback>
                <p:oleObj name="" r:id="rId11" imgW="2184400" imgH="4953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82889" y="4652964"/>
                        <a:ext cx="2160587" cy="47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5" name="Object 4"/>
          <p:cNvGraphicFramePr>
            <a:graphicFrameLocks noChangeAspect="1"/>
          </p:cNvGraphicFramePr>
          <p:nvPr/>
        </p:nvGraphicFramePr>
        <p:xfrm>
          <a:off x="8458201" y="2819400"/>
          <a:ext cx="3413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27000" imgH="139700" progId="Equation.3">
                  <p:embed/>
                </p:oleObj>
              </mc:Choice>
              <mc:Fallback>
                <p:oleObj name="" r:id="rId1" imgW="127000" imgH="1397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458201" y="2819400"/>
                        <a:ext cx="341313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7011" name="Group 35"/>
          <p:cNvGrpSpPr/>
          <p:nvPr/>
        </p:nvGrpSpPr>
        <p:grpSpPr>
          <a:xfrm>
            <a:off x="2279650" y="1201738"/>
            <a:ext cx="6483350" cy="1968500"/>
            <a:chOff x="476" y="757"/>
            <a:chExt cx="4084" cy="1240"/>
          </a:xfrm>
        </p:grpSpPr>
        <p:sp>
          <p:nvSpPr>
            <p:cNvPr id="26627" name="Line 2"/>
            <p:cNvSpPr/>
            <p:nvPr/>
          </p:nvSpPr>
          <p:spPr>
            <a:xfrm>
              <a:off x="1104" y="1728"/>
              <a:ext cx="3456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8" name="Freeform 3"/>
            <p:cNvSpPr/>
            <p:nvPr/>
          </p:nvSpPr>
          <p:spPr>
            <a:xfrm>
              <a:off x="1200" y="1152"/>
              <a:ext cx="1344" cy="576"/>
            </a:xfrm>
            <a:custGeom>
              <a:avLst/>
              <a:gdLst/>
              <a:ahLst/>
              <a:cxnLst>
                <a:cxn ang="0">
                  <a:pos x="0" y="143"/>
                </a:cxn>
                <a:cxn ang="0">
                  <a:pos x="144" y="118"/>
                </a:cxn>
                <a:cxn ang="0">
                  <a:pos x="336" y="42"/>
                </a:cxn>
                <a:cxn ang="0">
                  <a:pos x="672" y="0"/>
                </a:cxn>
                <a:cxn ang="0">
                  <a:pos x="1008" y="42"/>
                </a:cxn>
                <a:cxn ang="0">
                  <a:pos x="1200" y="118"/>
                </a:cxn>
                <a:cxn ang="0">
                  <a:pos x="1344" y="143"/>
                </a:cxn>
              </a:cxnLst>
              <a:rect l="0" t="0" r="0" b="0"/>
              <a:pathLst>
                <a:path w="1344" h="816">
                  <a:moveTo>
                    <a:pt x="0" y="816"/>
                  </a:moveTo>
                  <a:cubicBezTo>
                    <a:pt x="44" y="792"/>
                    <a:pt x="88" y="768"/>
                    <a:pt x="144" y="672"/>
                  </a:cubicBezTo>
                  <a:cubicBezTo>
                    <a:pt x="200" y="576"/>
                    <a:pt x="248" y="352"/>
                    <a:pt x="336" y="240"/>
                  </a:cubicBezTo>
                  <a:cubicBezTo>
                    <a:pt x="424" y="128"/>
                    <a:pt x="560" y="0"/>
                    <a:pt x="672" y="0"/>
                  </a:cubicBezTo>
                  <a:cubicBezTo>
                    <a:pt x="784" y="0"/>
                    <a:pt x="920" y="128"/>
                    <a:pt x="1008" y="240"/>
                  </a:cubicBezTo>
                  <a:cubicBezTo>
                    <a:pt x="1096" y="352"/>
                    <a:pt x="1144" y="576"/>
                    <a:pt x="1200" y="672"/>
                  </a:cubicBezTo>
                  <a:cubicBezTo>
                    <a:pt x="1256" y="768"/>
                    <a:pt x="1300" y="792"/>
                    <a:pt x="1344" y="816"/>
                  </a:cubicBezTo>
                </a:path>
              </a:pathLst>
            </a:cu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29" name="Object 5"/>
            <p:cNvGraphicFramePr>
              <a:graphicFrameLocks noChangeAspect="1"/>
            </p:cNvGraphicFramePr>
            <p:nvPr/>
          </p:nvGraphicFramePr>
          <p:xfrm>
            <a:off x="1632" y="1776"/>
            <a:ext cx="18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52400" imgH="177800" progId="Equation.3">
                    <p:embed/>
                  </p:oleObj>
                </mc:Choice>
                <mc:Fallback>
                  <p:oleObj name="" r:id="rId3" imgW="152400" imgH="177800" progId="Equation.3">
                    <p:embed/>
                    <p:pic>
                      <p:nvPicPr>
                        <p:cNvPr id="0" name="Object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32" y="1776"/>
                          <a:ext cx="189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0" name="Line 6"/>
            <p:cNvSpPr/>
            <p:nvPr/>
          </p:nvSpPr>
          <p:spPr>
            <a:xfrm>
              <a:off x="2256" y="1392"/>
              <a:ext cx="0" cy="336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1" name="Line 7"/>
            <p:cNvSpPr/>
            <p:nvPr/>
          </p:nvSpPr>
          <p:spPr>
            <a:xfrm flipV="1">
              <a:off x="1872" y="768"/>
              <a:ext cx="0" cy="1152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32" name="Object 10"/>
            <p:cNvGraphicFramePr>
              <a:graphicFrameLocks noChangeAspect="1"/>
            </p:cNvGraphicFramePr>
            <p:nvPr/>
          </p:nvGraphicFramePr>
          <p:xfrm>
            <a:off x="2112" y="1680"/>
            <a:ext cx="20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65100" imgH="228600" progId="Equation.3">
                    <p:embed/>
                  </p:oleObj>
                </mc:Choice>
                <mc:Fallback>
                  <p:oleObj name="" r:id="rId5" imgW="165100" imgH="228600" progId="Equation.3">
                    <p:embed/>
                    <p:pic>
                      <p:nvPicPr>
                        <p:cNvPr id="0" name="Object 1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12" y="1680"/>
                          <a:ext cx="209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3" name="Object 13"/>
            <p:cNvGraphicFramePr>
              <a:graphicFrameLocks noChangeAspect="1"/>
            </p:cNvGraphicFramePr>
            <p:nvPr/>
          </p:nvGraphicFramePr>
          <p:xfrm>
            <a:off x="476" y="757"/>
            <a:ext cx="961" cy="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748665" imgH="520700" progId="Equation.DSMT4">
                    <p:embed/>
                  </p:oleObj>
                </mc:Choice>
                <mc:Fallback>
                  <p:oleObj name="" r:id="rId7" imgW="748665" imgH="520700" progId="Equation.DSMT4">
                    <p:embed/>
                    <p:pic>
                      <p:nvPicPr>
                        <p:cNvPr id="0" name="Object 1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6" y="757"/>
                          <a:ext cx="961" cy="6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7010" name="Group 34"/>
          <p:cNvGrpSpPr/>
          <p:nvPr/>
        </p:nvGrpSpPr>
        <p:grpSpPr>
          <a:xfrm>
            <a:off x="4495801" y="1125539"/>
            <a:ext cx="4106863" cy="2058987"/>
            <a:chOff x="1872" y="709"/>
            <a:chExt cx="2587" cy="1297"/>
          </a:xfrm>
        </p:grpSpPr>
        <p:grpSp>
          <p:nvGrpSpPr>
            <p:cNvPr id="26635" name="Group 33"/>
            <p:cNvGrpSpPr/>
            <p:nvPr/>
          </p:nvGrpSpPr>
          <p:grpSpPr>
            <a:xfrm>
              <a:off x="2304" y="709"/>
              <a:ext cx="2155" cy="1297"/>
              <a:chOff x="2304" y="709"/>
              <a:chExt cx="2155" cy="1297"/>
            </a:xfrm>
          </p:grpSpPr>
          <p:sp>
            <p:nvSpPr>
              <p:cNvPr id="26636" name="Freeform 8"/>
              <p:cNvSpPr/>
              <p:nvPr/>
            </p:nvSpPr>
            <p:spPr>
              <a:xfrm>
                <a:off x="2304" y="1152"/>
                <a:ext cx="1344" cy="576"/>
              </a:xfrm>
              <a:custGeom>
                <a:avLst/>
                <a:gdLst/>
                <a:ahLst/>
                <a:cxnLst>
                  <a:cxn ang="0">
                    <a:pos x="0" y="143"/>
                  </a:cxn>
                  <a:cxn ang="0">
                    <a:pos x="144" y="118"/>
                  </a:cxn>
                  <a:cxn ang="0">
                    <a:pos x="336" y="42"/>
                  </a:cxn>
                  <a:cxn ang="0">
                    <a:pos x="672" y="0"/>
                  </a:cxn>
                  <a:cxn ang="0">
                    <a:pos x="1008" y="42"/>
                  </a:cxn>
                  <a:cxn ang="0">
                    <a:pos x="1200" y="118"/>
                  </a:cxn>
                  <a:cxn ang="0">
                    <a:pos x="1344" y="143"/>
                  </a:cxn>
                </a:cxnLst>
                <a:rect l="0" t="0" r="0" b="0"/>
                <a:pathLst>
                  <a:path w="1344" h="816">
                    <a:moveTo>
                      <a:pt x="0" y="816"/>
                    </a:moveTo>
                    <a:cubicBezTo>
                      <a:pt x="44" y="792"/>
                      <a:pt x="88" y="768"/>
                      <a:pt x="144" y="672"/>
                    </a:cubicBezTo>
                    <a:cubicBezTo>
                      <a:pt x="200" y="576"/>
                      <a:pt x="248" y="352"/>
                      <a:pt x="336" y="240"/>
                    </a:cubicBezTo>
                    <a:cubicBezTo>
                      <a:pt x="424" y="128"/>
                      <a:pt x="560" y="0"/>
                      <a:pt x="672" y="0"/>
                    </a:cubicBezTo>
                    <a:cubicBezTo>
                      <a:pt x="784" y="0"/>
                      <a:pt x="920" y="128"/>
                      <a:pt x="1008" y="240"/>
                    </a:cubicBezTo>
                    <a:cubicBezTo>
                      <a:pt x="1096" y="352"/>
                      <a:pt x="1144" y="576"/>
                      <a:pt x="1200" y="672"/>
                    </a:cubicBezTo>
                    <a:cubicBezTo>
                      <a:pt x="1256" y="768"/>
                      <a:pt x="1300" y="792"/>
                      <a:pt x="1344" y="816"/>
                    </a:cubicBezTo>
                  </a:path>
                </a:pathLst>
              </a:custGeom>
              <a:noFill/>
              <a:ln w="317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37" name="Line 9"/>
              <p:cNvSpPr/>
              <p:nvPr/>
            </p:nvSpPr>
            <p:spPr>
              <a:xfrm>
                <a:off x="3360" y="1392"/>
                <a:ext cx="0" cy="336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38" name="Object 11"/>
              <p:cNvGraphicFramePr>
                <a:graphicFrameLocks noChangeAspect="1"/>
              </p:cNvGraphicFramePr>
              <p:nvPr/>
            </p:nvGraphicFramePr>
            <p:xfrm>
              <a:off x="2972" y="1721"/>
              <a:ext cx="921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" r:id="rId9" imgW="774065" imgH="241300" progId="Equation.DSMT4">
                      <p:embed/>
                    </p:oleObj>
                  </mc:Choice>
                  <mc:Fallback>
                    <p:oleObj name="" r:id="rId9" imgW="774065" imgH="241300" progId="Equation.DSMT4">
                      <p:embed/>
                      <p:pic>
                        <p:nvPicPr>
                          <p:cNvPr id="0" name="Object 11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972" y="1721"/>
                            <a:ext cx="921" cy="28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39" name="Line 12"/>
              <p:cNvSpPr/>
              <p:nvPr/>
            </p:nvSpPr>
            <p:spPr>
              <a:xfrm flipV="1">
                <a:off x="2976" y="768"/>
                <a:ext cx="0" cy="115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lg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40" name="Object 14"/>
              <p:cNvGraphicFramePr>
                <a:graphicFrameLocks noChangeAspect="1"/>
              </p:cNvGraphicFramePr>
              <p:nvPr/>
            </p:nvGraphicFramePr>
            <p:xfrm>
              <a:off x="3099" y="709"/>
              <a:ext cx="1360" cy="6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" name="" r:id="rId11" imgW="1078865" imgH="520700" progId="Equation.DSMT4">
                      <p:embed/>
                    </p:oleObj>
                  </mc:Choice>
                  <mc:Fallback>
                    <p:oleObj name="" r:id="rId11" imgW="1078865" imgH="520700" progId="Equation.DSMT4">
                      <p:embed/>
                      <p:pic>
                        <p:nvPicPr>
                          <p:cNvPr id="0" name="Object 14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3099" y="709"/>
                            <a:ext cx="1360" cy="6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6641" name="AutoShape 15"/>
            <p:cNvCxnSpPr/>
            <p:nvPr/>
          </p:nvCxnSpPr>
          <p:spPr>
            <a:xfrm>
              <a:off x="1872" y="1056"/>
              <a:ext cx="1104" cy="0"/>
            </a:xfrm>
            <a:prstGeom prst="straightConnector1">
              <a:avLst/>
            </a:prstGeom>
            <a:ln w="9525" cap="rnd" cmpd="sng">
              <a:solidFill>
                <a:srgbClr val="993300"/>
              </a:solidFill>
              <a:prstDash val="sysDot"/>
              <a:round/>
              <a:headEnd type="triangle" w="med" len="med"/>
              <a:tailEnd type="triangle" w="med" len="med"/>
            </a:ln>
          </p:spPr>
        </p:cxnSp>
        <p:graphicFrame>
          <p:nvGraphicFramePr>
            <p:cNvPr id="26642" name="Object 16"/>
            <p:cNvGraphicFramePr>
              <a:graphicFrameLocks noChangeAspect="1"/>
            </p:cNvGraphicFramePr>
            <p:nvPr/>
          </p:nvGraphicFramePr>
          <p:xfrm>
            <a:off x="2237" y="753"/>
            <a:ext cx="28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177800" imgH="152400" progId="Equation.3">
                    <p:embed/>
                  </p:oleObj>
                </mc:Choice>
                <mc:Fallback>
                  <p:oleObj name="" r:id="rId13" imgW="177800" imgH="152400" progId="Equation.3">
                    <p:embed/>
                    <p:pic>
                      <p:nvPicPr>
                        <p:cNvPr id="0" name="Object 1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237" y="753"/>
                          <a:ext cx="280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7014" name="Group 38"/>
          <p:cNvGrpSpPr/>
          <p:nvPr/>
        </p:nvGrpSpPr>
        <p:grpSpPr>
          <a:xfrm>
            <a:off x="3276601" y="3962400"/>
            <a:ext cx="5522913" cy="2133600"/>
            <a:chOff x="1104" y="2496"/>
            <a:chExt cx="3479" cy="1344"/>
          </a:xfrm>
        </p:grpSpPr>
        <p:sp>
          <p:nvSpPr>
            <p:cNvPr id="26644" name="Line 17"/>
            <p:cNvSpPr/>
            <p:nvPr/>
          </p:nvSpPr>
          <p:spPr>
            <a:xfrm>
              <a:off x="1104" y="3504"/>
              <a:ext cx="3456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45" name="Object 19"/>
            <p:cNvGraphicFramePr>
              <a:graphicFrameLocks noChangeAspect="1"/>
            </p:cNvGraphicFramePr>
            <p:nvPr/>
          </p:nvGraphicFramePr>
          <p:xfrm>
            <a:off x="4368" y="3552"/>
            <a:ext cx="215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5" imgW="127000" imgH="139700" progId="Equation.3">
                    <p:embed/>
                  </p:oleObj>
                </mc:Choice>
                <mc:Fallback>
                  <p:oleObj name="" r:id="rId15" imgW="127000" imgH="139700" progId="Equation.3">
                    <p:embed/>
                    <p:pic>
                      <p:nvPicPr>
                        <p:cNvPr id="0" name="Object 1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68" y="3552"/>
                          <a:ext cx="215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6" name="Object 20"/>
            <p:cNvGraphicFramePr>
              <a:graphicFrameLocks noChangeAspect="1"/>
            </p:cNvGraphicFramePr>
            <p:nvPr/>
          </p:nvGraphicFramePr>
          <p:xfrm>
            <a:off x="2789" y="3521"/>
            <a:ext cx="18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6" imgW="152400" imgH="177800" progId="Equation.3">
                    <p:embed/>
                  </p:oleObj>
                </mc:Choice>
                <mc:Fallback>
                  <p:oleObj name="" r:id="rId16" imgW="152400" imgH="177800" progId="Equation.3">
                    <p:embed/>
                    <p:pic>
                      <p:nvPicPr>
                        <p:cNvPr id="0" name="Object 2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89" y="3521"/>
                          <a:ext cx="189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7" name="Line 22"/>
            <p:cNvSpPr/>
            <p:nvPr/>
          </p:nvSpPr>
          <p:spPr>
            <a:xfrm flipV="1">
              <a:off x="2976" y="2496"/>
              <a:ext cx="0" cy="1152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8" name="Freeform 23"/>
            <p:cNvSpPr/>
            <p:nvPr/>
          </p:nvSpPr>
          <p:spPr>
            <a:xfrm>
              <a:off x="2304" y="2928"/>
              <a:ext cx="1344" cy="576"/>
            </a:xfrm>
            <a:custGeom>
              <a:avLst/>
              <a:gdLst/>
              <a:ahLst/>
              <a:cxnLst>
                <a:cxn ang="0">
                  <a:pos x="0" y="143"/>
                </a:cxn>
                <a:cxn ang="0">
                  <a:pos x="144" y="118"/>
                </a:cxn>
                <a:cxn ang="0">
                  <a:pos x="336" y="42"/>
                </a:cxn>
                <a:cxn ang="0">
                  <a:pos x="672" y="0"/>
                </a:cxn>
                <a:cxn ang="0">
                  <a:pos x="1008" y="42"/>
                </a:cxn>
                <a:cxn ang="0">
                  <a:pos x="1200" y="118"/>
                </a:cxn>
                <a:cxn ang="0">
                  <a:pos x="1344" y="143"/>
                </a:cxn>
              </a:cxnLst>
              <a:rect l="0" t="0" r="0" b="0"/>
              <a:pathLst>
                <a:path w="1344" h="816">
                  <a:moveTo>
                    <a:pt x="0" y="816"/>
                  </a:moveTo>
                  <a:cubicBezTo>
                    <a:pt x="44" y="792"/>
                    <a:pt x="88" y="768"/>
                    <a:pt x="144" y="672"/>
                  </a:cubicBezTo>
                  <a:cubicBezTo>
                    <a:pt x="200" y="576"/>
                    <a:pt x="248" y="352"/>
                    <a:pt x="336" y="240"/>
                  </a:cubicBezTo>
                  <a:cubicBezTo>
                    <a:pt x="424" y="128"/>
                    <a:pt x="560" y="0"/>
                    <a:pt x="672" y="0"/>
                  </a:cubicBezTo>
                  <a:cubicBezTo>
                    <a:pt x="784" y="0"/>
                    <a:pt x="920" y="128"/>
                    <a:pt x="1008" y="240"/>
                  </a:cubicBezTo>
                  <a:cubicBezTo>
                    <a:pt x="1096" y="352"/>
                    <a:pt x="1144" y="576"/>
                    <a:pt x="1200" y="672"/>
                  </a:cubicBezTo>
                  <a:cubicBezTo>
                    <a:pt x="1256" y="768"/>
                    <a:pt x="1300" y="792"/>
                    <a:pt x="1344" y="816"/>
                  </a:cubicBezTo>
                </a:path>
              </a:pathLst>
            </a:cu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9" name="Line 24"/>
            <p:cNvSpPr/>
            <p:nvPr/>
          </p:nvSpPr>
          <p:spPr>
            <a:xfrm>
              <a:off x="3360" y="3168"/>
              <a:ext cx="0" cy="336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50" name="Object 25"/>
            <p:cNvGraphicFramePr>
              <a:graphicFrameLocks noChangeAspect="1"/>
            </p:cNvGraphicFramePr>
            <p:nvPr/>
          </p:nvGraphicFramePr>
          <p:xfrm>
            <a:off x="3264" y="3552"/>
            <a:ext cx="20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17" imgW="165100" imgH="228600" progId="Equation.3">
                    <p:embed/>
                  </p:oleObj>
                </mc:Choice>
                <mc:Fallback>
                  <p:oleObj name="" r:id="rId17" imgW="165100" imgH="228600" progId="Equation.3">
                    <p:embed/>
                    <p:pic>
                      <p:nvPicPr>
                        <p:cNvPr id="0" name="Object 2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64" y="3552"/>
                          <a:ext cx="209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1" name="Object 29"/>
            <p:cNvGraphicFramePr>
              <a:graphicFrameLocks noChangeAspect="1"/>
            </p:cNvGraphicFramePr>
            <p:nvPr/>
          </p:nvGraphicFramePr>
          <p:xfrm>
            <a:off x="3320" y="2760"/>
            <a:ext cx="96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" r:id="rId18" imgW="761365" imgH="241300" progId="Equation.DSMT4">
                    <p:embed/>
                  </p:oleObj>
                </mc:Choice>
                <mc:Fallback>
                  <p:oleObj name="" r:id="rId18" imgW="761365" imgH="241300" progId="Equation.DSMT4">
                    <p:embed/>
                    <p:pic>
                      <p:nvPicPr>
                        <p:cNvPr id="0" name="Object 29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320" y="2760"/>
                          <a:ext cx="960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7013" name="Group 37"/>
          <p:cNvGrpSpPr/>
          <p:nvPr/>
        </p:nvGrpSpPr>
        <p:grpSpPr>
          <a:xfrm>
            <a:off x="2038350" y="4014789"/>
            <a:ext cx="4210050" cy="2066925"/>
            <a:chOff x="324" y="2529"/>
            <a:chExt cx="2652" cy="1302"/>
          </a:xfrm>
        </p:grpSpPr>
        <p:sp>
          <p:nvSpPr>
            <p:cNvPr id="26653" name="Line 21"/>
            <p:cNvSpPr/>
            <p:nvPr/>
          </p:nvSpPr>
          <p:spPr>
            <a:xfrm>
              <a:off x="2256" y="3168"/>
              <a:ext cx="0" cy="336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54" name="Group 36"/>
            <p:cNvGrpSpPr/>
            <p:nvPr/>
          </p:nvGrpSpPr>
          <p:grpSpPr>
            <a:xfrm>
              <a:off x="324" y="2529"/>
              <a:ext cx="2652" cy="1302"/>
              <a:chOff x="324" y="2529"/>
              <a:chExt cx="2652" cy="1302"/>
            </a:xfrm>
          </p:grpSpPr>
          <p:sp>
            <p:nvSpPr>
              <p:cNvPr id="26655" name="Freeform 18"/>
              <p:cNvSpPr/>
              <p:nvPr/>
            </p:nvSpPr>
            <p:spPr>
              <a:xfrm>
                <a:off x="1200" y="2928"/>
                <a:ext cx="1344" cy="576"/>
              </a:xfrm>
              <a:custGeom>
                <a:avLst/>
                <a:gdLst/>
                <a:ahLst/>
                <a:cxnLst>
                  <a:cxn ang="0">
                    <a:pos x="0" y="143"/>
                  </a:cxn>
                  <a:cxn ang="0">
                    <a:pos x="144" y="118"/>
                  </a:cxn>
                  <a:cxn ang="0">
                    <a:pos x="336" y="42"/>
                  </a:cxn>
                  <a:cxn ang="0">
                    <a:pos x="672" y="0"/>
                  </a:cxn>
                  <a:cxn ang="0">
                    <a:pos x="1008" y="42"/>
                  </a:cxn>
                  <a:cxn ang="0">
                    <a:pos x="1200" y="118"/>
                  </a:cxn>
                  <a:cxn ang="0">
                    <a:pos x="1344" y="143"/>
                  </a:cxn>
                </a:cxnLst>
                <a:rect l="0" t="0" r="0" b="0"/>
                <a:pathLst>
                  <a:path w="1344" h="816">
                    <a:moveTo>
                      <a:pt x="0" y="816"/>
                    </a:moveTo>
                    <a:cubicBezTo>
                      <a:pt x="44" y="792"/>
                      <a:pt x="88" y="768"/>
                      <a:pt x="144" y="672"/>
                    </a:cubicBezTo>
                    <a:cubicBezTo>
                      <a:pt x="200" y="576"/>
                      <a:pt x="248" y="352"/>
                      <a:pt x="336" y="240"/>
                    </a:cubicBezTo>
                    <a:cubicBezTo>
                      <a:pt x="424" y="128"/>
                      <a:pt x="560" y="0"/>
                      <a:pt x="672" y="0"/>
                    </a:cubicBezTo>
                    <a:cubicBezTo>
                      <a:pt x="784" y="0"/>
                      <a:pt x="920" y="128"/>
                      <a:pt x="1008" y="240"/>
                    </a:cubicBezTo>
                    <a:cubicBezTo>
                      <a:pt x="1096" y="352"/>
                      <a:pt x="1144" y="576"/>
                      <a:pt x="1200" y="672"/>
                    </a:cubicBezTo>
                    <a:cubicBezTo>
                      <a:pt x="1256" y="768"/>
                      <a:pt x="1300" y="792"/>
                      <a:pt x="1344" y="816"/>
                    </a:cubicBezTo>
                  </a:path>
                </a:pathLst>
              </a:custGeom>
              <a:noFill/>
              <a:ln w="317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56" name="Object 26"/>
              <p:cNvGraphicFramePr>
                <a:graphicFrameLocks noChangeAspect="1"/>
              </p:cNvGraphicFramePr>
              <p:nvPr/>
            </p:nvGraphicFramePr>
            <p:xfrm>
              <a:off x="2064" y="3552"/>
              <a:ext cx="544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" name="" r:id="rId20" imgW="444500" imgH="228600" progId="Equation.3">
                      <p:embed/>
                    </p:oleObj>
                  </mc:Choice>
                  <mc:Fallback>
                    <p:oleObj name="" r:id="rId20" imgW="444500" imgH="228600" progId="Equation.3">
                      <p:embed/>
                      <p:pic>
                        <p:nvPicPr>
                          <p:cNvPr id="0" name="Object 26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2064" y="3552"/>
                            <a:ext cx="544" cy="27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57" name="Line 27"/>
              <p:cNvSpPr/>
              <p:nvPr/>
            </p:nvSpPr>
            <p:spPr>
              <a:xfrm flipV="1">
                <a:off x="1872" y="2544"/>
                <a:ext cx="0" cy="115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lg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58" name="Object 28"/>
              <p:cNvGraphicFramePr>
                <a:graphicFrameLocks noChangeAspect="1"/>
              </p:cNvGraphicFramePr>
              <p:nvPr/>
            </p:nvGraphicFramePr>
            <p:xfrm>
              <a:off x="324" y="2711"/>
              <a:ext cx="1430" cy="3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" name="" r:id="rId22" imgW="1078865" imgH="241300" progId="Equation.DSMT4">
                      <p:embed/>
                    </p:oleObj>
                  </mc:Choice>
                  <mc:Fallback>
                    <p:oleObj name="" r:id="rId22" imgW="1078865" imgH="241300" progId="Equation.DSMT4">
                      <p:embed/>
                      <p:pic>
                        <p:nvPicPr>
                          <p:cNvPr id="0" name="Object 28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324" y="2711"/>
                            <a:ext cx="1430" cy="32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6659" name="AutoShape 30"/>
              <p:cNvCxnSpPr/>
              <p:nvPr/>
            </p:nvCxnSpPr>
            <p:spPr>
              <a:xfrm>
                <a:off x="1872" y="2832"/>
                <a:ext cx="1104" cy="0"/>
              </a:xfrm>
              <a:prstGeom prst="straightConnector1">
                <a:avLst/>
              </a:prstGeom>
              <a:ln w="9525" cap="rnd" cmpd="sng">
                <a:solidFill>
                  <a:srgbClr val="993300"/>
                </a:solidFill>
                <a:prstDash val="sysDot"/>
                <a:round/>
                <a:headEnd type="triangle" w="med" len="med"/>
                <a:tailEnd type="triangle" w="med" len="med"/>
              </a:ln>
            </p:spPr>
          </p:cxnSp>
          <p:graphicFrame>
            <p:nvGraphicFramePr>
              <p:cNvPr id="26660" name="Object 31"/>
              <p:cNvGraphicFramePr>
                <a:graphicFrameLocks noChangeAspect="1"/>
              </p:cNvGraphicFramePr>
              <p:nvPr/>
            </p:nvGraphicFramePr>
            <p:xfrm>
              <a:off x="2237" y="2529"/>
              <a:ext cx="28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" name="" r:id="rId24" imgW="177800" imgH="152400" progId="Equation.3">
                      <p:embed/>
                    </p:oleObj>
                  </mc:Choice>
                  <mc:Fallback>
                    <p:oleObj name="" r:id="rId24" imgW="177800" imgH="152400" progId="Equation.3">
                      <p:embed/>
                      <p:pic>
                        <p:nvPicPr>
                          <p:cNvPr id="0" name="Object 31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237" y="2529"/>
                            <a:ext cx="280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6661" name="Line 32"/>
          <p:cNvSpPr/>
          <p:nvPr/>
        </p:nvSpPr>
        <p:spPr>
          <a:xfrm flipV="1">
            <a:off x="2208213" y="3573463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62" name="AutoShape 39"/>
          <p:cNvSpPr/>
          <p:nvPr/>
        </p:nvSpPr>
        <p:spPr>
          <a:xfrm>
            <a:off x="2208214" y="260350"/>
            <a:ext cx="3736975" cy="609600"/>
          </a:xfrm>
          <a:prstGeom prst="borderCallout2">
            <a:avLst>
              <a:gd name="adj1" fmla="val 18750"/>
              <a:gd name="adj2" fmla="val 102037"/>
              <a:gd name="adj3" fmla="val 18750"/>
              <a:gd name="adj4" fmla="val 113296"/>
              <a:gd name="adj5" fmla="val 310676"/>
              <a:gd name="adj6" fmla="val 124597"/>
            </a:avLst>
          </a:prstGeom>
          <a:solidFill>
            <a:srgbClr val="FFFF00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oval" w="med" len="med"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anchor="t" anchorCtr="0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G(x-at)=G(x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+at-at)=G(x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63" name="AutoShape 40"/>
          <p:cNvSpPr/>
          <p:nvPr/>
        </p:nvSpPr>
        <p:spPr>
          <a:xfrm>
            <a:off x="6456364" y="6021388"/>
            <a:ext cx="3736975" cy="609600"/>
          </a:xfrm>
          <a:prstGeom prst="borderCallout2">
            <a:avLst>
              <a:gd name="adj1" fmla="val 18750"/>
              <a:gd name="adj2" fmla="val -2037"/>
              <a:gd name="adj3" fmla="val 18750"/>
              <a:gd name="adj4" fmla="val -18394"/>
              <a:gd name="adj5" fmla="val -152083"/>
              <a:gd name="adj6" fmla="val -34792"/>
            </a:avLst>
          </a:prstGeom>
          <a:solidFill>
            <a:srgbClr val="FFFF00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oval" w="med" len="med"/>
          </a:ln>
        </p:spPr>
        <p:txBody>
          <a:bodyPr anchor="t" anchorCtr="0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F(x+at)=F(x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-at+at)=F(x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27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27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7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7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Line 2"/>
          <p:cNvSpPr/>
          <p:nvPr/>
        </p:nvSpPr>
        <p:spPr>
          <a:xfrm>
            <a:off x="7248525" y="1844675"/>
            <a:ext cx="27368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50" name="Line 3"/>
          <p:cNvSpPr/>
          <p:nvPr/>
        </p:nvSpPr>
        <p:spPr>
          <a:xfrm flipV="1">
            <a:off x="8256588" y="1196975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651" name="Object 4"/>
          <p:cNvGraphicFramePr>
            <a:graphicFrameLocks noChangeAspect="1"/>
          </p:cNvGraphicFramePr>
          <p:nvPr/>
        </p:nvGraphicFramePr>
        <p:xfrm>
          <a:off x="8283575" y="1052514"/>
          <a:ext cx="1905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5100" imgH="228600" progId="Equation.DSMT4">
                  <p:embed/>
                </p:oleObj>
              </mc:Choice>
              <mc:Fallback>
                <p:oleObj name="" r:id="rId1" imgW="165100" imgH="2286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83575" y="1052514"/>
                        <a:ext cx="190500" cy="263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5"/>
          <p:cNvGraphicFramePr>
            <a:graphicFrameLocks noChangeAspect="1"/>
          </p:cNvGraphicFramePr>
          <p:nvPr/>
        </p:nvGraphicFramePr>
        <p:xfrm>
          <a:off x="9858375" y="1628775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27000" imgH="139700" progId="Equation.3">
                  <p:embed/>
                </p:oleObj>
              </mc:Choice>
              <mc:Fallback>
                <p:oleObj name="" r:id="rId3" imgW="127000" imgH="139700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58375" y="1628775"/>
                        <a:ext cx="127000" cy="13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6"/>
          <p:cNvGraphicFramePr>
            <a:graphicFrameLocks noChangeAspect="1"/>
          </p:cNvGraphicFramePr>
          <p:nvPr/>
        </p:nvGraphicFramePr>
        <p:xfrm>
          <a:off x="7497764" y="1562100"/>
          <a:ext cx="327025" cy="21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15900" imgH="139700" progId="Equation.DSMT4">
                  <p:embed/>
                </p:oleObj>
              </mc:Choice>
              <mc:Fallback>
                <p:oleObj name="" r:id="rId5" imgW="215900" imgH="1397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97764" y="1562100"/>
                        <a:ext cx="327025" cy="211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7"/>
          <p:cNvGraphicFramePr>
            <a:graphicFrameLocks noChangeAspect="1"/>
          </p:cNvGraphicFramePr>
          <p:nvPr/>
        </p:nvGraphicFramePr>
        <p:xfrm>
          <a:off x="8688389" y="1573214"/>
          <a:ext cx="192087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27000" imgH="139700" progId="Equation.DSMT4">
                  <p:embed/>
                </p:oleObj>
              </mc:Choice>
              <mc:Fallback>
                <p:oleObj name="" r:id="rId7" imgW="127000" imgH="1397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88389" y="1573214"/>
                        <a:ext cx="192087" cy="211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Line 8"/>
          <p:cNvSpPr/>
          <p:nvPr/>
        </p:nvSpPr>
        <p:spPr>
          <a:xfrm flipV="1">
            <a:off x="7824788" y="1341439"/>
            <a:ext cx="431800" cy="5032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56" name="Line 9"/>
          <p:cNvSpPr/>
          <p:nvPr/>
        </p:nvSpPr>
        <p:spPr>
          <a:xfrm>
            <a:off x="8256588" y="1341439"/>
            <a:ext cx="431800" cy="5032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57" name="Line 10"/>
          <p:cNvSpPr/>
          <p:nvPr/>
        </p:nvSpPr>
        <p:spPr>
          <a:xfrm>
            <a:off x="7248525" y="2708275"/>
            <a:ext cx="28082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58" name="Line 11"/>
          <p:cNvSpPr/>
          <p:nvPr/>
        </p:nvSpPr>
        <p:spPr>
          <a:xfrm flipV="1">
            <a:off x="8267700" y="2060575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659" name="Object 12"/>
          <p:cNvGraphicFramePr>
            <a:graphicFrameLocks noChangeAspect="1"/>
          </p:cNvGraphicFramePr>
          <p:nvPr/>
        </p:nvGraphicFramePr>
        <p:xfrm>
          <a:off x="8283575" y="1916114"/>
          <a:ext cx="1905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65100" imgH="228600" progId="Equation.DSMT4">
                  <p:embed/>
                </p:oleObj>
              </mc:Choice>
              <mc:Fallback>
                <p:oleObj name="" r:id="rId9" imgW="165100" imgH="2286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283575" y="1916114"/>
                        <a:ext cx="190500" cy="263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13"/>
          <p:cNvGraphicFramePr>
            <a:graphicFrameLocks noChangeAspect="1"/>
          </p:cNvGraphicFramePr>
          <p:nvPr/>
        </p:nvGraphicFramePr>
        <p:xfrm>
          <a:off x="9840913" y="2492375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127000" imgH="139700" progId="Equation.3">
                  <p:embed/>
                </p:oleObj>
              </mc:Choice>
              <mc:Fallback>
                <p:oleObj name="" r:id="rId11" imgW="127000" imgH="139700" progId="Equation.3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0913" y="2492375"/>
                        <a:ext cx="127000" cy="13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1" name="Object 14"/>
          <p:cNvGraphicFramePr>
            <a:graphicFrameLocks noChangeAspect="1"/>
          </p:cNvGraphicFramePr>
          <p:nvPr/>
        </p:nvGraphicFramePr>
        <p:xfrm>
          <a:off x="7681914" y="2060576"/>
          <a:ext cx="3841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2" imgW="254000" imgH="393700" progId="Equation.DSMT4">
                  <p:embed/>
                </p:oleObj>
              </mc:Choice>
              <mc:Fallback>
                <p:oleObj name="" r:id="rId12" imgW="254000" imgH="3937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681914" y="2060576"/>
                        <a:ext cx="384175" cy="595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15"/>
          <p:cNvGraphicFramePr>
            <a:graphicFrameLocks noChangeAspect="1"/>
          </p:cNvGraphicFramePr>
          <p:nvPr/>
        </p:nvGraphicFramePr>
        <p:xfrm>
          <a:off x="8837614" y="2132014"/>
          <a:ext cx="3270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4" imgW="215900" imgH="393065" progId="Equation.DSMT4">
                  <p:embed/>
                </p:oleObj>
              </mc:Choice>
              <mc:Fallback>
                <p:oleObj name="" r:id="rId14" imgW="215900" imgH="393065" progId="Equation.DSMT4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837614" y="2132014"/>
                        <a:ext cx="327025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3" name="Line 16"/>
          <p:cNvSpPr/>
          <p:nvPr/>
        </p:nvSpPr>
        <p:spPr>
          <a:xfrm flipV="1">
            <a:off x="8040688" y="2205039"/>
            <a:ext cx="431800" cy="5032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4" name="Line 17"/>
          <p:cNvSpPr/>
          <p:nvPr/>
        </p:nvSpPr>
        <p:spPr>
          <a:xfrm>
            <a:off x="8472488" y="2205039"/>
            <a:ext cx="431800" cy="5032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5" name="Line 18"/>
          <p:cNvSpPr/>
          <p:nvPr/>
        </p:nvSpPr>
        <p:spPr>
          <a:xfrm>
            <a:off x="7248525" y="3500438"/>
            <a:ext cx="28082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6" name="Line 19"/>
          <p:cNvSpPr/>
          <p:nvPr/>
        </p:nvSpPr>
        <p:spPr>
          <a:xfrm flipV="1">
            <a:off x="8272463" y="2852738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667" name="Object 20"/>
          <p:cNvGraphicFramePr>
            <a:graphicFrameLocks noChangeAspect="1"/>
          </p:cNvGraphicFramePr>
          <p:nvPr/>
        </p:nvGraphicFramePr>
        <p:xfrm>
          <a:off x="8329613" y="2708276"/>
          <a:ext cx="1905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6" imgW="165100" imgH="228600" progId="Equation.DSMT4">
                  <p:embed/>
                </p:oleObj>
              </mc:Choice>
              <mc:Fallback>
                <p:oleObj name="" r:id="rId16" imgW="165100" imgH="228600" progId="Equation.DSMT4">
                  <p:embed/>
                  <p:pic>
                    <p:nvPicPr>
                      <p:cNvPr id="0" name="Object 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29613" y="2708276"/>
                        <a:ext cx="190500" cy="263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8" name="Object 21"/>
          <p:cNvGraphicFramePr>
            <a:graphicFrameLocks noChangeAspect="1"/>
          </p:cNvGraphicFramePr>
          <p:nvPr/>
        </p:nvGraphicFramePr>
        <p:xfrm>
          <a:off x="9786938" y="3284538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7" imgW="127000" imgH="139700" progId="Equation.3">
                  <p:embed/>
                </p:oleObj>
              </mc:Choice>
              <mc:Fallback>
                <p:oleObj name="" r:id="rId17" imgW="127000" imgH="139700" progId="Equation.3">
                  <p:embed/>
                  <p:pic>
                    <p:nvPicPr>
                      <p:cNvPr id="0" name="Object 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86938" y="3284538"/>
                        <a:ext cx="127000" cy="13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22"/>
          <p:cNvGraphicFramePr>
            <a:graphicFrameLocks noChangeAspect="1"/>
          </p:cNvGraphicFramePr>
          <p:nvPr/>
        </p:nvGraphicFramePr>
        <p:xfrm>
          <a:off x="7993064" y="3189289"/>
          <a:ext cx="192087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8" imgW="127000" imgH="177165" progId="Equation.DSMT4">
                  <p:embed/>
                </p:oleObj>
              </mc:Choice>
              <mc:Fallback>
                <p:oleObj name="" r:id="rId18" imgW="127000" imgH="177165" progId="Equation.DSMT4">
                  <p:embed/>
                  <p:pic>
                    <p:nvPicPr>
                      <p:cNvPr id="0" name="Object 2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993064" y="3189289"/>
                        <a:ext cx="192087" cy="268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23"/>
          <p:cNvGraphicFramePr>
            <a:graphicFrameLocks noChangeAspect="1"/>
          </p:cNvGraphicFramePr>
          <p:nvPr/>
        </p:nvGraphicFramePr>
        <p:xfrm>
          <a:off x="9090026" y="3200400"/>
          <a:ext cx="307975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20" imgW="203200" imgH="177800" progId="Equation.DSMT4">
                  <p:embed/>
                </p:oleObj>
              </mc:Choice>
              <mc:Fallback>
                <p:oleObj name="" r:id="rId20" imgW="203200" imgH="177800" progId="Equation.DSMT4">
                  <p:embed/>
                  <p:pic>
                    <p:nvPicPr>
                      <p:cNvPr id="0" name="Object 2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090026" y="3200400"/>
                        <a:ext cx="307975" cy="268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1" name="Line 24"/>
          <p:cNvSpPr/>
          <p:nvPr/>
        </p:nvSpPr>
        <p:spPr>
          <a:xfrm flipV="1">
            <a:off x="8283575" y="2997200"/>
            <a:ext cx="431800" cy="50323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72" name="Line 25"/>
          <p:cNvSpPr/>
          <p:nvPr/>
        </p:nvSpPr>
        <p:spPr>
          <a:xfrm>
            <a:off x="8715375" y="2997200"/>
            <a:ext cx="431800" cy="50323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73" name="Line 26"/>
          <p:cNvSpPr/>
          <p:nvPr/>
        </p:nvSpPr>
        <p:spPr>
          <a:xfrm>
            <a:off x="7248526" y="4365625"/>
            <a:ext cx="28813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74" name="Line 27"/>
          <p:cNvSpPr/>
          <p:nvPr/>
        </p:nvSpPr>
        <p:spPr>
          <a:xfrm flipV="1">
            <a:off x="8269288" y="3717925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675" name="Object 28"/>
          <p:cNvGraphicFramePr>
            <a:graphicFrameLocks noChangeAspect="1"/>
          </p:cNvGraphicFramePr>
          <p:nvPr/>
        </p:nvGraphicFramePr>
        <p:xfrm>
          <a:off x="8329613" y="3573464"/>
          <a:ext cx="1905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2" imgW="165100" imgH="228600" progId="Equation.DSMT4">
                  <p:embed/>
                </p:oleObj>
              </mc:Choice>
              <mc:Fallback>
                <p:oleObj name="" r:id="rId22" imgW="165100" imgH="228600" progId="Equation.DSMT4">
                  <p:embed/>
                  <p:pic>
                    <p:nvPicPr>
                      <p:cNvPr id="0" name="Object 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29613" y="3573464"/>
                        <a:ext cx="190500" cy="263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6" name="Object 29"/>
          <p:cNvGraphicFramePr>
            <a:graphicFrameLocks noChangeAspect="1"/>
          </p:cNvGraphicFramePr>
          <p:nvPr/>
        </p:nvGraphicFramePr>
        <p:xfrm>
          <a:off x="9842500" y="4152900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23" imgW="127000" imgH="139700" progId="Equation.3">
                  <p:embed/>
                </p:oleObj>
              </mc:Choice>
              <mc:Fallback>
                <p:oleObj name="" r:id="rId23" imgW="127000" imgH="139700" progId="Equation.3">
                  <p:embed/>
                  <p:pic>
                    <p:nvPicPr>
                      <p:cNvPr id="0" name="Object 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2500" y="4152900"/>
                        <a:ext cx="127000" cy="13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7" name="Object 30"/>
          <p:cNvGraphicFramePr>
            <a:graphicFrameLocks noChangeAspect="1"/>
          </p:cNvGraphicFramePr>
          <p:nvPr/>
        </p:nvGraphicFramePr>
        <p:xfrm>
          <a:off x="8424864" y="4083050"/>
          <a:ext cx="192087" cy="21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24" imgW="127000" imgH="139700" progId="Equation.DSMT4">
                  <p:embed/>
                </p:oleObj>
              </mc:Choice>
              <mc:Fallback>
                <p:oleObj name="" r:id="rId24" imgW="127000" imgH="139700" progId="Equation.DSMT4">
                  <p:embed/>
                  <p:pic>
                    <p:nvPicPr>
                      <p:cNvPr id="0" name="Object 3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424864" y="4083050"/>
                        <a:ext cx="192087" cy="211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8" name="Object 31"/>
          <p:cNvGraphicFramePr>
            <a:graphicFrameLocks noChangeAspect="1"/>
          </p:cNvGraphicFramePr>
          <p:nvPr/>
        </p:nvGraphicFramePr>
        <p:xfrm>
          <a:off x="9423401" y="4065589"/>
          <a:ext cx="307975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26" imgW="203200" imgH="177800" progId="Equation.DSMT4">
                  <p:embed/>
                </p:oleObj>
              </mc:Choice>
              <mc:Fallback>
                <p:oleObj name="" r:id="rId26" imgW="203200" imgH="177800" progId="Equation.DSMT4">
                  <p:embed/>
                  <p:pic>
                    <p:nvPicPr>
                      <p:cNvPr id="0" name="Object 3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423401" y="4065589"/>
                        <a:ext cx="307975" cy="268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9" name="Line 32"/>
          <p:cNvSpPr/>
          <p:nvPr/>
        </p:nvSpPr>
        <p:spPr>
          <a:xfrm flipV="1">
            <a:off x="8616950" y="3862389"/>
            <a:ext cx="431800" cy="5032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80" name="Line 33"/>
          <p:cNvSpPr/>
          <p:nvPr/>
        </p:nvSpPr>
        <p:spPr>
          <a:xfrm>
            <a:off x="9048750" y="3862389"/>
            <a:ext cx="431800" cy="5032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81" name="Line 34"/>
          <p:cNvSpPr/>
          <p:nvPr/>
        </p:nvSpPr>
        <p:spPr>
          <a:xfrm flipH="1">
            <a:off x="8616950" y="4365625"/>
            <a:ext cx="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82" name="Text Box 35"/>
          <p:cNvSpPr txBox="1"/>
          <p:nvPr/>
        </p:nvSpPr>
        <p:spPr>
          <a:xfrm>
            <a:off x="2135189" y="404814"/>
            <a:ext cx="936625" cy="605359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考虑</a:t>
            </a:r>
            <a:r>
              <a:rPr lang="zh-CN" altLang="en-US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endParaRPr lang="zh-CN" altLang="en-US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7683" name="Object 36"/>
          <p:cNvGraphicFramePr>
            <a:graphicFrameLocks noChangeAspect="1"/>
          </p:cNvGraphicFramePr>
          <p:nvPr/>
        </p:nvGraphicFramePr>
        <p:xfrm>
          <a:off x="3143251" y="549276"/>
          <a:ext cx="20875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28" imgW="927100" imgH="228600" progId="Equation.DSMT4">
                  <p:embed/>
                </p:oleObj>
              </mc:Choice>
              <mc:Fallback>
                <p:oleObj name="" r:id="rId28" imgW="927100" imgH="228600" progId="Equation.DSMT4">
                  <p:embed/>
                  <p:pic>
                    <p:nvPicPr>
                      <p:cNvPr id="0" name="Object 36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143251" y="549276"/>
                        <a:ext cx="2087563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4" name="Text Box 37"/>
          <p:cNvSpPr txBox="1"/>
          <p:nvPr/>
        </p:nvSpPr>
        <p:spPr>
          <a:xfrm>
            <a:off x="5232401" y="404813"/>
            <a:ext cx="4752975" cy="6245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的物理意义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如图给出的特例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7685" name="Group 49"/>
          <p:cNvGrpSpPr/>
          <p:nvPr/>
        </p:nvGrpSpPr>
        <p:grpSpPr>
          <a:xfrm>
            <a:off x="2782889" y="1412876"/>
            <a:ext cx="3971925" cy="2887663"/>
            <a:chOff x="793" y="890"/>
            <a:chExt cx="2502" cy="1819"/>
          </a:xfrm>
        </p:grpSpPr>
        <p:graphicFrame>
          <p:nvGraphicFramePr>
            <p:cNvPr id="27686" name="Object 39"/>
            <p:cNvGraphicFramePr>
              <a:graphicFrameLocks noChangeAspect="1"/>
            </p:cNvGraphicFramePr>
            <p:nvPr/>
          </p:nvGraphicFramePr>
          <p:xfrm>
            <a:off x="793" y="890"/>
            <a:ext cx="2003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" r:id="rId30" imgW="1473200" imgH="228600" progId="Equation.DSMT4">
                    <p:embed/>
                  </p:oleObj>
                </mc:Choice>
                <mc:Fallback>
                  <p:oleObj name="" r:id="rId30" imgW="1473200" imgH="228600" progId="Equation.DSMT4">
                    <p:embed/>
                    <p:pic>
                      <p:nvPicPr>
                        <p:cNvPr id="0" name="Object 39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793" y="890"/>
                          <a:ext cx="2003" cy="3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7" name="Object 40"/>
            <p:cNvGraphicFramePr>
              <a:graphicFrameLocks noChangeAspect="1"/>
            </p:cNvGraphicFramePr>
            <p:nvPr/>
          </p:nvGraphicFramePr>
          <p:xfrm>
            <a:off x="793" y="1253"/>
            <a:ext cx="2363" cy="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" r:id="rId32" imgW="1904365" imgH="406400" progId="Equation.DSMT4">
                    <p:embed/>
                  </p:oleObj>
                </mc:Choice>
                <mc:Fallback>
                  <p:oleObj name="" r:id="rId32" imgW="1904365" imgH="406400" progId="Equation.DSMT4">
                    <p:embed/>
                    <p:pic>
                      <p:nvPicPr>
                        <p:cNvPr id="0" name="Object 40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793" y="1253"/>
                          <a:ext cx="2363" cy="5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8" name="Object 41"/>
            <p:cNvGraphicFramePr>
              <a:graphicFrameLocks noChangeAspect="1"/>
            </p:cNvGraphicFramePr>
            <p:nvPr/>
          </p:nvGraphicFramePr>
          <p:xfrm>
            <a:off x="793" y="1888"/>
            <a:ext cx="2328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" name="" r:id="rId34" imgW="1676400" imgH="228600" progId="Equation.DSMT4">
                    <p:embed/>
                  </p:oleObj>
                </mc:Choice>
                <mc:Fallback>
                  <p:oleObj name="" r:id="rId34" imgW="1676400" imgH="228600" progId="Equation.DSMT4">
                    <p:embed/>
                    <p:pic>
                      <p:nvPicPr>
                        <p:cNvPr id="0" name="Object 41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793" y="1888"/>
                          <a:ext cx="2328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9" name="Object 42"/>
            <p:cNvGraphicFramePr>
              <a:graphicFrameLocks noChangeAspect="1"/>
            </p:cNvGraphicFramePr>
            <p:nvPr/>
          </p:nvGraphicFramePr>
          <p:xfrm>
            <a:off x="793" y="2387"/>
            <a:ext cx="2502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" r:id="rId36" imgW="1765300" imgH="228600" progId="Equation.DSMT4">
                    <p:embed/>
                  </p:oleObj>
                </mc:Choice>
                <mc:Fallback>
                  <p:oleObj name="" r:id="rId36" imgW="1765300" imgH="228600" progId="Equation.DSMT4">
                    <p:embed/>
                    <p:pic>
                      <p:nvPicPr>
                        <p:cNvPr id="0" name="Object 42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793" y="2387"/>
                          <a:ext cx="2502" cy="3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90" name="Text Box 43"/>
          <p:cNvSpPr txBox="1"/>
          <p:nvPr/>
        </p:nvSpPr>
        <p:spPr>
          <a:xfrm>
            <a:off x="2171700" y="4724400"/>
            <a:ext cx="8496300" cy="6245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行波速度：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7691" name="Object 44"/>
          <p:cNvGraphicFramePr>
            <a:graphicFrameLocks noChangeAspect="1"/>
          </p:cNvGraphicFramePr>
          <p:nvPr/>
        </p:nvGraphicFramePr>
        <p:xfrm>
          <a:off x="4079875" y="4652964"/>
          <a:ext cx="4319588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38" imgW="1993900" imgH="482600" progId="Equation.DSMT4">
                  <p:embed/>
                </p:oleObj>
              </mc:Choice>
              <mc:Fallback>
                <p:oleObj name="" r:id="rId38" imgW="1993900" imgH="482600" progId="Equation.DSMT4">
                  <p:embed/>
                  <p:pic>
                    <p:nvPicPr>
                      <p:cNvPr id="0" name="Object 44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079875" y="4652964"/>
                        <a:ext cx="4319588" cy="10445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92" name="Text Box 47"/>
          <p:cNvSpPr txBox="1"/>
          <p:nvPr/>
        </p:nvSpPr>
        <p:spPr>
          <a:xfrm>
            <a:off x="2208213" y="5734050"/>
            <a:ext cx="8064500" cy="6245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弦拉的越紧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波传播速度越快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密度越小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波传播越快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7693" name="AutoShape 51"/>
          <p:cNvSpPr/>
          <p:nvPr/>
        </p:nvSpPr>
        <p:spPr>
          <a:xfrm>
            <a:off x="9264650" y="4652963"/>
            <a:ext cx="1187450" cy="863600"/>
          </a:xfrm>
          <a:prstGeom prst="cloudCallout">
            <a:avLst>
              <a:gd name="adj1" fmla="val -122324"/>
              <a:gd name="adj2" fmla="val 16176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>
              <a:spcBef>
                <a:spcPct val="20000"/>
              </a:spcBef>
            </a:pP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P9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3" name="Object 2"/>
          <p:cNvGraphicFramePr>
            <a:graphicFrameLocks noChangeAspect="1"/>
          </p:cNvGraphicFramePr>
          <p:nvPr/>
        </p:nvGraphicFramePr>
        <p:xfrm>
          <a:off x="2184401" y="606425"/>
          <a:ext cx="77517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238500" imgH="406400" progId="Equation.DSMT4">
                  <p:embed/>
                </p:oleObj>
              </mc:Choice>
              <mc:Fallback>
                <p:oleObj name="" r:id="rId1" imgW="3238500" imgH="4064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84401" y="606425"/>
                        <a:ext cx="7751763" cy="9715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" name="Rectangle 3"/>
          <p:cNvSpPr/>
          <p:nvPr/>
        </p:nvSpPr>
        <p:spPr>
          <a:xfrm>
            <a:off x="2208214" y="5711826"/>
            <a:ext cx="8137525" cy="776879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结论：达朗贝尔解表示沿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轴正、反向传播的两列波速为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endParaRPr lang="en-US" altLang="zh-CN" i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波的叠加，故称为行波法。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28675" name="Rectangle 9"/>
          <p:cNvSpPr/>
          <p:nvPr/>
        </p:nvSpPr>
        <p:spPr>
          <a:xfrm>
            <a:off x="2063751" y="3716338"/>
            <a:ext cx="7921625" cy="40132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只有初始速度时：</a:t>
            </a:r>
            <a:endParaRPr lang="zh-CN" altLang="en-US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676" name="Object 10"/>
          <p:cNvGraphicFramePr>
            <a:graphicFrameLocks noChangeAspect="1"/>
          </p:cNvGraphicFramePr>
          <p:nvPr/>
        </p:nvGraphicFramePr>
        <p:xfrm>
          <a:off x="5303839" y="3644900"/>
          <a:ext cx="35274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586865" imgH="406400" progId="Equation.DSMT4">
                  <p:embed/>
                </p:oleObj>
              </mc:Choice>
              <mc:Fallback>
                <p:oleObj name="" r:id="rId3" imgW="1586865" imgH="4064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3839" y="3644900"/>
                        <a:ext cx="3527425" cy="9032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11"/>
          <p:cNvGraphicFramePr>
            <a:graphicFrameLocks noChangeAspect="1"/>
          </p:cNvGraphicFramePr>
          <p:nvPr/>
        </p:nvGraphicFramePr>
        <p:xfrm>
          <a:off x="3963989" y="5092700"/>
          <a:ext cx="455453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993900" imgH="228600" progId="Equation.DSMT4">
                  <p:embed/>
                </p:oleObj>
              </mc:Choice>
              <mc:Fallback>
                <p:oleObj name="" r:id="rId5" imgW="1993900" imgH="2286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3989" y="5092700"/>
                        <a:ext cx="4554537" cy="5222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8" name="Group 14"/>
          <p:cNvGrpSpPr/>
          <p:nvPr/>
        </p:nvGrpSpPr>
        <p:grpSpPr>
          <a:xfrm>
            <a:off x="2063750" y="1773239"/>
            <a:ext cx="7812088" cy="1925637"/>
            <a:chOff x="340" y="1117"/>
            <a:chExt cx="4921" cy="1213"/>
          </a:xfrm>
        </p:grpSpPr>
        <p:sp>
          <p:nvSpPr>
            <p:cNvPr id="28679" name="Rectangle 4"/>
            <p:cNvSpPr/>
            <p:nvPr/>
          </p:nvSpPr>
          <p:spPr>
            <a:xfrm>
              <a:off x="340" y="1207"/>
              <a:ext cx="4355" cy="25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(1)</a:t>
              </a:r>
              <a:r>
                <a:rPr lang="zh-CN" altLang="en-US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只有初始位移时，</a:t>
              </a:r>
              <a:endParaRPr lang="zh-CN" altLang="en-US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8680" name="Object 5"/>
            <p:cNvGraphicFramePr>
              <a:graphicFrameLocks noChangeAspect="1"/>
            </p:cNvGraphicFramePr>
            <p:nvPr/>
          </p:nvGraphicFramePr>
          <p:xfrm>
            <a:off x="2200" y="1117"/>
            <a:ext cx="2859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2108200" imgH="393700" progId="Equation.DSMT4">
                    <p:embed/>
                  </p:oleObj>
                </mc:Choice>
                <mc:Fallback>
                  <p:oleObj name="" r:id="rId7" imgW="2108200" imgH="393700" progId="Equation.DSMT4">
                    <p:embed/>
                    <p:pic>
                      <p:nvPicPr>
                        <p:cNvPr id="0" name="Object 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00" y="1117"/>
                          <a:ext cx="2859" cy="535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1" name="Object 6"/>
            <p:cNvGraphicFramePr>
              <a:graphicFrameLocks noChangeAspect="1"/>
            </p:cNvGraphicFramePr>
            <p:nvPr/>
          </p:nvGraphicFramePr>
          <p:xfrm>
            <a:off x="1005" y="1708"/>
            <a:ext cx="877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609600" imgH="203200" progId="Equation.DSMT4">
                    <p:embed/>
                  </p:oleObj>
                </mc:Choice>
                <mc:Fallback>
                  <p:oleObj name="" r:id="rId9" imgW="609600" imgH="203200" progId="Equation.DSMT4">
                    <p:embed/>
                    <p:pic>
                      <p:nvPicPr>
                        <p:cNvPr id="0" name="Object 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05" y="1708"/>
                          <a:ext cx="877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2" name="Object 7"/>
            <p:cNvGraphicFramePr>
              <a:graphicFrameLocks noChangeAspect="1"/>
            </p:cNvGraphicFramePr>
            <p:nvPr/>
          </p:nvGraphicFramePr>
          <p:xfrm>
            <a:off x="997" y="2024"/>
            <a:ext cx="93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622300" imgH="203200" progId="Equation.DSMT4">
                    <p:embed/>
                  </p:oleObj>
                </mc:Choice>
                <mc:Fallback>
                  <p:oleObj name="" r:id="rId11" imgW="622300" imgH="203200" progId="Equation.DSMT4">
                    <p:embed/>
                    <p:pic>
                      <p:nvPicPr>
                        <p:cNvPr id="0" name="Object 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97" y="2024"/>
                          <a:ext cx="930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3" name="Rectangle 12"/>
            <p:cNvSpPr/>
            <p:nvPr/>
          </p:nvSpPr>
          <p:spPr>
            <a:xfrm>
              <a:off x="1927" y="1661"/>
              <a:ext cx="3334" cy="4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代表以速度</a:t>
              </a:r>
              <a:r>
                <a:rPr lang="en-US" altLang="zh-CN" i="1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 </a:t>
              </a:r>
              <a:r>
                <a:rPr lang="zh-CN" altLang="en-US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沿</a:t>
              </a:r>
              <a:r>
                <a:rPr lang="en-US" altLang="zh-CN" i="1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x </a:t>
              </a:r>
              <a:r>
                <a:rPr lang="zh-CN" altLang="en-US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轴正向传播的波</a:t>
              </a:r>
              <a:endParaRPr lang="zh-CN" altLang="en-US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代表以速度</a:t>
              </a:r>
              <a:r>
                <a:rPr lang="en-US" altLang="zh-CN" i="1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 </a:t>
              </a:r>
              <a:r>
                <a:rPr lang="zh-CN" altLang="en-US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沿</a:t>
              </a:r>
              <a:r>
                <a:rPr lang="en-US" altLang="zh-CN" i="1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x </a:t>
              </a:r>
              <a:r>
                <a:rPr lang="zh-CN" altLang="en-US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轴负向传播的波</a:t>
              </a:r>
              <a:endParaRPr lang="zh-CN" altLang="en-US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8684" name="Rectangle 13"/>
          <p:cNvSpPr/>
          <p:nvPr/>
        </p:nvSpPr>
        <p:spPr>
          <a:xfrm>
            <a:off x="2351089" y="4508500"/>
            <a:ext cx="7921625" cy="40132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假使初始速度在区间上是常数 ，而在此区间外恒等于</a:t>
            </a:r>
            <a:r>
              <a:rPr lang="en-US" altLang="zh-CN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1" name="Group 3"/>
          <p:cNvGrpSpPr/>
          <p:nvPr/>
        </p:nvGrpSpPr>
        <p:grpSpPr>
          <a:xfrm>
            <a:off x="6816726" y="3035301"/>
            <a:ext cx="3529013" cy="2232025"/>
            <a:chOff x="612" y="935"/>
            <a:chExt cx="2336" cy="1508"/>
          </a:xfrm>
        </p:grpSpPr>
        <p:grpSp>
          <p:nvGrpSpPr>
            <p:cNvPr id="30722" name="Group 4"/>
            <p:cNvGrpSpPr/>
            <p:nvPr/>
          </p:nvGrpSpPr>
          <p:grpSpPr>
            <a:xfrm>
              <a:off x="612" y="935"/>
              <a:ext cx="2336" cy="1508"/>
              <a:chOff x="612" y="1016"/>
              <a:chExt cx="2336" cy="1508"/>
            </a:xfrm>
          </p:grpSpPr>
          <p:sp>
            <p:nvSpPr>
              <p:cNvPr id="30723" name="Line 5"/>
              <p:cNvSpPr/>
              <p:nvPr/>
            </p:nvSpPr>
            <p:spPr>
              <a:xfrm flipV="1">
                <a:off x="612" y="2069"/>
                <a:ext cx="2087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24" name="Line 6"/>
              <p:cNvSpPr/>
              <p:nvPr/>
            </p:nvSpPr>
            <p:spPr>
              <a:xfrm flipV="1">
                <a:off x="702" y="1117"/>
                <a:ext cx="0" cy="140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25" name="Line 7"/>
              <p:cNvSpPr/>
              <p:nvPr/>
            </p:nvSpPr>
            <p:spPr>
              <a:xfrm>
                <a:off x="1156" y="2069"/>
                <a:ext cx="1180" cy="0"/>
              </a:xfrm>
              <a:prstGeom prst="line">
                <a:avLst/>
              </a:prstGeom>
              <a:ln w="28575" cap="flat" cmpd="sng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0726" name="Object 8"/>
              <p:cNvGraphicFramePr>
                <a:graphicFrameLocks noChangeAspect="1"/>
              </p:cNvGraphicFramePr>
              <p:nvPr/>
            </p:nvGraphicFramePr>
            <p:xfrm>
              <a:off x="2744" y="1979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" r:id="rId1" imgW="127000" imgH="139700" progId="Equation.DSMT4">
                      <p:embed/>
                    </p:oleObj>
                  </mc:Choice>
                  <mc:Fallback>
                    <p:oleObj name="" r:id="rId1" imgW="127000" imgH="139700" progId="Equation.DSMT4">
                      <p:embed/>
                      <p:pic>
                        <p:nvPicPr>
                          <p:cNvPr id="0" name="Object 8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2744" y="1979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27" name="Object 9"/>
              <p:cNvGraphicFramePr>
                <a:graphicFrameLocks noChangeAspect="1"/>
              </p:cNvGraphicFramePr>
              <p:nvPr/>
            </p:nvGraphicFramePr>
            <p:xfrm>
              <a:off x="839" y="2115"/>
              <a:ext cx="63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" r:id="rId3" imgW="393700" imgH="152400" progId="Equation.DSMT4">
                      <p:embed/>
                    </p:oleObj>
                  </mc:Choice>
                  <mc:Fallback>
                    <p:oleObj name="" r:id="rId3" imgW="393700" imgH="152400" progId="Equation.DSMT4">
                      <p:embed/>
                      <p:pic>
                        <p:nvPicPr>
                          <p:cNvPr id="0" name="Object 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839" y="2115"/>
                            <a:ext cx="63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28" name="Object 10"/>
              <p:cNvGraphicFramePr>
                <a:graphicFrameLocks noChangeAspect="1"/>
              </p:cNvGraphicFramePr>
              <p:nvPr/>
            </p:nvGraphicFramePr>
            <p:xfrm>
              <a:off x="1927" y="2115"/>
              <a:ext cx="63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" r:id="rId5" imgW="393700" imgH="152400" progId="Equation.DSMT4">
                      <p:embed/>
                    </p:oleObj>
                  </mc:Choice>
                  <mc:Fallback>
                    <p:oleObj name="" r:id="rId5" imgW="393700" imgH="152400" progId="Equation.DSMT4">
                      <p:embed/>
                      <p:pic>
                        <p:nvPicPr>
                          <p:cNvPr id="0" name="Object 10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927" y="2115"/>
                            <a:ext cx="63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29" name="Oval 11"/>
              <p:cNvSpPr/>
              <p:nvPr/>
            </p:nvSpPr>
            <p:spPr>
              <a:xfrm flipH="1">
                <a:off x="1117" y="2048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30" name="Oval 12"/>
              <p:cNvSpPr/>
              <p:nvPr/>
            </p:nvSpPr>
            <p:spPr>
              <a:xfrm flipH="1">
                <a:off x="2336" y="2046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31" name="Text Box 13"/>
              <p:cNvSpPr txBox="1"/>
              <p:nvPr/>
            </p:nvSpPr>
            <p:spPr>
              <a:xfrm>
                <a:off x="1247" y="1752"/>
                <a:ext cx="99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solidFill>
                      <a:srgbClr val="3333CC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依赖区间</a:t>
                </a:r>
                <a:endParaRPr lang="zh-CN" altLang="en-US" dirty="0">
                  <a:solidFill>
                    <a:srgbClr val="3333CC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0732" name="Object 14"/>
              <p:cNvGraphicFramePr>
                <a:graphicFrameLocks noChangeAspect="1"/>
              </p:cNvGraphicFramePr>
              <p:nvPr/>
            </p:nvGraphicFramePr>
            <p:xfrm>
              <a:off x="779" y="1016"/>
              <a:ext cx="14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" r:id="rId7" imgW="88900" imgH="152400" progId="Equation.DSMT4">
                      <p:embed/>
                    </p:oleObj>
                  </mc:Choice>
                  <mc:Fallback>
                    <p:oleObj name="" r:id="rId7" imgW="88900" imgH="152400" progId="Equation.DSMT4">
                      <p:embed/>
                      <p:pic>
                        <p:nvPicPr>
                          <p:cNvPr id="0" name="Object 14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779" y="1016"/>
                            <a:ext cx="14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733" name="Object 15"/>
            <p:cNvGraphicFramePr>
              <a:graphicFrameLocks noChangeAspect="1"/>
            </p:cNvGraphicFramePr>
            <p:nvPr/>
          </p:nvGraphicFramePr>
          <p:xfrm>
            <a:off x="1791" y="1207"/>
            <a:ext cx="499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431800" imgH="203200" progId="Equation.DSMT4">
                    <p:embed/>
                  </p:oleObj>
                </mc:Choice>
                <mc:Fallback>
                  <p:oleObj name="" r:id="rId9" imgW="431800" imgH="203200" progId="Equation.DSMT4">
                    <p:embed/>
                    <p:pic>
                      <p:nvPicPr>
                        <p:cNvPr id="0" name="Object 1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91" y="1207"/>
                          <a:ext cx="499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4" name="Oval 16"/>
            <p:cNvSpPr/>
            <p:nvPr/>
          </p:nvSpPr>
          <p:spPr>
            <a:xfrm flipV="1">
              <a:off x="1731" y="1317"/>
              <a:ext cx="27" cy="2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35" name="Line 17"/>
            <p:cNvSpPr/>
            <p:nvPr/>
          </p:nvSpPr>
          <p:spPr>
            <a:xfrm flipH="1">
              <a:off x="1156" y="1344"/>
              <a:ext cx="590" cy="6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Line 18"/>
            <p:cNvSpPr/>
            <p:nvPr/>
          </p:nvSpPr>
          <p:spPr>
            <a:xfrm>
              <a:off x="1746" y="1344"/>
              <a:ext cx="590" cy="6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37" name="Rectangle 19"/>
          <p:cNvSpPr/>
          <p:nvPr/>
        </p:nvSpPr>
        <p:spPr>
          <a:xfrm>
            <a:off x="1847850" y="333376"/>
            <a:ext cx="5721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依赖区间、决定区域和影响区域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0738" name="Group 34"/>
          <p:cNvGrpSpPr/>
          <p:nvPr/>
        </p:nvGrpSpPr>
        <p:grpSpPr>
          <a:xfrm>
            <a:off x="2459038" y="5516564"/>
            <a:ext cx="7416800" cy="592137"/>
            <a:chOff x="567" y="3475"/>
            <a:chExt cx="4672" cy="373"/>
          </a:xfrm>
        </p:grpSpPr>
        <p:sp>
          <p:nvSpPr>
            <p:cNvPr id="30739" name="Text Box 20"/>
            <p:cNvSpPr txBox="1"/>
            <p:nvPr/>
          </p:nvSpPr>
          <p:spPr>
            <a:xfrm>
              <a:off x="567" y="3521"/>
              <a:ext cx="10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区间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30740" name="Object 21"/>
            <p:cNvGraphicFramePr>
              <a:graphicFrameLocks noChangeAspect="1"/>
            </p:cNvGraphicFramePr>
            <p:nvPr/>
          </p:nvGraphicFramePr>
          <p:xfrm>
            <a:off x="1239" y="3538"/>
            <a:ext cx="1414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1066165" imgH="215900" progId="Equation.DSMT4">
                    <p:embed/>
                  </p:oleObj>
                </mc:Choice>
                <mc:Fallback>
                  <p:oleObj name="" r:id="rId11" imgW="1066165" imgH="215900" progId="Equation.DSMT4">
                    <p:embed/>
                    <p:pic>
                      <p:nvPicPr>
                        <p:cNvPr id="0" name="Object 2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39" y="3538"/>
                          <a:ext cx="1414" cy="2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1" name="Text Box 22"/>
            <p:cNvSpPr txBox="1"/>
            <p:nvPr/>
          </p:nvSpPr>
          <p:spPr>
            <a:xfrm>
              <a:off x="2744" y="3475"/>
              <a:ext cx="249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为解的依赖区间。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128023" name="Text Box 23"/>
          <p:cNvSpPr txBox="1"/>
          <p:nvPr/>
        </p:nvSpPr>
        <p:spPr>
          <a:xfrm>
            <a:off x="2566988" y="1628776"/>
            <a:ext cx="8101012" cy="11604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仅仅依赖于                           内的初始条件，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在区间以外改变初始数据时，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解的值不变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28024" name="Object 24"/>
          <p:cNvGraphicFramePr>
            <a:graphicFrameLocks noChangeAspect="1"/>
          </p:cNvGraphicFramePr>
          <p:nvPr/>
        </p:nvGraphicFramePr>
        <p:xfrm>
          <a:off x="5465763" y="1628776"/>
          <a:ext cx="227806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1066165" imgH="215900" progId="Equation.DSMT4">
                  <p:embed/>
                </p:oleObj>
              </mc:Choice>
              <mc:Fallback>
                <p:oleObj name="" r:id="rId13" imgW="1066165" imgH="215900" progId="Equation.DSMT4">
                  <p:embed/>
                  <p:pic>
                    <p:nvPicPr>
                      <p:cNvPr id="0" name="Object 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65763" y="1628776"/>
                        <a:ext cx="2278062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27" name="Text Box 27"/>
          <p:cNvSpPr txBox="1"/>
          <p:nvPr/>
        </p:nvSpPr>
        <p:spPr>
          <a:xfrm>
            <a:off x="2495551" y="3581401"/>
            <a:ext cx="43672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它是过</a:t>
            </a:r>
            <a:r>
              <a:rPr lang="zh-CN" altLang="en-US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zh-CN" altLang="en-US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en-US" altLang="zh-CN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zh-CN" altLang="en-US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点，斜率为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28028" name="Object 28"/>
          <p:cNvGraphicFramePr>
            <a:graphicFrameLocks noChangeAspect="1"/>
          </p:cNvGraphicFramePr>
          <p:nvPr/>
        </p:nvGraphicFramePr>
        <p:xfrm>
          <a:off x="2528888" y="3990976"/>
          <a:ext cx="62706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5" imgW="292100" imgH="444500" progId="Equation.DSMT4">
                  <p:embed/>
                </p:oleObj>
              </mc:Choice>
              <mc:Fallback>
                <p:oleObj name="" r:id="rId15" imgW="292100" imgH="444500" progId="Equation.DSMT4">
                  <p:embed/>
                  <p:pic>
                    <p:nvPicPr>
                      <p:cNvPr id="0" name="Object 2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28888" y="3990976"/>
                        <a:ext cx="627062" cy="733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29" name="Text Box 29"/>
          <p:cNvSpPr txBox="1"/>
          <p:nvPr/>
        </p:nvSpPr>
        <p:spPr>
          <a:xfrm>
            <a:off x="3205163" y="4114800"/>
            <a:ext cx="3733800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的直线与 </a:t>
            </a:r>
            <a:r>
              <a:rPr lang="en-US" altLang="zh-CN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轴所截而得到</a:t>
            </a:r>
            <a:endParaRPr lang="zh-CN" altLang="en-US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8030" name="Text Box 30"/>
          <p:cNvSpPr txBox="1"/>
          <p:nvPr/>
        </p:nvSpPr>
        <p:spPr>
          <a:xfrm>
            <a:off x="2495550" y="4797426"/>
            <a:ext cx="3733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的区间（如右图）。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748" name="Rectangle 31"/>
          <p:cNvSpPr/>
          <p:nvPr/>
        </p:nvSpPr>
        <p:spPr>
          <a:xfrm>
            <a:off x="2351089" y="1052513"/>
            <a:ext cx="237648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依赖区间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49" name="AutoShape 33"/>
          <p:cNvSpPr/>
          <p:nvPr/>
        </p:nvSpPr>
        <p:spPr>
          <a:xfrm>
            <a:off x="4008439" y="2852739"/>
            <a:ext cx="358775" cy="719137"/>
          </a:xfrm>
          <a:prstGeom prst="downArrow">
            <a:avLst>
              <a:gd name="adj1" fmla="val 50000"/>
              <a:gd name="adj2" fmla="val 50092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8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8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8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8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8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8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8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8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23" grpId="0"/>
      <p:bldP spid="128027" grpId="0"/>
      <p:bldP spid="128029" grpId="0"/>
      <p:bldP spid="12803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3"/>
          <p:cNvSpPr txBox="1"/>
          <p:nvPr/>
        </p:nvSpPr>
        <p:spPr>
          <a:xfrm>
            <a:off x="1992313" y="1341439"/>
            <a:ext cx="4608512" cy="2655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该区域中任一点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的依赖区间都落在区间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c,  d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内部，因此解在此该区域中的数值完全由区间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c, d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上的初始条件决定。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46" name="Text Box 4"/>
          <p:cNvSpPr txBox="1"/>
          <p:nvPr/>
        </p:nvSpPr>
        <p:spPr>
          <a:xfrm>
            <a:off x="1992314" y="4508500"/>
            <a:ext cx="7920037" cy="1384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该区域称为区间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[c</a:t>
            </a:r>
            <a:r>
              <a:rPr lang="en-US" altLang="zh-CN" sz="2800" i="1" baseline="-250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d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]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决定区域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。在区间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[c</a:t>
            </a:r>
            <a:r>
              <a:rPr lang="en-US" altLang="zh-CN" sz="2800" i="1" baseline="-250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d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]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上给定初始条件，就可以在其决定区域中确定初值问题的解。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1747" name="Group 8"/>
          <p:cNvGrpSpPr/>
          <p:nvPr/>
        </p:nvGrpSpPr>
        <p:grpSpPr>
          <a:xfrm>
            <a:off x="6672263" y="1557338"/>
            <a:ext cx="3706812" cy="2305050"/>
            <a:chOff x="3198" y="981"/>
            <a:chExt cx="2335" cy="1452"/>
          </a:xfrm>
        </p:grpSpPr>
        <p:grpSp>
          <p:nvGrpSpPr>
            <p:cNvPr id="31748" name="Group 9"/>
            <p:cNvGrpSpPr/>
            <p:nvPr/>
          </p:nvGrpSpPr>
          <p:grpSpPr>
            <a:xfrm>
              <a:off x="3198" y="981"/>
              <a:ext cx="2335" cy="1452"/>
              <a:chOff x="3198" y="1026"/>
              <a:chExt cx="2335" cy="1452"/>
            </a:xfrm>
          </p:grpSpPr>
          <p:sp>
            <p:nvSpPr>
              <p:cNvPr id="31749" name="Line 10"/>
              <p:cNvSpPr/>
              <p:nvPr/>
            </p:nvSpPr>
            <p:spPr>
              <a:xfrm flipV="1">
                <a:off x="3198" y="2023"/>
                <a:ext cx="2087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0" name="Line 11"/>
              <p:cNvSpPr/>
              <p:nvPr/>
            </p:nvSpPr>
            <p:spPr>
              <a:xfrm flipV="1">
                <a:off x="3288" y="1071"/>
                <a:ext cx="0" cy="140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1751" name="Group 12"/>
              <p:cNvGrpSpPr/>
              <p:nvPr/>
            </p:nvGrpSpPr>
            <p:grpSpPr>
              <a:xfrm>
                <a:off x="3742" y="1434"/>
                <a:ext cx="1180" cy="590"/>
                <a:chOff x="3742" y="1434"/>
                <a:chExt cx="1180" cy="590"/>
              </a:xfrm>
            </p:grpSpPr>
            <p:sp>
              <p:nvSpPr>
                <p:cNvPr id="31752" name="Line 13"/>
                <p:cNvSpPr/>
                <p:nvPr/>
              </p:nvSpPr>
              <p:spPr>
                <a:xfrm flipV="1">
                  <a:off x="3742" y="1434"/>
                  <a:ext cx="590" cy="59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53" name="Line 14"/>
                <p:cNvSpPr/>
                <p:nvPr/>
              </p:nvSpPr>
              <p:spPr>
                <a:xfrm>
                  <a:off x="4322" y="1434"/>
                  <a:ext cx="590" cy="59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54" name="Line 15"/>
                <p:cNvSpPr/>
                <p:nvPr/>
              </p:nvSpPr>
              <p:spPr>
                <a:xfrm>
                  <a:off x="3742" y="2024"/>
                  <a:ext cx="1180" cy="0"/>
                </a:xfrm>
                <a:prstGeom prst="line">
                  <a:avLst/>
                </a:prstGeom>
                <a:ln w="28575" cap="flat" cmpd="sng">
                  <a:solidFill>
                    <a:srgbClr val="CC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755" name="Line 16"/>
              <p:cNvSpPr/>
              <p:nvPr/>
            </p:nvSpPr>
            <p:spPr>
              <a:xfrm>
                <a:off x="3878" y="1933"/>
                <a:ext cx="91" cy="91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6" name="Line 17"/>
              <p:cNvSpPr/>
              <p:nvPr/>
            </p:nvSpPr>
            <p:spPr>
              <a:xfrm>
                <a:off x="4059" y="1706"/>
                <a:ext cx="273" cy="318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7" name="Line 18"/>
              <p:cNvSpPr/>
              <p:nvPr/>
            </p:nvSpPr>
            <p:spPr>
              <a:xfrm>
                <a:off x="4150" y="1616"/>
                <a:ext cx="363" cy="408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8" name="Line 19"/>
              <p:cNvSpPr/>
              <p:nvPr/>
            </p:nvSpPr>
            <p:spPr>
              <a:xfrm>
                <a:off x="4241" y="1525"/>
                <a:ext cx="499" cy="499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9" name="Line 20"/>
              <p:cNvSpPr/>
              <p:nvPr/>
            </p:nvSpPr>
            <p:spPr>
              <a:xfrm>
                <a:off x="3969" y="1797"/>
                <a:ext cx="181" cy="227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1760" name="Object 21"/>
              <p:cNvGraphicFramePr>
                <a:graphicFrameLocks noChangeAspect="1"/>
              </p:cNvGraphicFramePr>
              <p:nvPr/>
            </p:nvGraphicFramePr>
            <p:xfrm>
              <a:off x="5329" y="1933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" r:id="rId1" imgW="127000" imgH="139700" progId="Equation.DSMT4">
                      <p:embed/>
                    </p:oleObj>
                  </mc:Choice>
                  <mc:Fallback>
                    <p:oleObj name="" r:id="rId1" imgW="127000" imgH="139700" progId="Equation.DSMT4">
                      <p:embed/>
                      <p:pic>
                        <p:nvPicPr>
                          <p:cNvPr id="0" name="Object 21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5329" y="1933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1" name="Object 22"/>
              <p:cNvGraphicFramePr>
                <a:graphicFrameLocks noChangeAspect="1"/>
              </p:cNvGraphicFramePr>
              <p:nvPr/>
            </p:nvGraphicFramePr>
            <p:xfrm>
              <a:off x="3363" y="1524"/>
              <a:ext cx="701" cy="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" r:id="rId3" imgW="609600" imgH="152400" progId="Equation.DSMT4">
                      <p:embed/>
                    </p:oleObj>
                  </mc:Choice>
                  <mc:Fallback>
                    <p:oleObj name="" r:id="rId3" imgW="609600" imgH="152400" progId="Equation.DSMT4">
                      <p:embed/>
                      <p:pic>
                        <p:nvPicPr>
                          <p:cNvPr id="0" name="Object 2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363" y="1524"/>
                            <a:ext cx="701" cy="17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2" name="Object 23"/>
              <p:cNvGraphicFramePr>
                <a:graphicFrameLocks noChangeAspect="1"/>
              </p:cNvGraphicFramePr>
              <p:nvPr/>
            </p:nvGraphicFramePr>
            <p:xfrm>
              <a:off x="3379" y="1026"/>
              <a:ext cx="14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" r:id="rId5" imgW="88900" imgH="152400" progId="Equation.DSMT4">
                      <p:embed/>
                    </p:oleObj>
                  </mc:Choice>
                  <mc:Fallback>
                    <p:oleObj name="" r:id="rId5" imgW="88900" imgH="152400" progId="Equation.DSMT4">
                      <p:embed/>
                      <p:pic>
                        <p:nvPicPr>
                          <p:cNvPr id="0" name="Object 23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379" y="1026"/>
                            <a:ext cx="14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3" name="Object 24"/>
              <p:cNvGraphicFramePr>
                <a:graphicFrameLocks noChangeAspect="1"/>
              </p:cNvGraphicFramePr>
              <p:nvPr/>
            </p:nvGraphicFramePr>
            <p:xfrm>
              <a:off x="3693" y="2034"/>
              <a:ext cx="184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" r:id="rId7" imgW="114300" imgH="139700" progId="Equation.DSMT4">
                      <p:embed/>
                    </p:oleObj>
                  </mc:Choice>
                  <mc:Fallback>
                    <p:oleObj name="" r:id="rId7" imgW="114300" imgH="139700" progId="Equation.DSMT4">
                      <p:embed/>
                      <p:pic>
                        <p:nvPicPr>
                          <p:cNvPr id="0" name="Object 24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693" y="2034"/>
                            <a:ext cx="184" cy="22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764" name="Text Box 25"/>
              <p:cNvSpPr txBox="1"/>
              <p:nvPr/>
            </p:nvSpPr>
            <p:spPr>
              <a:xfrm>
                <a:off x="3923" y="1755"/>
                <a:ext cx="907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Arial" panose="020B0604020202020204" pitchFamily="34" charset="0"/>
                    <a:ea typeface="华文中宋" panose="02010600040101010101" pitchFamily="2" charset="-122"/>
                  </a:rPr>
                  <a:t>决定区域</a:t>
                </a:r>
                <a:endParaRPr lang="zh-CN" altLang="en-US" sz="2200"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1765" name="Oval 26"/>
              <p:cNvSpPr/>
              <p:nvPr/>
            </p:nvSpPr>
            <p:spPr>
              <a:xfrm flipH="1">
                <a:off x="3724" y="1997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6" name="Oval 27"/>
              <p:cNvSpPr/>
              <p:nvPr/>
            </p:nvSpPr>
            <p:spPr>
              <a:xfrm flipH="1">
                <a:off x="4892" y="2012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31767" name="Object 28"/>
            <p:cNvGraphicFramePr>
              <a:graphicFrameLocks noChangeAspect="1"/>
            </p:cNvGraphicFramePr>
            <p:nvPr/>
          </p:nvGraphicFramePr>
          <p:xfrm>
            <a:off x="4850" y="1973"/>
            <a:ext cx="224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39700" imgH="177800" progId="Equation.DSMT4">
                    <p:embed/>
                  </p:oleObj>
                </mc:Choice>
                <mc:Fallback>
                  <p:oleObj name="" r:id="rId9" imgW="139700" imgH="177800" progId="Equation.DSMT4">
                    <p:embed/>
                    <p:pic>
                      <p:nvPicPr>
                        <p:cNvPr id="0" name="Object 2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50" y="1973"/>
                          <a:ext cx="224" cy="2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8" name="Object 29"/>
            <p:cNvGraphicFramePr>
              <a:graphicFrameLocks noChangeAspect="1"/>
            </p:cNvGraphicFramePr>
            <p:nvPr/>
          </p:nvGraphicFramePr>
          <p:xfrm>
            <a:off x="4577" y="1414"/>
            <a:ext cx="640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634365" imgH="177800" progId="Equation.DSMT4">
                    <p:embed/>
                  </p:oleObj>
                </mc:Choice>
                <mc:Fallback>
                  <p:oleObj name="" r:id="rId11" imgW="634365" imgH="177800" progId="Equation.DSMT4">
                    <p:embed/>
                    <p:pic>
                      <p:nvPicPr>
                        <p:cNvPr id="0" name="Object 2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577" y="1414"/>
                          <a:ext cx="640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69" name="Rectangle 30"/>
          <p:cNvSpPr/>
          <p:nvPr/>
        </p:nvSpPr>
        <p:spPr>
          <a:xfrm>
            <a:off x="2135189" y="620713"/>
            <a:ext cx="24479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决定区域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/>
          <p:cNvSpPr txBox="1"/>
          <p:nvPr/>
        </p:nvSpPr>
        <p:spPr>
          <a:xfrm>
            <a:off x="2351088" y="739776"/>
            <a:ext cx="6985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影响区域 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0051" name="Text Box 3"/>
          <p:cNvSpPr txBox="1"/>
          <p:nvPr/>
        </p:nvSpPr>
        <p:spPr>
          <a:xfrm>
            <a:off x="1992314" y="1557338"/>
            <a:ext cx="727233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如果在初始时刻 </a:t>
            </a:r>
            <a:r>
              <a:rPr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＝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，扰动仅仅在有限区间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30052" name="Object 4"/>
          <p:cNvGraphicFramePr>
            <a:graphicFrameLocks noChangeAspect="1"/>
          </p:cNvGraphicFramePr>
          <p:nvPr/>
        </p:nvGraphicFramePr>
        <p:xfrm>
          <a:off x="9017001" y="1585913"/>
          <a:ext cx="8794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93065" imgH="215900" progId="Equation.DSMT4">
                  <p:embed/>
                </p:oleObj>
              </mc:Choice>
              <mc:Fallback>
                <p:oleObj name="" r:id="rId1" imgW="393065" imgH="2159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17001" y="1585913"/>
                        <a:ext cx="87947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3" name="Text Box 5"/>
          <p:cNvSpPr txBox="1"/>
          <p:nvPr/>
        </p:nvSpPr>
        <p:spPr>
          <a:xfrm>
            <a:off x="1992314" y="2090738"/>
            <a:ext cx="73437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上存在，则经过时间 </a:t>
            </a:r>
            <a:r>
              <a:rPr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后，扰动传到的范围为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30054" name="Object 6"/>
          <p:cNvGraphicFramePr>
            <a:graphicFrameLocks noChangeAspect="1"/>
          </p:cNvGraphicFramePr>
          <p:nvPr/>
        </p:nvGraphicFramePr>
        <p:xfrm>
          <a:off x="4008438" y="2652714"/>
          <a:ext cx="457835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853565" imgH="215900" progId="Equation.DSMT4">
                  <p:embed/>
                </p:oleObj>
              </mc:Choice>
              <mc:Fallback>
                <p:oleObj name="" r:id="rId3" imgW="1853565" imgH="2159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8438" y="2652714"/>
                        <a:ext cx="4578350" cy="5349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5" name="Text Box 7"/>
          <p:cNvSpPr txBox="1"/>
          <p:nvPr/>
        </p:nvSpPr>
        <p:spPr>
          <a:xfrm>
            <a:off x="1774825" y="3284538"/>
            <a:ext cx="11318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定义：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0056" name="Text Box 8"/>
          <p:cNvSpPr txBox="1"/>
          <p:nvPr/>
        </p:nvSpPr>
        <p:spPr>
          <a:xfrm>
            <a:off x="2855914" y="3257551"/>
            <a:ext cx="461803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上式所定义的区域称为区间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30057" name="Object 9"/>
          <p:cNvGraphicFramePr>
            <a:graphicFrameLocks noChangeAspect="1"/>
          </p:cNvGraphicFramePr>
          <p:nvPr/>
        </p:nvGraphicFramePr>
        <p:xfrm>
          <a:off x="7364414" y="3335339"/>
          <a:ext cx="7905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93065" imgH="215900" progId="Equation.DSMT4">
                  <p:embed/>
                </p:oleObj>
              </mc:Choice>
              <mc:Fallback>
                <p:oleObj name="" r:id="rId5" imgW="393065" imgH="2159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64414" y="3335339"/>
                        <a:ext cx="790575" cy="433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8" name="Text Box 10"/>
          <p:cNvSpPr txBox="1"/>
          <p:nvPr/>
        </p:nvSpPr>
        <p:spPr>
          <a:xfrm>
            <a:off x="8166100" y="3252788"/>
            <a:ext cx="2133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的影响区域。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2778" name="Group 11"/>
          <p:cNvGrpSpPr/>
          <p:nvPr/>
        </p:nvGrpSpPr>
        <p:grpSpPr>
          <a:xfrm>
            <a:off x="3544889" y="4149726"/>
            <a:ext cx="5754687" cy="2087563"/>
            <a:chOff x="1953" y="2886"/>
            <a:chExt cx="3625" cy="1315"/>
          </a:xfrm>
        </p:grpSpPr>
        <p:graphicFrame>
          <p:nvGraphicFramePr>
            <p:cNvPr id="32779" name="Object 12"/>
            <p:cNvGraphicFramePr>
              <a:graphicFrameLocks noChangeAspect="1"/>
            </p:cNvGraphicFramePr>
            <p:nvPr/>
          </p:nvGraphicFramePr>
          <p:xfrm>
            <a:off x="2780" y="3823"/>
            <a:ext cx="167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14300" imgH="139700" progId="Equation.DSMT4">
                    <p:embed/>
                  </p:oleObj>
                </mc:Choice>
                <mc:Fallback>
                  <p:oleObj name="" r:id="rId7" imgW="114300" imgH="139700" progId="Equation.DSMT4">
                    <p:embed/>
                    <p:pic>
                      <p:nvPicPr>
                        <p:cNvPr id="0" name="Object 1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80" y="3823"/>
                          <a:ext cx="167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0" name="Line 13"/>
            <p:cNvSpPr/>
            <p:nvPr/>
          </p:nvSpPr>
          <p:spPr>
            <a:xfrm flipV="1">
              <a:off x="2381" y="3802"/>
              <a:ext cx="2930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1" name="Line 14"/>
            <p:cNvSpPr/>
            <p:nvPr/>
          </p:nvSpPr>
          <p:spPr>
            <a:xfrm flipV="1">
              <a:off x="2463" y="2967"/>
              <a:ext cx="0" cy="12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2" name="Line 15"/>
            <p:cNvSpPr/>
            <p:nvPr/>
          </p:nvSpPr>
          <p:spPr>
            <a:xfrm flipV="1">
              <a:off x="3948" y="3285"/>
              <a:ext cx="537" cy="5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3" name="Line 16"/>
            <p:cNvSpPr/>
            <p:nvPr/>
          </p:nvSpPr>
          <p:spPr>
            <a:xfrm>
              <a:off x="2340" y="3284"/>
              <a:ext cx="537" cy="5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4" name="Line 17"/>
            <p:cNvSpPr/>
            <p:nvPr/>
          </p:nvSpPr>
          <p:spPr>
            <a:xfrm>
              <a:off x="2876" y="3802"/>
              <a:ext cx="1073" cy="0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2785" name="Object 18"/>
            <p:cNvGraphicFramePr>
              <a:graphicFrameLocks noChangeAspect="1"/>
            </p:cNvGraphicFramePr>
            <p:nvPr/>
          </p:nvGraphicFramePr>
          <p:xfrm>
            <a:off x="5392" y="3761"/>
            <a:ext cx="186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27000" imgH="139700" progId="Equation.DSMT4">
                    <p:embed/>
                  </p:oleObj>
                </mc:Choice>
                <mc:Fallback>
                  <p:oleObj name="" r:id="rId9" imgW="127000" imgH="139700" progId="Equation.DSMT4">
                    <p:embed/>
                    <p:pic>
                      <p:nvPicPr>
                        <p:cNvPr id="0" name="Object 1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392" y="3761"/>
                          <a:ext cx="186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6" name="Object 19"/>
            <p:cNvGraphicFramePr>
              <a:graphicFrameLocks noChangeAspect="1"/>
            </p:cNvGraphicFramePr>
            <p:nvPr/>
          </p:nvGraphicFramePr>
          <p:xfrm>
            <a:off x="3843" y="3838"/>
            <a:ext cx="204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139700" imgH="177800" progId="Equation.DSMT4">
                    <p:embed/>
                  </p:oleObj>
                </mc:Choice>
                <mc:Fallback>
                  <p:oleObj name="" r:id="rId11" imgW="139700" imgH="177800" progId="Equation.DSMT4">
                    <p:embed/>
                    <p:pic>
                      <p:nvPicPr>
                        <p:cNvPr id="0" name="Object 1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843" y="3838"/>
                          <a:ext cx="204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7" name="Object 20"/>
            <p:cNvGraphicFramePr>
              <a:graphicFrameLocks noChangeAspect="1"/>
            </p:cNvGraphicFramePr>
            <p:nvPr/>
          </p:nvGraphicFramePr>
          <p:xfrm>
            <a:off x="2505" y="2886"/>
            <a:ext cx="12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88900" imgH="152400" progId="Equation.DSMT4">
                    <p:embed/>
                  </p:oleObj>
                </mc:Choice>
                <mc:Fallback>
                  <p:oleObj name="" r:id="rId13" imgW="88900" imgH="152400" progId="Equation.DSMT4">
                    <p:embed/>
                    <p:pic>
                      <p:nvPicPr>
                        <p:cNvPr id="0" name="Object 2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505" y="2886"/>
                          <a:ext cx="129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8" name="Object 21"/>
            <p:cNvGraphicFramePr>
              <a:graphicFrameLocks noChangeAspect="1"/>
            </p:cNvGraphicFramePr>
            <p:nvPr/>
          </p:nvGraphicFramePr>
          <p:xfrm>
            <a:off x="4544" y="3107"/>
            <a:ext cx="581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5" imgW="634365" imgH="177800" progId="Equation.DSMT4">
                    <p:embed/>
                  </p:oleObj>
                </mc:Choice>
                <mc:Fallback>
                  <p:oleObj name="" r:id="rId15" imgW="634365" imgH="177800" progId="Equation.DSMT4">
                    <p:embed/>
                    <p:pic>
                      <p:nvPicPr>
                        <p:cNvPr id="0" name="Object 2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544" y="3107"/>
                          <a:ext cx="581" cy="1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9" name="Text Box 22"/>
            <p:cNvSpPr txBox="1"/>
            <p:nvPr/>
          </p:nvSpPr>
          <p:spPr>
            <a:xfrm>
              <a:off x="2958" y="3443"/>
              <a:ext cx="8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 dirty="0">
                  <a:latin typeface="Arial" panose="020B0604020202020204" pitchFamily="34" charset="0"/>
                  <a:ea typeface="华文中宋" panose="02010600040101010101" pitchFamily="2" charset="-122"/>
                </a:rPr>
                <a:t>影响区域</a:t>
              </a:r>
              <a:endParaRPr lang="zh-CN" altLang="en-US" sz="2200" dirty="0"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32790" name="Object 23"/>
            <p:cNvGraphicFramePr>
              <a:graphicFrameLocks noChangeAspect="1"/>
            </p:cNvGraphicFramePr>
            <p:nvPr/>
          </p:nvGraphicFramePr>
          <p:xfrm>
            <a:off x="1953" y="3084"/>
            <a:ext cx="637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7" imgW="609600" imgH="152400" progId="Equation.DSMT4">
                    <p:embed/>
                  </p:oleObj>
                </mc:Choice>
                <mc:Fallback>
                  <p:oleObj name="" r:id="rId17" imgW="609600" imgH="152400" progId="Equation.DSMT4">
                    <p:embed/>
                    <p:pic>
                      <p:nvPicPr>
                        <p:cNvPr id="0" name="Object 2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953" y="3084"/>
                          <a:ext cx="637" cy="1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1" name="Oval 24"/>
            <p:cNvSpPr/>
            <p:nvPr/>
          </p:nvSpPr>
          <p:spPr>
            <a:xfrm flipH="1">
              <a:off x="2840" y="3777"/>
              <a:ext cx="41" cy="40"/>
            </a:xfrm>
            <a:prstGeom prst="ellipse">
              <a:avLst/>
            </a:prstGeom>
            <a:solidFill>
              <a:srgbClr val="8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92" name="Oval 25"/>
            <p:cNvSpPr/>
            <p:nvPr/>
          </p:nvSpPr>
          <p:spPr>
            <a:xfrm flipH="1">
              <a:off x="3940" y="3772"/>
              <a:ext cx="41" cy="40"/>
            </a:xfrm>
            <a:prstGeom prst="ellipse">
              <a:avLst/>
            </a:prstGeom>
            <a:solidFill>
              <a:srgbClr val="8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93" name="Line 26"/>
            <p:cNvSpPr/>
            <p:nvPr/>
          </p:nvSpPr>
          <p:spPr>
            <a:xfrm>
              <a:off x="2453" y="3204"/>
              <a:ext cx="577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Line 27"/>
            <p:cNvSpPr/>
            <p:nvPr/>
          </p:nvSpPr>
          <p:spPr>
            <a:xfrm>
              <a:off x="2587" y="3204"/>
              <a:ext cx="578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Line 28"/>
            <p:cNvSpPr/>
            <p:nvPr/>
          </p:nvSpPr>
          <p:spPr>
            <a:xfrm>
              <a:off x="2744" y="3204"/>
              <a:ext cx="577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Line 29"/>
            <p:cNvSpPr/>
            <p:nvPr/>
          </p:nvSpPr>
          <p:spPr>
            <a:xfrm>
              <a:off x="2918" y="3204"/>
              <a:ext cx="577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7" name="Line 30"/>
            <p:cNvSpPr/>
            <p:nvPr/>
          </p:nvSpPr>
          <p:spPr>
            <a:xfrm>
              <a:off x="3058" y="3204"/>
              <a:ext cx="577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8" name="Line 31"/>
            <p:cNvSpPr/>
            <p:nvPr/>
          </p:nvSpPr>
          <p:spPr>
            <a:xfrm>
              <a:off x="3248" y="3204"/>
              <a:ext cx="577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9" name="Line 32"/>
            <p:cNvSpPr/>
            <p:nvPr/>
          </p:nvSpPr>
          <p:spPr>
            <a:xfrm>
              <a:off x="3418" y="3173"/>
              <a:ext cx="572" cy="58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0" name="Line 33"/>
            <p:cNvSpPr/>
            <p:nvPr/>
          </p:nvSpPr>
          <p:spPr>
            <a:xfrm>
              <a:off x="3577" y="3165"/>
              <a:ext cx="496" cy="517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1" name="Line 34"/>
            <p:cNvSpPr/>
            <p:nvPr/>
          </p:nvSpPr>
          <p:spPr>
            <a:xfrm>
              <a:off x="3737" y="3114"/>
              <a:ext cx="418" cy="44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2" name="Line 35"/>
            <p:cNvSpPr/>
            <p:nvPr/>
          </p:nvSpPr>
          <p:spPr>
            <a:xfrm>
              <a:off x="3866" y="3046"/>
              <a:ext cx="418" cy="44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3" name="Line 36"/>
            <p:cNvSpPr/>
            <p:nvPr/>
          </p:nvSpPr>
          <p:spPr>
            <a:xfrm>
              <a:off x="4073" y="3046"/>
              <a:ext cx="334" cy="329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/>
      <p:bldP spid="130051" grpId="0"/>
      <p:bldP spid="130053" grpId="0"/>
      <p:bldP spid="130055" grpId="0"/>
      <p:bldP spid="130056" grpId="0"/>
      <p:bldP spid="13005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386" name="Object 2"/>
          <p:cNvGraphicFramePr>
            <a:graphicFrameLocks noChangeAspect="1"/>
          </p:cNvGraphicFramePr>
          <p:nvPr/>
        </p:nvGraphicFramePr>
        <p:xfrm>
          <a:off x="2208214" y="836613"/>
          <a:ext cx="7704137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098800" imgH="393700" progId="Equation.DSMT4">
                  <p:embed/>
                </p:oleObj>
              </mc:Choice>
              <mc:Fallback>
                <p:oleObj name="" r:id="rId1" imgW="3098800" imgH="3937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8214" y="836613"/>
                        <a:ext cx="7704137" cy="9318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4387" name="Group 3"/>
          <p:cNvGrpSpPr/>
          <p:nvPr/>
        </p:nvGrpSpPr>
        <p:grpSpPr>
          <a:xfrm>
            <a:off x="1739901" y="4149726"/>
            <a:ext cx="5795963" cy="2087563"/>
            <a:chOff x="249" y="2659"/>
            <a:chExt cx="4014" cy="1499"/>
          </a:xfrm>
        </p:grpSpPr>
        <p:graphicFrame>
          <p:nvGraphicFramePr>
            <p:cNvPr id="33795" name="Object 4"/>
            <p:cNvGraphicFramePr>
              <a:graphicFrameLocks noChangeAspect="1"/>
            </p:cNvGraphicFramePr>
            <p:nvPr/>
          </p:nvGraphicFramePr>
          <p:xfrm>
            <a:off x="1156" y="3657"/>
            <a:ext cx="245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52400" imgH="228600" progId="Equation.DSMT4">
                    <p:embed/>
                  </p:oleObj>
                </mc:Choice>
                <mc:Fallback>
                  <p:oleObj name="" r:id="rId3" imgW="152400" imgH="2286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56" y="3657"/>
                          <a:ext cx="245" cy="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796" name="Line 5"/>
            <p:cNvSpPr/>
            <p:nvPr/>
          </p:nvSpPr>
          <p:spPr>
            <a:xfrm flipV="1">
              <a:off x="748" y="3703"/>
              <a:ext cx="322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7" name="Line 6"/>
            <p:cNvSpPr/>
            <p:nvPr/>
          </p:nvSpPr>
          <p:spPr>
            <a:xfrm flipV="1">
              <a:off x="838" y="2751"/>
              <a:ext cx="0" cy="14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8" name="Line 7"/>
            <p:cNvSpPr/>
            <p:nvPr/>
          </p:nvSpPr>
          <p:spPr>
            <a:xfrm flipV="1">
              <a:off x="2471" y="3114"/>
              <a:ext cx="590" cy="59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9" name="Line 8"/>
            <p:cNvSpPr/>
            <p:nvPr/>
          </p:nvSpPr>
          <p:spPr>
            <a:xfrm>
              <a:off x="703" y="3113"/>
              <a:ext cx="590" cy="59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0" name="Line 9"/>
            <p:cNvSpPr/>
            <p:nvPr/>
          </p:nvSpPr>
          <p:spPr>
            <a:xfrm>
              <a:off x="1292" y="3703"/>
              <a:ext cx="1180" cy="0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3801" name="Object 10"/>
            <p:cNvGraphicFramePr>
              <a:graphicFrameLocks noChangeAspect="1"/>
            </p:cNvGraphicFramePr>
            <p:nvPr/>
          </p:nvGraphicFramePr>
          <p:xfrm>
            <a:off x="4059" y="3657"/>
            <a:ext cx="20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27000" imgH="139700" progId="Equation.DSMT4">
                    <p:embed/>
                  </p:oleObj>
                </mc:Choice>
                <mc:Fallback>
                  <p:oleObj name="" r:id="rId5" imgW="127000" imgH="139700" progId="Equation.DSMT4">
                    <p:embed/>
                    <p:pic>
                      <p:nvPicPr>
                        <p:cNvPr id="0" name="Object 1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059" y="3657"/>
                          <a:ext cx="204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2" name="Object 11"/>
            <p:cNvGraphicFramePr>
              <a:graphicFrameLocks noChangeAspect="1"/>
            </p:cNvGraphicFramePr>
            <p:nvPr/>
          </p:nvGraphicFramePr>
          <p:xfrm>
            <a:off x="2336" y="3703"/>
            <a:ext cx="265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65100" imgH="228600" progId="Equation.DSMT4">
                    <p:embed/>
                  </p:oleObj>
                </mc:Choice>
                <mc:Fallback>
                  <p:oleObj name="" r:id="rId7" imgW="165100" imgH="228600" progId="Equation.DSMT4">
                    <p:embed/>
                    <p:pic>
                      <p:nvPicPr>
                        <p:cNvPr id="0" name="Object 1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36" y="3703"/>
                          <a:ext cx="265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3" name="Object 15"/>
            <p:cNvGraphicFramePr>
              <a:graphicFrameLocks noChangeAspect="1"/>
            </p:cNvGraphicFramePr>
            <p:nvPr/>
          </p:nvGraphicFramePr>
          <p:xfrm>
            <a:off x="884" y="2659"/>
            <a:ext cx="142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88900" imgH="152400" progId="Equation.DSMT4">
                    <p:embed/>
                  </p:oleObj>
                </mc:Choice>
                <mc:Fallback>
                  <p:oleObj name="" r:id="rId9" imgW="88900" imgH="152400" progId="Equation.DSMT4">
                    <p:embed/>
                    <p:pic>
                      <p:nvPicPr>
                        <p:cNvPr id="0" name="Object 1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84" y="2659"/>
                          <a:ext cx="142" cy="2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4" name="Object 16"/>
            <p:cNvGraphicFramePr>
              <a:graphicFrameLocks noChangeAspect="1"/>
            </p:cNvGraphicFramePr>
            <p:nvPr/>
          </p:nvGraphicFramePr>
          <p:xfrm>
            <a:off x="3107" y="2886"/>
            <a:ext cx="67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673100" imgH="228600" progId="Equation.DSMT4">
                    <p:embed/>
                  </p:oleObj>
                </mc:Choice>
                <mc:Fallback>
                  <p:oleObj name="" r:id="rId11" imgW="673100" imgH="228600" progId="Equation.DSMT4">
                    <p:embed/>
                    <p:pic>
                      <p:nvPicPr>
                        <p:cNvPr id="0" name="Object 1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107" y="2886"/>
                          <a:ext cx="678" cy="2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5" name="Text Box 17"/>
            <p:cNvSpPr txBox="1"/>
            <p:nvPr/>
          </p:nvSpPr>
          <p:spPr>
            <a:xfrm>
              <a:off x="1383" y="3294"/>
              <a:ext cx="907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 dirty="0">
                  <a:latin typeface="Arial" panose="020B0604020202020204" pitchFamily="34" charset="0"/>
                  <a:ea typeface="华文中宋" panose="02010600040101010101" pitchFamily="2" charset="-122"/>
                </a:rPr>
                <a:t>影响区域</a:t>
              </a:r>
              <a:endParaRPr lang="zh-CN" altLang="en-US" sz="2200" dirty="0"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33806" name="Object 18"/>
            <p:cNvGraphicFramePr>
              <a:graphicFrameLocks noChangeAspect="1"/>
            </p:cNvGraphicFramePr>
            <p:nvPr/>
          </p:nvGraphicFramePr>
          <p:xfrm>
            <a:off x="249" y="2841"/>
            <a:ext cx="75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660400" imgH="228600" progId="Equation.DSMT4">
                    <p:embed/>
                  </p:oleObj>
                </mc:Choice>
                <mc:Fallback>
                  <p:oleObj name="" r:id="rId13" imgW="660400" imgH="228600" progId="Equation.DSMT4">
                    <p:embed/>
                    <p:pic>
                      <p:nvPicPr>
                        <p:cNvPr id="0" name="Object 1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49" y="2841"/>
                          <a:ext cx="759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7" name="Oval 19"/>
            <p:cNvSpPr/>
            <p:nvPr/>
          </p:nvSpPr>
          <p:spPr>
            <a:xfrm flipH="1">
              <a:off x="1253" y="3675"/>
              <a:ext cx="45" cy="45"/>
            </a:xfrm>
            <a:prstGeom prst="ellipse">
              <a:avLst/>
            </a:prstGeom>
            <a:solidFill>
              <a:srgbClr val="8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08" name="Oval 20"/>
            <p:cNvSpPr/>
            <p:nvPr/>
          </p:nvSpPr>
          <p:spPr>
            <a:xfrm flipH="1">
              <a:off x="2462" y="3669"/>
              <a:ext cx="45" cy="45"/>
            </a:xfrm>
            <a:prstGeom prst="ellipse">
              <a:avLst/>
            </a:prstGeom>
            <a:solidFill>
              <a:srgbClr val="8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09" name="Line 21"/>
            <p:cNvSpPr/>
            <p:nvPr/>
          </p:nvSpPr>
          <p:spPr>
            <a:xfrm>
              <a:off x="827" y="3022"/>
              <a:ext cx="635" cy="681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0" name="Line 22"/>
            <p:cNvSpPr/>
            <p:nvPr/>
          </p:nvSpPr>
          <p:spPr>
            <a:xfrm>
              <a:off x="975" y="3022"/>
              <a:ext cx="635" cy="681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1" name="Line 23"/>
            <p:cNvSpPr/>
            <p:nvPr/>
          </p:nvSpPr>
          <p:spPr>
            <a:xfrm>
              <a:off x="1147" y="3022"/>
              <a:ext cx="635" cy="681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2" name="Line 24"/>
            <p:cNvSpPr/>
            <p:nvPr/>
          </p:nvSpPr>
          <p:spPr>
            <a:xfrm>
              <a:off x="1338" y="3022"/>
              <a:ext cx="635" cy="681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3" name="Line 25"/>
            <p:cNvSpPr/>
            <p:nvPr/>
          </p:nvSpPr>
          <p:spPr>
            <a:xfrm>
              <a:off x="1492" y="3022"/>
              <a:ext cx="635" cy="681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4" name="Line 26"/>
            <p:cNvSpPr/>
            <p:nvPr/>
          </p:nvSpPr>
          <p:spPr>
            <a:xfrm>
              <a:off x="1701" y="3022"/>
              <a:ext cx="635" cy="681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5" name="Line 27"/>
            <p:cNvSpPr/>
            <p:nvPr/>
          </p:nvSpPr>
          <p:spPr>
            <a:xfrm>
              <a:off x="1888" y="2986"/>
              <a:ext cx="629" cy="671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6" name="Line 28"/>
            <p:cNvSpPr/>
            <p:nvPr/>
          </p:nvSpPr>
          <p:spPr>
            <a:xfrm>
              <a:off x="2063" y="2977"/>
              <a:ext cx="545" cy="589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7" name="Line 29"/>
            <p:cNvSpPr/>
            <p:nvPr/>
          </p:nvSpPr>
          <p:spPr>
            <a:xfrm>
              <a:off x="2239" y="2919"/>
              <a:ext cx="459" cy="511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8" name="Line 30"/>
            <p:cNvSpPr/>
            <p:nvPr/>
          </p:nvSpPr>
          <p:spPr>
            <a:xfrm>
              <a:off x="2381" y="2841"/>
              <a:ext cx="459" cy="511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9" name="Line 31"/>
            <p:cNvSpPr/>
            <p:nvPr/>
          </p:nvSpPr>
          <p:spPr>
            <a:xfrm>
              <a:off x="2608" y="2841"/>
              <a:ext cx="368" cy="375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4416" name="Group 32"/>
          <p:cNvGrpSpPr/>
          <p:nvPr/>
        </p:nvGrpSpPr>
        <p:grpSpPr>
          <a:xfrm>
            <a:off x="6600826" y="1557338"/>
            <a:ext cx="3706813" cy="2305050"/>
            <a:chOff x="3198" y="981"/>
            <a:chExt cx="2335" cy="1452"/>
          </a:xfrm>
        </p:grpSpPr>
        <p:grpSp>
          <p:nvGrpSpPr>
            <p:cNvPr id="33821" name="Group 33"/>
            <p:cNvGrpSpPr/>
            <p:nvPr/>
          </p:nvGrpSpPr>
          <p:grpSpPr>
            <a:xfrm>
              <a:off x="3198" y="981"/>
              <a:ext cx="2335" cy="1452"/>
              <a:chOff x="3198" y="1026"/>
              <a:chExt cx="2335" cy="1452"/>
            </a:xfrm>
          </p:grpSpPr>
          <p:sp>
            <p:nvSpPr>
              <p:cNvPr id="33822" name="Line 34"/>
              <p:cNvSpPr/>
              <p:nvPr/>
            </p:nvSpPr>
            <p:spPr>
              <a:xfrm flipV="1">
                <a:off x="3198" y="2023"/>
                <a:ext cx="2087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3" name="Line 35"/>
              <p:cNvSpPr/>
              <p:nvPr/>
            </p:nvSpPr>
            <p:spPr>
              <a:xfrm flipV="1">
                <a:off x="3288" y="1071"/>
                <a:ext cx="0" cy="140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3824" name="Group 36"/>
              <p:cNvGrpSpPr/>
              <p:nvPr/>
            </p:nvGrpSpPr>
            <p:grpSpPr>
              <a:xfrm>
                <a:off x="3742" y="1434"/>
                <a:ext cx="1180" cy="590"/>
                <a:chOff x="3742" y="1434"/>
                <a:chExt cx="1180" cy="590"/>
              </a:xfrm>
            </p:grpSpPr>
            <p:sp>
              <p:nvSpPr>
                <p:cNvPr id="33825" name="Line 37"/>
                <p:cNvSpPr/>
                <p:nvPr/>
              </p:nvSpPr>
              <p:spPr>
                <a:xfrm flipV="1">
                  <a:off x="3742" y="1434"/>
                  <a:ext cx="590" cy="59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26" name="Line 38"/>
                <p:cNvSpPr/>
                <p:nvPr/>
              </p:nvSpPr>
              <p:spPr>
                <a:xfrm>
                  <a:off x="4322" y="1434"/>
                  <a:ext cx="590" cy="59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27" name="Line 39"/>
                <p:cNvSpPr/>
                <p:nvPr/>
              </p:nvSpPr>
              <p:spPr>
                <a:xfrm>
                  <a:off x="3742" y="2024"/>
                  <a:ext cx="1180" cy="0"/>
                </a:xfrm>
                <a:prstGeom prst="line">
                  <a:avLst/>
                </a:prstGeom>
                <a:ln w="28575" cap="flat" cmpd="sng">
                  <a:solidFill>
                    <a:srgbClr val="CC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3828" name="Line 40"/>
              <p:cNvSpPr/>
              <p:nvPr/>
            </p:nvSpPr>
            <p:spPr>
              <a:xfrm>
                <a:off x="3878" y="1933"/>
                <a:ext cx="91" cy="91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9" name="Line 41"/>
              <p:cNvSpPr/>
              <p:nvPr/>
            </p:nvSpPr>
            <p:spPr>
              <a:xfrm>
                <a:off x="4059" y="1706"/>
                <a:ext cx="273" cy="318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0" name="Line 42"/>
              <p:cNvSpPr/>
              <p:nvPr/>
            </p:nvSpPr>
            <p:spPr>
              <a:xfrm>
                <a:off x="4150" y="1616"/>
                <a:ext cx="363" cy="408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1" name="Line 43"/>
              <p:cNvSpPr/>
              <p:nvPr/>
            </p:nvSpPr>
            <p:spPr>
              <a:xfrm>
                <a:off x="4241" y="1525"/>
                <a:ext cx="499" cy="499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2" name="Line 44"/>
              <p:cNvSpPr/>
              <p:nvPr/>
            </p:nvSpPr>
            <p:spPr>
              <a:xfrm>
                <a:off x="3969" y="1797"/>
                <a:ext cx="181" cy="227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3833" name="Object 45"/>
              <p:cNvGraphicFramePr>
                <a:graphicFrameLocks noChangeAspect="1"/>
              </p:cNvGraphicFramePr>
              <p:nvPr/>
            </p:nvGraphicFramePr>
            <p:xfrm>
              <a:off x="5329" y="1933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" name="" r:id="rId15" imgW="127000" imgH="139700" progId="Equation.DSMT4">
                      <p:embed/>
                    </p:oleObj>
                  </mc:Choice>
                  <mc:Fallback>
                    <p:oleObj name="" r:id="rId15" imgW="127000" imgH="139700" progId="Equation.DSMT4">
                      <p:embed/>
                      <p:pic>
                        <p:nvPicPr>
                          <p:cNvPr id="0" name="Object 45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5329" y="1933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4" name="Object 46"/>
              <p:cNvGraphicFramePr>
                <a:graphicFrameLocks noChangeAspect="1"/>
              </p:cNvGraphicFramePr>
              <p:nvPr/>
            </p:nvGraphicFramePr>
            <p:xfrm>
              <a:off x="3334" y="1480"/>
              <a:ext cx="759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" name="" r:id="rId16" imgW="660400" imgH="228600" progId="Equation.DSMT4">
                      <p:embed/>
                    </p:oleObj>
                  </mc:Choice>
                  <mc:Fallback>
                    <p:oleObj name="" r:id="rId16" imgW="660400" imgH="228600" progId="Equation.DSMT4">
                      <p:embed/>
                      <p:pic>
                        <p:nvPicPr>
                          <p:cNvPr id="0" name="Object 46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3334" y="1480"/>
                            <a:ext cx="759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5" name="Object 47"/>
              <p:cNvGraphicFramePr>
                <a:graphicFrameLocks noChangeAspect="1"/>
              </p:cNvGraphicFramePr>
              <p:nvPr/>
            </p:nvGraphicFramePr>
            <p:xfrm>
              <a:off x="3379" y="1026"/>
              <a:ext cx="14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" name="" r:id="rId18" imgW="88900" imgH="152400" progId="Equation.DSMT4">
                      <p:embed/>
                    </p:oleObj>
                  </mc:Choice>
                  <mc:Fallback>
                    <p:oleObj name="" r:id="rId18" imgW="88900" imgH="152400" progId="Equation.DSMT4">
                      <p:embed/>
                      <p:pic>
                        <p:nvPicPr>
                          <p:cNvPr id="0" name="Object 47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379" y="1026"/>
                            <a:ext cx="14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6" name="Object 48"/>
              <p:cNvGraphicFramePr>
                <a:graphicFrameLocks noChangeAspect="1"/>
              </p:cNvGraphicFramePr>
              <p:nvPr/>
            </p:nvGraphicFramePr>
            <p:xfrm>
              <a:off x="3663" y="1963"/>
              <a:ext cx="245" cy="3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" name="" r:id="rId19" imgW="152400" imgH="228600" progId="Equation.DSMT4">
                      <p:embed/>
                    </p:oleObj>
                  </mc:Choice>
                  <mc:Fallback>
                    <p:oleObj name="" r:id="rId19" imgW="152400" imgH="228600" progId="Equation.DSMT4">
                      <p:embed/>
                      <p:pic>
                        <p:nvPicPr>
                          <p:cNvPr id="0" name="Object 48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663" y="1963"/>
                            <a:ext cx="245" cy="3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837" name="Text Box 49"/>
              <p:cNvSpPr txBox="1"/>
              <p:nvPr/>
            </p:nvSpPr>
            <p:spPr>
              <a:xfrm>
                <a:off x="3923" y="1755"/>
                <a:ext cx="907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Arial" panose="020B0604020202020204" pitchFamily="34" charset="0"/>
                    <a:ea typeface="华文中宋" panose="02010600040101010101" pitchFamily="2" charset="-122"/>
                  </a:rPr>
                  <a:t>决定区域</a:t>
                </a:r>
                <a:endParaRPr lang="zh-CN" altLang="en-US" sz="2200"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3838" name="Oval 50"/>
              <p:cNvSpPr/>
              <p:nvPr/>
            </p:nvSpPr>
            <p:spPr>
              <a:xfrm flipH="1">
                <a:off x="3724" y="1997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39" name="Oval 51"/>
              <p:cNvSpPr/>
              <p:nvPr/>
            </p:nvSpPr>
            <p:spPr>
              <a:xfrm flipH="1">
                <a:off x="4892" y="2012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33840" name="Object 52"/>
            <p:cNvGraphicFramePr>
              <a:graphicFrameLocks noChangeAspect="1"/>
            </p:cNvGraphicFramePr>
            <p:nvPr/>
          </p:nvGraphicFramePr>
          <p:xfrm>
            <a:off x="4830" y="1933"/>
            <a:ext cx="265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" r:id="rId21" imgW="165100" imgH="228600" progId="Equation.DSMT4">
                    <p:embed/>
                  </p:oleObj>
                </mc:Choice>
                <mc:Fallback>
                  <p:oleObj name="" r:id="rId21" imgW="165100" imgH="228600" progId="Equation.DSMT4">
                    <p:embed/>
                    <p:pic>
                      <p:nvPicPr>
                        <p:cNvPr id="0" name="Object 5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30" y="1933"/>
                          <a:ext cx="265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41" name="Object 53"/>
            <p:cNvGraphicFramePr>
              <a:graphicFrameLocks noChangeAspect="1"/>
            </p:cNvGraphicFramePr>
            <p:nvPr/>
          </p:nvGraphicFramePr>
          <p:xfrm>
            <a:off x="4558" y="1389"/>
            <a:ext cx="67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" r:id="rId22" imgW="673100" imgH="228600" progId="Equation.DSMT4">
                    <p:embed/>
                  </p:oleObj>
                </mc:Choice>
                <mc:Fallback>
                  <p:oleObj name="" r:id="rId22" imgW="673100" imgH="228600" progId="Equation.DSMT4">
                    <p:embed/>
                    <p:pic>
                      <p:nvPicPr>
                        <p:cNvPr id="0" name="Object 5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558" y="1389"/>
                          <a:ext cx="678" cy="2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4438" name="Group 54"/>
          <p:cNvGrpSpPr/>
          <p:nvPr/>
        </p:nvGrpSpPr>
        <p:grpSpPr>
          <a:xfrm>
            <a:off x="2424113" y="1484314"/>
            <a:ext cx="3529012" cy="2232025"/>
            <a:chOff x="612" y="935"/>
            <a:chExt cx="2336" cy="1508"/>
          </a:xfrm>
        </p:grpSpPr>
        <p:grpSp>
          <p:nvGrpSpPr>
            <p:cNvPr id="33843" name="Group 55"/>
            <p:cNvGrpSpPr/>
            <p:nvPr/>
          </p:nvGrpSpPr>
          <p:grpSpPr>
            <a:xfrm>
              <a:off x="612" y="935"/>
              <a:ext cx="2336" cy="1508"/>
              <a:chOff x="612" y="1016"/>
              <a:chExt cx="2336" cy="1508"/>
            </a:xfrm>
          </p:grpSpPr>
          <p:sp>
            <p:nvSpPr>
              <p:cNvPr id="33844" name="Line 56"/>
              <p:cNvSpPr/>
              <p:nvPr/>
            </p:nvSpPr>
            <p:spPr>
              <a:xfrm flipV="1">
                <a:off x="612" y="2069"/>
                <a:ext cx="2087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5" name="Line 57"/>
              <p:cNvSpPr/>
              <p:nvPr/>
            </p:nvSpPr>
            <p:spPr>
              <a:xfrm flipV="1">
                <a:off x="702" y="1117"/>
                <a:ext cx="0" cy="140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6" name="Line 58"/>
              <p:cNvSpPr/>
              <p:nvPr/>
            </p:nvSpPr>
            <p:spPr>
              <a:xfrm>
                <a:off x="1156" y="2069"/>
                <a:ext cx="1180" cy="0"/>
              </a:xfrm>
              <a:prstGeom prst="line">
                <a:avLst/>
              </a:prstGeom>
              <a:ln w="28575" cap="flat" cmpd="sng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3847" name="Object 59"/>
              <p:cNvGraphicFramePr>
                <a:graphicFrameLocks noChangeAspect="1"/>
              </p:cNvGraphicFramePr>
              <p:nvPr/>
            </p:nvGraphicFramePr>
            <p:xfrm>
              <a:off x="2744" y="1979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" name="" r:id="rId23" imgW="127000" imgH="139700" progId="Equation.DSMT4">
                      <p:embed/>
                    </p:oleObj>
                  </mc:Choice>
                  <mc:Fallback>
                    <p:oleObj name="" r:id="rId23" imgW="127000" imgH="139700" progId="Equation.DSMT4">
                      <p:embed/>
                      <p:pic>
                        <p:nvPicPr>
                          <p:cNvPr id="0" name="Object 59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2744" y="1979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48" name="Object 60"/>
              <p:cNvGraphicFramePr>
                <a:graphicFrameLocks noChangeAspect="1"/>
              </p:cNvGraphicFramePr>
              <p:nvPr/>
            </p:nvGraphicFramePr>
            <p:xfrm>
              <a:off x="839" y="2115"/>
              <a:ext cx="63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" name="" r:id="rId25" imgW="393700" imgH="152400" progId="Equation.DSMT4">
                      <p:embed/>
                    </p:oleObj>
                  </mc:Choice>
                  <mc:Fallback>
                    <p:oleObj name="" r:id="rId25" imgW="393700" imgH="152400" progId="Equation.DSMT4">
                      <p:embed/>
                      <p:pic>
                        <p:nvPicPr>
                          <p:cNvPr id="0" name="Object 60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839" y="2115"/>
                            <a:ext cx="63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49" name="Object 61"/>
              <p:cNvGraphicFramePr>
                <a:graphicFrameLocks noChangeAspect="1"/>
              </p:cNvGraphicFramePr>
              <p:nvPr/>
            </p:nvGraphicFramePr>
            <p:xfrm>
              <a:off x="1927" y="2115"/>
              <a:ext cx="63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" name="" r:id="rId27" imgW="393700" imgH="152400" progId="Equation.DSMT4">
                      <p:embed/>
                    </p:oleObj>
                  </mc:Choice>
                  <mc:Fallback>
                    <p:oleObj name="" r:id="rId27" imgW="393700" imgH="152400" progId="Equation.DSMT4">
                      <p:embed/>
                      <p:pic>
                        <p:nvPicPr>
                          <p:cNvPr id="0" name="Object 61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1927" y="2115"/>
                            <a:ext cx="63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850" name="Oval 62"/>
              <p:cNvSpPr/>
              <p:nvPr/>
            </p:nvSpPr>
            <p:spPr>
              <a:xfrm flipH="1">
                <a:off x="1117" y="2048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51" name="Oval 63"/>
              <p:cNvSpPr/>
              <p:nvPr/>
            </p:nvSpPr>
            <p:spPr>
              <a:xfrm flipH="1">
                <a:off x="2336" y="2046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52" name="Text Box 64"/>
              <p:cNvSpPr txBox="1"/>
              <p:nvPr/>
            </p:nvSpPr>
            <p:spPr>
              <a:xfrm>
                <a:off x="1247" y="1752"/>
                <a:ext cx="99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rPr>
                  <a:t>依赖区间</a:t>
                </a:r>
                <a:endParaRPr lang="zh-CN" altLang="en-US"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  <p:graphicFrame>
            <p:nvGraphicFramePr>
              <p:cNvPr id="33853" name="Object 65"/>
              <p:cNvGraphicFramePr>
                <a:graphicFrameLocks noChangeAspect="1"/>
              </p:cNvGraphicFramePr>
              <p:nvPr/>
            </p:nvGraphicFramePr>
            <p:xfrm>
              <a:off x="779" y="1016"/>
              <a:ext cx="14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" name="" r:id="rId29" imgW="88900" imgH="152400" progId="Equation.DSMT4">
                      <p:embed/>
                    </p:oleObj>
                  </mc:Choice>
                  <mc:Fallback>
                    <p:oleObj name="" r:id="rId29" imgW="88900" imgH="152400" progId="Equation.DSMT4">
                      <p:embed/>
                      <p:pic>
                        <p:nvPicPr>
                          <p:cNvPr id="0" name="Object 65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779" y="1016"/>
                            <a:ext cx="14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3854" name="Object 66"/>
            <p:cNvGraphicFramePr>
              <a:graphicFrameLocks noChangeAspect="1"/>
            </p:cNvGraphicFramePr>
            <p:nvPr/>
          </p:nvGraphicFramePr>
          <p:xfrm>
            <a:off x="1791" y="1207"/>
            <a:ext cx="499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" r:id="rId31" imgW="431800" imgH="203200" progId="Equation.DSMT4">
                    <p:embed/>
                  </p:oleObj>
                </mc:Choice>
                <mc:Fallback>
                  <p:oleObj name="" r:id="rId31" imgW="431800" imgH="203200" progId="Equation.DSMT4">
                    <p:embed/>
                    <p:pic>
                      <p:nvPicPr>
                        <p:cNvPr id="0" name="Object 66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791" y="1207"/>
                          <a:ext cx="499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55" name="Oval 67"/>
            <p:cNvSpPr/>
            <p:nvPr/>
          </p:nvSpPr>
          <p:spPr>
            <a:xfrm flipV="1">
              <a:off x="1731" y="1317"/>
              <a:ext cx="27" cy="2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56" name="Line 68"/>
            <p:cNvSpPr/>
            <p:nvPr/>
          </p:nvSpPr>
          <p:spPr>
            <a:xfrm flipH="1">
              <a:off x="1156" y="1344"/>
              <a:ext cx="590" cy="6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7" name="Line 69"/>
            <p:cNvSpPr/>
            <p:nvPr/>
          </p:nvSpPr>
          <p:spPr>
            <a:xfrm>
              <a:off x="1746" y="1344"/>
              <a:ext cx="590" cy="6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58" name="Rectangle 76"/>
          <p:cNvSpPr/>
          <p:nvPr/>
        </p:nvSpPr>
        <p:spPr>
          <a:xfrm>
            <a:off x="2063751" y="188914"/>
            <a:ext cx="1408113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小结：</a:t>
            </a:r>
            <a:endParaRPr lang="zh-CN" altLang="en-US" sz="3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859" name="Group 78"/>
          <p:cNvGrpSpPr/>
          <p:nvPr/>
        </p:nvGrpSpPr>
        <p:grpSpPr>
          <a:xfrm>
            <a:off x="7175500" y="3716339"/>
            <a:ext cx="3492500" cy="1584325"/>
            <a:chOff x="3560" y="2341"/>
            <a:chExt cx="2200" cy="998"/>
          </a:xfrm>
        </p:grpSpPr>
        <p:graphicFrame>
          <p:nvGraphicFramePr>
            <p:cNvPr id="33860" name="Object 70"/>
            <p:cNvGraphicFramePr>
              <a:graphicFrameLocks noChangeAspect="1"/>
            </p:cNvGraphicFramePr>
            <p:nvPr/>
          </p:nvGraphicFramePr>
          <p:xfrm>
            <a:off x="3560" y="2387"/>
            <a:ext cx="978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" r:id="rId33" imgW="685800" imgH="177800" progId="Equation.DSMT4">
                    <p:embed/>
                  </p:oleObj>
                </mc:Choice>
                <mc:Fallback>
                  <p:oleObj name="" r:id="rId33" imgW="685800" imgH="177800" progId="Equation.DSMT4">
                    <p:embed/>
                    <p:pic>
                      <p:nvPicPr>
                        <p:cNvPr id="0" name="Object 70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3560" y="2387"/>
                          <a:ext cx="978" cy="254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61" name="Text Box 71"/>
            <p:cNvSpPr txBox="1"/>
            <p:nvPr/>
          </p:nvSpPr>
          <p:spPr>
            <a:xfrm>
              <a:off x="4740" y="2341"/>
              <a:ext cx="88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特征线</a:t>
              </a:r>
              <a:endPara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3862" name="Text Box 72"/>
            <p:cNvSpPr txBox="1"/>
            <p:nvPr/>
          </p:nvSpPr>
          <p:spPr>
            <a:xfrm>
              <a:off x="4671" y="2840"/>
              <a:ext cx="10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特征变换</a:t>
              </a:r>
              <a:endPara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3863" name="Object 74"/>
            <p:cNvGraphicFramePr>
              <a:graphicFrameLocks noChangeAspect="1"/>
            </p:cNvGraphicFramePr>
            <p:nvPr/>
          </p:nvGraphicFramePr>
          <p:xfrm>
            <a:off x="3560" y="2750"/>
            <a:ext cx="95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" name="" r:id="rId35" imgW="761365" imgH="215900" progId="Equation.DSMT4">
                    <p:embed/>
                  </p:oleObj>
                </mc:Choice>
                <mc:Fallback>
                  <p:oleObj name="" r:id="rId35" imgW="761365" imgH="215900" progId="Equation.DSMT4">
                    <p:embed/>
                    <p:pic>
                      <p:nvPicPr>
                        <p:cNvPr id="0" name="Object 74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560" y="2750"/>
                          <a:ext cx="959" cy="27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64" name="Object 75"/>
            <p:cNvGraphicFramePr>
              <a:graphicFrameLocks noChangeAspect="1"/>
            </p:cNvGraphicFramePr>
            <p:nvPr/>
          </p:nvGraphicFramePr>
          <p:xfrm>
            <a:off x="3560" y="3067"/>
            <a:ext cx="959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" r:id="rId37" imgW="761365" imgH="203200" progId="Equation.DSMT4">
                    <p:embed/>
                  </p:oleObj>
                </mc:Choice>
                <mc:Fallback>
                  <p:oleObj name="" r:id="rId37" imgW="761365" imgH="203200" progId="Equation.DSMT4">
                    <p:embed/>
                    <p:pic>
                      <p:nvPicPr>
                        <p:cNvPr id="0" name="Object 75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560" y="3067"/>
                          <a:ext cx="959" cy="25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65" name="AutoShape 77"/>
            <p:cNvSpPr/>
            <p:nvPr/>
          </p:nvSpPr>
          <p:spPr>
            <a:xfrm flipH="1">
              <a:off x="4604" y="2387"/>
              <a:ext cx="91" cy="952"/>
            </a:xfrm>
            <a:prstGeom prst="leftBrace">
              <a:avLst>
                <a:gd name="adj1" fmla="val 255581"/>
                <a:gd name="adj2" fmla="val 51125"/>
              </a:avLst>
            </a:prstGeom>
            <a:noFill/>
            <a:ln w="317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4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3"/>
          <p:cNvSpPr/>
          <p:nvPr/>
        </p:nvSpPr>
        <p:spPr>
          <a:xfrm>
            <a:off x="2208213" y="1625600"/>
            <a:ext cx="7848600" cy="946150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分析其物理意义表明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xot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平面上斜率为    的两族直线：   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4818" name="Object 4"/>
          <p:cNvGraphicFramePr>
            <a:graphicFrameLocks noChangeAspect="1"/>
          </p:cNvGraphicFramePr>
          <p:nvPr/>
        </p:nvGraphicFramePr>
        <p:xfrm>
          <a:off x="9191626" y="1484313"/>
          <a:ext cx="50006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533400" imgH="837565" progId="Equation.DSMT4">
                  <p:embed/>
                </p:oleObj>
              </mc:Choice>
              <mc:Fallback>
                <p:oleObj name="" r:id="rId1" imgW="533400" imgH="837565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91626" y="1484313"/>
                        <a:ext cx="500063" cy="792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5"/>
          <p:cNvGraphicFramePr/>
          <p:nvPr/>
        </p:nvGraphicFramePr>
        <p:xfrm>
          <a:off x="5159375" y="2205039"/>
          <a:ext cx="216058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875665" imgH="215900" progId="Equation.DSMT4">
                  <p:embed/>
                </p:oleObj>
              </mc:Choice>
              <mc:Fallback>
                <p:oleObj name="" r:id="rId3" imgW="875665" imgH="2159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9375" y="2205039"/>
                        <a:ext cx="2160588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6"/>
          <p:cNvSpPr/>
          <p:nvPr/>
        </p:nvSpPr>
        <p:spPr>
          <a:xfrm>
            <a:off x="2208213" y="2852739"/>
            <a:ext cx="8064500" cy="1082675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对一维波动方程研究起重要作用，称这两族直线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9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为一维波动方程的特征线。波动沿特征线传播。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1" name="Rectangle 7"/>
          <p:cNvSpPr/>
          <p:nvPr/>
        </p:nvSpPr>
        <p:spPr>
          <a:xfrm>
            <a:off x="2279650" y="5300663"/>
            <a:ext cx="6229350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称为特征变换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行波法也叫特征线法。 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4822" name="Group 8"/>
          <p:cNvGrpSpPr/>
          <p:nvPr/>
        </p:nvGrpSpPr>
        <p:grpSpPr>
          <a:xfrm>
            <a:off x="3863976" y="4076701"/>
            <a:ext cx="4029075" cy="1008063"/>
            <a:chOff x="569" y="482"/>
            <a:chExt cx="2538" cy="635"/>
          </a:xfrm>
        </p:grpSpPr>
        <p:graphicFrame>
          <p:nvGraphicFramePr>
            <p:cNvPr id="34823" name="Object 9"/>
            <p:cNvGraphicFramePr/>
            <p:nvPr/>
          </p:nvGraphicFramePr>
          <p:xfrm>
            <a:off x="1927" y="482"/>
            <a:ext cx="1180" cy="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774065" imgH="469900" progId="Equation.DSMT4">
                    <p:embed/>
                  </p:oleObj>
                </mc:Choice>
                <mc:Fallback>
                  <p:oleObj name="" r:id="rId5" imgW="774065" imgH="469900" progId="Equation.DSMT4">
                    <p:embed/>
                    <p:pic>
                      <p:nvPicPr>
                        <p:cNvPr id="0" name="Object 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27" y="482"/>
                          <a:ext cx="1180" cy="6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4" name="Rectangle 10"/>
            <p:cNvSpPr/>
            <p:nvPr/>
          </p:nvSpPr>
          <p:spPr>
            <a:xfrm>
              <a:off x="569" y="618"/>
              <a:ext cx="1236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t" anchorCtr="0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自变量变换</a:t>
              </a:r>
              <a:endPara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8444" name="Text Box 12"/>
          <p:cNvSpPr txBox="1"/>
          <p:nvPr/>
        </p:nvSpPr>
        <p:spPr>
          <a:xfrm>
            <a:off x="2208213" y="692151"/>
            <a:ext cx="38163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4.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行波法又叫特征线法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6"/>
          <p:cNvSpPr/>
          <p:nvPr/>
        </p:nvSpPr>
        <p:spPr>
          <a:xfrm>
            <a:off x="2351088" y="836613"/>
            <a:ext cx="6972300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注：容易看出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一维波动方程的两族特征线 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2" name="Rectangle 7"/>
          <p:cNvSpPr/>
          <p:nvPr/>
        </p:nvSpPr>
        <p:spPr>
          <a:xfrm>
            <a:off x="6003635" y="2774434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5843" name="Object 8"/>
          <p:cNvGraphicFramePr>
            <a:graphicFrameLocks noChangeAspect="1"/>
          </p:cNvGraphicFramePr>
          <p:nvPr/>
        </p:nvGraphicFramePr>
        <p:xfrm>
          <a:off x="5087939" y="1773239"/>
          <a:ext cx="216058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981200" imgH="393700" progId="Equation.DSMT4">
                  <p:embed/>
                </p:oleObj>
              </mc:Choice>
              <mc:Fallback>
                <p:oleObj name="" r:id="rId1" imgW="1981200" imgH="3937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87939" y="1773239"/>
                        <a:ext cx="2160587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Rectangle 9"/>
          <p:cNvSpPr/>
          <p:nvPr/>
        </p:nvSpPr>
        <p:spPr>
          <a:xfrm>
            <a:off x="6003635" y="2679184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5845" name="Group 10"/>
          <p:cNvGrpSpPr/>
          <p:nvPr/>
        </p:nvGrpSpPr>
        <p:grpSpPr>
          <a:xfrm>
            <a:off x="2422525" y="2493964"/>
            <a:ext cx="7251700" cy="649287"/>
            <a:chOff x="612" y="2341"/>
            <a:chExt cx="4568" cy="409"/>
          </a:xfrm>
        </p:grpSpPr>
        <p:sp>
          <p:nvSpPr>
            <p:cNvPr id="35846" name="Rectangle 11"/>
            <p:cNvSpPr/>
            <p:nvPr/>
          </p:nvSpPr>
          <p:spPr>
            <a:xfrm>
              <a:off x="612" y="2387"/>
              <a:ext cx="456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恰好是常微分方程                 的解。</a:t>
              </a: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5847" name="Object 12"/>
            <p:cNvGraphicFramePr/>
            <p:nvPr/>
          </p:nvGraphicFramePr>
          <p:xfrm>
            <a:off x="2562" y="2341"/>
            <a:ext cx="1759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270000" imgH="279400" progId="Equation.DSMT4">
                    <p:embed/>
                  </p:oleObj>
                </mc:Choice>
                <mc:Fallback>
                  <p:oleObj name="" r:id="rId3" imgW="1270000" imgH="279400" progId="Equation.DSMT4">
                    <p:embed/>
                    <p:pic>
                      <p:nvPicPr>
                        <p:cNvPr id="0" name="Object 1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62" y="2341"/>
                          <a:ext cx="1759" cy="4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8" name="Rectangle 13"/>
          <p:cNvSpPr/>
          <p:nvPr/>
        </p:nvSpPr>
        <p:spPr>
          <a:xfrm>
            <a:off x="6003635" y="2739509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9" name="Rectangle 15"/>
          <p:cNvSpPr/>
          <p:nvPr/>
        </p:nvSpPr>
        <p:spPr>
          <a:xfrm>
            <a:off x="2422526" y="3286126"/>
            <a:ext cx="5402263" cy="519113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这个常微分方程称为波动方程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5850" name="Object 16"/>
          <p:cNvGraphicFramePr>
            <a:graphicFrameLocks noChangeAspect="1"/>
          </p:cNvGraphicFramePr>
          <p:nvPr/>
        </p:nvGraphicFramePr>
        <p:xfrm>
          <a:off x="3502025" y="3935414"/>
          <a:ext cx="43815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4635500" imgH="482600" progId="Equation.DSMT4">
                  <p:embed/>
                </p:oleObj>
              </mc:Choice>
              <mc:Fallback>
                <p:oleObj name="" r:id="rId5" imgW="4635500" imgH="482600" progId="Equation.DSMT4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2025" y="3935414"/>
                        <a:ext cx="4381500" cy="49688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Rectangle 17"/>
          <p:cNvSpPr/>
          <p:nvPr/>
        </p:nvSpPr>
        <p:spPr>
          <a:xfrm>
            <a:off x="2422526" y="4654551"/>
            <a:ext cx="2416175" cy="519113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的特征方程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035" name="Object 3"/>
          <p:cNvGraphicFramePr/>
          <p:nvPr/>
        </p:nvGraphicFramePr>
        <p:xfrm>
          <a:off x="1703389" y="5373688"/>
          <a:ext cx="8785225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5041900" imgH="469900" progId="Equation.DSMT4">
                  <p:embed/>
                </p:oleObj>
              </mc:Choice>
              <mc:Fallback>
                <p:oleObj name="" r:id="rId1" imgW="5041900" imgH="4699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03389" y="5373688"/>
                        <a:ext cx="8785225" cy="9509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36" name="Rectangle 4"/>
          <p:cNvSpPr/>
          <p:nvPr/>
        </p:nvSpPr>
        <p:spPr>
          <a:xfrm>
            <a:off x="2208213" y="4652963"/>
            <a:ext cx="8064500" cy="519112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一维非齐次波动方程柯西问题的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Kirchihoff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Rectangle 5"/>
          <p:cNvSpPr/>
          <p:nvPr/>
        </p:nvSpPr>
        <p:spPr>
          <a:xfrm>
            <a:off x="2063751" y="333376"/>
            <a:ext cx="56880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无界弦受迫振动问题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6868" name="Object 6"/>
          <p:cNvGraphicFramePr>
            <a:graphicFrameLocks noChangeAspect="1"/>
          </p:cNvGraphicFramePr>
          <p:nvPr/>
        </p:nvGraphicFramePr>
        <p:xfrm>
          <a:off x="2782889" y="908051"/>
          <a:ext cx="585787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289300" imgH="571500" progId="Equation.DSMT4">
                  <p:embed/>
                </p:oleObj>
              </mc:Choice>
              <mc:Fallback>
                <p:oleObj name="" r:id="rId3" imgW="3289300" imgH="5715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2889" y="908051"/>
                        <a:ext cx="5857875" cy="1031875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2043" name="Group 11"/>
          <p:cNvGrpSpPr/>
          <p:nvPr/>
        </p:nvGrpSpPr>
        <p:grpSpPr>
          <a:xfrm>
            <a:off x="2011363" y="2205038"/>
            <a:ext cx="4692650" cy="2273300"/>
            <a:chOff x="307" y="1389"/>
            <a:chExt cx="2956" cy="1432"/>
          </a:xfrm>
        </p:grpSpPr>
        <p:graphicFrame>
          <p:nvGraphicFramePr>
            <p:cNvPr id="36870" name="Object 7"/>
            <p:cNvGraphicFramePr>
              <a:graphicFrameLocks noChangeAspect="1"/>
            </p:cNvGraphicFramePr>
            <p:nvPr/>
          </p:nvGraphicFramePr>
          <p:xfrm>
            <a:off x="307" y="1389"/>
            <a:ext cx="2956" cy="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2578100" imgH="571500" progId="Equation.DSMT4">
                    <p:embed/>
                  </p:oleObj>
                </mc:Choice>
                <mc:Fallback>
                  <p:oleObj name="" r:id="rId5" imgW="2578100" imgH="571500" progId="Equation.DSMT4">
                    <p:embed/>
                    <p:pic>
                      <p:nvPicPr>
                        <p:cNvPr id="0" name="Object 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7" y="1389"/>
                          <a:ext cx="2956" cy="666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1" name="Object 8"/>
            <p:cNvGraphicFramePr>
              <a:graphicFrameLocks noChangeAspect="1"/>
            </p:cNvGraphicFramePr>
            <p:nvPr/>
          </p:nvGraphicFramePr>
          <p:xfrm>
            <a:off x="340" y="2160"/>
            <a:ext cx="2320" cy="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2032000" imgH="571500" progId="Equation.DSMT4">
                    <p:embed/>
                  </p:oleObj>
                </mc:Choice>
                <mc:Fallback>
                  <p:oleObj name="" r:id="rId7" imgW="2032000" imgH="571500" progId="Equation.DSMT4">
                    <p:embed/>
                    <p:pic>
                      <p:nvPicPr>
                        <p:cNvPr id="0" name="Object 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0" y="2160"/>
                          <a:ext cx="2320" cy="661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2041" name="AutoShape 9"/>
          <p:cNvSpPr/>
          <p:nvPr/>
        </p:nvSpPr>
        <p:spPr>
          <a:xfrm flipH="1">
            <a:off x="6888164" y="2205039"/>
            <a:ext cx="287337" cy="2232025"/>
          </a:xfrm>
          <a:prstGeom prst="leftBrace">
            <a:avLst>
              <a:gd name="adj1" fmla="val 64661"/>
              <a:gd name="adj2" fmla="val 51125"/>
            </a:avLst>
          </a:prstGeom>
          <a:noFill/>
          <a:ln w="317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72042" name="Object 10"/>
          <p:cNvGraphicFramePr>
            <a:graphicFrameLocks noChangeAspect="1"/>
          </p:cNvGraphicFramePr>
          <p:nvPr/>
        </p:nvGraphicFramePr>
        <p:xfrm>
          <a:off x="7464426" y="3068638"/>
          <a:ext cx="182721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711200" imgH="165100" progId="Equation.DSMT4">
                  <p:embed/>
                </p:oleObj>
              </mc:Choice>
              <mc:Fallback>
                <p:oleObj name="" r:id="rId9" imgW="711200" imgH="1651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64426" y="3068638"/>
                        <a:ext cx="1827213" cy="430212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6" grpId="0"/>
      <p:bldP spid="172041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/>
          <p:nvPr/>
        </p:nvSpPr>
        <p:spPr>
          <a:xfrm>
            <a:off x="2351088" y="692151"/>
            <a:ext cx="762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48483" name="Object 3"/>
          <p:cNvGraphicFramePr>
            <a:graphicFrameLocks noChangeAspect="1"/>
          </p:cNvGraphicFramePr>
          <p:nvPr/>
        </p:nvGraphicFramePr>
        <p:xfrm>
          <a:off x="3121026" y="193675"/>
          <a:ext cx="375761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89100" imgH="800100" progId="Equation.DSMT4">
                  <p:embed/>
                </p:oleObj>
              </mc:Choice>
              <mc:Fallback>
                <p:oleObj name="" r:id="rId1" imgW="1689100" imgH="8001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21026" y="193675"/>
                        <a:ext cx="3757613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4" name="Object 4"/>
          <p:cNvGraphicFramePr>
            <a:graphicFrameLocks noChangeAspect="1"/>
          </p:cNvGraphicFramePr>
          <p:nvPr/>
        </p:nvGraphicFramePr>
        <p:xfrm>
          <a:off x="3432175" y="1844675"/>
          <a:ext cx="33861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586865" imgH="215900" progId="Equation.3">
                  <p:embed/>
                </p:oleObj>
              </mc:Choice>
              <mc:Fallback>
                <p:oleObj name="" r:id="rId3" imgW="1586865" imgH="2159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32175" y="1844675"/>
                        <a:ext cx="3386138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5" name="Text Box 5"/>
          <p:cNvSpPr txBox="1"/>
          <p:nvPr/>
        </p:nvSpPr>
        <p:spPr>
          <a:xfrm>
            <a:off x="2351088" y="1828801"/>
            <a:ext cx="14589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48486" name="Object 6"/>
          <p:cNvGraphicFramePr>
            <a:graphicFrameLocks noChangeAspect="1"/>
          </p:cNvGraphicFramePr>
          <p:nvPr/>
        </p:nvGraphicFramePr>
        <p:xfrm>
          <a:off x="3429000" y="2438400"/>
          <a:ext cx="6457950" cy="298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781300" imgH="1447800" progId="Equation.3">
                  <p:embed/>
                </p:oleObj>
              </mc:Choice>
              <mc:Fallback>
                <p:oleObj name="" r:id="rId5" imgW="2781300" imgH="14478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29000" y="2438400"/>
                        <a:ext cx="6457950" cy="298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7" name="Object 7"/>
          <p:cNvGraphicFramePr>
            <a:graphicFrameLocks noChangeAspect="1"/>
          </p:cNvGraphicFramePr>
          <p:nvPr/>
        </p:nvGraphicFramePr>
        <p:xfrm>
          <a:off x="3505200" y="5410200"/>
          <a:ext cx="582453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2730500" imgH="393700" progId="Equation.3">
                  <p:embed/>
                </p:oleObj>
              </mc:Choice>
              <mc:Fallback>
                <p:oleObj name="" r:id="rId7" imgW="2730500" imgH="393700" progId="Equation.3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5200" y="5410200"/>
                        <a:ext cx="5824538" cy="89535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/>
      <p:bldP spid="14848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819" name="Object 3"/>
          <p:cNvGraphicFramePr>
            <a:graphicFrameLocks noChangeAspect="1"/>
          </p:cNvGraphicFramePr>
          <p:nvPr/>
        </p:nvGraphicFramePr>
        <p:xfrm>
          <a:off x="3503613" y="981075"/>
          <a:ext cx="5903912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832100" imgH="1308100" progId="Equation.DSMT4">
                  <p:embed/>
                </p:oleObj>
              </mc:Choice>
              <mc:Fallback>
                <p:oleObj name="" r:id="rId1" imgW="2832100" imgH="13081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3613" y="981075"/>
                        <a:ext cx="5903912" cy="2533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20" name="Text Box 4"/>
          <p:cNvSpPr txBox="1"/>
          <p:nvPr/>
        </p:nvSpPr>
        <p:spPr>
          <a:xfrm>
            <a:off x="2351088" y="3733801"/>
            <a:ext cx="20685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我们先考虑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2821" name="Object 5"/>
          <p:cNvGraphicFramePr>
            <a:graphicFrameLocks noChangeAspect="1"/>
          </p:cNvGraphicFramePr>
          <p:nvPr/>
        </p:nvGraphicFramePr>
        <p:xfrm>
          <a:off x="4224338" y="3789363"/>
          <a:ext cx="11668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596900" imgH="228600" progId="Equation.DSMT4">
                  <p:embed/>
                </p:oleObj>
              </mc:Choice>
              <mc:Fallback>
                <p:oleObj name="" r:id="rId3" imgW="596900" imgH="2286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4338" y="3789363"/>
                        <a:ext cx="1166812" cy="44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22" name="Text Box 6"/>
          <p:cNvSpPr txBox="1"/>
          <p:nvPr/>
        </p:nvSpPr>
        <p:spPr>
          <a:xfrm>
            <a:off x="5303839" y="3716338"/>
            <a:ext cx="51847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情形，即端点固定的振动。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2823" name="Text Box 7"/>
          <p:cNvSpPr txBox="1"/>
          <p:nvPr/>
        </p:nvSpPr>
        <p:spPr>
          <a:xfrm>
            <a:off x="2351088" y="4365626"/>
            <a:ext cx="54165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希望能利用达朗贝尔公式来求解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2824" name="Object 8"/>
          <p:cNvGraphicFramePr>
            <a:graphicFrameLocks noChangeAspect="1"/>
          </p:cNvGraphicFramePr>
          <p:nvPr/>
        </p:nvGraphicFramePr>
        <p:xfrm>
          <a:off x="2501900" y="5129213"/>
          <a:ext cx="7265988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479800" imgH="457200" progId="Equation.DSMT4">
                  <p:embed/>
                </p:oleObj>
              </mc:Choice>
              <mc:Fallback>
                <p:oleObj name="" r:id="rId5" imgW="3479800" imgH="4572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1900" y="5129213"/>
                        <a:ext cx="7265988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Rectangle 10"/>
          <p:cNvSpPr/>
          <p:nvPr/>
        </p:nvSpPr>
        <p:spPr>
          <a:xfrm>
            <a:off x="2063751" y="352425"/>
            <a:ext cx="5688013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</a:t>
            </a: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半无界弦的自由振动问题</a:t>
            </a:r>
            <a:endParaRPr lang="zh-CN" altLang="en-US" sz="3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2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2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0" grpId="0"/>
      <p:bldP spid="162822" grpId="0"/>
      <p:bldP spid="16282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2"/>
          <p:cNvSpPr txBox="1"/>
          <p:nvPr/>
        </p:nvSpPr>
        <p:spPr>
          <a:xfrm>
            <a:off x="1919289" y="404813"/>
            <a:ext cx="705643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为此，我们要作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奇延拓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有时也作偶延拓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3844" name="Object 4"/>
          <p:cNvGraphicFramePr>
            <a:graphicFrameLocks noChangeAspect="1"/>
          </p:cNvGraphicFramePr>
          <p:nvPr/>
        </p:nvGraphicFramePr>
        <p:xfrm>
          <a:off x="1919289" y="1341439"/>
          <a:ext cx="4505325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159000" imgH="533400" progId="Equation.DSMT4">
                  <p:embed/>
                </p:oleObj>
              </mc:Choice>
              <mc:Fallback>
                <p:oleObj name="" r:id="rId1" imgW="2159000" imgH="5334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19289" y="1341439"/>
                        <a:ext cx="4505325" cy="111283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5" name="Object 5"/>
          <p:cNvGraphicFramePr>
            <a:graphicFrameLocks noChangeAspect="1"/>
          </p:cNvGraphicFramePr>
          <p:nvPr/>
        </p:nvGraphicFramePr>
        <p:xfrm>
          <a:off x="6578600" y="981076"/>
          <a:ext cx="35702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930400" imgH="533400" progId="Equation.DSMT4">
                  <p:embed/>
                </p:oleObj>
              </mc:Choice>
              <mc:Fallback>
                <p:oleObj name="" r:id="rId3" imgW="1930400" imgH="5334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78600" y="981076"/>
                        <a:ext cx="3570288" cy="9874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6" name="Object 6"/>
          <p:cNvGraphicFramePr>
            <a:graphicFrameLocks noChangeAspect="1"/>
          </p:cNvGraphicFramePr>
          <p:nvPr/>
        </p:nvGraphicFramePr>
        <p:xfrm>
          <a:off x="6600825" y="2070101"/>
          <a:ext cx="37782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955800" imgH="533400" progId="Equation.DSMT4">
                  <p:embed/>
                </p:oleObj>
              </mc:Choice>
              <mc:Fallback>
                <p:oleObj name="" r:id="rId5" imgW="1955800" imgH="5334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00825" y="2070101"/>
                        <a:ext cx="3778250" cy="8985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0" name="Object 10"/>
          <p:cNvGraphicFramePr>
            <a:graphicFrameLocks noChangeAspect="1"/>
          </p:cNvGraphicFramePr>
          <p:nvPr/>
        </p:nvGraphicFramePr>
        <p:xfrm>
          <a:off x="3216275" y="3068639"/>
          <a:ext cx="6211888" cy="198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2984500" imgH="1028700" progId="Equation.DSMT4">
                  <p:embed/>
                </p:oleObj>
              </mc:Choice>
              <mc:Fallback>
                <p:oleObj name="" r:id="rId7" imgW="2984500" imgH="10287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16275" y="3068639"/>
                        <a:ext cx="6211888" cy="198913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1" name="AutoShape 11"/>
          <p:cNvSpPr/>
          <p:nvPr/>
        </p:nvSpPr>
        <p:spPr>
          <a:xfrm>
            <a:off x="2424113" y="3500438"/>
            <a:ext cx="685800" cy="6858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52" name="AutoShape 12"/>
          <p:cNvSpPr/>
          <p:nvPr/>
        </p:nvSpPr>
        <p:spPr>
          <a:xfrm>
            <a:off x="2424113" y="5300663"/>
            <a:ext cx="685800" cy="476250"/>
          </a:xfrm>
          <a:prstGeom prst="rightArrow">
            <a:avLst>
              <a:gd name="adj1" fmla="val 50000"/>
              <a:gd name="adj2" fmla="val 35986"/>
            </a:avLst>
          </a:prstGeom>
          <a:solidFill>
            <a:srgbClr val="FFFF00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3853" name="Object 13"/>
          <p:cNvGraphicFramePr>
            <a:graphicFrameLocks noChangeAspect="1"/>
          </p:cNvGraphicFramePr>
          <p:nvPr/>
        </p:nvGraphicFramePr>
        <p:xfrm>
          <a:off x="3190876" y="5229225"/>
          <a:ext cx="7477125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3670300" imgH="444500" progId="Equation.DSMT4">
                  <p:embed/>
                </p:oleObj>
              </mc:Choice>
              <mc:Fallback>
                <p:oleObj name="" r:id="rId9" imgW="3670300" imgH="4445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90876" y="5229225"/>
                        <a:ext cx="7477125" cy="87153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2" grpId="0"/>
      <p:bldP spid="163851" grpId="0" bldLvl="0" animBg="1"/>
      <p:bldP spid="163852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ext Box 2"/>
          <p:cNvSpPr txBox="1"/>
          <p:nvPr/>
        </p:nvSpPr>
        <p:spPr>
          <a:xfrm>
            <a:off x="2135188" y="533401"/>
            <a:ext cx="58658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半无界问题的解为：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4868" name="Text Box 4"/>
          <p:cNvSpPr txBox="1"/>
          <p:nvPr/>
        </p:nvSpPr>
        <p:spPr>
          <a:xfrm>
            <a:off x="2667000" y="1143001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4869" name="Object 5"/>
          <p:cNvGraphicFramePr>
            <a:graphicFrameLocks noChangeAspect="1"/>
          </p:cNvGraphicFramePr>
          <p:nvPr/>
        </p:nvGraphicFramePr>
        <p:xfrm>
          <a:off x="3287714" y="1196975"/>
          <a:ext cx="10810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481965" imgH="177800" progId="Equation.DSMT4">
                  <p:embed/>
                </p:oleObj>
              </mc:Choice>
              <mc:Fallback>
                <p:oleObj name="" r:id="rId1" imgW="481965" imgH="1778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7714" y="1196975"/>
                        <a:ext cx="1081087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0" name="Text Box 6"/>
          <p:cNvSpPr txBox="1"/>
          <p:nvPr/>
        </p:nvSpPr>
        <p:spPr>
          <a:xfrm>
            <a:off x="4440238" y="1125538"/>
            <a:ext cx="762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71" name="Text Box 7"/>
          <p:cNvSpPr txBox="1"/>
          <p:nvPr/>
        </p:nvSpPr>
        <p:spPr>
          <a:xfrm>
            <a:off x="2640013" y="2781301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4872" name="Object 8"/>
          <p:cNvGraphicFramePr>
            <a:graphicFrameLocks noChangeAspect="1"/>
          </p:cNvGraphicFramePr>
          <p:nvPr/>
        </p:nvGraphicFramePr>
        <p:xfrm>
          <a:off x="3143250" y="2852739"/>
          <a:ext cx="15319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23900" imgH="190500" progId="Equation.DSMT4">
                  <p:embed/>
                </p:oleObj>
              </mc:Choice>
              <mc:Fallback>
                <p:oleObj name="" r:id="rId3" imgW="723900" imgH="1905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3250" y="2852739"/>
                        <a:ext cx="1531938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3" name="Text Box 9"/>
          <p:cNvSpPr txBox="1"/>
          <p:nvPr/>
        </p:nvSpPr>
        <p:spPr>
          <a:xfrm>
            <a:off x="4800601" y="2781301"/>
            <a:ext cx="9366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4874" name="Object 10"/>
          <p:cNvGraphicFramePr>
            <a:graphicFrameLocks noChangeAspect="1"/>
          </p:cNvGraphicFramePr>
          <p:nvPr/>
        </p:nvGraphicFramePr>
        <p:xfrm>
          <a:off x="2782889" y="1773239"/>
          <a:ext cx="7488237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517900" imgH="444500" progId="Equation.DSMT4">
                  <p:embed/>
                </p:oleObj>
              </mc:Choice>
              <mc:Fallback>
                <p:oleObj name="" r:id="rId5" imgW="3517900" imgH="4445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2889" y="1773239"/>
                        <a:ext cx="7488237" cy="9540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5" name="Object 11"/>
          <p:cNvGraphicFramePr>
            <a:graphicFrameLocks noChangeAspect="1"/>
          </p:cNvGraphicFramePr>
          <p:nvPr/>
        </p:nvGraphicFramePr>
        <p:xfrm>
          <a:off x="2711451" y="3573463"/>
          <a:ext cx="74263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517900" imgH="444500" progId="Equation.DSMT4">
                  <p:embed/>
                </p:oleObj>
              </mc:Choice>
              <mc:Fallback>
                <p:oleObj name="" r:id="rId7" imgW="3517900" imgH="4445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1451" y="3573463"/>
                        <a:ext cx="7426325" cy="939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7" name="Text Box 13"/>
          <p:cNvSpPr txBox="1"/>
          <p:nvPr/>
        </p:nvSpPr>
        <p:spPr>
          <a:xfrm>
            <a:off x="2495550" y="4652963"/>
            <a:ext cx="532923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当在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= 0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处有一个自由端，即：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4878" name="Object 14"/>
          <p:cNvGraphicFramePr>
            <a:graphicFrameLocks noChangeAspect="1"/>
          </p:cNvGraphicFramePr>
          <p:nvPr/>
        </p:nvGraphicFramePr>
        <p:xfrm>
          <a:off x="7464426" y="4652963"/>
          <a:ext cx="165576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787400" imgH="241300" progId="Equation.DSMT4">
                  <p:embed/>
                </p:oleObj>
              </mc:Choice>
              <mc:Fallback>
                <p:oleObj name="" r:id="rId9" imgW="787400" imgH="2413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64426" y="4652963"/>
                        <a:ext cx="1655763" cy="506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9" name="Text Box 15"/>
          <p:cNvSpPr txBox="1"/>
          <p:nvPr/>
        </p:nvSpPr>
        <p:spPr>
          <a:xfrm>
            <a:off x="2566988" y="5445126"/>
            <a:ext cx="2819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则需要作偶延拓。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6" grpId="0"/>
      <p:bldP spid="164868" grpId="0"/>
      <p:bldP spid="164870" grpId="0"/>
      <p:bldP spid="164871" grpId="0"/>
      <p:bldP spid="164873" grpId="0"/>
      <p:bldP spid="164877" grpId="0"/>
      <p:bldP spid="16487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/>
          <p:nvPr/>
        </p:nvSpPr>
        <p:spPr>
          <a:xfrm>
            <a:off x="2743200" y="685801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5891" name="Object 3"/>
          <p:cNvGraphicFramePr>
            <a:graphicFrameLocks noChangeAspect="1"/>
          </p:cNvGraphicFramePr>
          <p:nvPr/>
        </p:nvGraphicFramePr>
        <p:xfrm>
          <a:off x="3503614" y="260351"/>
          <a:ext cx="5030787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133600" imgH="1130300" progId="Equation.DSMT4">
                  <p:embed/>
                </p:oleObj>
              </mc:Choice>
              <mc:Fallback>
                <p:oleObj name="" r:id="rId1" imgW="2133600" imgH="11303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3614" y="260351"/>
                        <a:ext cx="5030787" cy="2397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87" name="Group 12"/>
          <p:cNvGrpSpPr/>
          <p:nvPr/>
        </p:nvGrpSpPr>
        <p:grpSpPr>
          <a:xfrm>
            <a:off x="1811339" y="2636838"/>
            <a:ext cx="8650287" cy="3181350"/>
            <a:chOff x="181" y="1661"/>
            <a:chExt cx="5449" cy="2004"/>
          </a:xfrm>
        </p:grpSpPr>
        <p:graphicFrame>
          <p:nvGraphicFramePr>
            <p:cNvPr id="41988" name="Object 4"/>
            <p:cNvGraphicFramePr>
              <a:graphicFrameLocks noChangeAspect="1"/>
            </p:cNvGraphicFramePr>
            <p:nvPr/>
          </p:nvGraphicFramePr>
          <p:xfrm>
            <a:off x="1020" y="1706"/>
            <a:ext cx="13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091565" imgH="215900" progId="Equation.DSMT4">
                    <p:embed/>
                  </p:oleObj>
                </mc:Choice>
                <mc:Fallback>
                  <p:oleObj name="" r:id="rId3" imgW="1091565" imgH="2159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20" y="1706"/>
                          <a:ext cx="1376" cy="272"/>
                        </a:xfrm>
                        <a:prstGeom prst="rect">
                          <a:avLst/>
                        </a:prstGeom>
                        <a:solidFill>
                          <a:srgbClr val="CCFFFF">
                            <a:alpha val="50195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89" name="Text Box 5"/>
            <p:cNvSpPr txBox="1"/>
            <p:nvPr/>
          </p:nvSpPr>
          <p:spPr>
            <a:xfrm>
              <a:off x="703" y="1661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当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41990" name="Object 6"/>
            <p:cNvGraphicFramePr>
              <a:graphicFrameLocks noChangeAspect="1"/>
            </p:cNvGraphicFramePr>
            <p:nvPr/>
          </p:nvGraphicFramePr>
          <p:xfrm>
            <a:off x="181" y="1982"/>
            <a:ext cx="3833" cy="5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3086100" imgH="444500" progId="Equation.DSMT4">
                    <p:embed/>
                  </p:oleObj>
                </mc:Choice>
                <mc:Fallback>
                  <p:oleObj name="" r:id="rId5" imgW="3086100" imgH="444500" progId="Equation.DSMT4">
                    <p:embed/>
                    <p:pic>
                      <p:nvPicPr>
                        <p:cNvPr id="0" name="Object 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1" y="1982"/>
                          <a:ext cx="3833" cy="5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1" name="Object 7"/>
            <p:cNvGraphicFramePr>
              <a:graphicFrameLocks noChangeAspect="1"/>
            </p:cNvGraphicFramePr>
            <p:nvPr/>
          </p:nvGraphicFramePr>
          <p:xfrm>
            <a:off x="4014" y="2069"/>
            <a:ext cx="161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295400" imgH="228600" progId="Equation.DSMT4">
                    <p:embed/>
                  </p:oleObj>
                </mc:Choice>
                <mc:Fallback>
                  <p:oleObj name="" r:id="rId7" imgW="1295400" imgH="228600" progId="Equation.DSMT4">
                    <p:embed/>
                    <p:pic>
                      <p:nvPicPr>
                        <p:cNvPr id="0" name="Object 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14" y="2069"/>
                          <a:ext cx="1616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2" name="Object 8"/>
            <p:cNvGraphicFramePr>
              <a:graphicFrameLocks noChangeAspect="1"/>
            </p:cNvGraphicFramePr>
            <p:nvPr/>
          </p:nvGraphicFramePr>
          <p:xfrm>
            <a:off x="1066" y="2689"/>
            <a:ext cx="1360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091565" imgH="215900" progId="Equation.DSMT4">
                    <p:embed/>
                  </p:oleObj>
                </mc:Choice>
                <mc:Fallback>
                  <p:oleObj name="" r:id="rId9" imgW="1091565" imgH="215900" progId="Equation.DSMT4">
                    <p:embed/>
                    <p:pic>
                      <p:nvPicPr>
                        <p:cNvPr id="0" name="Object 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66" y="2689"/>
                          <a:ext cx="1360" cy="268"/>
                        </a:xfrm>
                        <a:prstGeom prst="rect">
                          <a:avLst/>
                        </a:prstGeom>
                        <a:solidFill>
                          <a:srgbClr val="CCFFFF">
                            <a:alpha val="50195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3" name="Text Box 9"/>
            <p:cNvSpPr txBox="1"/>
            <p:nvPr/>
          </p:nvSpPr>
          <p:spPr>
            <a:xfrm>
              <a:off x="748" y="2659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当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41994" name="Object 10"/>
            <p:cNvGraphicFramePr>
              <a:graphicFrameLocks noChangeAspect="1"/>
            </p:cNvGraphicFramePr>
            <p:nvPr/>
          </p:nvGraphicFramePr>
          <p:xfrm>
            <a:off x="205" y="3052"/>
            <a:ext cx="3990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3086100" imgH="444500" progId="Equation.DSMT4">
                    <p:embed/>
                  </p:oleObj>
                </mc:Choice>
                <mc:Fallback>
                  <p:oleObj name="" r:id="rId11" imgW="3086100" imgH="444500" progId="Equation.DSMT4">
                    <p:embed/>
                    <p:pic>
                      <p:nvPicPr>
                        <p:cNvPr id="0" name="Object 1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5" y="3052"/>
                          <a:ext cx="3990" cy="6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5" name="Object 11"/>
            <p:cNvGraphicFramePr>
              <a:graphicFrameLocks noChangeAspect="1"/>
            </p:cNvGraphicFramePr>
            <p:nvPr/>
          </p:nvGraphicFramePr>
          <p:xfrm>
            <a:off x="4195" y="3158"/>
            <a:ext cx="74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444500" imgH="190500" progId="Equation.DSMT4">
                    <p:embed/>
                  </p:oleObj>
                </mc:Choice>
                <mc:Fallback>
                  <p:oleObj name="" r:id="rId13" imgW="444500" imgH="190500" progId="Equation.DSMT4">
                    <p:embed/>
                    <p:pic>
                      <p:nvPicPr>
                        <p:cNvPr id="0" name="Object 1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195" y="3158"/>
                          <a:ext cx="749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PP_MARK_KEY" val="fa891ce3-655c-4d00-add9-2849e16b941a"/>
  <p:tag name="COMMONDATA" val="eyJoZGlkIjoiY2YyZjYwNzZkOTRlODhkYjczZjVjNjg3YTAxMjY4NDkifQ=="/>
</p:tagLst>
</file>

<file path=ppt/theme/theme1.xml><?xml version="1.0" encoding="utf-8"?>
<a:theme xmlns:a="http://schemas.openxmlformats.org/drawingml/2006/main" name="1_Office 主题​​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2920</Words>
  <Application>WPS 演示</Application>
  <PresentationFormat>宽屏</PresentationFormat>
  <Paragraphs>441</Paragraphs>
  <Slides>47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232</vt:i4>
      </vt:variant>
      <vt:variant>
        <vt:lpstr>幻灯片标题</vt:lpstr>
      </vt:variant>
      <vt:variant>
        <vt:i4>47</vt:i4>
      </vt:variant>
    </vt:vector>
  </HeadingPairs>
  <TitlesOfParts>
    <vt:vector size="292" baseType="lpstr">
      <vt:lpstr>Arial</vt:lpstr>
      <vt:lpstr>宋体</vt:lpstr>
      <vt:lpstr>Wingdings</vt:lpstr>
      <vt:lpstr>微软雅黑</vt:lpstr>
      <vt:lpstr>黑体</vt:lpstr>
      <vt:lpstr>Times New Roman</vt:lpstr>
      <vt:lpstr>Verdana</vt:lpstr>
      <vt:lpstr>Arial Unicode MS</vt:lpstr>
      <vt:lpstr>Calibri</vt:lpstr>
      <vt:lpstr>楷体_GB2312</vt:lpstr>
      <vt:lpstr>新宋体</vt:lpstr>
      <vt:lpstr>华文中宋</vt:lpstr>
      <vt:lpstr>1_Office 主题​​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数学物理方法</vt:lpstr>
      <vt:lpstr>PowerPoint 演示文稿</vt:lpstr>
      <vt:lpstr>微元法：弦振动方程</vt:lpstr>
      <vt:lpstr>弦振动方程</vt:lpstr>
      <vt:lpstr>PowerPoint 演示文稿</vt:lpstr>
      <vt:lpstr>弦振动方程</vt:lpstr>
      <vt:lpstr>弦振动方程</vt:lpstr>
      <vt:lpstr>弦振动方程</vt:lpstr>
      <vt:lpstr>弦振动方程</vt:lpstr>
      <vt:lpstr>弦振动方程 = 波动方程</vt:lpstr>
      <vt:lpstr>波动方程的应用</vt:lpstr>
      <vt:lpstr>数学物理方程：完整表述</vt:lpstr>
      <vt:lpstr>问题的提出：无界弦的自由振动问题</vt:lpstr>
      <vt:lpstr>问题的提出：无界弦的自由振动问题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行波法 —— d’Alembert公式 </vt:lpstr>
      <vt:lpstr>PowerPoint 演示文稿</vt:lpstr>
      <vt:lpstr>例1：求解无界自由振动波动方程柯西问题：</vt:lpstr>
      <vt:lpstr>PowerPoint 演示文稿</vt:lpstr>
      <vt:lpstr>例3：求解波动方程柯西问题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Ning</cp:lastModifiedBy>
  <cp:revision>297</cp:revision>
  <dcterms:created xsi:type="dcterms:W3CDTF">2019-06-19T02:08:00Z</dcterms:created>
  <dcterms:modified xsi:type="dcterms:W3CDTF">2025-09-30T01:11:20Z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BE023D9FE21D4991AF14B6D2A5820A7F_13</vt:lpwstr>
  </property>
</Properties>
</file>