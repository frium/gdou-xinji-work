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6.webp" ContentType="image/webp"/>
  <Override PartName="/ppt/media/image9.webp" ContentType="image/webp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3"/>
    <p:sldId id="398" r:id="rId4"/>
    <p:sldId id="396" r:id="rId5"/>
    <p:sldId id="397" r:id="rId6"/>
    <p:sldId id="399" r:id="rId7"/>
    <p:sldId id="401" r:id="rId8"/>
    <p:sldId id="404" r:id="rId9"/>
    <p:sldId id="405" r:id="rId10"/>
    <p:sldId id="400" r:id="rId11"/>
    <p:sldId id="402" r:id="rId12"/>
    <p:sldId id="403" r:id="rId13"/>
    <p:sldId id="406" r:id="rId14"/>
    <p:sldId id="368" r:id="rId15"/>
    <p:sldId id="369" r:id="rId16"/>
    <p:sldId id="370" r:id="rId18"/>
    <p:sldId id="371" r:id="rId19"/>
    <p:sldId id="372" r:id="rId20"/>
    <p:sldId id="373" r:id="rId21"/>
    <p:sldId id="374" r:id="rId22"/>
    <p:sldId id="375" r:id="rId23"/>
    <p:sldId id="376" r:id="rId24"/>
    <p:sldId id="377" r:id="rId25"/>
    <p:sldId id="378" r:id="rId26"/>
    <p:sldId id="379" r:id="rId27"/>
    <p:sldId id="380" r:id="rId28"/>
    <p:sldId id="381" r:id="rId29"/>
    <p:sldId id="382" r:id="rId30"/>
    <p:sldId id="383" r:id="rId31"/>
    <p:sldId id="384" r:id="rId32"/>
    <p:sldId id="385" r:id="rId33"/>
    <p:sldId id="386" r:id="rId34"/>
    <p:sldId id="387" r:id="rId35"/>
    <p:sldId id="388" r:id="rId36"/>
    <p:sldId id="389" r:id="rId37"/>
    <p:sldId id="390" r:id="rId38"/>
    <p:sldId id="391" r:id="rId39"/>
    <p:sldId id="392" r:id="rId40"/>
    <p:sldId id="393" r:id="rId41"/>
    <p:sldId id="394" r:id="rId42"/>
    <p:sldId id="395" r:id="rId43"/>
  </p:sldIdLst>
  <p:sldSz cx="12192000" cy="6858000"/>
  <p:notesSz cx="6858000" cy="9144000"/>
  <p:custDataLst>
    <p:tags r:id="rId4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1" userDrawn="1">
          <p15:clr>
            <a:srgbClr val="A4A3A4"/>
          </p15:clr>
        </p15:guide>
        <p15:guide id="2" pos="382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9D9D9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83" d="100"/>
          <a:sy n="83" d="100"/>
        </p:scale>
        <p:origin x="744" y="77"/>
      </p:cViewPr>
      <p:guideLst>
        <p:guide orient="horz" pos="2131"/>
        <p:guide pos="382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7" Type="http://schemas.openxmlformats.org/officeDocument/2006/relationships/tags" Target="tags/tag85.xml"/><Relationship Id="rId46" Type="http://schemas.openxmlformats.org/officeDocument/2006/relationships/tableStyles" Target="tableStyles.xml"/><Relationship Id="rId45" Type="http://schemas.openxmlformats.org/officeDocument/2006/relationships/viewProps" Target="viewProps.xml"/><Relationship Id="rId44" Type="http://schemas.openxmlformats.org/officeDocument/2006/relationships/presProps" Target="presProps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1" Type="http://schemas.openxmlformats.org/officeDocument/2006/relationships/image" Target="../media/image21.wmf"/></Relationships>
</file>

<file path=ppt/drawings/_rels/vmlDrawing2.vml.rels><?xml version="1.0" encoding="UTF-8" standalone="yes"?>
<Relationships xmlns="http://schemas.openxmlformats.org/package/2006/relationships"><Relationship Id="rId4" Type="http://schemas.openxmlformats.org/officeDocument/2006/relationships/image" Target="../media/image26.wmf"/><Relationship Id="rId3" Type="http://schemas.openxmlformats.org/officeDocument/2006/relationships/image" Target="../media/image25.wmf"/><Relationship Id="rId2" Type="http://schemas.openxmlformats.org/officeDocument/2006/relationships/image" Target="../media/image24.wmf"/><Relationship Id="rId1" Type="http://schemas.openxmlformats.org/officeDocument/2006/relationships/image" Target="../media/image23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/Relationships>
</file>

<file path=ppt/drawings/_rels/vmlDrawing4.vml.rels><?xml version="1.0" encoding="UTF-8" standalone="yes"?>
<Relationships xmlns="http://schemas.openxmlformats.org/package/2006/relationships"><Relationship Id="rId6" Type="http://schemas.openxmlformats.org/officeDocument/2006/relationships/image" Target="../media/image35.wmf"/><Relationship Id="rId5" Type="http://schemas.openxmlformats.org/officeDocument/2006/relationships/image" Target="../media/image34.wmf"/><Relationship Id="rId4" Type="http://schemas.openxmlformats.org/officeDocument/2006/relationships/image" Target="../media/image33.wmf"/><Relationship Id="rId3" Type="http://schemas.openxmlformats.org/officeDocument/2006/relationships/image" Target="../media/image32.wmf"/><Relationship Id="rId2" Type="http://schemas.openxmlformats.org/officeDocument/2006/relationships/image" Target="../media/image31.wmf"/><Relationship Id="rId1" Type="http://schemas.openxmlformats.org/officeDocument/2006/relationships/image" Target="../media/image30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2" Type="http://schemas.openxmlformats.org/officeDocument/2006/relationships/image" Target="../media/image37.wmf"/><Relationship Id="rId1" Type="http://schemas.openxmlformats.org/officeDocument/2006/relationships/image" Target="../media/image36.wmf"/></Relationships>
</file>

<file path=ppt/drawings/_rels/vmlDrawing6.vml.rels><?xml version="1.0" encoding="UTF-8" standalone="yes"?>
<Relationships xmlns="http://schemas.openxmlformats.org/package/2006/relationships"><Relationship Id="rId4" Type="http://schemas.openxmlformats.org/officeDocument/2006/relationships/image" Target="../media/image46.wmf"/><Relationship Id="rId3" Type="http://schemas.openxmlformats.org/officeDocument/2006/relationships/image" Target="../media/image45.wmf"/><Relationship Id="rId2" Type="http://schemas.openxmlformats.org/officeDocument/2006/relationships/image" Target="../media/image44.wmf"/><Relationship Id="rId1" Type="http://schemas.openxmlformats.org/officeDocument/2006/relationships/image" Target="../media/image43.wmf"/></Relationships>
</file>

<file path=ppt/drawings/_rels/vmlDrawing7.vml.rels><?xml version="1.0" encoding="UTF-8" standalone="yes"?>
<Relationships xmlns="http://schemas.openxmlformats.org/package/2006/relationships"><Relationship Id="rId5" Type="http://schemas.openxmlformats.org/officeDocument/2006/relationships/image" Target="../media/image51.wmf"/><Relationship Id="rId4" Type="http://schemas.openxmlformats.org/officeDocument/2006/relationships/image" Target="../media/image50.wmf"/><Relationship Id="rId3" Type="http://schemas.openxmlformats.org/officeDocument/2006/relationships/image" Target="../media/image49.wmf"/><Relationship Id="rId2" Type="http://schemas.openxmlformats.org/officeDocument/2006/relationships/image" Target="../media/image48.wmf"/><Relationship Id="rId1" Type="http://schemas.openxmlformats.org/officeDocument/2006/relationships/image" Target="../media/image47.wmf"/></Relationships>
</file>

<file path=ppt/drawings/_rels/vmlDrawing8.vml.rels><?xml version="1.0" encoding="UTF-8" standalone="yes"?>
<Relationships xmlns="http://schemas.openxmlformats.org/package/2006/relationships"><Relationship Id="rId6" Type="http://schemas.openxmlformats.org/officeDocument/2006/relationships/image" Target="../media/image57.wmf"/><Relationship Id="rId5" Type="http://schemas.openxmlformats.org/officeDocument/2006/relationships/image" Target="../media/image56.wmf"/><Relationship Id="rId4" Type="http://schemas.openxmlformats.org/officeDocument/2006/relationships/image" Target="../media/image55.wmf"/><Relationship Id="rId3" Type="http://schemas.openxmlformats.org/officeDocument/2006/relationships/image" Target="../media/image54.wmf"/><Relationship Id="rId2" Type="http://schemas.openxmlformats.org/officeDocument/2006/relationships/image" Target="../media/image53.wmf"/><Relationship Id="rId1" Type="http://schemas.openxmlformats.org/officeDocument/2006/relationships/image" Target="../media/image52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60.wmf"/><Relationship Id="rId2" Type="http://schemas.openxmlformats.org/officeDocument/2006/relationships/image" Target="../media/image59.wmf"/><Relationship Id="rId1" Type="http://schemas.openxmlformats.org/officeDocument/2006/relationships/image" Target="../media/image58.wmf"/></Relationships>
</file>

<file path=ppt/drawings/_rels/vmlDrawing10.vml.rels><?xml version="1.0" encoding="UTF-8" standalone="yes"?>
<Relationships xmlns="http://schemas.openxmlformats.org/package/2006/relationships"><Relationship Id="rId5" Type="http://schemas.openxmlformats.org/officeDocument/2006/relationships/image" Target="../media/image65.wmf"/><Relationship Id="rId4" Type="http://schemas.openxmlformats.org/officeDocument/2006/relationships/image" Target="../media/image64.wmf"/><Relationship Id="rId3" Type="http://schemas.openxmlformats.org/officeDocument/2006/relationships/image" Target="../media/image63.wmf"/><Relationship Id="rId2" Type="http://schemas.openxmlformats.org/officeDocument/2006/relationships/image" Target="../media/image62.wmf"/><Relationship Id="rId1" Type="http://schemas.openxmlformats.org/officeDocument/2006/relationships/image" Target="../media/image61.wmf"/></Relationships>
</file>

<file path=ppt/drawings/_rels/vmlDrawing11.vml.rels><?xml version="1.0" encoding="UTF-8" standalone="yes"?>
<Relationships xmlns="http://schemas.openxmlformats.org/package/2006/relationships"><Relationship Id="rId5" Type="http://schemas.openxmlformats.org/officeDocument/2006/relationships/image" Target="../media/image70.wmf"/><Relationship Id="rId4" Type="http://schemas.openxmlformats.org/officeDocument/2006/relationships/image" Target="../media/image69.wmf"/><Relationship Id="rId3" Type="http://schemas.openxmlformats.org/officeDocument/2006/relationships/image" Target="../media/image68.wmf"/><Relationship Id="rId2" Type="http://schemas.openxmlformats.org/officeDocument/2006/relationships/image" Target="../media/image67.wmf"/><Relationship Id="rId1" Type="http://schemas.openxmlformats.org/officeDocument/2006/relationships/image" Target="../media/image66.wmf"/></Relationships>
</file>

<file path=ppt/drawings/_rels/vmlDrawing12.vml.rels><?xml version="1.0" encoding="UTF-8" standalone="yes"?>
<Relationships xmlns="http://schemas.openxmlformats.org/package/2006/relationships"><Relationship Id="rId6" Type="http://schemas.openxmlformats.org/officeDocument/2006/relationships/image" Target="../media/image76.wmf"/><Relationship Id="rId5" Type="http://schemas.openxmlformats.org/officeDocument/2006/relationships/image" Target="../media/image75.wmf"/><Relationship Id="rId4" Type="http://schemas.openxmlformats.org/officeDocument/2006/relationships/image" Target="../media/image74.wmf"/><Relationship Id="rId3" Type="http://schemas.openxmlformats.org/officeDocument/2006/relationships/image" Target="../media/image73.wmf"/><Relationship Id="rId2" Type="http://schemas.openxmlformats.org/officeDocument/2006/relationships/image" Target="../media/image72.wmf"/><Relationship Id="rId1" Type="http://schemas.openxmlformats.org/officeDocument/2006/relationships/image" Target="../media/image71.wmf"/></Relationships>
</file>

<file path=ppt/drawings/_rels/vmlDrawing13.vml.rels><?xml version="1.0" encoding="UTF-8" standalone="yes"?>
<Relationships xmlns="http://schemas.openxmlformats.org/package/2006/relationships"><Relationship Id="rId5" Type="http://schemas.openxmlformats.org/officeDocument/2006/relationships/image" Target="../media/image81.wmf"/><Relationship Id="rId4" Type="http://schemas.openxmlformats.org/officeDocument/2006/relationships/image" Target="../media/image80.wmf"/><Relationship Id="rId3" Type="http://schemas.openxmlformats.org/officeDocument/2006/relationships/image" Target="../media/image79.wmf"/><Relationship Id="rId2" Type="http://schemas.openxmlformats.org/officeDocument/2006/relationships/image" Target="../media/image78.wmf"/><Relationship Id="rId1" Type="http://schemas.openxmlformats.org/officeDocument/2006/relationships/image" Target="../media/image77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84.wmf"/><Relationship Id="rId2" Type="http://schemas.openxmlformats.org/officeDocument/2006/relationships/image" Target="../media/image83.wmf"/><Relationship Id="rId1" Type="http://schemas.openxmlformats.org/officeDocument/2006/relationships/image" Target="../media/image82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87.wmf"/><Relationship Id="rId2" Type="http://schemas.openxmlformats.org/officeDocument/2006/relationships/image" Target="../media/image86.wmf"/><Relationship Id="rId1" Type="http://schemas.openxmlformats.org/officeDocument/2006/relationships/image" Target="../media/image85.w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89.wmf"/><Relationship Id="rId1" Type="http://schemas.openxmlformats.org/officeDocument/2006/relationships/image" Target="../media/image88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92.wmf"/><Relationship Id="rId2" Type="http://schemas.openxmlformats.org/officeDocument/2006/relationships/image" Target="../media/image91.wmf"/><Relationship Id="rId1" Type="http://schemas.openxmlformats.org/officeDocument/2006/relationships/image" Target="../media/image90.w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94.wmf"/><Relationship Id="rId1" Type="http://schemas.openxmlformats.org/officeDocument/2006/relationships/image" Target="../media/image93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96.wmf"/><Relationship Id="rId2" Type="http://schemas.openxmlformats.org/officeDocument/2006/relationships/image" Target="../media/image94.wmf"/><Relationship Id="rId1" Type="http://schemas.openxmlformats.org/officeDocument/2006/relationships/image" Target="../media/image95.w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98.wmf"/><Relationship Id="rId1" Type="http://schemas.openxmlformats.org/officeDocument/2006/relationships/image" Target="../media/image97.wmf"/></Relationships>
</file>

<file path=ppt/drawings/_rels/vmlDrawing21.vml.rels><?xml version="1.0" encoding="UTF-8" standalone="yes"?>
<Relationships xmlns="http://schemas.openxmlformats.org/package/2006/relationships"><Relationship Id="rId4" Type="http://schemas.openxmlformats.org/officeDocument/2006/relationships/image" Target="../media/image102.wmf"/><Relationship Id="rId3" Type="http://schemas.openxmlformats.org/officeDocument/2006/relationships/image" Target="../media/image101.wmf"/><Relationship Id="rId2" Type="http://schemas.openxmlformats.org/officeDocument/2006/relationships/image" Target="../media/image100.wmf"/><Relationship Id="rId1" Type="http://schemas.openxmlformats.org/officeDocument/2006/relationships/image" Target="../media/image99.wmf"/></Relationships>
</file>

<file path=ppt/drawings/_rels/vmlDrawing22.vml.rels><?xml version="1.0" encoding="UTF-8" standalone="yes"?>
<Relationships xmlns="http://schemas.openxmlformats.org/package/2006/relationships"><Relationship Id="rId4" Type="http://schemas.openxmlformats.org/officeDocument/2006/relationships/image" Target="../media/image105.wmf"/><Relationship Id="rId3" Type="http://schemas.openxmlformats.org/officeDocument/2006/relationships/image" Target="../media/image65.wmf"/><Relationship Id="rId2" Type="http://schemas.openxmlformats.org/officeDocument/2006/relationships/image" Target="../media/image104.wmf"/><Relationship Id="rId1" Type="http://schemas.openxmlformats.org/officeDocument/2006/relationships/image" Target="../media/image103.wmf"/></Relationships>
</file>

<file path=ppt/drawings/_rels/vmlDrawing23.vml.rels><?xml version="1.0" encoding="UTF-8" standalone="yes"?>
<Relationships xmlns="http://schemas.openxmlformats.org/package/2006/relationships"><Relationship Id="rId5" Type="http://schemas.openxmlformats.org/officeDocument/2006/relationships/image" Target="../media/image110.wmf"/><Relationship Id="rId4" Type="http://schemas.openxmlformats.org/officeDocument/2006/relationships/image" Target="../media/image109.wmf"/><Relationship Id="rId3" Type="http://schemas.openxmlformats.org/officeDocument/2006/relationships/image" Target="../media/image108.wmf"/><Relationship Id="rId2" Type="http://schemas.openxmlformats.org/officeDocument/2006/relationships/image" Target="../media/image107.wmf"/><Relationship Id="rId1" Type="http://schemas.openxmlformats.org/officeDocument/2006/relationships/image" Target="../media/image106.wmf"/></Relationships>
</file>

<file path=ppt/drawings/_rels/vmlDrawing24.vml.rels><?xml version="1.0" encoding="UTF-8" standalone="yes"?>
<Relationships xmlns="http://schemas.openxmlformats.org/package/2006/relationships"><Relationship Id="rId4" Type="http://schemas.openxmlformats.org/officeDocument/2006/relationships/image" Target="../media/image114.wmf"/><Relationship Id="rId3" Type="http://schemas.openxmlformats.org/officeDocument/2006/relationships/image" Target="../media/image113.wmf"/><Relationship Id="rId2" Type="http://schemas.openxmlformats.org/officeDocument/2006/relationships/image" Target="../media/image112.wmf"/><Relationship Id="rId1" Type="http://schemas.openxmlformats.org/officeDocument/2006/relationships/image" Target="../media/image111.wmf"/></Relationships>
</file>

<file path=ppt/drawings/_rels/vmlDrawing25.vml.rels><?xml version="1.0" encoding="UTF-8" standalone="yes"?>
<Relationships xmlns="http://schemas.openxmlformats.org/package/2006/relationships"><Relationship Id="rId4" Type="http://schemas.openxmlformats.org/officeDocument/2006/relationships/image" Target="../media/image118.wmf"/><Relationship Id="rId3" Type="http://schemas.openxmlformats.org/officeDocument/2006/relationships/image" Target="../media/image117.wmf"/><Relationship Id="rId2" Type="http://schemas.openxmlformats.org/officeDocument/2006/relationships/image" Target="../media/image116.wmf"/><Relationship Id="rId1" Type="http://schemas.openxmlformats.org/officeDocument/2006/relationships/image" Target="../media/image115.wmf"/></Relationships>
</file>

<file path=ppt/drawings/_rels/vmlDrawing26.vml.rels><?xml version="1.0" encoding="UTF-8" standalone="yes"?>
<Relationships xmlns="http://schemas.openxmlformats.org/package/2006/relationships"><Relationship Id="rId5" Type="http://schemas.openxmlformats.org/officeDocument/2006/relationships/image" Target="../media/image123.wmf"/><Relationship Id="rId4" Type="http://schemas.openxmlformats.org/officeDocument/2006/relationships/image" Target="../media/image122.wmf"/><Relationship Id="rId3" Type="http://schemas.openxmlformats.org/officeDocument/2006/relationships/image" Target="../media/image121.wmf"/><Relationship Id="rId2" Type="http://schemas.openxmlformats.org/officeDocument/2006/relationships/image" Target="../media/image120.wmf"/><Relationship Id="rId1" Type="http://schemas.openxmlformats.org/officeDocument/2006/relationships/image" Target="../media/image11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9218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921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25602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25603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1.png"/><Relationship Id="rId2" Type="http://schemas.openxmlformats.org/officeDocument/2006/relationships/tags" Target="../tags/tag1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image" Target="../media/image2.png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35.xml"/><Relationship Id="rId8" Type="http://schemas.openxmlformats.org/officeDocument/2006/relationships/tags" Target="../tags/tag34.xml"/><Relationship Id="rId7" Type="http://schemas.openxmlformats.org/officeDocument/2006/relationships/tags" Target="../tags/tag33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8.xml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64.xml"/><Relationship Id="rId8" Type="http://schemas.openxmlformats.org/officeDocument/2006/relationships/tags" Target="../tags/tag63.xml"/><Relationship Id="rId7" Type="http://schemas.openxmlformats.org/officeDocument/2006/relationships/tags" Target="../tags/tag62.xml"/><Relationship Id="rId6" Type="http://schemas.openxmlformats.org/officeDocument/2006/relationships/tags" Target="../tags/tag61.xml"/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image" Target="../media/image1.png"/><Relationship Id="rId2" Type="http://schemas.openxmlformats.org/officeDocument/2006/relationships/tags" Target="../tags/tag58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11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938588"/>
            <a:ext cx="12192000" cy="2919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直接连接符 4"/>
          <p:cNvCxnSpPr/>
          <p:nvPr>
            <p:custDataLst>
              <p:tags r:id="rId4"/>
            </p:custDataLst>
          </p:nvPr>
        </p:nvCxnSpPr>
        <p:spPr>
          <a:xfrm flipH="1">
            <a:off x="0" y="2298700"/>
            <a:ext cx="2587625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>
            <p:custDataLst>
              <p:tags r:id="rId5"/>
            </p:custDataLst>
          </p:nvPr>
        </p:nvCxnSpPr>
        <p:spPr>
          <a:xfrm flipH="1" flipV="1">
            <a:off x="9605963" y="2298700"/>
            <a:ext cx="2587625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: 圆角 6"/>
          <p:cNvSpPr/>
          <p:nvPr>
            <p:custDataLst>
              <p:tags r:id="rId6"/>
            </p:custDataLst>
          </p:nvPr>
        </p:nvSpPr>
        <p:spPr>
          <a:xfrm>
            <a:off x="4900613" y="752475"/>
            <a:ext cx="2390775" cy="75565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 noProof="1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7"/>
            </p:custDataLst>
          </p:nvPr>
        </p:nvSpPr>
        <p:spPr>
          <a:xfrm>
            <a:off x="2495600" y="1826578"/>
            <a:ext cx="7200800" cy="949878"/>
          </a:xfrm>
        </p:spPr>
        <p:txBody>
          <a:bodyPr>
            <a:normAutofit/>
          </a:bodyPr>
          <a:lstStyle>
            <a:lvl1pPr algn="ctr"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noProof="1"/>
              <a:t>单击此处编辑标题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2495600" y="2826092"/>
            <a:ext cx="7200800" cy="465746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 dirty="0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rtlCol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882" y="952508"/>
            <a:ext cx="10852237" cy="5388907"/>
          </a:xfrm>
        </p:spPr>
        <p:txBody>
          <a:bodyPr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3038475" y="2284413"/>
            <a:ext cx="6115050" cy="76676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pic>
        <p:nvPicPr>
          <p:cNvPr id="5" name="Picture 3" descr="D:\Desktop\素材\素描城市.pn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4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2284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831850" y="3373606"/>
            <a:ext cx="10515600" cy="1061467"/>
          </a:xfrm>
        </p:spPr>
        <p:txBody>
          <a:bodyPr>
            <a:normAutofit/>
          </a:bodyPr>
          <a:lstStyle>
            <a:lvl1pPr algn="ctr"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noProof="1"/>
              <a:t>单击此处编辑标题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2207568" y="4527773"/>
            <a:ext cx="7776864" cy="1061467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单击此处编辑文本</a:t>
            </a:r>
            <a:endParaRPr lang="zh-CN" altLang="en-US" noProof="1"/>
          </a:p>
        </p:txBody>
      </p:sp>
      <p:sp>
        <p:nvSpPr>
          <p:cNvPr id="6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/>
            </a:fld>
            <a:endParaRPr lang="zh-CN" altLang="en-US"/>
          </a:p>
        </p:txBody>
      </p:sp>
      <p:sp>
        <p:nvSpPr>
          <p:cNvPr id="7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DFCB4D56-782D-442B-9B32-0BC325ED746A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7" y="952508"/>
            <a:ext cx="5283242" cy="5388907"/>
          </a:xfrm>
        </p:spPr>
        <p:txBody>
          <a:bodyPr>
            <a:noAutofit/>
          </a:bodyPr>
          <a:lstStyle>
            <a:lvl1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69930" y="952508"/>
            <a:ext cx="5283242" cy="381003"/>
          </a:xfrm>
        </p:spPr>
        <p:txBody>
          <a:bodyPr tIns="38100" rIns="76200" bIns="3810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单击此处编辑文本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9925" y="1406525"/>
            <a:ext cx="5283200" cy="4934752"/>
          </a:xfrm>
        </p:spPr>
        <p:txBody>
          <a:bodyPr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952508"/>
            <a:ext cx="5283242" cy="381003"/>
          </a:xfrm>
        </p:spPr>
        <p:txBody>
          <a:bodyPr tIns="38100" rIns="76200" bIns="3810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noProof="1">
                <a:sym typeface="+mn-ea"/>
              </a:rPr>
              <a:t>单击此处编辑文本</a:t>
            </a:r>
            <a:endParaRPr noProof="1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406525"/>
            <a:ext cx="5283242" cy="4934752"/>
          </a:xfrm>
        </p:spPr>
        <p:txBody>
          <a:bodyPr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BD269E1A-4DF9-4A6A-B519-38EBE42E3344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30" y="443234"/>
            <a:ext cx="10852237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单击图标添加图片</a:t>
            </a:r>
            <a:endParaRPr noProof="1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6238925" y="952508"/>
            <a:ext cx="5283242" cy="5388907"/>
          </a:xfrm>
        </p:spPr>
        <p:txBody>
          <a:bodyPr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 dirty="0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rtlCol="0" anchor="ctr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indent="0" eaLnBrk="1" fontAlgn="auto" latinLnBrk="0" hangingPunct="1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indent="0" eaLnBrk="1" fontAlgn="auto" latinLnBrk="0" hangingPunct="1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indent="0" eaLnBrk="1" fontAlgn="auto" latinLnBrk="0" hangingPunct="1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indent="0" eaLnBrk="1" fontAlgn="auto" latinLnBrk="0" hangingPunct="1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4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5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6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9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938588"/>
            <a:ext cx="12192000" cy="2919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直接连接符 3"/>
          <p:cNvCxnSpPr/>
          <p:nvPr>
            <p:custDataLst>
              <p:tags r:id="rId4"/>
            </p:custDataLst>
          </p:nvPr>
        </p:nvCxnSpPr>
        <p:spPr>
          <a:xfrm flipH="1">
            <a:off x="0" y="2995613"/>
            <a:ext cx="2587625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>
            <p:custDataLst>
              <p:tags r:id="rId5"/>
            </p:custDataLst>
          </p:nvPr>
        </p:nvCxnSpPr>
        <p:spPr>
          <a:xfrm flipH="1" flipV="1">
            <a:off x="9605963" y="2995613"/>
            <a:ext cx="2587625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2726808" y="2313806"/>
            <a:ext cx="6738385" cy="1448117"/>
          </a:xfrm>
        </p:spPr>
        <p:txBody>
          <a:bodyPr rIns="25400" rtlCol="0" anchor="ctr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0" i="0" u="none" strike="noStrike" kern="1200" cap="none" spc="600" normalizeH="0" baseline="0" noProof="1" dirty="0">
                <a:solidFill>
                  <a:schemeClr val="tx2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编辑标题</a:t>
            </a:r>
            <a:endParaRPr noProof="1">
              <a:sym typeface="+mn-ea"/>
            </a:endParaRPr>
          </a:p>
        </p:txBody>
      </p:sp>
      <p:sp>
        <p:nvSpPr>
          <p:cNvPr id="6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/>
            </a:fld>
            <a:endParaRPr lang="zh-CN" altLang="en-US"/>
          </a:p>
        </p:txBody>
      </p:sp>
      <p:sp>
        <p:nvSpPr>
          <p:cNvPr id="7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8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1F416EC6-90A0-4FF7-BF22-87F915FB23BB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70.xml"/><Relationship Id="rId16" Type="http://schemas.openxmlformats.org/officeDocument/2006/relationships/tags" Target="../tags/tag69.xml"/><Relationship Id="rId15" Type="http://schemas.openxmlformats.org/officeDocument/2006/relationships/tags" Target="../tags/tag68.xml"/><Relationship Id="rId14" Type="http://schemas.openxmlformats.org/officeDocument/2006/relationships/tags" Target="../tags/tag67.xml"/><Relationship Id="rId13" Type="http://schemas.openxmlformats.org/officeDocument/2006/relationships/tags" Target="../tags/tag66.xml"/><Relationship Id="rId12" Type="http://schemas.openxmlformats.org/officeDocument/2006/relationships/tags" Target="../tags/tag65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  <p:custDataLst>
              <p:tags r:id="rId12"/>
            </p:custDataLst>
          </p:nvPr>
        </p:nvSpPr>
        <p:spPr bwMode="auto">
          <a:xfrm>
            <a:off x="669925" y="442913"/>
            <a:ext cx="10852150" cy="442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38100" rIns="76200" bIns="38100" numCol="1" anchor="t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9"/>
            <p:custDataLst>
              <p:tags r:id="rId13"/>
            </p:custDataLst>
          </p:nvPr>
        </p:nvSpPr>
        <p:spPr bwMode="auto">
          <a:xfrm>
            <a:off x="669925" y="952500"/>
            <a:ext cx="10852150" cy="538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0" rIns="82550" bIns="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noProof="1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 noProof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 noProof="1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KSO_TEMPLATE" hidden="1"/>
          <p:cNvSpPr/>
          <p:nvPr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 kern="1200" spc="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marL="228600" indent="-22860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600" kern="1200" spc="15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kern="1200" spc="15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kern="1200" spc="15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kern="1200" spc="15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kern="1200" spc="15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73.xml"/><Relationship Id="rId3" Type="http://schemas.openxmlformats.org/officeDocument/2006/relationships/image" Target="../media/image3.png"/><Relationship Id="rId2" Type="http://schemas.openxmlformats.org/officeDocument/2006/relationships/tags" Target="../tags/tag72.xml"/><Relationship Id="rId1" Type="http://schemas.openxmlformats.org/officeDocument/2006/relationships/tags" Target="../tags/tag7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5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6.xml"/><Relationship Id="rId2" Type="http://schemas.openxmlformats.org/officeDocument/2006/relationships/image" Target="../media/image6.webp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7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8.xml"/><Relationship Id="rId2" Type="http://schemas.openxmlformats.org/officeDocument/2006/relationships/image" Target="../media/image10.png"/><Relationship Id="rId1" Type="http://schemas.openxmlformats.org/officeDocument/2006/relationships/image" Target="../media/image9.web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9.xml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0.xml"/><Relationship Id="rId1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81.xml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2.xml"/><Relationship Id="rId1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3.xml"/><Relationship Id="rId1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4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2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21.wmf"/><Relationship Id="rId1" Type="http://schemas.openxmlformats.org/officeDocument/2006/relationships/oleObject" Target="../embeddings/oleObject1.bin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26.wmf"/><Relationship Id="rId7" Type="http://schemas.openxmlformats.org/officeDocument/2006/relationships/oleObject" Target="../embeddings/oleObject6.bin"/><Relationship Id="rId6" Type="http://schemas.openxmlformats.org/officeDocument/2006/relationships/image" Target="../media/image25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24.wmf"/><Relationship Id="rId3" Type="http://schemas.openxmlformats.org/officeDocument/2006/relationships/oleObject" Target="../embeddings/oleObject4.bin"/><Relationship Id="rId2" Type="http://schemas.openxmlformats.org/officeDocument/2006/relationships/image" Target="../media/image23.wmf"/><Relationship Id="rId11" Type="http://schemas.openxmlformats.org/officeDocument/2006/relationships/notesSlide" Target="../notesSlides/notesSlide1.xml"/><Relationship Id="rId10" Type="http://schemas.openxmlformats.org/officeDocument/2006/relationships/vmlDrawing" Target="../drawings/vmlDrawing2.vml"/><Relationship Id="rId1" Type="http://schemas.openxmlformats.org/officeDocument/2006/relationships/oleObject" Target="../embeddings/oleObject3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3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29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28.wmf"/><Relationship Id="rId3" Type="http://schemas.openxmlformats.org/officeDocument/2006/relationships/oleObject" Target="../embeddings/oleObject8.bin"/><Relationship Id="rId2" Type="http://schemas.openxmlformats.org/officeDocument/2006/relationships/image" Target="../media/image27.wmf"/><Relationship Id="rId1" Type="http://schemas.openxmlformats.org/officeDocument/2006/relationships/oleObject" Target="../embeddings/oleObject7.bin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4.bin"/><Relationship Id="rId8" Type="http://schemas.openxmlformats.org/officeDocument/2006/relationships/image" Target="../media/image33.wmf"/><Relationship Id="rId7" Type="http://schemas.openxmlformats.org/officeDocument/2006/relationships/oleObject" Target="../embeddings/oleObject13.bin"/><Relationship Id="rId6" Type="http://schemas.openxmlformats.org/officeDocument/2006/relationships/image" Target="../media/image32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31.wmf"/><Relationship Id="rId3" Type="http://schemas.openxmlformats.org/officeDocument/2006/relationships/oleObject" Target="../embeddings/oleObject11.bin"/><Relationship Id="rId2" Type="http://schemas.openxmlformats.org/officeDocument/2006/relationships/image" Target="../media/image30.wmf"/><Relationship Id="rId14" Type="http://schemas.openxmlformats.org/officeDocument/2006/relationships/vmlDrawing" Target="../drawings/vmlDrawing4.v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35.wmf"/><Relationship Id="rId11" Type="http://schemas.openxmlformats.org/officeDocument/2006/relationships/oleObject" Target="../embeddings/oleObject15.bin"/><Relationship Id="rId10" Type="http://schemas.openxmlformats.org/officeDocument/2006/relationships/image" Target="../media/image34.wmf"/><Relationship Id="rId1" Type="http://schemas.openxmlformats.org/officeDocument/2006/relationships/oleObject" Target="../embeddings/oleObject10.bin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41.png"/><Relationship Id="rId8" Type="http://schemas.openxmlformats.org/officeDocument/2006/relationships/image" Target="../media/image40.png"/><Relationship Id="rId7" Type="http://schemas.openxmlformats.org/officeDocument/2006/relationships/image" Target="../media/image39.png"/><Relationship Id="rId6" Type="http://schemas.openxmlformats.org/officeDocument/2006/relationships/image" Target="../media/image38.w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37.wmf"/><Relationship Id="rId3" Type="http://schemas.openxmlformats.org/officeDocument/2006/relationships/oleObject" Target="../embeddings/oleObject17.bin"/><Relationship Id="rId2" Type="http://schemas.openxmlformats.org/officeDocument/2006/relationships/image" Target="../media/image36.wmf"/><Relationship Id="rId12" Type="http://schemas.openxmlformats.org/officeDocument/2006/relationships/vmlDrawing" Target="../drawings/vmlDrawing5.v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42.png"/><Relationship Id="rId1" Type="http://schemas.openxmlformats.org/officeDocument/2006/relationships/oleObject" Target="../embeddings/oleObject16.bin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46.wmf"/><Relationship Id="rId7" Type="http://schemas.openxmlformats.org/officeDocument/2006/relationships/oleObject" Target="../embeddings/oleObject22.bin"/><Relationship Id="rId6" Type="http://schemas.openxmlformats.org/officeDocument/2006/relationships/image" Target="../media/image45.wmf"/><Relationship Id="rId5" Type="http://schemas.openxmlformats.org/officeDocument/2006/relationships/oleObject" Target="../embeddings/oleObject21.bin"/><Relationship Id="rId4" Type="http://schemas.openxmlformats.org/officeDocument/2006/relationships/image" Target="../media/image44.wmf"/><Relationship Id="rId3" Type="http://schemas.openxmlformats.org/officeDocument/2006/relationships/oleObject" Target="../embeddings/oleObject20.bin"/><Relationship Id="rId2" Type="http://schemas.openxmlformats.org/officeDocument/2006/relationships/image" Target="../media/image43.wmf"/><Relationship Id="rId10" Type="http://schemas.openxmlformats.org/officeDocument/2006/relationships/vmlDrawing" Target="../drawings/vmlDrawing6.vml"/><Relationship Id="rId1" Type="http://schemas.openxmlformats.org/officeDocument/2006/relationships/oleObject" Target="../embeddings/oleObject19.bin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7.bin"/><Relationship Id="rId8" Type="http://schemas.openxmlformats.org/officeDocument/2006/relationships/image" Target="../media/image50.wmf"/><Relationship Id="rId7" Type="http://schemas.openxmlformats.org/officeDocument/2006/relationships/oleObject" Target="../embeddings/oleObject26.bin"/><Relationship Id="rId6" Type="http://schemas.openxmlformats.org/officeDocument/2006/relationships/image" Target="../media/image49.wmf"/><Relationship Id="rId5" Type="http://schemas.openxmlformats.org/officeDocument/2006/relationships/oleObject" Target="../embeddings/oleObject25.bin"/><Relationship Id="rId4" Type="http://schemas.openxmlformats.org/officeDocument/2006/relationships/image" Target="../media/image48.wmf"/><Relationship Id="rId3" Type="http://schemas.openxmlformats.org/officeDocument/2006/relationships/oleObject" Target="../embeddings/oleObject24.bin"/><Relationship Id="rId2" Type="http://schemas.openxmlformats.org/officeDocument/2006/relationships/image" Target="../media/image47.wmf"/><Relationship Id="rId12" Type="http://schemas.openxmlformats.org/officeDocument/2006/relationships/vmlDrawing" Target="../drawings/vmlDrawing7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51.wmf"/><Relationship Id="rId1" Type="http://schemas.openxmlformats.org/officeDocument/2006/relationships/oleObject" Target="../embeddings/oleObject23.bin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2.bin"/><Relationship Id="rId8" Type="http://schemas.openxmlformats.org/officeDocument/2006/relationships/image" Target="../media/image55.wmf"/><Relationship Id="rId7" Type="http://schemas.openxmlformats.org/officeDocument/2006/relationships/oleObject" Target="../embeddings/oleObject31.bin"/><Relationship Id="rId6" Type="http://schemas.openxmlformats.org/officeDocument/2006/relationships/image" Target="../media/image54.wmf"/><Relationship Id="rId5" Type="http://schemas.openxmlformats.org/officeDocument/2006/relationships/oleObject" Target="../embeddings/oleObject30.bin"/><Relationship Id="rId4" Type="http://schemas.openxmlformats.org/officeDocument/2006/relationships/image" Target="../media/image53.wmf"/><Relationship Id="rId3" Type="http://schemas.openxmlformats.org/officeDocument/2006/relationships/oleObject" Target="../embeddings/oleObject29.bin"/><Relationship Id="rId2" Type="http://schemas.openxmlformats.org/officeDocument/2006/relationships/image" Target="../media/image52.wmf"/><Relationship Id="rId14" Type="http://schemas.openxmlformats.org/officeDocument/2006/relationships/vmlDrawing" Target="../drawings/vmlDrawing8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57.wmf"/><Relationship Id="rId11" Type="http://schemas.openxmlformats.org/officeDocument/2006/relationships/oleObject" Target="../embeddings/oleObject33.bin"/><Relationship Id="rId10" Type="http://schemas.openxmlformats.org/officeDocument/2006/relationships/image" Target="../media/image56.wmf"/><Relationship Id="rId1" Type="http://schemas.openxmlformats.org/officeDocument/2006/relationships/oleObject" Target="../embeddings/oleObject28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9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60.wmf"/><Relationship Id="rId5" Type="http://schemas.openxmlformats.org/officeDocument/2006/relationships/oleObject" Target="../embeddings/oleObject36.bin"/><Relationship Id="rId4" Type="http://schemas.openxmlformats.org/officeDocument/2006/relationships/image" Target="../media/image59.wmf"/><Relationship Id="rId3" Type="http://schemas.openxmlformats.org/officeDocument/2006/relationships/oleObject" Target="../embeddings/oleObject35.bin"/><Relationship Id="rId2" Type="http://schemas.openxmlformats.org/officeDocument/2006/relationships/image" Target="../media/image58.wmf"/><Relationship Id="rId1" Type="http://schemas.openxmlformats.org/officeDocument/2006/relationships/oleObject" Target="../embeddings/oleObject34.bin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1.bin"/><Relationship Id="rId8" Type="http://schemas.openxmlformats.org/officeDocument/2006/relationships/image" Target="../media/image64.wmf"/><Relationship Id="rId7" Type="http://schemas.openxmlformats.org/officeDocument/2006/relationships/oleObject" Target="../embeddings/oleObject40.bin"/><Relationship Id="rId6" Type="http://schemas.openxmlformats.org/officeDocument/2006/relationships/image" Target="../media/image63.wmf"/><Relationship Id="rId5" Type="http://schemas.openxmlformats.org/officeDocument/2006/relationships/oleObject" Target="../embeddings/oleObject39.bin"/><Relationship Id="rId4" Type="http://schemas.openxmlformats.org/officeDocument/2006/relationships/image" Target="../media/image62.wmf"/><Relationship Id="rId3" Type="http://schemas.openxmlformats.org/officeDocument/2006/relationships/oleObject" Target="../embeddings/oleObject38.bin"/><Relationship Id="rId2" Type="http://schemas.openxmlformats.org/officeDocument/2006/relationships/image" Target="../media/image61.wmf"/><Relationship Id="rId12" Type="http://schemas.openxmlformats.org/officeDocument/2006/relationships/vmlDrawing" Target="../drawings/vmlDrawing10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65.wmf"/><Relationship Id="rId1" Type="http://schemas.openxmlformats.org/officeDocument/2006/relationships/oleObject" Target="../embeddings/oleObject37.bin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6.bin"/><Relationship Id="rId8" Type="http://schemas.openxmlformats.org/officeDocument/2006/relationships/image" Target="../media/image69.wmf"/><Relationship Id="rId7" Type="http://schemas.openxmlformats.org/officeDocument/2006/relationships/oleObject" Target="../embeddings/oleObject45.bin"/><Relationship Id="rId6" Type="http://schemas.openxmlformats.org/officeDocument/2006/relationships/image" Target="../media/image68.wmf"/><Relationship Id="rId5" Type="http://schemas.openxmlformats.org/officeDocument/2006/relationships/oleObject" Target="../embeddings/oleObject44.bin"/><Relationship Id="rId4" Type="http://schemas.openxmlformats.org/officeDocument/2006/relationships/image" Target="../media/image67.wmf"/><Relationship Id="rId3" Type="http://schemas.openxmlformats.org/officeDocument/2006/relationships/oleObject" Target="../embeddings/oleObject43.bin"/><Relationship Id="rId2" Type="http://schemas.openxmlformats.org/officeDocument/2006/relationships/image" Target="../media/image66.wmf"/><Relationship Id="rId12" Type="http://schemas.openxmlformats.org/officeDocument/2006/relationships/vmlDrawing" Target="../drawings/vmlDrawing11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70.wmf"/><Relationship Id="rId1" Type="http://schemas.openxmlformats.org/officeDocument/2006/relationships/oleObject" Target="../embeddings/oleObject42.bin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1.bin"/><Relationship Id="rId8" Type="http://schemas.openxmlformats.org/officeDocument/2006/relationships/image" Target="../media/image74.wmf"/><Relationship Id="rId7" Type="http://schemas.openxmlformats.org/officeDocument/2006/relationships/oleObject" Target="../embeddings/oleObject50.bin"/><Relationship Id="rId6" Type="http://schemas.openxmlformats.org/officeDocument/2006/relationships/image" Target="../media/image73.wmf"/><Relationship Id="rId5" Type="http://schemas.openxmlformats.org/officeDocument/2006/relationships/oleObject" Target="../embeddings/oleObject49.bin"/><Relationship Id="rId4" Type="http://schemas.openxmlformats.org/officeDocument/2006/relationships/image" Target="../media/image72.wmf"/><Relationship Id="rId3" Type="http://schemas.openxmlformats.org/officeDocument/2006/relationships/oleObject" Target="../embeddings/oleObject48.bin"/><Relationship Id="rId2" Type="http://schemas.openxmlformats.org/officeDocument/2006/relationships/image" Target="../media/image71.wmf"/><Relationship Id="rId14" Type="http://schemas.openxmlformats.org/officeDocument/2006/relationships/vmlDrawing" Target="../drawings/vmlDrawing12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76.wmf"/><Relationship Id="rId11" Type="http://schemas.openxmlformats.org/officeDocument/2006/relationships/oleObject" Target="../embeddings/oleObject52.bin"/><Relationship Id="rId10" Type="http://schemas.openxmlformats.org/officeDocument/2006/relationships/image" Target="../media/image75.wmf"/><Relationship Id="rId1" Type="http://schemas.openxmlformats.org/officeDocument/2006/relationships/oleObject" Target="../embeddings/oleObject47.bin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7.bin"/><Relationship Id="rId8" Type="http://schemas.openxmlformats.org/officeDocument/2006/relationships/image" Target="../media/image80.wmf"/><Relationship Id="rId7" Type="http://schemas.openxmlformats.org/officeDocument/2006/relationships/oleObject" Target="../embeddings/oleObject56.bin"/><Relationship Id="rId6" Type="http://schemas.openxmlformats.org/officeDocument/2006/relationships/image" Target="../media/image79.wmf"/><Relationship Id="rId5" Type="http://schemas.openxmlformats.org/officeDocument/2006/relationships/oleObject" Target="../embeddings/oleObject55.bin"/><Relationship Id="rId4" Type="http://schemas.openxmlformats.org/officeDocument/2006/relationships/image" Target="../media/image78.wmf"/><Relationship Id="rId3" Type="http://schemas.openxmlformats.org/officeDocument/2006/relationships/oleObject" Target="../embeddings/oleObject54.bin"/><Relationship Id="rId2" Type="http://schemas.openxmlformats.org/officeDocument/2006/relationships/image" Target="../media/image77.wmf"/><Relationship Id="rId12" Type="http://schemas.openxmlformats.org/officeDocument/2006/relationships/vmlDrawing" Target="../drawings/vmlDrawing13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81.wmf"/><Relationship Id="rId1" Type="http://schemas.openxmlformats.org/officeDocument/2006/relationships/oleObject" Target="../embeddings/oleObject53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4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84.wmf"/><Relationship Id="rId5" Type="http://schemas.openxmlformats.org/officeDocument/2006/relationships/oleObject" Target="../embeddings/oleObject60.bin"/><Relationship Id="rId4" Type="http://schemas.openxmlformats.org/officeDocument/2006/relationships/image" Target="../media/image83.wmf"/><Relationship Id="rId3" Type="http://schemas.openxmlformats.org/officeDocument/2006/relationships/oleObject" Target="../embeddings/oleObject59.bin"/><Relationship Id="rId2" Type="http://schemas.openxmlformats.org/officeDocument/2006/relationships/image" Target="../media/image82.wmf"/><Relationship Id="rId1" Type="http://schemas.openxmlformats.org/officeDocument/2006/relationships/oleObject" Target="../embeddings/oleObject58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5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87.wmf"/><Relationship Id="rId5" Type="http://schemas.openxmlformats.org/officeDocument/2006/relationships/oleObject" Target="../embeddings/oleObject63.bin"/><Relationship Id="rId4" Type="http://schemas.openxmlformats.org/officeDocument/2006/relationships/image" Target="../media/image86.wmf"/><Relationship Id="rId3" Type="http://schemas.openxmlformats.org/officeDocument/2006/relationships/oleObject" Target="../embeddings/oleObject62.bin"/><Relationship Id="rId2" Type="http://schemas.openxmlformats.org/officeDocument/2006/relationships/image" Target="../media/image85.wmf"/><Relationship Id="rId1" Type="http://schemas.openxmlformats.org/officeDocument/2006/relationships/oleObject" Target="../embeddings/oleObject61.bin"/></Relationships>
</file>

<file path=ppt/slides/_rels/slide28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6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89.wmf"/><Relationship Id="rId3" Type="http://schemas.openxmlformats.org/officeDocument/2006/relationships/oleObject" Target="../embeddings/oleObject65.bin"/><Relationship Id="rId2" Type="http://schemas.openxmlformats.org/officeDocument/2006/relationships/image" Target="../media/image88.wmf"/><Relationship Id="rId1" Type="http://schemas.openxmlformats.org/officeDocument/2006/relationships/oleObject" Target="../embeddings/oleObject64.bin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.xml"/><Relationship Id="rId8" Type="http://schemas.openxmlformats.org/officeDocument/2006/relationships/vmlDrawing" Target="../drawings/vmlDrawing17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92.wmf"/><Relationship Id="rId5" Type="http://schemas.openxmlformats.org/officeDocument/2006/relationships/oleObject" Target="../embeddings/oleObject68.bin"/><Relationship Id="rId4" Type="http://schemas.openxmlformats.org/officeDocument/2006/relationships/image" Target="../media/image91.wmf"/><Relationship Id="rId3" Type="http://schemas.openxmlformats.org/officeDocument/2006/relationships/oleObject" Target="../embeddings/oleObject67.bin"/><Relationship Id="rId2" Type="http://schemas.openxmlformats.org/officeDocument/2006/relationships/image" Target="../media/image90.wmf"/><Relationship Id="rId1" Type="http://schemas.openxmlformats.org/officeDocument/2006/relationships/oleObject" Target="../embeddings/oleObject66.bin"/></Relationships>
</file>

<file path=ppt/slides/_rels/slide30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8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94.wmf"/><Relationship Id="rId3" Type="http://schemas.openxmlformats.org/officeDocument/2006/relationships/oleObject" Target="../embeddings/oleObject70.bin"/><Relationship Id="rId2" Type="http://schemas.openxmlformats.org/officeDocument/2006/relationships/image" Target="../media/image93.wmf"/><Relationship Id="rId1" Type="http://schemas.openxmlformats.org/officeDocument/2006/relationships/oleObject" Target="../embeddings/oleObject69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9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96.wmf"/><Relationship Id="rId5" Type="http://schemas.openxmlformats.org/officeDocument/2006/relationships/oleObject" Target="../embeddings/oleObject73.bin"/><Relationship Id="rId4" Type="http://schemas.openxmlformats.org/officeDocument/2006/relationships/image" Target="../media/image94.wmf"/><Relationship Id="rId3" Type="http://schemas.openxmlformats.org/officeDocument/2006/relationships/oleObject" Target="../embeddings/oleObject72.bin"/><Relationship Id="rId2" Type="http://schemas.openxmlformats.org/officeDocument/2006/relationships/image" Target="../media/image95.wmf"/><Relationship Id="rId1" Type="http://schemas.openxmlformats.org/officeDocument/2006/relationships/oleObject" Target="../embeddings/oleObject71.bin"/></Relationships>
</file>

<file path=ppt/slides/_rels/slide32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0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98.wmf"/><Relationship Id="rId3" Type="http://schemas.openxmlformats.org/officeDocument/2006/relationships/oleObject" Target="../embeddings/oleObject75.bin"/><Relationship Id="rId2" Type="http://schemas.openxmlformats.org/officeDocument/2006/relationships/image" Target="../media/image97.wmf"/><Relationship Id="rId1" Type="http://schemas.openxmlformats.org/officeDocument/2006/relationships/oleObject" Target="../embeddings/oleObject74.bin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02.wmf"/><Relationship Id="rId7" Type="http://schemas.openxmlformats.org/officeDocument/2006/relationships/oleObject" Target="../embeddings/oleObject79.bin"/><Relationship Id="rId6" Type="http://schemas.openxmlformats.org/officeDocument/2006/relationships/image" Target="../media/image101.wmf"/><Relationship Id="rId5" Type="http://schemas.openxmlformats.org/officeDocument/2006/relationships/oleObject" Target="../embeddings/oleObject78.bin"/><Relationship Id="rId4" Type="http://schemas.openxmlformats.org/officeDocument/2006/relationships/image" Target="../media/image100.wmf"/><Relationship Id="rId3" Type="http://schemas.openxmlformats.org/officeDocument/2006/relationships/oleObject" Target="../embeddings/oleObject77.bin"/><Relationship Id="rId2" Type="http://schemas.openxmlformats.org/officeDocument/2006/relationships/image" Target="../media/image99.wmf"/><Relationship Id="rId10" Type="http://schemas.openxmlformats.org/officeDocument/2006/relationships/vmlDrawing" Target="../drawings/vmlDrawing21.vml"/><Relationship Id="rId1" Type="http://schemas.openxmlformats.org/officeDocument/2006/relationships/oleObject" Target="../embeddings/oleObject76.bin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05.wmf"/><Relationship Id="rId7" Type="http://schemas.openxmlformats.org/officeDocument/2006/relationships/oleObject" Target="../embeddings/oleObject83.bin"/><Relationship Id="rId6" Type="http://schemas.openxmlformats.org/officeDocument/2006/relationships/image" Target="../media/image65.wmf"/><Relationship Id="rId5" Type="http://schemas.openxmlformats.org/officeDocument/2006/relationships/oleObject" Target="../embeddings/oleObject82.bin"/><Relationship Id="rId4" Type="http://schemas.openxmlformats.org/officeDocument/2006/relationships/image" Target="../media/image104.wmf"/><Relationship Id="rId3" Type="http://schemas.openxmlformats.org/officeDocument/2006/relationships/oleObject" Target="../embeddings/oleObject81.bin"/><Relationship Id="rId2" Type="http://schemas.openxmlformats.org/officeDocument/2006/relationships/image" Target="../media/image103.wmf"/><Relationship Id="rId10" Type="http://schemas.openxmlformats.org/officeDocument/2006/relationships/vmlDrawing" Target="../drawings/vmlDrawing22.vml"/><Relationship Id="rId1" Type="http://schemas.openxmlformats.org/officeDocument/2006/relationships/oleObject" Target="../embeddings/oleObject80.bin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9.wmf"/><Relationship Id="rId8" Type="http://schemas.openxmlformats.org/officeDocument/2006/relationships/oleObject" Target="../embeddings/oleObject88.bin"/><Relationship Id="rId7" Type="http://schemas.openxmlformats.org/officeDocument/2006/relationships/image" Target="../media/image108.wmf"/><Relationship Id="rId6" Type="http://schemas.openxmlformats.org/officeDocument/2006/relationships/oleObject" Target="../embeddings/oleObject87.bin"/><Relationship Id="rId5" Type="http://schemas.openxmlformats.org/officeDocument/2006/relationships/image" Target="../media/image107.wmf"/><Relationship Id="rId4" Type="http://schemas.openxmlformats.org/officeDocument/2006/relationships/oleObject" Target="../embeddings/oleObject86.bin"/><Relationship Id="rId3" Type="http://schemas.openxmlformats.org/officeDocument/2006/relationships/oleObject" Target="../embeddings/oleObject85.bin"/><Relationship Id="rId2" Type="http://schemas.openxmlformats.org/officeDocument/2006/relationships/image" Target="../media/image106.wmf"/><Relationship Id="rId13" Type="http://schemas.openxmlformats.org/officeDocument/2006/relationships/vmlDrawing" Target="../drawings/vmlDrawing23.vml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110.wmf"/><Relationship Id="rId10" Type="http://schemas.openxmlformats.org/officeDocument/2006/relationships/oleObject" Target="../embeddings/oleObject89.bin"/><Relationship Id="rId1" Type="http://schemas.openxmlformats.org/officeDocument/2006/relationships/oleObject" Target="../embeddings/oleObject84.bin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14.wmf"/><Relationship Id="rId7" Type="http://schemas.openxmlformats.org/officeDocument/2006/relationships/oleObject" Target="../embeddings/oleObject93.bin"/><Relationship Id="rId6" Type="http://schemas.openxmlformats.org/officeDocument/2006/relationships/image" Target="../media/image113.wmf"/><Relationship Id="rId5" Type="http://schemas.openxmlformats.org/officeDocument/2006/relationships/oleObject" Target="../embeddings/oleObject92.bin"/><Relationship Id="rId4" Type="http://schemas.openxmlformats.org/officeDocument/2006/relationships/image" Target="../media/image112.wmf"/><Relationship Id="rId3" Type="http://schemas.openxmlformats.org/officeDocument/2006/relationships/oleObject" Target="../embeddings/oleObject91.bin"/><Relationship Id="rId2" Type="http://schemas.openxmlformats.org/officeDocument/2006/relationships/image" Target="../media/image111.wmf"/><Relationship Id="rId10" Type="http://schemas.openxmlformats.org/officeDocument/2006/relationships/vmlDrawing" Target="../drawings/vmlDrawing24.vml"/><Relationship Id="rId1" Type="http://schemas.openxmlformats.org/officeDocument/2006/relationships/oleObject" Target="../embeddings/oleObject90.bin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18.wmf"/><Relationship Id="rId7" Type="http://schemas.openxmlformats.org/officeDocument/2006/relationships/oleObject" Target="../embeddings/oleObject97.bin"/><Relationship Id="rId6" Type="http://schemas.openxmlformats.org/officeDocument/2006/relationships/image" Target="../media/image117.wmf"/><Relationship Id="rId5" Type="http://schemas.openxmlformats.org/officeDocument/2006/relationships/oleObject" Target="../embeddings/oleObject96.bin"/><Relationship Id="rId4" Type="http://schemas.openxmlformats.org/officeDocument/2006/relationships/image" Target="../media/image116.wmf"/><Relationship Id="rId3" Type="http://schemas.openxmlformats.org/officeDocument/2006/relationships/oleObject" Target="../embeddings/oleObject95.bin"/><Relationship Id="rId2" Type="http://schemas.openxmlformats.org/officeDocument/2006/relationships/image" Target="../media/image115.wmf"/><Relationship Id="rId10" Type="http://schemas.openxmlformats.org/officeDocument/2006/relationships/vmlDrawing" Target="../drawings/vmlDrawing25.vml"/><Relationship Id="rId1" Type="http://schemas.openxmlformats.org/officeDocument/2006/relationships/oleObject" Target="../embeddings/oleObject94.bin"/></Relationships>
</file>

<file path=ppt/slides/_rels/slide3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2.bin"/><Relationship Id="rId8" Type="http://schemas.openxmlformats.org/officeDocument/2006/relationships/image" Target="../media/image122.wmf"/><Relationship Id="rId7" Type="http://schemas.openxmlformats.org/officeDocument/2006/relationships/oleObject" Target="../embeddings/oleObject101.bin"/><Relationship Id="rId6" Type="http://schemas.openxmlformats.org/officeDocument/2006/relationships/image" Target="../media/image121.wmf"/><Relationship Id="rId5" Type="http://schemas.openxmlformats.org/officeDocument/2006/relationships/oleObject" Target="../embeddings/oleObject100.bin"/><Relationship Id="rId4" Type="http://schemas.openxmlformats.org/officeDocument/2006/relationships/image" Target="../media/image120.wmf"/><Relationship Id="rId3" Type="http://schemas.openxmlformats.org/officeDocument/2006/relationships/oleObject" Target="../embeddings/oleObject99.bin"/><Relationship Id="rId2" Type="http://schemas.openxmlformats.org/officeDocument/2006/relationships/image" Target="../media/image119.wmf"/><Relationship Id="rId12" Type="http://schemas.openxmlformats.org/officeDocument/2006/relationships/vmlDrawing" Target="../drawings/vmlDrawing26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123.wmf"/><Relationship Id="rId1" Type="http://schemas.openxmlformats.org/officeDocument/2006/relationships/oleObject" Target="../embeddings/oleObject98.bin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2495600" y="1679893"/>
            <a:ext cx="7200800" cy="949878"/>
          </a:xfrm>
        </p:spPr>
        <p:txBody>
          <a:bodyPr>
            <a:noAutofit/>
          </a:bodyPr>
          <a:lstStyle/>
          <a:p>
            <a:r>
              <a:rPr lang="zh-CN" altLang="zh-CN" sz="5400"/>
              <a:t>数学物理方法</a:t>
            </a:r>
            <a:endParaRPr lang="zh-CN" altLang="zh-CN" sz="540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2719705" y="3571875"/>
            <a:ext cx="7200900" cy="1356995"/>
          </a:xfrm>
        </p:spPr>
        <p:txBody>
          <a:bodyPr>
            <a:normAutofit/>
          </a:bodyPr>
          <a:lstStyle/>
          <a:p>
            <a:pPr>
              <a:lnSpc>
                <a:spcPct val="60000"/>
              </a:lnSpc>
            </a:pPr>
            <a:r>
              <a:rPr lang="zh-CN" altLang="en-US" dirty="0"/>
              <a:t>任课教师：曹宁</a:t>
            </a:r>
            <a:r>
              <a:rPr lang="en-US" altLang="zh-CN" dirty="0"/>
              <a:t> </a:t>
            </a:r>
            <a:endParaRPr lang="en-US" altLang="zh-CN" dirty="0"/>
          </a:p>
          <a:p>
            <a:pPr>
              <a:lnSpc>
                <a:spcPct val="60000"/>
              </a:lnSpc>
            </a:pPr>
            <a:r>
              <a:rPr lang="en-US" altLang="zh-CN" dirty="0"/>
              <a:t>Email: ncao@gdou.edu.cn</a:t>
            </a:r>
            <a:endParaRPr lang="zh-CN" altLang="en-US" dirty="0"/>
          </a:p>
          <a:p>
            <a:pPr>
              <a:lnSpc>
                <a:spcPct val="60000"/>
              </a:lnSpc>
            </a:pPr>
            <a:r>
              <a:rPr lang="en-US" altLang="zh-CN" dirty="0"/>
              <a:t>2025</a:t>
            </a:r>
            <a:r>
              <a:rPr lang="zh-CN" altLang="en-US" dirty="0"/>
              <a:t>年</a:t>
            </a:r>
            <a:r>
              <a:rPr lang="zh-CN" altLang="en-US" dirty="0"/>
              <a:t>秋季学期</a:t>
            </a:r>
            <a:endParaRPr lang="zh-CN" altLang="en-US" dirty="0"/>
          </a:p>
        </p:txBody>
      </p:sp>
      <p:pic>
        <p:nvPicPr>
          <p:cNvPr id="5" name="图片 4" descr="校名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2050" y="867410"/>
            <a:ext cx="2248535" cy="49022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865120" y="2756535"/>
            <a:ext cx="6407785" cy="521970"/>
          </a:xfrm>
          <a:prstGeom prst="rect">
            <a:avLst/>
          </a:prstGeom>
          <a:noFill/>
        </p:spPr>
        <p:txBody>
          <a:bodyPr wrap="squar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algn="ctr" eaLnBrk="1" hangingPunct="1"/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第</a:t>
            </a:r>
            <a:r>
              <a:rPr lang="en-US" altLang="zh-CN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5</a:t>
            </a:r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章 傅里叶变换法</a:t>
            </a:r>
            <a:endParaRPr lang="zh-CN" altLang="en-US" sz="28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25" y="2247265"/>
            <a:ext cx="8651240" cy="1878330"/>
          </a:xfrm>
        </p:spPr>
        <p:txBody>
          <a:bodyPr/>
          <a:p>
            <a:pPr algn="r"/>
            <a:r>
              <a:rPr lang="zh-CN" altLang="en-US" sz="3200"/>
              <a:t>道生一，一生二，二生三，三生万物。</a:t>
            </a:r>
            <a:br>
              <a:rPr lang="zh-CN" altLang="en-US" sz="3200"/>
            </a:br>
            <a:br>
              <a:rPr lang="zh-CN" altLang="en-US" sz="3200"/>
            </a:br>
            <a:r>
              <a:rPr lang="en-US" altLang="zh-CN" sz="3200"/>
              <a:t> ——</a:t>
            </a:r>
            <a:r>
              <a:rPr lang="zh-CN" altLang="en-US" sz="3200"/>
              <a:t>《道德经》</a:t>
            </a:r>
            <a:endParaRPr lang="zh-CN" altLang="en-US" sz="3200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600"/>
              <a:t>三角正交函数系</a:t>
            </a:r>
            <a:endParaRPr lang="zh-CN" altLang="en-US" sz="3600"/>
          </a:p>
        </p:txBody>
      </p:sp>
      <p:pic>
        <p:nvPicPr>
          <p:cNvPr id="6" name="内容占位符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51865" y="1215390"/>
            <a:ext cx="10287000" cy="486156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600"/>
              <a:t>三角正交函数系</a:t>
            </a:r>
            <a:endParaRPr lang="zh-CN" altLang="en-US" sz="3600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59460" y="1150620"/>
            <a:ext cx="6080760" cy="5388610"/>
          </a:xfrm>
          <a:prstGeom prst="rect">
            <a:avLst/>
          </a:prstGeom>
        </p:spPr>
      </p:pic>
      <p:pic>
        <p:nvPicPr>
          <p:cNvPr id="5" name="图片 4"/>
          <p:cNvPicPr/>
          <p:nvPr/>
        </p:nvPicPr>
        <p:blipFill>
          <a:blip r:embed="rId2"/>
          <a:stretch>
            <a:fillRect/>
          </a:stretch>
        </p:blipFill>
        <p:spPr>
          <a:xfrm>
            <a:off x="4255135" y="2141220"/>
            <a:ext cx="7711440" cy="380492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600"/>
              <a:t>三角正交函数系</a:t>
            </a:r>
            <a:endParaRPr lang="zh-CN" altLang="en-US" sz="3600"/>
          </a:p>
        </p:txBody>
      </p:sp>
      <p:pic>
        <p:nvPicPr>
          <p:cNvPr id="6" name="内容占位符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90525" y="1169670"/>
            <a:ext cx="6223000" cy="523748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1795" y="1573530"/>
            <a:ext cx="5450205" cy="483362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600"/>
              <a:t>傅里叶级数</a:t>
            </a:r>
            <a:endParaRPr lang="zh-CN" altLang="en-US" sz="3600"/>
          </a:p>
        </p:txBody>
      </p:sp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1267460" y="1530350"/>
            <a:ext cx="9267190" cy="472313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6065" y="551180"/>
            <a:ext cx="6324600" cy="97917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963285" y="4997450"/>
            <a:ext cx="6147435" cy="132207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zh-CN" altLang="en-US" sz="2000" b="0" i="0">
                <a:ln>
                  <a:solidFill>
                    <a:srgbClr val="FF0000"/>
                  </a:solidFill>
                </a:ln>
                <a:solidFill>
                  <a:srgbClr val="0F1115"/>
                </a:solidFill>
                <a:latin typeface="quote-cjk-patch"/>
                <a:ea typeface="quote-cjk-patch"/>
              </a:rPr>
              <a:t>尽管当时数学界对“任意函数能否用三角级数表示”存在争议，但他敢于挑战传统观念。傅里叶的名言“对自然的深入研究是数学发现最丰富的源泉”，引导</a:t>
            </a:r>
            <a:r>
              <a:rPr lang="zh-CN" altLang="en-US" sz="2000" b="0" i="0">
                <a:ln>
                  <a:solidFill>
                    <a:srgbClr val="FF0000"/>
                  </a:solidFill>
                </a:ln>
                <a:solidFill>
                  <a:srgbClr val="0F1115"/>
                </a:solidFill>
                <a:latin typeface="quote-cjk-patch"/>
                <a:ea typeface="quote-cjk-patch"/>
              </a:rPr>
              <a:t>我们培养批判性思维和勇于探索的科学精神。</a:t>
            </a:r>
            <a:endParaRPr lang="zh-CN" altLang="en-US" sz="2000" b="0" i="0">
              <a:ln>
                <a:solidFill>
                  <a:srgbClr val="FF0000"/>
                </a:solidFill>
              </a:ln>
              <a:solidFill>
                <a:srgbClr val="0F1115"/>
              </a:solidFill>
              <a:latin typeface="quote-cjk-patch"/>
              <a:ea typeface="quote-cjk-patch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600"/>
              <a:t>傅里叶级数</a:t>
            </a:r>
            <a:endParaRPr lang="zh-CN" altLang="en-US" sz="36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3650" y="1459230"/>
            <a:ext cx="9389745" cy="438277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600"/>
              <a:t>傅里叶级数</a:t>
            </a:r>
            <a:endParaRPr lang="zh-CN" altLang="en-US" sz="36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7215" y="1208405"/>
            <a:ext cx="7316470" cy="550926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600"/>
              <a:t>傅里叶级数</a:t>
            </a:r>
            <a:r>
              <a:rPr lang="en-US" altLang="zh-CN" sz="3600"/>
              <a:t>-&gt;</a:t>
            </a:r>
            <a:r>
              <a:rPr sz="3600"/>
              <a:t>傅里叶变换</a:t>
            </a:r>
            <a:endParaRPr sz="3600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43230" y="1158240"/>
            <a:ext cx="6240780" cy="497586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8320" y="1263015"/>
            <a:ext cx="5074920" cy="962660"/>
          </a:xfrm>
          <a:prstGeom prst="rect">
            <a:avLst/>
          </a:prstGeom>
          <a:ln>
            <a:solidFill>
              <a:schemeClr val="bg2">
                <a:lumMod val="20000"/>
                <a:lumOff val="8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8320" y="2293620"/>
            <a:ext cx="5055870" cy="199898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0540" y="5328920"/>
            <a:ext cx="6225540" cy="111252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custDataLst>
      <p:tags r:id="rId5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600"/>
              <a:t>傅里叶级数</a:t>
            </a:r>
            <a:r>
              <a:rPr lang="en-US" altLang="zh-CN" sz="3600"/>
              <a:t>-&gt;</a:t>
            </a:r>
            <a:r>
              <a:rPr sz="3600"/>
              <a:t>傅里叶变换</a:t>
            </a:r>
            <a:endParaRPr sz="360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8525" y="1244600"/>
            <a:ext cx="7334250" cy="544957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600"/>
              <a:t>傅里叶级数</a:t>
            </a:r>
            <a:r>
              <a:rPr lang="en-US" altLang="zh-CN" sz="3600"/>
              <a:t>-&gt;</a:t>
            </a:r>
            <a:r>
              <a:rPr sz="3600"/>
              <a:t>傅里叶变换</a:t>
            </a:r>
            <a:endParaRPr sz="36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45080" y="1169670"/>
            <a:ext cx="7102475" cy="526478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射电望远镜</a:t>
            </a:r>
            <a:r>
              <a:rPr lang="en-US" altLang="zh-CN"/>
              <a:t> </a:t>
            </a:r>
            <a:r>
              <a:rPr lang="zh-CN" altLang="en-US"/>
              <a:t>与</a:t>
            </a:r>
            <a:r>
              <a:rPr lang="en-US" altLang="zh-CN"/>
              <a:t> </a:t>
            </a:r>
            <a:r>
              <a:rPr lang="zh-CN" altLang="en-US"/>
              <a:t>傅里叶变换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03260" y="952500"/>
            <a:ext cx="3028950" cy="538861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230" y="1887855"/>
            <a:ext cx="5402580" cy="393192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69" name="Object 2"/>
          <p:cNvGraphicFramePr>
            <a:graphicFrameLocks noChangeAspect="1"/>
          </p:cNvGraphicFramePr>
          <p:nvPr/>
        </p:nvGraphicFramePr>
        <p:xfrm>
          <a:off x="2792413" y="3716338"/>
          <a:ext cx="6924675" cy="85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2705100" imgH="330200" progId="Equation.DSMT4">
                  <p:embed/>
                </p:oleObj>
              </mc:Choice>
              <mc:Fallback>
                <p:oleObj name="" r:id="rId1" imgW="2705100" imgH="330200" progId="Equation.DSMT4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792413" y="3716338"/>
                        <a:ext cx="6924675" cy="852487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0" name="Object 3"/>
          <p:cNvGraphicFramePr>
            <a:graphicFrameLocks noChangeAspect="1"/>
          </p:cNvGraphicFramePr>
          <p:nvPr/>
        </p:nvGraphicFramePr>
        <p:xfrm>
          <a:off x="3940175" y="2708275"/>
          <a:ext cx="3829050" cy="852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1562100" imgH="330200" progId="Equation.DSMT4">
                  <p:embed/>
                </p:oleObj>
              </mc:Choice>
              <mc:Fallback>
                <p:oleObj name="" r:id="rId3" imgW="1562100" imgH="330200" progId="Equation.DSMT4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940175" y="2708275"/>
                        <a:ext cx="3829050" cy="852488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1" name="Text Box 4"/>
          <p:cNvSpPr txBox="1"/>
          <p:nvPr/>
        </p:nvSpPr>
        <p:spPr>
          <a:xfrm>
            <a:off x="2063750" y="1341438"/>
            <a:ext cx="4103688" cy="58356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3200" b="1" dirty="0">
                <a:solidFill>
                  <a:schemeClr val="tx2"/>
                </a:solidFill>
                <a:latin typeface="Times New Roman" panose="02020603050405020304" charset="0"/>
                <a:ea typeface="黑体" panose="02010609060101010101" pitchFamily="49" charset="-122"/>
              </a:rPr>
              <a:t>一</a:t>
            </a:r>
            <a:r>
              <a:rPr lang="en-US" altLang="zh-CN" sz="3200" b="1" dirty="0">
                <a:solidFill>
                  <a:schemeClr val="tx2"/>
                </a:solidFill>
                <a:latin typeface="Times New Roman" panose="02020603050405020304" charset="0"/>
                <a:ea typeface="黑体" panose="02010609060101010101" pitchFamily="49" charset="-122"/>
              </a:rPr>
              <a:t>.</a:t>
            </a:r>
            <a:r>
              <a:rPr lang="en-US" altLang="zh-CN" sz="3200" b="1" i="1" dirty="0">
                <a:solidFill>
                  <a:schemeClr val="tx2"/>
                </a:solidFill>
                <a:latin typeface="Times New Roman" panose="02020603050405020304" charset="0"/>
                <a:ea typeface="黑体" panose="02010609060101010101" pitchFamily="49" charset="-122"/>
              </a:rPr>
              <a:t> </a:t>
            </a:r>
            <a:r>
              <a:rPr lang="zh-CN" altLang="en-US" sz="3200" b="1" dirty="0">
                <a:solidFill>
                  <a:schemeClr val="tx2"/>
                </a:solidFill>
                <a:latin typeface="Times New Roman" panose="02020603050405020304" charset="0"/>
                <a:ea typeface="黑体" panose="02010609060101010101" pitchFamily="49" charset="-122"/>
              </a:rPr>
              <a:t>积分变换</a:t>
            </a:r>
            <a:endParaRPr lang="zh-CN" altLang="en-US" sz="3200" b="1" dirty="0">
              <a:solidFill>
                <a:schemeClr val="tx2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7172" name="Text Box 8"/>
          <p:cNvSpPr txBox="1"/>
          <p:nvPr/>
        </p:nvSpPr>
        <p:spPr>
          <a:xfrm>
            <a:off x="2495550" y="1916113"/>
            <a:ext cx="7488238" cy="52197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用可逆的积分运算</a:t>
            </a:r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把一函数转变成另一函数</a:t>
            </a:r>
            <a:endParaRPr lang="zh-CN" altLang="en-US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173" name="Text Box 11"/>
          <p:cNvSpPr txBox="1"/>
          <p:nvPr/>
        </p:nvSpPr>
        <p:spPr>
          <a:xfrm>
            <a:off x="2495550" y="4997450"/>
            <a:ext cx="7636510" cy="101473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3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选择不同的</a:t>
            </a:r>
            <a:r>
              <a:rPr lang="zh-CN" altLang="en-US" sz="3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积分域</a:t>
            </a:r>
            <a:r>
              <a:rPr lang="zh-CN" altLang="en-US" sz="3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zh-CN" altLang="en-US" sz="3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积分核</a:t>
            </a:r>
            <a:r>
              <a:rPr lang="en-US" altLang="zh-CN" sz="3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3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就得到不同</a:t>
            </a:r>
            <a:endParaRPr lang="zh-CN" altLang="en-US" sz="30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3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的积分变换，即</a:t>
            </a:r>
            <a:r>
              <a:rPr lang="en-US" altLang="zh-CN" sz="3000" b="1" i="1" dirty="0">
                <a:solidFill>
                  <a:srgbClr val="0000FF"/>
                </a:solidFill>
                <a:latin typeface="Times New Roman" panose="02020603050405020304" charset="0"/>
                <a:ea typeface="黑体" panose="02010609060101010101" pitchFamily="49" charset="-122"/>
              </a:rPr>
              <a:t>Fourier</a:t>
            </a:r>
            <a:r>
              <a:rPr lang="zh-CN" altLang="en-US" sz="3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变换和</a:t>
            </a:r>
            <a:r>
              <a:rPr lang="en-US" altLang="zh-CN" sz="3000" b="1" i="1" dirty="0">
                <a:solidFill>
                  <a:srgbClr val="0000FF"/>
                </a:solidFill>
                <a:latin typeface="Times New Roman" panose="02020603050405020304" charset="0"/>
                <a:ea typeface="黑体" panose="02010609060101010101" pitchFamily="49" charset="-122"/>
              </a:rPr>
              <a:t>Laplace</a:t>
            </a:r>
            <a:r>
              <a:rPr lang="zh-CN" altLang="en-US" sz="3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变换。</a:t>
            </a:r>
            <a:endParaRPr lang="zh-CN" altLang="en-US" sz="36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174" name="Rectangle 14"/>
          <p:cNvSpPr/>
          <p:nvPr/>
        </p:nvSpPr>
        <p:spPr>
          <a:xfrm>
            <a:off x="756603" y="547211"/>
            <a:ext cx="8064500" cy="583565"/>
          </a:xfrm>
          <a:prstGeom prst="rect">
            <a:avLst/>
          </a:prstGeom>
          <a:noFill/>
          <a:ln w="25400">
            <a:noFill/>
          </a:ln>
        </p:spPr>
        <p:txBody>
          <a:bodyPr anchor="ctr" anchorCtr="0">
            <a:spAutoFit/>
          </a:bodyPr>
          <a:lstStyle/>
          <a:p>
            <a:r>
              <a:rPr lang="en-US" altLang="zh-CN" sz="3200" b="1" dirty="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5.1   Fourier</a:t>
            </a:r>
            <a:r>
              <a:rPr lang="zh-CN" altLang="en-US" sz="32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变换定义和性质</a:t>
            </a:r>
            <a:endParaRPr lang="zh-CN" altLang="en-US" sz="3200" b="1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checker dir="vert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3"/>
          <p:cNvSpPr/>
          <p:nvPr/>
        </p:nvSpPr>
        <p:spPr>
          <a:xfrm>
            <a:off x="1524000" y="2754313"/>
            <a:ext cx="309880" cy="368300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>
            <a:spAutoFit/>
          </a:bodyPr>
          <a:lstStyle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7172" name="Group 4"/>
          <p:cNvGrpSpPr/>
          <p:nvPr/>
        </p:nvGrpSpPr>
        <p:grpSpPr>
          <a:xfrm>
            <a:off x="3321050" y="1484313"/>
            <a:ext cx="5314950" cy="1584325"/>
            <a:chOff x="706" y="935"/>
            <a:chExt cx="3348" cy="998"/>
          </a:xfrm>
        </p:grpSpPr>
        <p:graphicFrame>
          <p:nvGraphicFramePr>
            <p:cNvPr id="8195" name="Object 5"/>
            <p:cNvGraphicFramePr>
              <a:graphicFrameLocks noChangeAspect="1"/>
            </p:cNvGraphicFramePr>
            <p:nvPr/>
          </p:nvGraphicFramePr>
          <p:xfrm>
            <a:off x="706" y="935"/>
            <a:ext cx="3348" cy="3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" name="" r:id="rId1" imgW="4914900" imgH="508000" progId="Equation.DSMT4">
                    <p:embed/>
                  </p:oleObj>
                </mc:Choice>
                <mc:Fallback>
                  <p:oleObj name="" r:id="rId1" imgW="4914900" imgH="508000" progId="Equation.DSMT4">
                    <p:embed/>
                    <p:pic>
                      <p:nvPicPr>
                        <p:cNvPr id="0" name="图片 3099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706" y="935"/>
                          <a:ext cx="3348" cy="348"/>
                        </a:xfrm>
                        <a:prstGeom prst="rect">
                          <a:avLst/>
                        </a:prstGeom>
                        <a:solidFill>
                          <a:srgbClr val="00FFFF"/>
                        </a:solidFill>
                        <a:ln w="38100">
                          <a:noFill/>
                          <a:miter/>
                        </a:ln>
                        <a:effectLst>
                          <a:outerShdw dist="107763" dir="2699999" algn="ctr" rotWithShape="0">
                            <a:srgbClr val="808080">
                              <a:alpha val="50000"/>
                            </a:srgbClr>
                          </a:outer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196" name="Object 6"/>
            <p:cNvGraphicFramePr/>
            <p:nvPr/>
          </p:nvGraphicFramePr>
          <p:xfrm>
            <a:off x="1419" y="1434"/>
            <a:ext cx="2259" cy="4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" name="" r:id="rId3" imgW="1600200" imgH="330200" progId="Equation.DSMT4">
                    <p:embed/>
                  </p:oleObj>
                </mc:Choice>
                <mc:Fallback>
                  <p:oleObj name="" r:id="rId3" imgW="1600200" imgH="330200" progId="Equation.DSMT4">
                    <p:embed/>
                    <p:pic>
                      <p:nvPicPr>
                        <p:cNvPr id="0" name="图片 3096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419" y="1434"/>
                          <a:ext cx="2259" cy="499"/>
                        </a:xfrm>
                        <a:prstGeom prst="rect">
                          <a:avLst/>
                        </a:prstGeom>
                        <a:solidFill>
                          <a:srgbClr val="00FFFF"/>
                        </a:solidFill>
                        <a:ln w="38100">
                          <a:noFill/>
                          <a:miter/>
                        </a:ln>
                        <a:effectLst>
                          <a:outerShdw dist="107763" dir="2699999" algn="ctr" rotWithShape="0">
                            <a:srgbClr val="808080">
                              <a:alpha val="50000"/>
                            </a:srgbClr>
                          </a:outer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182" name="Group 14"/>
          <p:cNvGrpSpPr/>
          <p:nvPr/>
        </p:nvGrpSpPr>
        <p:grpSpPr>
          <a:xfrm>
            <a:off x="4008438" y="5157788"/>
            <a:ext cx="3565525" cy="522287"/>
            <a:chOff x="521" y="3249"/>
            <a:chExt cx="2246" cy="329"/>
          </a:xfrm>
        </p:grpSpPr>
        <p:sp>
          <p:nvSpPr>
            <p:cNvPr id="8198" name="Text Box 8"/>
            <p:cNvSpPr txBox="1"/>
            <p:nvPr/>
          </p:nvSpPr>
          <p:spPr>
            <a:xfrm>
              <a:off x="521" y="3249"/>
              <a:ext cx="791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t" anchorCtr="0">
              <a:spAutoFit/>
            </a:bodyPr>
            <a:lstStyle/>
            <a:p>
              <a:pPr algn="ctr">
                <a:spcBef>
                  <a:spcPct val="20000"/>
                </a:spcBef>
              </a:pPr>
              <a:r>
                <a:rPr lang="zh-CN" altLang="en-US" sz="2800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记作：</a:t>
              </a:r>
              <a:endPara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8199" name="Object 9"/>
            <p:cNvGraphicFramePr>
              <a:graphicFrameLocks noChangeAspect="1"/>
            </p:cNvGraphicFramePr>
            <p:nvPr/>
          </p:nvGraphicFramePr>
          <p:xfrm>
            <a:off x="1231" y="3328"/>
            <a:ext cx="1536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" name="" r:id="rId5" imgW="2438400" imgH="393700" progId="Equation.DSMT4">
                    <p:embed/>
                  </p:oleObj>
                </mc:Choice>
                <mc:Fallback>
                  <p:oleObj name="" r:id="rId5" imgW="2438400" imgH="393700" progId="Equation.DSMT4">
                    <p:embed/>
                    <p:pic>
                      <p:nvPicPr>
                        <p:cNvPr id="0" name="图片 3093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231" y="3328"/>
                          <a:ext cx="1536" cy="24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10"/>
          <p:cNvGrpSpPr/>
          <p:nvPr/>
        </p:nvGrpSpPr>
        <p:grpSpPr>
          <a:xfrm>
            <a:off x="2495550" y="3567113"/>
            <a:ext cx="7561263" cy="1444624"/>
            <a:chOff x="521" y="1958"/>
            <a:chExt cx="4669" cy="910"/>
          </a:xfrm>
        </p:grpSpPr>
        <p:sp>
          <p:nvSpPr>
            <p:cNvPr id="8201" name="Rectangle 11"/>
            <p:cNvSpPr/>
            <p:nvPr/>
          </p:nvSpPr>
          <p:spPr>
            <a:xfrm>
              <a:off x="521" y="1958"/>
              <a:ext cx="4669" cy="910"/>
            </a:xfrm>
            <a:prstGeom prst="rect">
              <a:avLst/>
            </a:prstGeom>
            <a:noFill/>
            <a:ln w="25400">
              <a:noFill/>
            </a:ln>
          </p:spPr>
          <p:txBody>
            <a:bodyPr anchor="ctr" anchorCtr="0">
              <a:spAutoFit/>
            </a:bodyPr>
            <a:lstStyle/>
            <a:p>
              <a:r>
                <a:rPr lang="zh-CN" altLang="en-US" sz="2800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其中，</a:t>
              </a:r>
              <a:r>
                <a:rPr lang="en-US" altLang="zh-CN" sz="3200" b="1" i="1" dirty="0">
                  <a:solidFill>
                    <a:srgbClr val="0000FF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f </a:t>
              </a:r>
              <a:r>
                <a:rPr lang="en-US" altLang="zh-CN" sz="3200" b="1" dirty="0">
                  <a:solidFill>
                    <a:srgbClr val="0000FF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(</a:t>
              </a:r>
              <a:r>
                <a:rPr lang="en-US" altLang="zh-CN" sz="3200" b="1" i="1" dirty="0">
                  <a:solidFill>
                    <a:srgbClr val="0000FF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x</a:t>
              </a:r>
              <a:r>
                <a:rPr lang="en-US" altLang="zh-CN" sz="3200" b="1" dirty="0">
                  <a:solidFill>
                    <a:srgbClr val="0000FF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)</a:t>
              </a:r>
              <a:r>
                <a:rPr lang="en-US" altLang="zh-CN" sz="2800" dirty="0">
                  <a:latin typeface="Times New Roman" panose="02020603050405020304" charset="0"/>
                  <a:ea typeface="宋体" panose="02010600030101010101" pitchFamily="2" charset="-122"/>
                </a:rPr>
                <a:t> </a:t>
              </a:r>
              <a:r>
                <a:rPr lang="zh-CN" altLang="en-US" sz="2800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在任一有限区间满足狄利克雷条件：</a:t>
              </a:r>
              <a:endPara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r>
                <a:rPr lang="zh-CN" altLang="en-US" sz="2800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即只有有限个第一类间断点和有限个极值，</a:t>
              </a:r>
              <a:endPara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r>
                <a:rPr lang="zh-CN" altLang="en-US" sz="2800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在        上绝对可积。</a:t>
              </a:r>
              <a:endPara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8202" name="Object 12"/>
            <p:cNvGraphicFramePr>
              <a:graphicFrameLocks noChangeAspect="1"/>
            </p:cNvGraphicFramePr>
            <p:nvPr/>
          </p:nvGraphicFramePr>
          <p:xfrm>
            <a:off x="930" y="2568"/>
            <a:ext cx="712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" name="" r:id="rId7" imgW="1129665" imgH="393700" progId="Equation.DSMT4">
                    <p:embed/>
                  </p:oleObj>
                </mc:Choice>
                <mc:Fallback>
                  <p:oleObj name="" r:id="rId7" imgW="1129665" imgH="393700" progId="Equation.DSMT4">
                    <p:embed/>
                    <p:pic>
                      <p:nvPicPr>
                        <p:cNvPr id="0" name="图片 3094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930" y="2568"/>
                          <a:ext cx="712" cy="24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203" name="Text Box 16"/>
          <p:cNvSpPr txBox="1"/>
          <p:nvPr/>
        </p:nvSpPr>
        <p:spPr>
          <a:xfrm>
            <a:off x="1339692" y="661670"/>
            <a:ext cx="4443095" cy="583565"/>
          </a:xfrm>
          <a:prstGeom prst="rect">
            <a:avLst/>
          </a:prstGeom>
          <a:noFill/>
          <a:ln w="25400">
            <a:noFill/>
          </a:ln>
        </p:spPr>
        <p:txBody>
          <a:bodyPr wrap="none" anchor="t" anchorCtr="0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zh-CN" altLang="en-US" sz="32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</a:t>
            </a:r>
            <a:r>
              <a:rPr lang="en-US" altLang="zh-CN" sz="32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  <a:r>
              <a:rPr lang="en-US" altLang="zh-CN" sz="3200" b="1" dirty="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Fourier</a:t>
            </a:r>
            <a:r>
              <a:rPr lang="zh-CN" altLang="en-US" sz="32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变换定义：</a:t>
            </a:r>
            <a:endParaRPr lang="zh-CN" altLang="en-US" sz="3200" b="1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4" name="Group 2"/>
          <p:cNvGrpSpPr/>
          <p:nvPr/>
        </p:nvGrpSpPr>
        <p:grpSpPr>
          <a:xfrm>
            <a:off x="1720851" y="2997200"/>
            <a:ext cx="7461249" cy="1093788"/>
            <a:chOff x="214" y="2614"/>
            <a:chExt cx="4700" cy="689"/>
          </a:xfrm>
        </p:grpSpPr>
        <p:sp>
          <p:nvSpPr>
            <p:cNvPr id="10242" name="Rectangle 3"/>
            <p:cNvSpPr/>
            <p:nvPr/>
          </p:nvSpPr>
          <p:spPr>
            <a:xfrm>
              <a:off x="214" y="2795"/>
              <a:ext cx="1909" cy="327"/>
            </a:xfrm>
            <a:prstGeom prst="rect">
              <a:avLst/>
            </a:prstGeom>
            <a:solidFill>
              <a:srgbClr val="00FFFF"/>
            </a:solidFill>
            <a:ln w="9525">
              <a:noFill/>
            </a:ln>
            <a:effectLst>
              <a:outerShdw dist="107763" dir="2699999" algn="ctr" rotWithShape="0">
                <a:srgbClr val="808080">
                  <a:alpha val="50000"/>
                </a:srgbClr>
              </a:outerShdw>
            </a:effectLst>
          </p:spPr>
          <p:txBody>
            <a:bodyPr anchor="t" anchorCtr="0"/>
            <a:lstStyle/>
            <a:p>
              <a:pPr algn="ctr">
                <a:spcBef>
                  <a:spcPct val="20000"/>
                </a:spcBef>
              </a:pPr>
              <a:r>
                <a:rPr lang="zh-CN" altLang="en-US" sz="2800" b="1" dirty="0">
                  <a:solidFill>
                    <a:srgbClr val="0000FF"/>
                  </a:solidFill>
                  <a:latin typeface="Times New Roman" panose="02020603050405020304" charset="0"/>
                  <a:ea typeface="黑体" panose="02010609060101010101" pitchFamily="49" charset="-122"/>
                </a:rPr>
                <a:t>傅立叶逆变换</a:t>
              </a:r>
              <a:endParaRPr lang="zh-CN" altLang="en-US" sz="2800" b="1" dirty="0">
                <a:solidFill>
                  <a:srgbClr val="0000FF"/>
                </a:solidFill>
                <a:latin typeface="Times New Roman" panose="02020603050405020304" charset="0"/>
                <a:ea typeface="黑体" panose="02010609060101010101" pitchFamily="49" charset="-122"/>
              </a:endParaRPr>
            </a:p>
          </p:txBody>
        </p:sp>
        <p:graphicFrame>
          <p:nvGraphicFramePr>
            <p:cNvPr id="10243" name="Object 4"/>
            <p:cNvGraphicFramePr>
              <a:graphicFrameLocks noChangeAspect="1"/>
            </p:cNvGraphicFramePr>
            <p:nvPr/>
          </p:nvGraphicFramePr>
          <p:xfrm>
            <a:off x="2363" y="2614"/>
            <a:ext cx="2551" cy="6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" name="" r:id="rId1" imgW="1739900" imgH="469900" progId="Equation.DSMT4">
                    <p:embed/>
                  </p:oleObj>
                </mc:Choice>
                <mc:Fallback>
                  <p:oleObj name="" r:id="rId1" imgW="1739900" imgH="469900" progId="Equation.DSMT4">
                    <p:embed/>
                    <p:pic>
                      <p:nvPicPr>
                        <p:cNvPr id="0" name="图片 3097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363" y="2614"/>
                          <a:ext cx="2551" cy="689"/>
                        </a:xfrm>
                        <a:prstGeom prst="rect">
                          <a:avLst/>
                        </a:prstGeom>
                        <a:solidFill>
                          <a:srgbClr val="00FFFF"/>
                        </a:solidFill>
                        <a:ln w="38100">
                          <a:noFill/>
                          <a:miter/>
                        </a:ln>
                        <a:effectLst>
                          <a:outerShdw dist="107763" dir="2699999" algn="ctr" rotWithShape="0">
                            <a:srgbClr val="808080">
                              <a:alpha val="50000"/>
                            </a:srgbClr>
                          </a:outer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207" name="Group 15"/>
          <p:cNvGrpSpPr/>
          <p:nvPr/>
        </p:nvGrpSpPr>
        <p:grpSpPr>
          <a:xfrm>
            <a:off x="3287713" y="4365625"/>
            <a:ext cx="4470400" cy="519113"/>
            <a:chOff x="703" y="2750"/>
            <a:chExt cx="2816" cy="327"/>
          </a:xfrm>
        </p:grpSpPr>
        <p:sp>
          <p:nvSpPr>
            <p:cNvPr id="10245" name="Text Box 6"/>
            <p:cNvSpPr txBox="1"/>
            <p:nvPr/>
          </p:nvSpPr>
          <p:spPr>
            <a:xfrm>
              <a:off x="703" y="2750"/>
              <a:ext cx="903" cy="327"/>
            </a:xfrm>
            <a:prstGeom prst="rect">
              <a:avLst/>
            </a:prstGeom>
            <a:solidFill>
              <a:srgbClr val="00FFFF"/>
            </a:solidFill>
            <a:ln w="9525">
              <a:noFill/>
            </a:ln>
            <a:effectLst>
              <a:outerShdw dist="107763" dir="2699999" algn="ctr" rotWithShape="0">
                <a:srgbClr val="808080">
                  <a:alpha val="50000"/>
                </a:srgbClr>
              </a:outerShdw>
            </a:effectLst>
          </p:spPr>
          <p:txBody>
            <a:bodyPr anchor="t" anchorCtr="0"/>
            <a:lstStyle/>
            <a:p>
              <a:pPr algn="ctr">
                <a:spcBef>
                  <a:spcPct val="20000"/>
                </a:spcBef>
              </a:pPr>
              <a:r>
                <a:rPr lang="zh-CN" altLang="en-US" sz="2800" b="1" dirty="0">
                  <a:latin typeface="Times New Roman" panose="02020603050405020304" charset="0"/>
                  <a:ea typeface="宋体" panose="02010600030101010101" pitchFamily="2" charset="-122"/>
                </a:rPr>
                <a:t>记作：  </a:t>
              </a:r>
              <a:endParaRPr lang="zh-CN" altLang="en-US" sz="2800" b="1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10246" name="Object 7"/>
            <p:cNvGraphicFramePr>
              <a:graphicFrameLocks noChangeAspect="1"/>
            </p:cNvGraphicFramePr>
            <p:nvPr/>
          </p:nvGraphicFramePr>
          <p:xfrm>
            <a:off x="1617" y="2750"/>
            <a:ext cx="1902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" name="" r:id="rId3" imgW="2679700" imgH="469900" progId="Equation.DSMT4">
                    <p:embed/>
                  </p:oleObj>
                </mc:Choice>
                <mc:Fallback>
                  <p:oleObj name="" r:id="rId3" imgW="2679700" imgH="469900" progId="Equation.DSMT4">
                    <p:embed/>
                    <p:pic>
                      <p:nvPicPr>
                        <p:cNvPr id="0" name="图片 3101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617" y="2750"/>
                          <a:ext cx="1902" cy="296"/>
                        </a:xfrm>
                        <a:prstGeom prst="rect">
                          <a:avLst/>
                        </a:prstGeom>
                        <a:solidFill>
                          <a:srgbClr val="00FFFF"/>
                        </a:solidFill>
                        <a:ln w="38100">
                          <a:noFill/>
                          <a:miter/>
                        </a:ln>
                        <a:effectLst>
                          <a:outerShdw dist="107763" dir="2699999" algn="ctr" rotWithShape="0">
                            <a:srgbClr val="808080">
                              <a:alpha val="50000"/>
                            </a:srgbClr>
                          </a:outer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247" name="Text Box 9"/>
          <p:cNvSpPr txBox="1"/>
          <p:nvPr/>
        </p:nvSpPr>
        <p:spPr>
          <a:xfrm>
            <a:off x="2566988" y="836613"/>
            <a:ext cx="3529012" cy="519112"/>
          </a:xfrm>
          <a:prstGeom prst="rect">
            <a:avLst/>
          </a:prstGeom>
          <a:solidFill>
            <a:srgbClr val="00FFFF"/>
          </a:solidFill>
          <a:ln w="9525">
            <a:noFill/>
          </a:ln>
          <a:effectLst>
            <a:outerShdw dist="107763" dir="2699999" algn="ctr" rotWithShape="0">
              <a:srgbClr val="808080">
                <a:alpha val="50000"/>
              </a:srgbClr>
            </a:outerShdw>
          </a:effectLst>
        </p:spPr>
        <p:txBody>
          <a:bodyPr anchor="t" anchorCtr="0"/>
          <a:lstStyle/>
          <a:p>
            <a:pPr algn="ctr">
              <a:spcBef>
                <a:spcPct val="20000"/>
              </a:spcBef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charset="0"/>
                <a:ea typeface="黑体" panose="02010609060101010101" pitchFamily="49" charset="-122"/>
              </a:rPr>
              <a:t>当</a:t>
            </a:r>
            <a:r>
              <a:rPr lang="zh-CN" altLang="en-US" sz="2800" b="1" dirty="0">
                <a:latin typeface="Times New Roman" panose="02020603050405020304" charset="0"/>
                <a:ea typeface="宋体" panose="02010600030101010101" pitchFamily="2" charset="-122"/>
              </a:rPr>
              <a:t>  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charset="0"/>
                <a:ea typeface="宋体" panose="02010600030101010101" pitchFamily="2" charset="-122"/>
              </a:rPr>
              <a:t>f 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charset="0"/>
                <a:ea typeface="宋体" panose="02010600030101010101" pitchFamily="2" charset="-122"/>
              </a:rPr>
              <a:t>(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charset="0"/>
                <a:ea typeface="宋体" panose="02010600030101010101" pitchFamily="2" charset="-122"/>
              </a:rPr>
              <a:t>x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charset="0"/>
                <a:ea typeface="宋体" panose="02010600030101010101" pitchFamily="2" charset="-122"/>
              </a:rPr>
              <a:t>)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 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charset="0"/>
                <a:ea typeface="黑体" panose="02010609060101010101" pitchFamily="49" charset="-122"/>
              </a:rPr>
              <a:t>连续时，有</a:t>
            </a:r>
            <a:endParaRPr lang="zh-CN" altLang="en-US" sz="2800" b="1" dirty="0">
              <a:solidFill>
                <a:srgbClr val="0000FF"/>
              </a:solidFill>
              <a:latin typeface="Times New Roman" panose="02020603050405020304" charset="0"/>
              <a:ea typeface="黑体" panose="02010609060101010101" pitchFamily="49" charset="-122"/>
            </a:endParaRPr>
          </a:p>
        </p:txBody>
      </p:sp>
      <p:graphicFrame>
        <p:nvGraphicFramePr>
          <p:cNvPr id="10248" name="Object 10"/>
          <p:cNvGraphicFramePr>
            <a:graphicFrameLocks noChangeAspect="1"/>
          </p:cNvGraphicFramePr>
          <p:nvPr/>
        </p:nvGraphicFramePr>
        <p:xfrm>
          <a:off x="2906713" y="1455738"/>
          <a:ext cx="5853112" cy="1154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5" imgW="2514600" imgH="495300" progId="Equation.DSMT4">
                  <p:embed/>
                </p:oleObj>
              </mc:Choice>
              <mc:Fallback>
                <p:oleObj name="" r:id="rId5" imgW="2514600" imgH="495300" progId="Equation.DSMT4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906713" y="1455738"/>
                        <a:ext cx="5853112" cy="1154112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Rot="1"/>
          </p:cNvSpPr>
          <p:nvPr>
            <p:ph type="title"/>
          </p:nvPr>
        </p:nvSpPr>
        <p:spPr>
          <a:xfrm>
            <a:off x="1169988" y="620713"/>
            <a:ext cx="6624637" cy="609600"/>
          </a:xfrm>
          <a:ln w="57150"/>
        </p:spPr>
        <p:txBody>
          <a:bodyPr vert="horz" wrap="square" lIns="91440" tIns="45720" rIns="91440" bIns="45720" anchor="ctr" anchorCtr="0"/>
          <a:lstStyle/>
          <a:p>
            <a:pPr algn="l" eaLnBrk="1" hangingPunct="1"/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三</a:t>
            </a: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en-US" altLang="zh-CN" sz="3200" b="1" i="1" dirty="0">
                <a:latin typeface="Times New Roman" panose="02020603050405020304" charset="0"/>
                <a:ea typeface="黑体" panose="02010609060101010101" pitchFamily="49" charset="-122"/>
              </a:rPr>
              <a:t>Fourier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积分与</a:t>
            </a:r>
            <a:r>
              <a:rPr lang="en-US" altLang="zh-CN" sz="3200" b="1" i="1" dirty="0">
                <a:latin typeface="Times New Roman" panose="02020603050405020304" charset="0"/>
                <a:ea typeface="黑体" panose="02010609060101010101" pitchFamily="49" charset="-122"/>
              </a:rPr>
              <a:t>Fourier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逆变换</a:t>
            </a:r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52229" name="Object 5"/>
          <p:cNvGraphicFramePr>
            <a:graphicFrameLocks noChangeAspect="1"/>
          </p:cNvGraphicFramePr>
          <p:nvPr/>
        </p:nvGraphicFramePr>
        <p:xfrm>
          <a:off x="3000375" y="2874963"/>
          <a:ext cx="6624638" cy="979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3136900" imgH="495300" progId="Equation.DSMT4">
                  <p:embed/>
                </p:oleObj>
              </mc:Choice>
              <mc:Fallback>
                <p:oleObj name="" r:id="rId1" imgW="3136900" imgH="495300" progId="Equation.DSMT4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000375" y="2874963"/>
                        <a:ext cx="6624638" cy="979487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267" name="Group 18"/>
          <p:cNvGrpSpPr/>
          <p:nvPr/>
        </p:nvGrpSpPr>
        <p:grpSpPr>
          <a:xfrm>
            <a:off x="2424113" y="1484313"/>
            <a:ext cx="6956425" cy="1171575"/>
            <a:chOff x="567" y="935"/>
            <a:chExt cx="4382" cy="738"/>
          </a:xfrm>
        </p:grpSpPr>
        <p:sp>
          <p:nvSpPr>
            <p:cNvPr id="11268" name="Text Box 3"/>
            <p:cNvSpPr txBox="1"/>
            <p:nvPr/>
          </p:nvSpPr>
          <p:spPr>
            <a:xfrm>
              <a:off x="613" y="935"/>
              <a:ext cx="384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solidFill>
                    <a:srgbClr val="0000FF"/>
                  </a:solidFill>
                  <a:latin typeface="Times New Roman" panose="02020603050405020304" charset="0"/>
                  <a:ea typeface="黑体" panose="02010609060101010101" pitchFamily="49" charset="-122"/>
                </a:rPr>
                <a:t>设</a:t>
              </a:r>
              <a:endParaRPr lang="zh-CN" altLang="en-US" sz="2800" b="1" dirty="0">
                <a:solidFill>
                  <a:srgbClr val="0000FF"/>
                </a:solidFill>
                <a:latin typeface="Times New Roman" panose="02020603050405020304" charset="0"/>
                <a:ea typeface="黑体" panose="02010609060101010101" pitchFamily="49" charset="-122"/>
              </a:endParaRPr>
            </a:p>
          </p:txBody>
        </p:sp>
        <p:graphicFrame>
          <p:nvGraphicFramePr>
            <p:cNvPr id="11269" name="Object 4"/>
            <p:cNvGraphicFramePr>
              <a:graphicFrameLocks noChangeAspect="1"/>
            </p:cNvGraphicFramePr>
            <p:nvPr/>
          </p:nvGraphicFramePr>
          <p:xfrm>
            <a:off x="976" y="981"/>
            <a:ext cx="456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" name="" r:id="rId3" imgW="342900" imgH="203200" progId="Equation.DSMT4">
                    <p:embed/>
                  </p:oleObj>
                </mc:Choice>
                <mc:Fallback>
                  <p:oleObj name="" r:id="rId3" imgW="342900" imgH="203200" progId="Equation.DSMT4">
                    <p:embed/>
                    <p:pic>
                      <p:nvPicPr>
                        <p:cNvPr id="0" name="图片 3077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976" y="981"/>
                          <a:ext cx="456" cy="27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270" name="Text Box 6"/>
            <p:cNvSpPr txBox="1"/>
            <p:nvPr/>
          </p:nvSpPr>
          <p:spPr>
            <a:xfrm>
              <a:off x="1475" y="935"/>
              <a:ext cx="2657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solidFill>
                    <a:srgbClr val="0000FF"/>
                  </a:solidFill>
                  <a:latin typeface="Times New Roman" panose="02020603050405020304" charset="0"/>
                  <a:ea typeface="黑体" panose="02010609060101010101" pitchFamily="49" charset="-122"/>
                </a:rPr>
                <a:t>在</a:t>
              </a:r>
              <a:r>
                <a:rPr lang="en-US" altLang="zh-CN" sz="2800" b="1" dirty="0">
                  <a:solidFill>
                    <a:srgbClr val="0000FF"/>
                  </a:solidFill>
                  <a:latin typeface="Times New Roman" panose="02020603050405020304" charset="0"/>
                  <a:ea typeface="黑体" panose="02010609060101010101" pitchFamily="49" charset="-122"/>
                </a:rPr>
                <a:t>R</a:t>
              </a:r>
              <a:r>
                <a:rPr lang="zh-CN" altLang="en-US" sz="2800" b="1" dirty="0">
                  <a:solidFill>
                    <a:srgbClr val="0000FF"/>
                  </a:solidFill>
                  <a:latin typeface="Times New Roman" panose="02020603050405020304" charset="0"/>
                  <a:ea typeface="黑体" panose="02010609060101010101" pitchFamily="49" charset="-122"/>
                </a:rPr>
                <a:t>上绝对可积，且</a:t>
              </a:r>
              <a:endParaRPr lang="zh-CN" altLang="en-US" sz="2800" b="1" dirty="0">
                <a:solidFill>
                  <a:srgbClr val="0000FF"/>
                </a:solidFill>
                <a:latin typeface="Times New Roman" panose="02020603050405020304" charset="0"/>
                <a:ea typeface="黑体" panose="02010609060101010101" pitchFamily="49" charset="-122"/>
              </a:endParaRPr>
            </a:p>
          </p:txBody>
        </p:sp>
        <p:graphicFrame>
          <p:nvGraphicFramePr>
            <p:cNvPr id="11271" name="Object 7"/>
            <p:cNvGraphicFramePr>
              <a:graphicFrameLocks noChangeAspect="1"/>
            </p:cNvGraphicFramePr>
            <p:nvPr/>
          </p:nvGraphicFramePr>
          <p:xfrm>
            <a:off x="3665" y="935"/>
            <a:ext cx="1284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" name="" r:id="rId5" imgW="965200" imgH="228600" progId="Equation.DSMT4">
                    <p:embed/>
                  </p:oleObj>
                </mc:Choice>
                <mc:Fallback>
                  <p:oleObj name="" r:id="rId5" imgW="965200" imgH="228600" progId="Equation.DSMT4">
                    <p:embed/>
                    <p:pic>
                      <p:nvPicPr>
                        <p:cNvPr id="0" name="图片 3075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665" y="935"/>
                          <a:ext cx="1284" cy="31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272" name="Text Box 8"/>
            <p:cNvSpPr txBox="1"/>
            <p:nvPr/>
          </p:nvSpPr>
          <p:spPr>
            <a:xfrm>
              <a:off x="567" y="1344"/>
              <a:ext cx="336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solidFill>
                    <a:srgbClr val="0000FF"/>
                  </a:solidFill>
                  <a:latin typeface="Times New Roman" panose="02020603050405020304" charset="0"/>
                  <a:ea typeface="黑体" panose="02010609060101010101" pitchFamily="49" charset="-122"/>
                </a:rPr>
                <a:t>则</a:t>
              </a:r>
              <a:endParaRPr lang="zh-CN" altLang="en-US" sz="2800" b="1" dirty="0">
                <a:solidFill>
                  <a:srgbClr val="0000FF"/>
                </a:solidFill>
                <a:latin typeface="Times New Roman" panose="02020603050405020304" charset="0"/>
                <a:ea typeface="黑体" panose="02010609060101010101" pitchFamily="49" charset="-122"/>
              </a:endParaRPr>
            </a:p>
          </p:txBody>
        </p:sp>
        <p:graphicFrame>
          <p:nvGraphicFramePr>
            <p:cNvPr id="11273" name="Object 9"/>
            <p:cNvGraphicFramePr>
              <a:graphicFrameLocks noChangeAspect="1"/>
            </p:cNvGraphicFramePr>
            <p:nvPr/>
          </p:nvGraphicFramePr>
          <p:xfrm>
            <a:off x="930" y="1389"/>
            <a:ext cx="456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" name="" r:id="rId7" imgW="342900" imgH="203200" progId="Equation.DSMT4">
                    <p:embed/>
                  </p:oleObj>
                </mc:Choice>
                <mc:Fallback>
                  <p:oleObj name="" r:id="rId7" imgW="342900" imgH="203200" progId="Equation.DSMT4">
                    <p:embed/>
                    <p:pic>
                      <p:nvPicPr>
                        <p:cNvPr id="0" name="图片 3076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930" y="1389"/>
                          <a:ext cx="456" cy="27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274" name="Text Box 10"/>
            <p:cNvSpPr txBox="1"/>
            <p:nvPr/>
          </p:nvSpPr>
          <p:spPr>
            <a:xfrm>
              <a:off x="1429" y="1344"/>
              <a:ext cx="2521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solidFill>
                    <a:srgbClr val="0000FF"/>
                  </a:solidFill>
                  <a:latin typeface="Times New Roman" panose="02020603050405020304" charset="0"/>
                  <a:ea typeface="黑体" panose="02010609060101010101" pitchFamily="49" charset="-122"/>
                </a:rPr>
                <a:t>可以展开为</a:t>
              </a:r>
              <a:r>
                <a:rPr lang="en-US" altLang="zh-CN" sz="2800" b="1" i="1" dirty="0">
                  <a:solidFill>
                    <a:srgbClr val="0000FF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Fourier</a:t>
              </a:r>
              <a:r>
                <a:rPr lang="en-US" altLang="zh-CN" sz="2800" b="1" i="1" dirty="0">
                  <a:latin typeface="Times New Roman" panose="02020603050405020304" charset="0"/>
                  <a:ea typeface="宋体" panose="02010600030101010101" pitchFamily="2" charset="-122"/>
                </a:rPr>
                <a:t> </a:t>
              </a:r>
              <a:r>
                <a:rPr lang="zh-CN" altLang="en-US" sz="2800" b="1" dirty="0">
                  <a:solidFill>
                    <a:srgbClr val="0000FF"/>
                  </a:solidFill>
                  <a:latin typeface="Times New Roman" panose="02020603050405020304" charset="0"/>
                  <a:ea typeface="黑体" panose="02010609060101010101" pitchFamily="49" charset="-122"/>
                </a:rPr>
                <a:t>级数</a:t>
              </a:r>
              <a:endParaRPr lang="zh-CN" altLang="en-US" sz="2800" b="1" dirty="0">
                <a:solidFill>
                  <a:srgbClr val="0000FF"/>
                </a:solidFill>
                <a:latin typeface="Times New Roman" panose="02020603050405020304" charset="0"/>
                <a:ea typeface="黑体" panose="02010609060101010101" pitchFamily="49" charset="-122"/>
              </a:endParaRPr>
            </a:p>
          </p:txBody>
        </p:sp>
      </p:grpSp>
      <p:sp>
        <p:nvSpPr>
          <p:cNvPr id="52235" name="Text Box 11"/>
          <p:cNvSpPr txBox="1"/>
          <p:nvPr/>
        </p:nvSpPr>
        <p:spPr>
          <a:xfrm>
            <a:off x="2063750" y="4437063"/>
            <a:ext cx="1008063" cy="52197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charset="0"/>
                <a:ea typeface="黑体" panose="02010609060101010101" pitchFamily="49" charset="-122"/>
              </a:rPr>
              <a:t>其中</a:t>
            </a:r>
            <a:endParaRPr lang="zh-CN" altLang="en-US" sz="2800" b="1" dirty="0">
              <a:solidFill>
                <a:srgbClr val="0000FF"/>
              </a:solidFill>
              <a:latin typeface="Times New Roman" panose="02020603050405020304" charset="0"/>
              <a:ea typeface="黑体" panose="02010609060101010101" pitchFamily="49" charset="-122"/>
            </a:endParaRPr>
          </a:p>
        </p:txBody>
      </p:sp>
      <p:graphicFrame>
        <p:nvGraphicFramePr>
          <p:cNvPr id="52236" name="Object 12"/>
          <p:cNvGraphicFramePr>
            <a:graphicFrameLocks noChangeAspect="1"/>
          </p:cNvGraphicFramePr>
          <p:nvPr/>
        </p:nvGraphicFramePr>
        <p:xfrm>
          <a:off x="3216275" y="4235450"/>
          <a:ext cx="532765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9" imgW="2602230" imgH="406400" progId="Equation.DSMT4">
                  <p:embed/>
                </p:oleObj>
              </mc:Choice>
              <mc:Fallback>
                <p:oleObj name="" r:id="rId9" imgW="2602230" imgH="406400" progId="Equation.DSMT4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216275" y="4235450"/>
                        <a:ext cx="5327650" cy="889000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7" name="Object 13"/>
          <p:cNvGraphicFramePr>
            <a:graphicFrameLocks noChangeAspect="1"/>
          </p:cNvGraphicFramePr>
          <p:nvPr/>
        </p:nvGraphicFramePr>
        <p:xfrm>
          <a:off x="3216275" y="5287963"/>
          <a:ext cx="5829300" cy="858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11" imgW="2578100" imgH="406400" progId="Equation.DSMT4">
                  <p:embed/>
                </p:oleObj>
              </mc:Choice>
              <mc:Fallback>
                <p:oleObj name="" r:id="rId11" imgW="2578100" imgH="406400" progId="Equation.DSMT4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216275" y="5287963"/>
                        <a:ext cx="5829300" cy="858837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8" name="AutoShape 17"/>
          <p:cNvSpPr/>
          <p:nvPr/>
        </p:nvSpPr>
        <p:spPr>
          <a:xfrm>
            <a:off x="8886825" y="222250"/>
            <a:ext cx="2087563" cy="1008063"/>
          </a:xfrm>
          <a:prstGeom prst="cloudCallout">
            <a:avLst>
              <a:gd name="adj1" fmla="val -34944"/>
              <a:gd name="adj2" fmla="val 82912"/>
            </a:avLst>
          </a:prstGeom>
          <a:solidFill>
            <a:srgbClr val="00FFFF"/>
          </a:solidFill>
          <a:ln w="9525">
            <a:noFill/>
          </a:ln>
          <a:effectLst>
            <a:outerShdw dist="107763" dir="2699999" algn="ctr" rotWithShape="0">
              <a:srgbClr val="808080">
                <a:alpha val="50000"/>
              </a:srgbClr>
            </a:outerShdw>
          </a:effectLst>
        </p:spPr>
        <p:txBody>
          <a:bodyPr anchor="t" anchorCtr="0"/>
          <a:lstStyle/>
          <a:p>
            <a:pPr algn="ctr"/>
            <a:r>
              <a:rPr lang="zh-CN" altLang="en-US" sz="20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连续、分段光滑</a:t>
            </a:r>
            <a:endParaRPr lang="zh-CN" altLang="en-US" sz="2000" b="1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2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52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52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52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52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6" grpId="0"/>
      <p:bldP spid="5223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 Box 2"/>
          <p:cNvSpPr txBox="1"/>
          <p:nvPr/>
        </p:nvSpPr>
        <p:spPr>
          <a:xfrm>
            <a:off x="2403475" y="568325"/>
            <a:ext cx="897890" cy="521970"/>
          </a:xfrm>
          <a:prstGeom prst="rect">
            <a:avLst/>
          </a:prstGeom>
          <a:noFill/>
          <a:ln w="57150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charset="0"/>
                <a:ea typeface="黑体" panose="02010609060101010101" pitchFamily="49" charset="-122"/>
              </a:rPr>
              <a:t>令：</a:t>
            </a:r>
            <a:endParaRPr lang="zh-CN" altLang="en-US" sz="2800" b="1" dirty="0">
              <a:solidFill>
                <a:srgbClr val="0000FF"/>
              </a:solidFill>
              <a:latin typeface="Times New Roman" panose="02020603050405020304" charset="0"/>
              <a:ea typeface="黑体" panose="02010609060101010101" pitchFamily="49" charset="-122"/>
            </a:endParaRPr>
          </a:p>
        </p:txBody>
      </p:sp>
      <p:graphicFrame>
        <p:nvGraphicFramePr>
          <p:cNvPr id="53251" name="Object 3"/>
          <p:cNvGraphicFramePr>
            <a:graphicFrameLocks noChangeAspect="1"/>
          </p:cNvGraphicFramePr>
          <p:nvPr/>
        </p:nvGraphicFramePr>
        <p:xfrm>
          <a:off x="3792538" y="1038225"/>
          <a:ext cx="5183187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2921000" imgH="406400" progId="Equation.DSMT4">
                  <p:embed/>
                </p:oleObj>
              </mc:Choice>
              <mc:Fallback>
                <p:oleObj name="" r:id="rId1" imgW="2921000" imgH="406400" progId="Equation.DSMT4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792538" y="1038225"/>
                        <a:ext cx="5183187" cy="876300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2" name="Text Box 4"/>
          <p:cNvSpPr txBox="1"/>
          <p:nvPr/>
        </p:nvSpPr>
        <p:spPr>
          <a:xfrm>
            <a:off x="2711450" y="2060575"/>
            <a:ext cx="5735955" cy="521970"/>
          </a:xfrm>
          <a:prstGeom prst="rect">
            <a:avLst/>
          </a:prstGeom>
          <a:noFill/>
          <a:ln w="57150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charset="0"/>
                <a:ea typeface="黑体" panose="02010609060101010101" pitchFamily="49" charset="-122"/>
              </a:rPr>
              <a:t>则可得到</a:t>
            </a:r>
            <a:r>
              <a:rPr lang="zh-CN" altLang="en-US" sz="2800" dirty="0">
                <a:latin typeface="Times New Roman" panose="02020603050405020304" charset="0"/>
                <a:ea typeface="黑体" panose="02010609060101010101" pitchFamily="49" charset="-122"/>
              </a:rPr>
              <a:t> 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charset="0"/>
                <a:ea typeface="黑体" panose="02010609060101010101" pitchFamily="49" charset="-122"/>
              </a:rPr>
              <a:t>f 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charset="0"/>
                <a:ea typeface="黑体" panose="02010609060101010101" pitchFamily="49" charset="-122"/>
              </a:rPr>
              <a:t>的复型</a:t>
            </a:r>
            <a:r>
              <a:rPr lang="zh-CN" altLang="en-US" sz="2800" dirty="0">
                <a:latin typeface="Times New Roman" panose="02020603050405020304" charset="0"/>
                <a:ea typeface="黑体" panose="02010609060101010101" pitchFamily="49" charset="-122"/>
              </a:rPr>
              <a:t> 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charset="0"/>
                <a:ea typeface="黑体" panose="02010609060101010101" pitchFamily="49" charset="-122"/>
              </a:rPr>
              <a:t>Fourier 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charset="0"/>
                <a:ea typeface="黑体" panose="02010609060101010101" pitchFamily="49" charset="-122"/>
              </a:rPr>
              <a:t>级数展开</a:t>
            </a:r>
            <a:endParaRPr lang="zh-CN" altLang="en-US" sz="2800" b="1" dirty="0">
              <a:solidFill>
                <a:srgbClr val="0000FF"/>
              </a:solidFill>
              <a:latin typeface="Times New Roman" panose="02020603050405020304" charset="0"/>
              <a:ea typeface="黑体" panose="02010609060101010101" pitchFamily="49" charset="-122"/>
            </a:endParaRPr>
          </a:p>
        </p:txBody>
      </p:sp>
      <p:graphicFrame>
        <p:nvGraphicFramePr>
          <p:cNvPr id="53253" name="Object 5"/>
          <p:cNvGraphicFramePr>
            <a:graphicFrameLocks noChangeAspect="1"/>
          </p:cNvGraphicFramePr>
          <p:nvPr/>
        </p:nvGraphicFramePr>
        <p:xfrm>
          <a:off x="4367213" y="2844800"/>
          <a:ext cx="2808287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1257300" imgH="457200" progId="Equation.DSMT4">
                  <p:embed/>
                </p:oleObj>
              </mc:Choice>
              <mc:Fallback>
                <p:oleObj name="" r:id="rId3" imgW="1257300" imgH="457200" progId="Equation.DSMT4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367213" y="2844800"/>
                        <a:ext cx="2808287" cy="1022350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4" name="Text Box 6"/>
          <p:cNvSpPr txBox="1"/>
          <p:nvPr/>
        </p:nvSpPr>
        <p:spPr>
          <a:xfrm>
            <a:off x="2690813" y="3879850"/>
            <a:ext cx="1255395" cy="521970"/>
          </a:xfrm>
          <a:prstGeom prst="rect">
            <a:avLst/>
          </a:prstGeom>
          <a:noFill/>
          <a:ln w="57150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charset="0"/>
                <a:ea typeface="黑体" panose="02010609060101010101" pitchFamily="49" charset="-122"/>
              </a:rPr>
              <a:t>其中：</a:t>
            </a:r>
            <a:endParaRPr lang="zh-CN" altLang="en-US" sz="2800" b="1" dirty="0">
              <a:solidFill>
                <a:srgbClr val="0000FF"/>
              </a:solidFill>
              <a:latin typeface="Times New Roman" panose="02020603050405020304" charset="0"/>
              <a:ea typeface="黑体" panose="02010609060101010101" pitchFamily="49" charset="-122"/>
            </a:endParaRPr>
          </a:p>
        </p:txBody>
      </p:sp>
      <p:graphicFrame>
        <p:nvGraphicFramePr>
          <p:cNvPr id="53255" name="Object 7"/>
          <p:cNvGraphicFramePr>
            <a:graphicFrameLocks noChangeAspect="1"/>
          </p:cNvGraphicFramePr>
          <p:nvPr/>
        </p:nvGraphicFramePr>
        <p:xfrm>
          <a:off x="4076700" y="4429125"/>
          <a:ext cx="4813300" cy="989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5" imgW="2476500" imgH="469900" progId="Equation.DSMT4">
                  <p:embed/>
                </p:oleObj>
              </mc:Choice>
              <mc:Fallback>
                <p:oleObj name="" r:id="rId5" imgW="2476500" imgH="469900" progId="Equation.DSMT4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076700" y="4429125"/>
                        <a:ext cx="4813300" cy="989013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6" name="Text Box 8"/>
          <p:cNvSpPr txBox="1"/>
          <p:nvPr/>
        </p:nvSpPr>
        <p:spPr>
          <a:xfrm>
            <a:off x="2908300" y="5586413"/>
            <a:ext cx="5986145" cy="583565"/>
          </a:xfrm>
          <a:prstGeom prst="rect">
            <a:avLst/>
          </a:prstGeom>
          <a:noFill/>
          <a:ln w="57150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charset="0"/>
                <a:ea typeface="黑体" panose="02010609060101010101" pitchFamily="49" charset="-122"/>
              </a:rPr>
              <a:t>把系数代入复型</a:t>
            </a:r>
            <a:r>
              <a:rPr lang="zh-CN" altLang="en-US" sz="3200" b="1" i="1" dirty="0">
                <a:latin typeface="Times New Roman" panose="02020603050405020304" charset="0"/>
                <a:ea typeface="黑体" panose="02010609060101010101" pitchFamily="49" charset="-122"/>
              </a:rPr>
              <a:t>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" panose="02020603050405020304" charset="0"/>
                <a:ea typeface="黑体" panose="02010609060101010101" pitchFamily="49" charset="-122"/>
              </a:rPr>
              <a:t>Fourier 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charset="0"/>
                <a:ea typeface="黑体" panose="02010609060101010101" pitchFamily="49" charset="-122"/>
              </a:rPr>
              <a:t>级数展开式</a:t>
            </a:r>
            <a:endParaRPr lang="zh-CN" altLang="en-US" sz="2800" b="1" dirty="0">
              <a:solidFill>
                <a:srgbClr val="0000FF"/>
              </a:solidFill>
              <a:latin typeface="Times New Roman" panose="02020603050405020304" charset="0"/>
              <a:ea typeface="黑体" panose="02010609060101010101" pitchFamily="49" charset="-122"/>
            </a:endParaRPr>
          </a:p>
        </p:txBody>
      </p:sp>
      <p:pic>
        <p:nvPicPr>
          <p:cNvPr id="12297" name="Picture 12" descr="http://e.hiphotos.baidu.com/baike/s%3D127/sign=17fae34afe039245a5b5e50db095a4a8/faedab64034f78f023028f747b310a55b3191c2f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39075" y="2571750"/>
            <a:ext cx="1209675" cy="1524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298" name="Picture 13" descr="http://e.hiphotos.baidu.com/baike/s%3D234/sign=df96d91c9113b07eb9bd570b38d79113/9c16fdfaaf51f3de90ebe75996eef01f3a2979b5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39075" y="2859088"/>
            <a:ext cx="2228850" cy="3619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299" name="Picture 14" descr="http://d.hiphotos.baidu.com/baike/s%3D202/sign=ac06fce274c6a7efbd26af26cffaafe9/314e251f95cad1c8ec91a51a7d3e6709c93d51e0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39075" y="3344863"/>
            <a:ext cx="1924050" cy="3714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300" name="Picture 15" descr="http://e.hiphotos.baidu.com/baike/s%3D202/sign=05ada7e274094b36df921ced91cc7c00/ca1349540923dd54624efe55d309b3de9c8248c9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39075" y="3922713"/>
            <a:ext cx="1924050" cy="3524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3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53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53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53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53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53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53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0" grpId="0"/>
      <p:bldP spid="53252" grpId="0"/>
      <p:bldP spid="53254" grpId="0"/>
      <p:bldP spid="5325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13" name="Group 9"/>
          <p:cNvGrpSpPr/>
          <p:nvPr/>
        </p:nvGrpSpPr>
        <p:grpSpPr>
          <a:xfrm>
            <a:off x="3735388" y="2420938"/>
            <a:ext cx="5278437" cy="3336925"/>
            <a:chOff x="1393" y="1525"/>
            <a:chExt cx="3325" cy="2102"/>
          </a:xfrm>
        </p:grpSpPr>
        <p:graphicFrame>
          <p:nvGraphicFramePr>
            <p:cNvPr id="13314" name="Object 2"/>
            <p:cNvGraphicFramePr>
              <a:graphicFrameLocks noChangeAspect="1"/>
            </p:cNvGraphicFramePr>
            <p:nvPr/>
          </p:nvGraphicFramePr>
          <p:xfrm>
            <a:off x="1393" y="1525"/>
            <a:ext cx="2337" cy="6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" name="" r:id="rId1" imgW="1409700" imgH="457200" progId="Equation.DSMT4">
                    <p:embed/>
                  </p:oleObj>
                </mc:Choice>
                <mc:Fallback>
                  <p:oleObj name="" r:id="rId1" imgW="1409700" imgH="457200" progId="Equation.DSMT4">
                    <p:embed/>
                    <p:pic>
                      <p:nvPicPr>
                        <p:cNvPr id="0" name="图片 3083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393" y="1525"/>
                          <a:ext cx="2337" cy="69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15" name="Object 3"/>
            <p:cNvGraphicFramePr>
              <a:graphicFrameLocks noChangeAspect="1"/>
            </p:cNvGraphicFramePr>
            <p:nvPr/>
          </p:nvGraphicFramePr>
          <p:xfrm>
            <a:off x="1948" y="2205"/>
            <a:ext cx="2770" cy="6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" name="" r:id="rId3" imgW="1676400" imgH="457200" progId="Equation.DSMT4">
                    <p:embed/>
                  </p:oleObj>
                </mc:Choice>
                <mc:Fallback>
                  <p:oleObj name="" r:id="rId3" imgW="1676400" imgH="457200" progId="Equation.DSMT4">
                    <p:embed/>
                    <p:pic>
                      <p:nvPicPr>
                        <p:cNvPr id="0" name="图片 3085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948" y="2205"/>
                          <a:ext cx="2770" cy="6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16" name="Object 4"/>
            <p:cNvGraphicFramePr>
              <a:graphicFrameLocks noChangeAspect="1"/>
            </p:cNvGraphicFramePr>
            <p:nvPr/>
          </p:nvGraphicFramePr>
          <p:xfrm>
            <a:off x="1983" y="2976"/>
            <a:ext cx="2519" cy="6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" name="" r:id="rId5" imgW="1485900" imgH="419100" progId="Equation.DSMT4">
                    <p:embed/>
                  </p:oleObj>
                </mc:Choice>
                <mc:Fallback>
                  <p:oleObj name="" r:id="rId5" imgW="1485900" imgH="419100" progId="Equation.DSMT4">
                    <p:embed/>
                    <p:pic>
                      <p:nvPicPr>
                        <p:cNvPr id="0" name="图片 3084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983" y="2976"/>
                          <a:ext cx="2519" cy="65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317" name="Group 10"/>
          <p:cNvGrpSpPr/>
          <p:nvPr/>
        </p:nvGrpSpPr>
        <p:grpSpPr>
          <a:xfrm>
            <a:off x="2208213" y="620713"/>
            <a:ext cx="5834062" cy="1746250"/>
            <a:chOff x="431" y="391"/>
            <a:chExt cx="3675" cy="1100"/>
          </a:xfrm>
        </p:grpSpPr>
        <p:graphicFrame>
          <p:nvGraphicFramePr>
            <p:cNvPr id="13318" name="Object 6"/>
            <p:cNvGraphicFramePr>
              <a:graphicFrameLocks noChangeAspect="1"/>
            </p:cNvGraphicFramePr>
            <p:nvPr/>
          </p:nvGraphicFramePr>
          <p:xfrm>
            <a:off x="2200" y="482"/>
            <a:ext cx="1906" cy="6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" name="" r:id="rId7" imgW="1193800" imgH="457200" progId="Equation.DSMT4">
                    <p:embed/>
                  </p:oleObj>
                </mc:Choice>
                <mc:Fallback>
                  <p:oleObj name="" r:id="rId7" imgW="1193800" imgH="457200" progId="Equation.DSMT4">
                    <p:embed/>
                    <p:pic>
                      <p:nvPicPr>
                        <p:cNvPr id="0" name="图片 3088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200" y="482"/>
                          <a:ext cx="1906" cy="66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19" name="Text Box 7"/>
            <p:cNvSpPr txBox="1"/>
            <p:nvPr/>
          </p:nvSpPr>
          <p:spPr>
            <a:xfrm>
              <a:off x="431" y="391"/>
              <a:ext cx="3312" cy="329"/>
            </a:xfrm>
            <a:prstGeom prst="rect">
              <a:avLst/>
            </a:prstGeom>
            <a:noFill/>
            <a:ln w="57150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例</a:t>
              </a:r>
              <a:r>
                <a:rPr lang="en-US" altLang="zh-CN" sz="2800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1. </a:t>
              </a:r>
              <a:r>
                <a:rPr lang="zh-CN" altLang="en-US" sz="2800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求函数</a:t>
              </a:r>
              <a:endPara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3320" name="Rectangle 8"/>
            <p:cNvSpPr/>
            <p:nvPr/>
          </p:nvSpPr>
          <p:spPr>
            <a:xfrm>
              <a:off x="748" y="1162"/>
              <a:ext cx="1905" cy="329"/>
            </a:xfrm>
            <a:prstGeom prst="rect">
              <a:avLst/>
            </a:prstGeom>
            <a:noFill/>
            <a:ln w="57150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的</a:t>
              </a:r>
              <a:r>
                <a:rPr lang="en-US" altLang="zh-CN" sz="2800" b="1" i="1" dirty="0">
                  <a:solidFill>
                    <a:srgbClr val="0000FF"/>
                  </a:solidFill>
                  <a:latin typeface="Times New Roman" panose="02020603050405020304" charset="0"/>
                  <a:ea typeface="黑体" panose="02010609060101010101" pitchFamily="49" charset="-122"/>
                </a:rPr>
                <a:t>Fourier</a:t>
              </a:r>
              <a:r>
                <a:rPr lang="zh-CN" altLang="en-US" sz="2800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变换。</a:t>
              </a:r>
              <a:endPara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37" name="Group 10"/>
          <p:cNvGrpSpPr/>
          <p:nvPr/>
        </p:nvGrpSpPr>
        <p:grpSpPr>
          <a:xfrm>
            <a:off x="2424113" y="765175"/>
            <a:ext cx="6575424" cy="1377950"/>
            <a:chOff x="567" y="618"/>
            <a:chExt cx="4142" cy="868"/>
          </a:xfrm>
        </p:grpSpPr>
        <p:graphicFrame>
          <p:nvGraphicFramePr>
            <p:cNvPr id="14338" name="Object 6"/>
            <p:cNvGraphicFramePr>
              <a:graphicFrameLocks noChangeAspect="1"/>
            </p:cNvGraphicFramePr>
            <p:nvPr/>
          </p:nvGraphicFramePr>
          <p:xfrm>
            <a:off x="1474" y="1071"/>
            <a:ext cx="1360" cy="4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" name="" r:id="rId1" imgW="685800" imgH="228600" progId="Equation.DSMT4">
                    <p:embed/>
                  </p:oleObj>
                </mc:Choice>
                <mc:Fallback>
                  <p:oleObj name="" r:id="rId1" imgW="685800" imgH="228600" progId="Equation.DSMT4">
                    <p:embed/>
                    <p:pic>
                      <p:nvPicPr>
                        <p:cNvPr id="0" name="图片 3092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474" y="1071"/>
                          <a:ext cx="1360" cy="41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39" name="Text Box 7"/>
            <p:cNvSpPr txBox="1"/>
            <p:nvPr/>
          </p:nvSpPr>
          <p:spPr>
            <a:xfrm>
              <a:off x="567" y="618"/>
              <a:ext cx="3584" cy="329"/>
            </a:xfrm>
            <a:prstGeom prst="rect">
              <a:avLst/>
            </a:prstGeom>
            <a:noFill/>
            <a:ln w="57150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例</a:t>
              </a:r>
              <a:r>
                <a:rPr lang="en-US" altLang="zh-CN" sz="2800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2. </a:t>
              </a:r>
              <a:r>
                <a:rPr lang="zh-CN" altLang="en-US" sz="2800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求函数</a:t>
              </a:r>
              <a:endPara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4340" name="Rectangle 8"/>
            <p:cNvSpPr/>
            <p:nvPr/>
          </p:nvSpPr>
          <p:spPr>
            <a:xfrm>
              <a:off x="2971" y="1117"/>
              <a:ext cx="1738" cy="329"/>
            </a:xfrm>
            <a:prstGeom prst="rect">
              <a:avLst/>
            </a:prstGeom>
            <a:noFill/>
            <a:ln w="57150">
              <a:noFill/>
            </a:ln>
          </p:spPr>
          <p:txBody>
            <a:bodyPr wrap="none"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的</a:t>
              </a:r>
              <a:r>
                <a:rPr lang="en-US" altLang="zh-CN" sz="2800" b="1" i="1" dirty="0">
                  <a:solidFill>
                    <a:srgbClr val="0000FF"/>
                  </a:solidFill>
                  <a:latin typeface="Times New Roman" panose="02020603050405020304" charset="0"/>
                  <a:ea typeface="黑体" panose="02010609060101010101" pitchFamily="49" charset="-122"/>
                </a:rPr>
                <a:t>Fourier</a:t>
              </a:r>
              <a:r>
                <a:rPr lang="zh-CN" altLang="en-US" sz="2800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变换。</a:t>
              </a:r>
              <a:endPara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14341" name="Group 11"/>
          <p:cNvGrpSpPr/>
          <p:nvPr/>
        </p:nvGrpSpPr>
        <p:grpSpPr>
          <a:xfrm>
            <a:off x="2566988" y="2205038"/>
            <a:ext cx="7489825" cy="4260850"/>
            <a:chOff x="657" y="1389"/>
            <a:chExt cx="4718" cy="2684"/>
          </a:xfrm>
        </p:grpSpPr>
        <p:graphicFrame>
          <p:nvGraphicFramePr>
            <p:cNvPr id="14342" name="Object 2"/>
            <p:cNvGraphicFramePr>
              <a:graphicFrameLocks noChangeAspect="1"/>
            </p:cNvGraphicFramePr>
            <p:nvPr/>
          </p:nvGraphicFramePr>
          <p:xfrm>
            <a:off x="703" y="1389"/>
            <a:ext cx="2427" cy="7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" name="" r:id="rId3" imgW="1308100" imgH="457200" progId="Equation.DSMT4">
                    <p:embed/>
                  </p:oleObj>
                </mc:Choice>
                <mc:Fallback>
                  <p:oleObj name="" r:id="rId3" imgW="1308100" imgH="457200" progId="Equation.DSMT4">
                    <p:embed/>
                    <p:pic>
                      <p:nvPicPr>
                        <p:cNvPr id="0" name="图片 3086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703" y="1389"/>
                          <a:ext cx="2427" cy="77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43" name="Object 3"/>
            <p:cNvGraphicFramePr>
              <a:graphicFrameLocks noChangeAspect="1"/>
            </p:cNvGraphicFramePr>
            <p:nvPr/>
          </p:nvGraphicFramePr>
          <p:xfrm>
            <a:off x="1338" y="2115"/>
            <a:ext cx="3085" cy="7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" name="" r:id="rId5" imgW="1752600" imgH="469900" progId="Equation.DSMT4">
                    <p:embed/>
                  </p:oleObj>
                </mc:Choice>
                <mc:Fallback>
                  <p:oleObj name="" r:id="rId5" imgW="1752600" imgH="469900" progId="Equation.DSMT4">
                    <p:embed/>
                    <p:pic>
                      <p:nvPicPr>
                        <p:cNvPr id="0" name="图片 3089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338" y="2115"/>
                          <a:ext cx="3085" cy="75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44" name="Object 4"/>
            <p:cNvGraphicFramePr>
              <a:graphicFrameLocks noChangeAspect="1"/>
            </p:cNvGraphicFramePr>
            <p:nvPr/>
          </p:nvGraphicFramePr>
          <p:xfrm>
            <a:off x="657" y="3430"/>
            <a:ext cx="4718" cy="6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" name="" r:id="rId7" imgW="2641600" imgH="393700" progId="Equation.DSMT4">
                    <p:embed/>
                  </p:oleObj>
                </mc:Choice>
                <mc:Fallback>
                  <p:oleObj name="" r:id="rId7" imgW="2641600" imgH="393700" progId="Equation.DSMT4">
                    <p:embed/>
                    <p:pic>
                      <p:nvPicPr>
                        <p:cNvPr id="0" name="图片 3090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657" y="3430"/>
                          <a:ext cx="4718" cy="64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45" name="Object 9"/>
            <p:cNvGraphicFramePr>
              <a:graphicFrameLocks noChangeAspect="1"/>
            </p:cNvGraphicFramePr>
            <p:nvPr/>
          </p:nvGraphicFramePr>
          <p:xfrm>
            <a:off x="1386" y="2814"/>
            <a:ext cx="3442" cy="6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" name="" r:id="rId9" imgW="2247900" imgH="393700" progId="Equation.DSMT4">
                    <p:embed/>
                  </p:oleObj>
                </mc:Choice>
                <mc:Fallback>
                  <p:oleObj name="" r:id="rId9" imgW="2247900" imgH="393700" progId="Equation.DSMT4">
                    <p:embed/>
                    <p:pic>
                      <p:nvPicPr>
                        <p:cNvPr id="0" name="图片 3091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386" y="2814"/>
                          <a:ext cx="3442" cy="60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AutoShape 21"/>
          <p:cNvSpPr/>
          <p:nvPr/>
        </p:nvSpPr>
        <p:spPr>
          <a:xfrm>
            <a:off x="7680325" y="4365625"/>
            <a:ext cx="2987675" cy="935038"/>
          </a:xfrm>
          <a:prstGeom prst="cloudCallout">
            <a:avLst>
              <a:gd name="adj1" fmla="val -36981"/>
              <a:gd name="adj2" fmla="val 60866"/>
            </a:avLst>
          </a:prstGeom>
          <a:solidFill>
            <a:srgbClr val="00FFFF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algn="ctr"/>
            <a:endParaRPr lang="zh-CN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362" name="Rectangle 2"/>
          <p:cNvSpPr/>
          <p:nvPr/>
        </p:nvSpPr>
        <p:spPr>
          <a:xfrm>
            <a:off x="1281113" y="638969"/>
            <a:ext cx="4149725" cy="583565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>
            <a:spAutoFit/>
          </a:bodyPr>
          <a:lstStyle/>
          <a:p>
            <a:r>
              <a:rPr lang="zh-CN" altLang="en-US" sz="32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</a:t>
            </a:r>
            <a:r>
              <a:rPr lang="en-US" altLang="zh-CN" sz="32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  <a:r>
              <a:rPr lang="en-US" altLang="zh-CN" sz="3200" b="1" i="1" dirty="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Fourier</a:t>
            </a:r>
            <a:r>
              <a:rPr lang="zh-CN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变换</a:t>
            </a:r>
            <a:r>
              <a:rPr lang="zh-CN" altLang="en-US" sz="32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性质</a:t>
            </a:r>
            <a:r>
              <a:rPr lang="en-US" altLang="zh-CN" sz="32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endParaRPr lang="en-US" altLang="zh-CN" sz="3200" b="1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5363" name="Object 4"/>
          <p:cNvGraphicFramePr>
            <a:graphicFrameLocks noChangeAspect="1"/>
          </p:cNvGraphicFramePr>
          <p:nvPr/>
        </p:nvGraphicFramePr>
        <p:xfrm>
          <a:off x="3359150" y="2114550"/>
          <a:ext cx="5761038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2197100" imgH="254000" progId="Equation.DSMT4">
                  <p:embed/>
                </p:oleObj>
              </mc:Choice>
              <mc:Fallback>
                <p:oleObj name="" r:id="rId1" imgW="2197100" imgH="254000" progId="Equation.DSMT4">
                  <p:embed/>
                  <p:pic>
                    <p:nvPicPr>
                      <p:cNvPr id="0" name="图片 310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359150" y="2114550"/>
                        <a:ext cx="5761038" cy="638175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4" name="Rectangle 5"/>
          <p:cNvSpPr/>
          <p:nvPr/>
        </p:nvSpPr>
        <p:spPr>
          <a:xfrm>
            <a:off x="2351088" y="1484313"/>
            <a:ext cx="5329237" cy="511175"/>
          </a:xfrm>
          <a:prstGeom prst="rect">
            <a:avLst/>
          </a:prstGeom>
          <a:solidFill>
            <a:srgbClr val="00FFFF"/>
          </a:solidFill>
          <a:ln w="9525">
            <a:noFill/>
          </a:ln>
          <a:effectLst>
            <a:outerShdw dist="107763" dir="2699999" algn="ctr" rotWithShape="0">
              <a:srgbClr val="808080">
                <a:alpha val="50000"/>
              </a:srgbClr>
            </a:outerShdw>
          </a:effectLst>
        </p:spPr>
        <p:txBody>
          <a:bodyPr anchor="t" anchorCtr="0"/>
          <a:lstStyle/>
          <a:p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线性性质</a:t>
            </a:r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en-US" altLang="zh-CN" sz="2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对于任意常数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2800" b="1" dirty="0">
                <a:latin typeface="Times New Roman" panose="02020603050405020304" charset="0"/>
                <a:ea typeface="宋体" panose="02010600030101010101" pitchFamily="2" charset="-122"/>
              </a:rPr>
              <a:t> </a:t>
            </a:r>
            <a:endParaRPr lang="zh-CN" altLang="en-US" sz="2800" b="1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aphicFrame>
        <p:nvGraphicFramePr>
          <p:cNvPr id="15365" name="Object 6"/>
          <p:cNvGraphicFramePr>
            <a:graphicFrameLocks noChangeAspect="1"/>
          </p:cNvGraphicFramePr>
          <p:nvPr/>
        </p:nvGraphicFramePr>
        <p:xfrm>
          <a:off x="6816725" y="1557338"/>
          <a:ext cx="720725" cy="3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698500" imgH="393700" progId="Equation.DSMT4">
                  <p:embed/>
                </p:oleObj>
              </mc:Choice>
              <mc:Fallback>
                <p:oleObj name="" r:id="rId3" imgW="698500" imgH="393700" progId="Equation.DSMT4">
                  <p:embed/>
                  <p:pic>
                    <p:nvPicPr>
                      <p:cNvPr id="0" name="图片 310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816725" y="1557338"/>
                        <a:ext cx="720725" cy="388937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3" name="Rectangle 7"/>
          <p:cNvSpPr/>
          <p:nvPr/>
        </p:nvSpPr>
        <p:spPr>
          <a:xfrm>
            <a:off x="2424113" y="3787934"/>
            <a:ext cx="2418715" cy="521970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>
            <a:spAutoFit/>
          </a:bodyPr>
          <a:lstStyle/>
          <a:p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微分性质：</a:t>
            </a:r>
            <a:r>
              <a:rPr lang="zh-CN" altLang="en-US" sz="2800" b="1" dirty="0">
                <a:latin typeface="Times New Roman" panose="02020603050405020304" charset="0"/>
                <a:ea typeface="宋体" panose="02010600030101010101" pitchFamily="2" charset="-122"/>
              </a:rPr>
              <a:t> </a:t>
            </a:r>
            <a:endParaRPr lang="zh-CN" altLang="en-US" sz="2800" b="1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aphicFrame>
        <p:nvGraphicFramePr>
          <p:cNvPr id="9224" name="Object 8"/>
          <p:cNvGraphicFramePr>
            <a:graphicFrameLocks noChangeAspect="1"/>
          </p:cNvGraphicFramePr>
          <p:nvPr/>
        </p:nvGraphicFramePr>
        <p:xfrm>
          <a:off x="3216275" y="4508500"/>
          <a:ext cx="4262438" cy="69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5" imgW="1524000" imgH="254000" progId="Equation.DSMT4">
                  <p:embed/>
                </p:oleObj>
              </mc:Choice>
              <mc:Fallback>
                <p:oleObj name="" r:id="rId5" imgW="1524000" imgH="254000" progId="Equation.DSMT4">
                  <p:embed/>
                  <p:pic>
                    <p:nvPicPr>
                      <p:cNvPr id="0" name="图片 310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216275" y="4508500"/>
                        <a:ext cx="4262438" cy="693738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229" name="Group 13"/>
          <p:cNvGrpSpPr/>
          <p:nvPr/>
        </p:nvGrpSpPr>
        <p:grpSpPr>
          <a:xfrm>
            <a:off x="2566988" y="5445125"/>
            <a:ext cx="5473700" cy="719138"/>
            <a:chOff x="1156" y="3158"/>
            <a:chExt cx="3256" cy="427"/>
          </a:xfrm>
        </p:grpSpPr>
        <p:sp>
          <p:nvSpPr>
            <p:cNvPr id="15369" name="AutoShape 10"/>
            <p:cNvSpPr/>
            <p:nvPr/>
          </p:nvSpPr>
          <p:spPr>
            <a:xfrm>
              <a:off x="1156" y="3294"/>
              <a:ext cx="273" cy="91"/>
            </a:xfrm>
            <a:prstGeom prst="rightArrow">
              <a:avLst>
                <a:gd name="adj1" fmla="val 50000"/>
                <a:gd name="adj2" fmla="val 75000"/>
              </a:avLst>
            </a:prstGeom>
            <a:solidFill>
              <a:srgbClr val="00FFFF"/>
            </a:solidFill>
            <a:ln w="9525">
              <a:noFill/>
            </a:ln>
            <a:effectLst>
              <a:outerShdw dist="107763" dir="2699999" algn="ctr" rotWithShape="0">
                <a:srgbClr val="808080">
                  <a:alpha val="50000"/>
                </a:srgbClr>
              </a:outerShdw>
            </a:effectLst>
          </p:spPr>
          <p:txBody>
            <a:bodyPr anchor="t" anchorCtr="0"/>
            <a:lstStyle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15370" name="Object 11"/>
            <p:cNvGraphicFramePr>
              <a:graphicFrameLocks noChangeAspect="1"/>
            </p:cNvGraphicFramePr>
            <p:nvPr/>
          </p:nvGraphicFramePr>
          <p:xfrm>
            <a:off x="1533" y="3158"/>
            <a:ext cx="2879" cy="4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" name="" r:id="rId7" imgW="1841500" imgH="279400" progId="Equation.DSMT4">
                    <p:embed/>
                  </p:oleObj>
                </mc:Choice>
                <mc:Fallback>
                  <p:oleObj name="" r:id="rId7" imgW="1841500" imgH="279400" progId="Equation.DSMT4">
                    <p:embed/>
                    <p:pic>
                      <p:nvPicPr>
                        <p:cNvPr id="0" name="图片 3102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533" y="3158"/>
                          <a:ext cx="2879" cy="427"/>
                        </a:xfrm>
                        <a:prstGeom prst="rect">
                          <a:avLst/>
                        </a:prstGeom>
                        <a:solidFill>
                          <a:srgbClr val="00FFFF"/>
                        </a:solidFill>
                        <a:ln w="38100">
                          <a:noFill/>
                          <a:miter/>
                        </a:ln>
                        <a:effectLst>
                          <a:outerShdw dist="107763" dir="2699999" algn="ctr" rotWithShape="0">
                            <a:srgbClr val="808080">
                              <a:alpha val="50000"/>
                            </a:srgbClr>
                          </a:outer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371" name="AutoShape 14"/>
          <p:cNvSpPr/>
          <p:nvPr/>
        </p:nvSpPr>
        <p:spPr>
          <a:xfrm>
            <a:off x="7175500" y="3644900"/>
            <a:ext cx="1657350" cy="576263"/>
          </a:xfrm>
          <a:prstGeom prst="borderCallout2">
            <a:avLst>
              <a:gd name="adj1" fmla="val 19833"/>
              <a:gd name="adj2" fmla="val -4597"/>
              <a:gd name="adj3" fmla="val 19833"/>
              <a:gd name="adj4" fmla="val -46361"/>
              <a:gd name="adj5" fmla="val 160056"/>
              <a:gd name="adj6" fmla="val -89657"/>
            </a:avLst>
          </a:prstGeom>
          <a:solidFill>
            <a:schemeClr val="accent1"/>
          </a:solidFill>
          <a:ln w="25400" cap="flat" cmpd="sng">
            <a:solidFill>
              <a:srgbClr val="FF0000"/>
            </a:solidFill>
            <a:prstDash val="solid"/>
            <a:miter/>
            <a:headEnd type="none" w="med" len="med"/>
            <a:tailEnd type="oval" w="med" len="med"/>
          </a:ln>
        </p:spPr>
        <p:txBody>
          <a:bodyPr anchor="t" anchorCtr="0"/>
          <a:lstStyle/>
          <a:p>
            <a:pPr algn="ctr"/>
            <a:endParaRPr lang="zh-CN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5372" name="Object 15"/>
          <p:cNvGraphicFramePr>
            <a:graphicFrameLocks noChangeAspect="1"/>
          </p:cNvGraphicFramePr>
          <p:nvPr/>
        </p:nvGraphicFramePr>
        <p:xfrm>
          <a:off x="7104063" y="3644900"/>
          <a:ext cx="1728787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9" imgW="787400" imgH="279400" progId="Equation.DSMT4">
                  <p:embed/>
                </p:oleObj>
              </mc:Choice>
              <mc:Fallback>
                <p:oleObj name="" r:id="rId9" imgW="787400" imgH="279400" progId="Equation.DSMT4">
                  <p:embed/>
                  <p:pic>
                    <p:nvPicPr>
                      <p:cNvPr id="0" name="图片 310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104063" y="3644900"/>
                        <a:ext cx="1728787" cy="587375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2" name="Object 16"/>
          <p:cNvGraphicFramePr>
            <a:graphicFrameLocks noChangeAspect="1"/>
          </p:cNvGraphicFramePr>
          <p:nvPr/>
        </p:nvGraphicFramePr>
        <p:xfrm>
          <a:off x="3359150" y="2924175"/>
          <a:ext cx="6902450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11" imgW="2768600" imgH="254000" progId="Equation.DSMT4">
                  <p:embed/>
                </p:oleObj>
              </mc:Choice>
              <mc:Fallback>
                <p:oleObj name="" r:id="rId11" imgW="2768600" imgH="254000" progId="Equation.DSMT4">
                  <p:embed/>
                  <p:pic>
                    <p:nvPicPr>
                      <p:cNvPr id="0" name="图片 3103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359150" y="2924175"/>
                        <a:ext cx="6902450" cy="577850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34" name="Text Box 18"/>
          <p:cNvSpPr txBox="1"/>
          <p:nvPr/>
        </p:nvSpPr>
        <p:spPr>
          <a:xfrm>
            <a:off x="8183563" y="4437063"/>
            <a:ext cx="2233612" cy="82994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rPr>
              <a:t>偏微分方程变常微分方程</a:t>
            </a:r>
            <a:endParaRPr lang="zh-CN" altLang="en-US" sz="2400" b="1" dirty="0">
              <a:solidFill>
                <a:schemeClr val="tx2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3" grpId="0"/>
      <p:bldP spid="923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5"/>
          <p:cNvSpPr/>
          <p:nvPr/>
        </p:nvSpPr>
        <p:spPr>
          <a:xfrm>
            <a:off x="1524000" y="2901950"/>
            <a:ext cx="309880" cy="368300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>
            <a:spAutoFit/>
          </a:bodyPr>
          <a:lstStyle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386" name="Rectangle 7"/>
          <p:cNvSpPr/>
          <p:nvPr/>
        </p:nvSpPr>
        <p:spPr>
          <a:xfrm>
            <a:off x="2495550" y="906621"/>
            <a:ext cx="2418715" cy="521970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>
            <a:spAutoFit/>
          </a:bodyPr>
          <a:lstStyle/>
          <a:p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位移性质</a:t>
            </a:r>
            <a:r>
              <a:rPr lang="zh-CN" altLang="en-US" sz="2800" b="1" dirty="0">
                <a:latin typeface="Times New Roman" panose="02020603050405020304" charset="0"/>
                <a:ea typeface="宋体" panose="02010600030101010101" pitchFamily="2" charset="-122"/>
              </a:rPr>
              <a:t> 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endParaRPr lang="zh-CN" altLang="en-US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6387" name="Object 8"/>
          <p:cNvGraphicFramePr/>
          <p:nvPr/>
        </p:nvGraphicFramePr>
        <p:xfrm>
          <a:off x="4800600" y="3213100"/>
          <a:ext cx="4248150" cy="1157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1435100" imgH="469900" progId="Equation.DSMT4">
                  <p:embed/>
                </p:oleObj>
              </mc:Choice>
              <mc:Fallback>
                <p:oleObj name="" r:id="rId1" imgW="1435100" imgH="469900" progId="Equation.DSMT4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800600" y="3213100"/>
                        <a:ext cx="4248150" cy="1157288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8" name="Rectangle 11"/>
          <p:cNvSpPr/>
          <p:nvPr/>
        </p:nvSpPr>
        <p:spPr>
          <a:xfrm>
            <a:off x="2566988" y="2924175"/>
            <a:ext cx="2305050" cy="521970"/>
          </a:xfrm>
          <a:prstGeom prst="rect">
            <a:avLst/>
          </a:prstGeom>
          <a:noFill/>
          <a:ln w="25400">
            <a:noFill/>
          </a:ln>
        </p:spPr>
        <p:txBody>
          <a:bodyPr anchor="t" anchorCtr="0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4.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相似性质：</a:t>
            </a:r>
            <a:endParaRPr lang="zh-CN" altLang="en-US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6389" name="Object 12"/>
          <p:cNvGraphicFramePr>
            <a:graphicFrameLocks noChangeAspect="1"/>
          </p:cNvGraphicFramePr>
          <p:nvPr/>
        </p:nvGraphicFramePr>
        <p:xfrm>
          <a:off x="4727575" y="1341438"/>
          <a:ext cx="4970463" cy="1289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1790700" imgH="546100" progId="Equation.DSMT4">
                  <p:embed/>
                </p:oleObj>
              </mc:Choice>
              <mc:Fallback>
                <p:oleObj name="" r:id="rId3" imgW="1790700" imgH="5461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27575" y="1341438"/>
                        <a:ext cx="4970463" cy="1289050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80" name="Rectangle 16"/>
          <p:cNvSpPr/>
          <p:nvPr/>
        </p:nvSpPr>
        <p:spPr>
          <a:xfrm>
            <a:off x="2640013" y="4724400"/>
            <a:ext cx="2329815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marL="457200" indent="-457200">
              <a:spcBef>
                <a:spcPct val="20000"/>
              </a:spcBef>
            </a:pPr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积分性质：</a:t>
            </a:r>
            <a:endParaRPr lang="zh-CN" altLang="en-US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1281" name="Object 17"/>
          <p:cNvGraphicFramePr>
            <a:graphicFrameLocks noChangeAspect="1"/>
          </p:cNvGraphicFramePr>
          <p:nvPr/>
        </p:nvGraphicFramePr>
        <p:xfrm>
          <a:off x="4760913" y="4997450"/>
          <a:ext cx="4325937" cy="1254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5" imgW="1485900" imgH="469900" progId="Equation.DSMT4">
                  <p:embed/>
                </p:oleObj>
              </mc:Choice>
              <mc:Fallback>
                <p:oleObj name="" r:id="rId5" imgW="1485900" imgH="469900" progId="Equation.DSMT4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760913" y="4997450"/>
                        <a:ext cx="4325937" cy="1254125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8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3"/>
          <p:cNvSpPr/>
          <p:nvPr/>
        </p:nvSpPr>
        <p:spPr>
          <a:xfrm>
            <a:off x="2424113" y="547846"/>
            <a:ext cx="5906770" cy="521970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>
            <a:spAutoFit/>
          </a:bodyPr>
          <a:lstStyle/>
          <a:p>
            <a:pPr defTabSz="914400">
              <a:tabLst>
                <a:tab pos="266700" algn="l"/>
              </a:tabLst>
            </a:pPr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6.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导数性质</a:t>
            </a:r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对傅立叶变换求导数</a:t>
            </a:r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endParaRPr lang="zh-CN" altLang="en-US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0244" name="Object 4"/>
          <p:cNvGraphicFramePr>
            <a:graphicFrameLocks noChangeAspect="1"/>
          </p:cNvGraphicFramePr>
          <p:nvPr/>
        </p:nvGraphicFramePr>
        <p:xfrm>
          <a:off x="4008438" y="1125538"/>
          <a:ext cx="3608387" cy="931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1562100" imgH="406400" progId="Equation.DSMT4">
                  <p:embed/>
                </p:oleObj>
              </mc:Choice>
              <mc:Fallback>
                <p:oleObj name="" r:id="rId1" imgW="1562100" imgH="406400" progId="Equation.DSMT4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008438" y="1125538"/>
                        <a:ext cx="3608387" cy="931862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253" name="Group 13"/>
          <p:cNvGrpSpPr/>
          <p:nvPr/>
        </p:nvGrpSpPr>
        <p:grpSpPr>
          <a:xfrm>
            <a:off x="2711450" y="2133600"/>
            <a:ext cx="5616575" cy="1079500"/>
            <a:chOff x="703" y="1616"/>
            <a:chExt cx="3438" cy="607"/>
          </a:xfrm>
        </p:grpSpPr>
        <p:sp>
          <p:nvSpPr>
            <p:cNvPr id="17412" name="AutoShape 6"/>
            <p:cNvSpPr/>
            <p:nvPr/>
          </p:nvSpPr>
          <p:spPr>
            <a:xfrm>
              <a:off x="703" y="1888"/>
              <a:ext cx="363" cy="90"/>
            </a:xfrm>
            <a:prstGeom prst="rightArrow">
              <a:avLst>
                <a:gd name="adj1" fmla="val 50000"/>
                <a:gd name="adj2" fmla="val 100814"/>
              </a:avLst>
            </a:prstGeom>
            <a:solidFill>
              <a:srgbClr val="00FFFF"/>
            </a:solidFill>
            <a:ln w="9525">
              <a:noFill/>
            </a:ln>
            <a:effectLst>
              <a:outerShdw dist="107763" dir="2699999" algn="ctr" rotWithShape="0">
                <a:srgbClr val="808080">
                  <a:alpha val="50000"/>
                </a:srgbClr>
              </a:outerShdw>
            </a:effectLst>
          </p:spPr>
          <p:txBody>
            <a:bodyPr anchor="t" anchorCtr="0"/>
            <a:lstStyle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17413" name="Object 7"/>
            <p:cNvGraphicFramePr>
              <a:graphicFrameLocks noChangeAspect="1"/>
            </p:cNvGraphicFramePr>
            <p:nvPr/>
          </p:nvGraphicFramePr>
          <p:xfrm>
            <a:off x="1484" y="1616"/>
            <a:ext cx="2657" cy="6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" name="" r:id="rId3" imgW="1816100" imgH="419100" progId="Equation.DSMT4">
                    <p:embed/>
                  </p:oleObj>
                </mc:Choice>
                <mc:Fallback>
                  <p:oleObj name="" r:id="rId3" imgW="1816100" imgH="419100" progId="Equation.DSMT4">
                    <p:embed/>
                    <p:pic>
                      <p:nvPicPr>
                        <p:cNvPr id="0" name="图片 3077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484" y="1616"/>
                          <a:ext cx="2657" cy="607"/>
                        </a:xfrm>
                        <a:prstGeom prst="rect">
                          <a:avLst/>
                        </a:prstGeom>
                        <a:solidFill>
                          <a:srgbClr val="00FFFF"/>
                        </a:solidFill>
                        <a:ln w="38100">
                          <a:noFill/>
                          <a:miter/>
                        </a:ln>
                        <a:effectLst>
                          <a:outerShdw dist="107763" dir="2699999" algn="ctr" rotWithShape="0">
                            <a:srgbClr val="808080">
                              <a:alpha val="50000"/>
                            </a:srgbClr>
                          </a:outer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414" name="Rectangle 8"/>
          <p:cNvSpPr/>
          <p:nvPr/>
        </p:nvSpPr>
        <p:spPr>
          <a:xfrm>
            <a:off x="1524000" y="2287588"/>
            <a:ext cx="309880" cy="368300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>
            <a:spAutoFit/>
          </a:bodyPr>
          <a:lstStyle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415" name="Rectangle 10"/>
          <p:cNvSpPr/>
          <p:nvPr/>
        </p:nvSpPr>
        <p:spPr>
          <a:xfrm>
            <a:off x="2566988" y="3356134"/>
            <a:ext cx="2305050" cy="521970"/>
          </a:xfrm>
          <a:prstGeom prst="rect">
            <a:avLst/>
          </a:prstGeom>
          <a:noFill/>
          <a:ln w="25400">
            <a:noFill/>
          </a:ln>
        </p:spPr>
        <p:txBody>
          <a:bodyPr anchor="ctr" anchorCtr="0">
            <a:spAutoFit/>
          </a:bodyPr>
          <a:lstStyle/>
          <a:p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7.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卷积性质：    </a:t>
            </a:r>
            <a:r>
              <a:rPr lang="zh-CN" altLang="en-US" sz="2800" b="1" dirty="0">
                <a:latin typeface="Times New Roman" panose="02020603050405020304" charset="0"/>
                <a:ea typeface="宋体" panose="02010600030101010101" pitchFamily="2" charset="-122"/>
              </a:rPr>
              <a:t> </a:t>
            </a:r>
            <a:endParaRPr lang="zh-CN" altLang="en-US" sz="2800" b="1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aphicFrame>
        <p:nvGraphicFramePr>
          <p:cNvPr id="17416" name="Object 11"/>
          <p:cNvGraphicFramePr/>
          <p:nvPr/>
        </p:nvGraphicFramePr>
        <p:xfrm>
          <a:off x="2640013" y="3860800"/>
          <a:ext cx="723265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5" imgW="3429000" imgH="469900" progId="Equation.DSMT4">
                  <p:embed/>
                </p:oleObj>
              </mc:Choice>
              <mc:Fallback>
                <p:oleObj name="" r:id="rId5" imgW="3429000" imgH="469900" progId="Equation.DSMT4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640013" y="3860800"/>
                        <a:ext cx="7232650" cy="1079500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2" name="Object 12"/>
          <p:cNvGraphicFramePr>
            <a:graphicFrameLocks noChangeAspect="1"/>
          </p:cNvGraphicFramePr>
          <p:nvPr/>
        </p:nvGraphicFramePr>
        <p:xfrm>
          <a:off x="3648075" y="5013325"/>
          <a:ext cx="4505325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7" imgW="1854200" imgH="254000" progId="Equation.DSMT4">
                  <p:embed/>
                </p:oleObj>
              </mc:Choice>
              <mc:Fallback>
                <p:oleObj name="" r:id="rId7" imgW="1854200" imgH="254000" progId="Equation.DSMT4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648075" y="5013325"/>
                        <a:ext cx="4505325" cy="606425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8" name="Object 15"/>
          <p:cNvGraphicFramePr>
            <a:graphicFrameLocks noChangeAspect="1"/>
          </p:cNvGraphicFramePr>
          <p:nvPr/>
        </p:nvGraphicFramePr>
        <p:xfrm>
          <a:off x="4008438" y="5734050"/>
          <a:ext cx="4032250" cy="655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9" imgW="1689100" imgH="279400" progId="Equation.DSMT4">
                  <p:embed/>
                </p:oleObj>
              </mc:Choice>
              <mc:Fallback>
                <p:oleObj name="" r:id="rId9" imgW="1689100" imgH="279400" progId="Equation.DSMT4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008438" y="5734050"/>
                        <a:ext cx="4032250" cy="655638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/>
          <p:nvPr/>
        </p:nvSpPr>
        <p:spPr>
          <a:xfrm>
            <a:off x="1992313" y="620713"/>
            <a:ext cx="3887787" cy="52197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marL="457200" indent="-457200">
              <a:spcBef>
                <a:spcPct val="20000"/>
              </a:spcBef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(1)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卷积定义与运算</a:t>
            </a:r>
            <a:endParaRPr lang="zh-CN" altLang="en-US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2467" name="Text Box 3"/>
          <p:cNvSpPr txBox="1"/>
          <p:nvPr/>
        </p:nvSpPr>
        <p:spPr>
          <a:xfrm>
            <a:off x="2640013" y="1524000"/>
            <a:ext cx="4679950" cy="52197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如果对于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charset="0"/>
                <a:ea typeface="黑体" panose="02010609060101010101" pitchFamily="49" charset="-122"/>
              </a:rPr>
              <a:t>f(x)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en-US" altLang="zh-CN" sz="2800" b="1" i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g(x),</a:t>
            </a:r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使得</a:t>
            </a:r>
            <a:endParaRPr lang="zh-CN" altLang="en-US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62468" name="Object 4"/>
          <p:cNvGraphicFramePr>
            <a:graphicFrameLocks noChangeAspect="1"/>
          </p:cNvGraphicFramePr>
          <p:nvPr/>
        </p:nvGraphicFramePr>
        <p:xfrm>
          <a:off x="6600825" y="1196975"/>
          <a:ext cx="2805113" cy="1133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1117600" imgH="457200" progId="Equation.DSMT4">
                  <p:embed/>
                </p:oleObj>
              </mc:Choice>
              <mc:Fallback>
                <p:oleObj name="" r:id="rId1" imgW="1117600" imgH="457200" progId="Equation.DSMT4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600825" y="1196975"/>
                        <a:ext cx="2805113" cy="1133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69" name="Text Box 5"/>
          <p:cNvSpPr txBox="1"/>
          <p:nvPr/>
        </p:nvSpPr>
        <p:spPr>
          <a:xfrm>
            <a:off x="2063750" y="2349500"/>
            <a:ext cx="5797550" cy="52197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存在，则定义</a:t>
            </a:r>
            <a:r>
              <a:rPr lang="en-US" altLang="zh-CN" sz="2800" b="1" i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f(x)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en-US" altLang="zh-CN" sz="2800" b="1" i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g(x)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的卷积为</a:t>
            </a:r>
            <a:endParaRPr lang="zh-CN" altLang="en-US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8437" name="Group 10"/>
          <p:cNvGrpSpPr/>
          <p:nvPr/>
        </p:nvGrpSpPr>
        <p:grpSpPr>
          <a:xfrm>
            <a:off x="3575050" y="2924175"/>
            <a:ext cx="4673600" cy="3241675"/>
            <a:chOff x="1292" y="1842"/>
            <a:chExt cx="2944" cy="2042"/>
          </a:xfrm>
        </p:grpSpPr>
        <p:graphicFrame>
          <p:nvGraphicFramePr>
            <p:cNvPr id="18438" name="Object 6"/>
            <p:cNvGraphicFramePr>
              <a:graphicFrameLocks noChangeAspect="1"/>
            </p:cNvGraphicFramePr>
            <p:nvPr/>
          </p:nvGraphicFramePr>
          <p:xfrm>
            <a:off x="1338" y="2614"/>
            <a:ext cx="1406" cy="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" name="" r:id="rId3" imgW="825500" imgH="203200" progId="Equation.DSMT4">
                    <p:embed/>
                  </p:oleObj>
                </mc:Choice>
                <mc:Fallback>
                  <p:oleObj name="" r:id="rId3" imgW="825500" imgH="203200" progId="Equation.DSMT4">
                    <p:embed/>
                    <p:pic>
                      <p:nvPicPr>
                        <p:cNvPr id="0" name="图片 3086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338" y="2614"/>
                          <a:ext cx="1406" cy="318"/>
                        </a:xfrm>
                        <a:prstGeom prst="rect">
                          <a:avLst/>
                        </a:prstGeom>
                        <a:solidFill>
                          <a:srgbClr val="00FFFF"/>
                        </a:solidFill>
                        <a:ln w="38100">
                          <a:noFill/>
                          <a:miter/>
                        </a:ln>
                        <a:effectLst>
                          <a:outerShdw dist="107763" dir="2699999" algn="ctr" rotWithShape="0">
                            <a:srgbClr val="808080">
                              <a:alpha val="50000"/>
                            </a:srgbClr>
                          </a:outer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39" name="Object 7"/>
            <p:cNvGraphicFramePr>
              <a:graphicFrameLocks noChangeAspect="1"/>
            </p:cNvGraphicFramePr>
            <p:nvPr/>
          </p:nvGraphicFramePr>
          <p:xfrm>
            <a:off x="1292" y="3113"/>
            <a:ext cx="2423" cy="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" name="" r:id="rId5" imgW="1422400" imgH="203200" progId="Equation.DSMT4">
                    <p:embed/>
                  </p:oleObj>
                </mc:Choice>
                <mc:Fallback>
                  <p:oleObj name="" r:id="rId5" imgW="1422400" imgH="203200" progId="Equation.DSMT4">
                    <p:embed/>
                    <p:pic>
                      <p:nvPicPr>
                        <p:cNvPr id="0" name="图片 3081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292" y="3113"/>
                          <a:ext cx="2423" cy="318"/>
                        </a:xfrm>
                        <a:prstGeom prst="rect">
                          <a:avLst/>
                        </a:prstGeom>
                        <a:solidFill>
                          <a:srgbClr val="00FFFF"/>
                        </a:solidFill>
                        <a:ln w="38100">
                          <a:noFill/>
                          <a:miter/>
                        </a:ln>
                        <a:effectLst>
                          <a:outerShdw dist="107763" dir="2699999" algn="ctr" rotWithShape="0">
                            <a:srgbClr val="808080">
                              <a:alpha val="50000"/>
                            </a:srgbClr>
                          </a:outer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40" name="Object 8"/>
            <p:cNvGraphicFramePr>
              <a:graphicFrameLocks noChangeAspect="1"/>
            </p:cNvGraphicFramePr>
            <p:nvPr/>
          </p:nvGraphicFramePr>
          <p:xfrm>
            <a:off x="1292" y="3566"/>
            <a:ext cx="2683" cy="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" name="" r:id="rId7" imgW="1574800" imgH="203200" progId="Equation.DSMT4">
                    <p:embed/>
                  </p:oleObj>
                </mc:Choice>
                <mc:Fallback>
                  <p:oleObj name="" r:id="rId7" imgW="1574800" imgH="203200" progId="Equation.DSMT4">
                    <p:embed/>
                    <p:pic>
                      <p:nvPicPr>
                        <p:cNvPr id="0" name="图片 3083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292" y="3566"/>
                          <a:ext cx="2683" cy="318"/>
                        </a:xfrm>
                        <a:prstGeom prst="rect">
                          <a:avLst/>
                        </a:prstGeom>
                        <a:solidFill>
                          <a:srgbClr val="00FFFF"/>
                        </a:solidFill>
                        <a:ln w="38100">
                          <a:noFill/>
                          <a:miter/>
                        </a:ln>
                        <a:effectLst>
                          <a:outerShdw dist="107763" dir="2699999" algn="ctr" rotWithShape="0">
                            <a:srgbClr val="808080">
                              <a:alpha val="50000"/>
                            </a:srgbClr>
                          </a:outer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41" name="Object 9"/>
            <p:cNvGraphicFramePr>
              <a:graphicFrameLocks noChangeAspect="1"/>
            </p:cNvGraphicFramePr>
            <p:nvPr/>
          </p:nvGraphicFramePr>
          <p:xfrm>
            <a:off x="1338" y="1842"/>
            <a:ext cx="2898" cy="7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" name="" r:id="rId9" imgW="1701800" imgH="457200" progId="Equation.DSMT4">
                    <p:embed/>
                  </p:oleObj>
                </mc:Choice>
                <mc:Fallback>
                  <p:oleObj name="" r:id="rId9" imgW="1701800" imgH="457200" progId="Equation.DSMT4">
                    <p:embed/>
                    <p:pic>
                      <p:nvPicPr>
                        <p:cNvPr id="0" name="图片 3084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338" y="1842"/>
                          <a:ext cx="2898" cy="714"/>
                        </a:xfrm>
                        <a:prstGeom prst="rect">
                          <a:avLst/>
                        </a:prstGeom>
                        <a:solidFill>
                          <a:srgbClr val="00FFFF"/>
                        </a:solidFill>
                        <a:ln w="38100">
                          <a:noFill/>
                          <a:miter/>
                        </a:ln>
                        <a:effectLst>
                          <a:outerShdw dist="107763" dir="2699999" algn="ctr" rotWithShape="0">
                            <a:srgbClr val="808080">
                              <a:alpha val="50000"/>
                            </a:srgbClr>
                          </a:outer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2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62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62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62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66" grpId="0"/>
      <p:bldP spid="62467" grpId="0"/>
      <p:bldP spid="6246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490" name="Object 2"/>
          <p:cNvGraphicFramePr>
            <a:graphicFrameLocks noChangeAspect="1"/>
          </p:cNvGraphicFramePr>
          <p:nvPr/>
        </p:nvGraphicFramePr>
        <p:xfrm>
          <a:off x="2506663" y="762000"/>
          <a:ext cx="4943475" cy="871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2374900" imgH="457200" progId="Equation.DSMT4">
                  <p:embed/>
                </p:oleObj>
              </mc:Choice>
              <mc:Fallback>
                <p:oleObj name="" r:id="rId1" imgW="2374900" imgH="457200" progId="Equation.DSMT4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06663" y="762000"/>
                        <a:ext cx="4943475" cy="8715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91" name="Object 3"/>
          <p:cNvGraphicFramePr>
            <a:graphicFrameLocks noChangeAspect="1"/>
          </p:cNvGraphicFramePr>
          <p:nvPr/>
        </p:nvGraphicFramePr>
        <p:xfrm>
          <a:off x="4178300" y="1676400"/>
          <a:ext cx="3832225" cy="871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1841500" imgH="457200" progId="Equation.DSMT4">
                  <p:embed/>
                </p:oleObj>
              </mc:Choice>
              <mc:Fallback>
                <p:oleObj name="" r:id="rId3" imgW="1841500" imgH="457200" progId="Equation.DSMT4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78300" y="1676400"/>
                        <a:ext cx="3832225" cy="8715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92" name="Object 4"/>
          <p:cNvGraphicFramePr>
            <a:graphicFrameLocks noChangeAspect="1"/>
          </p:cNvGraphicFramePr>
          <p:nvPr/>
        </p:nvGraphicFramePr>
        <p:xfrm>
          <a:off x="4178300" y="2514600"/>
          <a:ext cx="3727450" cy="871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5" imgW="1790700" imgH="457200" progId="Equation.DSMT4">
                  <p:embed/>
                </p:oleObj>
              </mc:Choice>
              <mc:Fallback>
                <p:oleObj name="" r:id="rId5" imgW="1790700" imgH="457200" progId="Equation.DSMT4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178300" y="2514600"/>
                        <a:ext cx="3727450" cy="8715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93" name="Object 5"/>
          <p:cNvGraphicFramePr>
            <a:graphicFrameLocks noChangeAspect="1"/>
          </p:cNvGraphicFramePr>
          <p:nvPr/>
        </p:nvGraphicFramePr>
        <p:xfrm>
          <a:off x="4254500" y="3352800"/>
          <a:ext cx="3727450" cy="871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7" imgW="1790700" imgH="457200" progId="Equation.DSMT4">
                  <p:embed/>
                </p:oleObj>
              </mc:Choice>
              <mc:Fallback>
                <p:oleObj name="" r:id="rId7" imgW="1790700" imgH="457200" progId="Equation.DSMT4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254500" y="3352800"/>
                        <a:ext cx="3727450" cy="8715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94" name="Object 6"/>
          <p:cNvGraphicFramePr>
            <a:graphicFrameLocks noChangeAspect="1"/>
          </p:cNvGraphicFramePr>
          <p:nvPr/>
        </p:nvGraphicFramePr>
        <p:xfrm>
          <a:off x="4254500" y="4267200"/>
          <a:ext cx="3911600" cy="871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9" imgW="1879600" imgH="457200" progId="Equation.DSMT4">
                  <p:embed/>
                </p:oleObj>
              </mc:Choice>
              <mc:Fallback>
                <p:oleObj name="" r:id="rId9" imgW="1879600" imgH="457200" progId="Equation.DSMT4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254500" y="4267200"/>
                        <a:ext cx="3911600" cy="8715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95" name="Object 7"/>
          <p:cNvGraphicFramePr>
            <a:graphicFrameLocks noChangeAspect="1"/>
          </p:cNvGraphicFramePr>
          <p:nvPr/>
        </p:nvGraphicFramePr>
        <p:xfrm>
          <a:off x="4295775" y="5373688"/>
          <a:ext cx="1851025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11" imgW="888365" imgH="203200" progId="Equation.DSMT4">
                  <p:embed/>
                </p:oleObj>
              </mc:Choice>
              <mc:Fallback>
                <p:oleObj name="" r:id="rId11" imgW="888365" imgH="203200" progId="Equation.DSMT4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295775" y="5373688"/>
                        <a:ext cx="1851025" cy="387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3" name="Text Box 8"/>
          <p:cNvSpPr txBox="1"/>
          <p:nvPr/>
        </p:nvSpPr>
        <p:spPr>
          <a:xfrm>
            <a:off x="2208213" y="476250"/>
            <a:ext cx="2159000" cy="521970"/>
          </a:xfrm>
          <a:prstGeom prst="rect">
            <a:avLst/>
          </a:prstGeom>
          <a:noFill/>
          <a:ln w="57150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charset="0"/>
                <a:ea typeface="黑体" panose="02010609060101010101" pitchFamily="49" charset="-122"/>
              </a:rPr>
              <a:t>证明</a:t>
            </a:r>
            <a:endParaRPr lang="zh-CN" altLang="en-US" sz="2800" b="1" dirty="0">
              <a:solidFill>
                <a:srgbClr val="0000FF"/>
              </a:solidFill>
              <a:latin typeface="Times New Roman" panose="0202060305040502030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3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3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3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3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3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3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4514" name="Object 2"/>
          <p:cNvGraphicFramePr>
            <a:graphicFrameLocks noChangeAspect="1"/>
          </p:cNvGraphicFramePr>
          <p:nvPr/>
        </p:nvGraphicFramePr>
        <p:xfrm>
          <a:off x="2651125" y="762000"/>
          <a:ext cx="4652963" cy="871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2235200" imgH="457200" progId="Equation.DSMT4">
                  <p:embed/>
                </p:oleObj>
              </mc:Choice>
              <mc:Fallback>
                <p:oleObj name="" r:id="rId1" imgW="2235200" imgH="457200" progId="Equation.DSMT4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651125" y="762000"/>
                        <a:ext cx="4652963" cy="8715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15" name="Object 3"/>
          <p:cNvGraphicFramePr>
            <a:graphicFrameLocks noChangeAspect="1"/>
          </p:cNvGraphicFramePr>
          <p:nvPr/>
        </p:nvGraphicFramePr>
        <p:xfrm>
          <a:off x="4525963" y="1700213"/>
          <a:ext cx="4203700" cy="871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2019300" imgH="457200" progId="Equation.DSMT4">
                  <p:embed/>
                </p:oleObj>
              </mc:Choice>
              <mc:Fallback>
                <p:oleObj name="" r:id="rId3" imgW="2019300" imgH="457200" progId="Equation.DSMT4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25963" y="1700213"/>
                        <a:ext cx="4203700" cy="8715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16" name="Object 4"/>
          <p:cNvGraphicFramePr>
            <a:graphicFrameLocks noChangeAspect="1"/>
          </p:cNvGraphicFramePr>
          <p:nvPr/>
        </p:nvGraphicFramePr>
        <p:xfrm>
          <a:off x="4268788" y="2708275"/>
          <a:ext cx="4203700" cy="871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5" imgW="2019300" imgH="457200" progId="Equation.DSMT4">
                  <p:embed/>
                </p:oleObj>
              </mc:Choice>
              <mc:Fallback>
                <p:oleObj name="" r:id="rId5" imgW="2019300" imgH="457200" progId="Equation.DSMT4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268788" y="2708275"/>
                        <a:ext cx="4203700" cy="8715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17" name="Object 5"/>
          <p:cNvGraphicFramePr>
            <a:graphicFrameLocks noChangeAspect="1"/>
          </p:cNvGraphicFramePr>
          <p:nvPr/>
        </p:nvGraphicFramePr>
        <p:xfrm>
          <a:off x="4162425" y="3733800"/>
          <a:ext cx="3040063" cy="871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7" imgW="1460500" imgH="457200" progId="Equation.DSMT4">
                  <p:embed/>
                </p:oleObj>
              </mc:Choice>
              <mc:Fallback>
                <p:oleObj name="" r:id="rId7" imgW="1460500" imgH="457200" progId="Equation.DSMT4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162425" y="3733800"/>
                        <a:ext cx="3040063" cy="8715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18" name="Object 6"/>
          <p:cNvGraphicFramePr>
            <a:graphicFrameLocks noChangeAspect="1"/>
          </p:cNvGraphicFramePr>
          <p:nvPr/>
        </p:nvGraphicFramePr>
        <p:xfrm>
          <a:off x="4224338" y="4868863"/>
          <a:ext cx="1506537" cy="750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9" imgW="723900" imgH="393700" progId="Equation.DSMT4">
                  <p:embed/>
                </p:oleObj>
              </mc:Choice>
              <mc:Fallback>
                <p:oleObj name="" r:id="rId9" imgW="723900" imgH="393700" progId="Equation.DSMT4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224338" y="4868863"/>
                        <a:ext cx="1506537" cy="7508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4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4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4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4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4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9090" name="Object 2"/>
          <p:cNvGraphicFramePr>
            <a:graphicFrameLocks noChangeAspect="1"/>
          </p:cNvGraphicFramePr>
          <p:nvPr/>
        </p:nvGraphicFramePr>
        <p:xfrm>
          <a:off x="4079875" y="212725"/>
          <a:ext cx="3600450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1422400" imgH="254000" progId="Equation.DSMT4">
                  <p:embed/>
                </p:oleObj>
              </mc:Choice>
              <mc:Fallback>
                <p:oleObj name="" r:id="rId1" imgW="1422400" imgH="254000" progId="Equation.DSMT4">
                  <p:embed/>
                  <p:pic>
                    <p:nvPicPr>
                      <p:cNvPr id="0" name="图片 311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079875" y="212725"/>
                        <a:ext cx="3600450" cy="5889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091" name="Object 3"/>
          <p:cNvGraphicFramePr>
            <a:graphicFrameLocks noChangeAspect="1"/>
          </p:cNvGraphicFramePr>
          <p:nvPr/>
        </p:nvGraphicFramePr>
        <p:xfrm>
          <a:off x="3287713" y="620713"/>
          <a:ext cx="6130925" cy="353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2946400" imgH="1854200" progId="Equation.DSMT4">
                  <p:embed/>
                </p:oleObj>
              </mc:Choice>
              <mc:Fallback>
                <p:oleObj name="" r:id="rId3" imgW="2946400" imgH="1854200" progId="Equation.DSMT4">
                  <p:embed/>
                  <p:pic>
                    <p:nvPicPr>
                      <p:cNvPr id="0" name="图片 311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87713" y="620713"/>
                        <a:ext cx="6130925" cy="3533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095" name="Object 7"/>
          <p:cNvGraphicFramePr>
            <a:graphicFrameLocks noChangeAspect="1"/>
          </p:cNvGraphicFramePr>
          <p:nvPr/>
        </p:nvGraphicFramePr>
        <p:xfrm>
          <a:off x="3000375" y="4122738"/>
          <a:ext cx="5895975" cy="2735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5" imgW="2832100" imgH="1435100" progId="Equation.DSMT4">
                  <p:embed/>
                </p:oleObj>
              </mc:Choice>
              <mc:Fallback>
                <p:oleObj name="" r:id="rId5" imgW="2832100" imgH="1435100" progId="Equation.DSMT4">
                  <p:embed/>
                  <p:pic>
                    <p:nvPicPr>
                      <p:cNvPr id="0" name="图片 310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000375" y="4122738"/>
                        <a:ext cx="5895975" cy="27352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08" name="Text Box 8"/>
          <p:cNvSpPr txBox="1"/>
          <p:nvPr/>
        </p:nvSpPr>
        <p:spPr>
          <a:xfrm>
            <a:off x="1847850" y="260350"/>
            <a:ext cx="2519363" cy="521970"/>
          </a:xfrm>
          <a:prstGeom prst="rect">
            <a:avLst/>
          </a:prstGeom>
          <a:noFill/>
          <a:ln w="57150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charset="0"/>
                <a:ea typeface="黑体" panose="02010609060101010101" pitchFamily="49" charset="-122"/>
              </a:rPr>
              <a:t>例： 设</a:t>
            </a:r>
            <a:endParaRPr lang="zh-CN" altLang="en-US" sz="2800" b="1" dirty="0">
              <a:solidFill>
                <a:srgbClr val="0000FF"/>
              </a:solidFill>
              <a:latin typeface="Times New Roman" panose="0202060305040502030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9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9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9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0114" name="Object 2"/>
          <p:cNvGraphicFramePr>
            <a:graphicFrameLocks noChangeAspect="1"/>
          </p:cNvGraphicFramePr>
          <p:nvPr/>
        </p:nvGraphicFramePr>
        <p:xfrm>
          <a:off x="4511675" y="476250"/>
          <a:ext cx="3665538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1447165" imgH="254000" progId="Equation.DSMT4">
                  <p:embed/>
                </p:oleObj>
              </mc:Choice>
              <mc:Fallback>
                <p:oleObj name="" r:id="rId1" imgW="1447165" imgH="254000" progId="Equation.DSMT4">
                  <p:embed/>
                  <p:pic>
                    <p:nvPicPr>
                      <p:cNvPr id="0" name="图片 310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511675" y="476250"/>
                        <a:ext cx="3665538" cy="5889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16" name="Object 4"/>
          <p:cNvGraphicFramePr>
            <a:graphicFrameLocks noChangeAspect="1"/>
          </p:cNvGraphicFramePr>
          <p:nvPr/>
        </p:nvGraphicFramePr>
        <p:xfrm>
          <a:off x="1992313" y="1125538"/>
          <a:ext cx="8135937" cy="871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3035300" imgH="355600" progId="Equation.DSMT4">
                  <p:embed/>
                </p:oleObj>
              </mc:Choice>
              <mc:Fallback>
                <p:oleObj name="" r:id="rId3" imgW="3035300" imgH="355600" progId="Equation.DSMT4">
                  <p:embed/>
                  <p:pic>
                    <p:nvPicPr>
                      <p:cNvPr id="0" name="图片 311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92313" y="1125538"/>
                        <a:ext cx="8135937" cy="8715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1" name="Text Box 5"/>
          <p:cNvSpPr txBox="1"/>
          <p:nvPr/>
        </p:nvSpPr>
        <p:spPr>
          <a:xfrm>
            <a:off x="2135188" y="620713"/>
            <a:ext cx="2519362" cy="521970"/>
          </a:xfrm>
          <a:prstGeom prst="rect">
            <a:avLst/>
          </a:prstGeom>
          <a:noFill/>
          <a:ln w="57150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charset="0"/>
                <a:ea typeface="黑体" panose="02010609060101010101" pitchFamily="49" charset="-122"/>
              </a:rPr>
              <a:t>例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charset="0"/>
                <a:ea typeface="黑体" panose="02010609060101010101" pitchFamily="49" charset="-122"/>
              </a:rPr>
              <a:t>3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charset="0"/>
                <a:ea typeface="黑体" panose="02010609060101010101" pitchFamily="49" charset="-122"/>
              </a:rPr>
              <a:t>： 设</a:t>
            </a:r>
            <a:endParaRPr lang="zh-CN" altLang="en-US" sz="2800" b="1" dirty="0">
              <a:solidFill>
                <a:srgbClr val="0000FF"/>
              </a:solidFill>
              <a:latin typeface="Times New Roman" panose="02020603050405020304" charset="0"/>
              <a:ea typeface="黑体" panose="02010609060101010101" pitchFamily="49" charset="-122"/>
            </a:endParaRPr>
          </a:p>
        </p:txBody>
      </p:sp>
      <p:sp>
        <p:nvSpPr>
          <p:cNvPr id="22532" name="Text Box 6"/>
          <p:cNvSpPr txBox="1"/>
          <p:nvPr/>
        </p:nvSpPr>
        <p:spPr>
          <a:xfrm>
            <a:off x="2063750" y="2492375"/>
            <a:ext cx="3455988" cy="521970"/>
          </a:xfrm>
          <a:prstGeom prst="rect">
            <a:avLst/>
          </a:prstGeom>
          <a:noFill/>
          <a:ln w="57150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charset="0"/>
                <a:ea typeface="黑体" panose="02010609060101010101" pitchFamily="49" charset="-122"/>
              </a:rPr>
              <a:t>利用相似性质，有</a:t>
            </a:r>
            <a:endParaRPr lang="zh-CN" altLang="en-US" sz="2800" b="1" dirty="0">
              <a:solidFill>
                <a:srgbClr val="0000FF"/>
              </a:solidFill>
              <a:latin typeface="Times New Roman" panose="02020603050405020304" charset="0"/>
              <a:ea typeface="黑体" panose="02010609060101010101" pitchFamily="49" charset="-122"/>
            </a:endParaRPr>
          </a:p>
        </p:txBody>
      </p:sp>
      <p:graphicFrame>
        <p:nvGraphicFramePr>
          <p:cNvPr id="90119" name="Object 7"/>
          <p:cNvGraphicFramePr>
            <a:graphicFrameLocks noChangeAspect="1"/>
          </p:cNvGraphicFramePr>
          <p:nvPr/>
        </p:nvGraphicFramePr>
        <p:xfrm>
          <a:off x="3287713" y="3213100"/>
          <a:ext cx="5400675" cy="288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5" imgW="2171700" imgH="1270000" progId="Equation.DSMT4">
                  <p:embed/>
                </p:oleObj>
              </mc:Choice>
              <mc:Fallback>
                <p:oleObj name="" r:id="rId5" imgW="2171700" imgH="1270000" progId="Equation.DSMT4">
                  <p:embed/>
                  <p:pic>
                    <p:nvPicPr>
                      <p:cNvPr id="0" name="图片 310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287713" y="3213100"/>
                        <a:ext cx="5400675" cy="2886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0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0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0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5"/>
          <p:cNvSpPr/>
          <p:nvPr/>
        </p:nvSpPr>
        <p:spPr>
          <a:xfrm>
            <a:off x="817245" y="404019"/>
            <a:ext cx="7062470" cy="521970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>
            <a:spAutoFit/>
          </a:bodyPr>
          <a:lstStyle/>
          <a:p>
            <a:r>
              <a:rPr lang="en-US" altLang="zh-CN" sz="2800" b="1" dirty="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5.2</a:t>
            </a:r>
            <a:r>
              <a:rPr lang="en-US" altLang="zh-CN" sz="28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用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charset="0"/>
                <a:ea typeface="黑体" panose="02010609060101010101" pitchFamily="49" charset="-122"/>
              </a:rPr>
              <a:t>Fourier</a:t>
            </a:r>
            <a:r>
              <a:rPr lang="zh-CN" altLang="en-US" sz="28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变换法解弦振动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charset="0"/>
                <a:ea typeface="黑体" panose="02010609060101010101" pitchFamily="49" charset="-122"/>
              </a:rPr>
              <a:t>Cauchy</a:t>
            </a:r>
            <a:r>
              <a:rPr lang="zh-CN" altLang="en-US" sz="28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问题：</a:t>
            </a:r>
            <a:endParaRPr lang="zh-CN" altLang="en-US" sz="2800" b="1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3554" name="Object 6"/>
          <p:cNvGraphicFramePr/>
          <p:nvPr/>
        </p:nvGraphicFramePr>
        <p:xfrm>
          <a:off x="3071813" y="1412875"/>
          <a:ext cx="5529262" cy="1554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2413000" imgH="685800" progId="Equation.DSMT4">
                  <p:embed/>
                </p:oleObj>
              </mc:Choice>
              <mc:Fallback>
                <p:oleObj name="" r:id="rId1" imgW="2413000" imgH="685800" progId="Equation.DSMT4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071813" y="1412875"/>
                        <a:ext cx="5529262" cy="1554163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143" name="Rectangle 7"/>
          <p:cNvSpPr/>
          <p:nvPr/>
        </p:nvSpPr>
        <p:spPr>
          <a:xfrm>
            <a:off x="2424113" y="3569971"/>
            <a:ext cx="7673975" cy="953135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>
            <a:spAutoFit/>
          </a:bodyPr>
          <a:lstStyle/>
          <a:p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解：考虑到自变量的取值范围，对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charset="0"/>
                <a:ea typeface="黑体" panose="02010609060101010101" pitchFamily="49" charset="-122"/>
              </a:rPr>
              <a:t>x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pitchFamily="49" charset="-122"/>
              </a:rPr>
              <a:t> 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进行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charset="0"/>
                <a:ea typeface="黑体" panose="02010609060101010101" pitchFamily="49" charset="-122"/>
              </a:rPr>
              <a:t>Fourier</a:t>
            </a:r>
            <a:endParaRPr lang="en-US" altLang="zh-CN" sz="2800" b="1" i="1" dirty="0">
              <a:solidFill>
                <a:srgbClr val="0000FF"/>
              </a:solidFill>
              <a:latin typeface="Times New Roman" panose="02020603050405020304" charset="0"/>
              <a:ea typeface="黑体" panose="02010609060101010101" pitchFamily="49" charset="-122"/>
            </a:endParaRPr>
          </a:p>
          <a:p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变换。设 </a:t>
            </a:r>
            <a:endParaRPr lang="zh-CN" altLang="en-US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91144" name="Object 8"/>
          <p:cNvGraphicFramePr/>
          <p:nvPr/>
        </p:nvGraphicFramePr>
        <p:xfrm>
          <a:off x="3143250" y="4724400"/>
          <a:ext cx="5976938" cy="155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2438400" imgH="698500" progId="Equation.DSMT4">
                  <p:embed/>
                </p:oleObj>
              </mc:Choice>
              <mc:Fallback>
                <p:oleObj name="" r:id="rId3" imgW="2438400" imgH="698500" progId="Equation.DSMT4">
                  <p:embed/>
                  <p:pic>
                    <p:nvPicPr>
                      <p:cNvPr id="0" name="图片 310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43250" y="4724400"/>
                        <a:ext cx="5976938" cy="1552575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1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1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14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3"/>
          <p:cNvSpPr/>
          <p:nvPr/>
        </p:nvSpPr>
        <p:spPr>
          <a:xfrm>
            <a:off x="2495550" y="2132172"/>
            <a:ext cx="2327910" cy="521970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>
            <a:spAutoFit/>
          </a:bodyPr>
          <a:lstStyle/>
          <a:p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方程转化为：</a:t>
            </a:r>
            <a:endParaRPr lang="zh-CN" altLang="en-US" sz="2800" b="1" dirty="0">
              <a:solidFill>
                <a:srgbClr val="0000FF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graphicFrame>
        <p:nvGraphicFramePr>
          <p:cNvPr id="24578" name="Object 4"/>
          <p:cNvGraphicFramePr/>
          <p:nvPr/>
        </p:nvGraphicFramePr>
        <p:xfrm>
          <a:off x="4922838" y="1557338"/>
          <a:ext cx="5060950" cy="161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2273300" imgH="711200" progId="Equation.DSMT4">
                  <p:embed/>
                </p:oleObj>
              </mc:Choice>
              <mc:Fallback>
                <p:oleObj name="" r:id="rId1" imgW="2273300" imgH="711200" progId="Equation.DSMT4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922838" y="1557338"/>
                        <a:ext cx="5060950" cy="1612900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79" name="Rectangle 5"/>
          <p:cNvSpPr/>
          <p:nvPr/>
        </p:nvSpPr>
        <p:spPr>
          <a:xfrm>
            <a:off x="1524000" y="2935288"/>
            <a:ext cx="309880" cy="368300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>
            <a:spAutoFit/>
          </a:bodyPr>
          <a:lstStyle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4580" name="Rectangle 7"/>
          <p:cNvSpPr/>
          <p:nvPr/>
        </p:nvSpPr>
        <p:spPr>
          <a:xfrm>
            <a:off x="2208213" y="3572034"/>
            <a:ext cx="3757930" cy="521970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>
            <a:spAutoFit/>
          </a:bodyPr>
          <a:lstStyle/>
          <a:p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特征方程和特征根为：</a:t>
            </a:r>
            <a:endParaRPr lang="zh-CN" altLang="en-US" sz="2800" b="1" dirty="0">
              <a:solidFill>
                <a:srgbClr val="0000FF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graphicFrame>
        <p:nvGraphicFramePr>
          <p:cNvPr id="24581" name="Object 8"/>
          <p:cNvGraphicFramePr/>
          <p:nvPr/>
        </p:nvGraphicFramePr>
        <p:xfrm>
          <a:off x="5981700" y="3573463"/>
          <a:ext cx="4059238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1688465" imgH="254000" progId="Equation.DSMT4">
                  <p:embed/>
                </p:oleObj>
              </mc:Choice>
              <mc:Fallback>
                <p:oleObj name="" r:id="rId3" imgW="1688465" imgH="254000" progId="Equation.DSMT4">
                  <p:embed/>
                  <p:pic>
                    <p:nvPicPr>
                      <p:cNvPr id="0" name="图片 310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981700" y="3573463"/>
                        <a:ext cx="4059238" cy="654050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2" name="Rectangle 9"/>
          <p:cNvSpPr/>
          <p:nvPr/>
        </p:nvSpPr>
        <p:spPr>
          <a:xfrm>
            <a:off x="1524000" y="-184150"/>
            <a:ext cx="309880" cy="368300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>
            <a:spAutoFit/>
          </a:bodyPr>
          <a:lstStyle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4583" name="Text Box 14"/>
          <p:cNvSpPr txBox="1"/>
          <p:nvPr/>
        </p:nvSpPr>
        <p:spPr>
          <a:xfrm>
            <a:off x="2424113" y="836613"/>
            <a:ext cx="6048375" cy="52197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根据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charset="0"/>
                <a:ea typeface="黑体" panose="02010609060101010101" pitchFamily="49" charset="-122"/>
              </a:rPr>
              <a:t>Fourier</a:t>
            </a:r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变换微分性质</a:t>
            </a:r>
            <a:r>
              <a:rPr lang="en-US" altLang="zh-CN" sz="28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:</a:t>
            </a:r>
            <a:endParaRPr lang="en-US" altLang="zh-CN" sz="2800" b="1" dirty="0">
              <a:solidFill>
                <a:srgbClr val="0000FF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graphicFrame>
        <p:nvGraphicFramePr>
          <p:cNvPr id="24584" name="Object 15"/>
          <p:cNvGraphicFramePr/>
          <p:nvPr/>
        </p:nvGraphicFramePr>
        <p:xfrm>
          <a:off x="4391025" y="4652963"/>
          <a:ext cx="5465763" cy="179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5" imgW="2349500" imgH="723900" progId="Equation.DSMT4">
                  <p:embed/>
                </p:oleObj>
              </mc:Choice>
              <mc:Fallback>
                <p:oleObj name="" r:id="rId5" imgW="2349500" imgH="723900" progId="Equation.DSMT4">
                  <p:embed/>
                  <p:pic>
                    <p:nvPicPr>
                      <p:cNvPr id="0" name="图片 310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391025" y="4652963"/>
                        <a:ext cx="5465763" cy="1790700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5" name="Rectangle 16"/>
          <p:cNvSpPr/>
          <p:nvPr/>
        </p:nvSpPr>
        <p:spPr>
          <a:xfrm>
            <a:off x="2063750" y="4795997"/>
            <a:ext cx="2327910" cy="521970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>
            <a:spAutoFit/>
          </a:bodyPr>
          <a:lstStyle/>
          <a:p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方程的解为：</a:t>
            </a:r>
            <a:endParaRPr lang="zh-CN" altLang="en-US" sz="2800" b="1" dirty="0">
              <a:solidFill>
                <a:srgbClr val="0000FF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3"/>
          <p:cNvSpPr/>
          <p:nvPr/>
        </p:nvSpPr>
        <p:spPr>
          <a:xfrm>
            <a:off x="2495550" y="1914684"/>
            <a:ext cx="1612900" cy="521970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>
            <a:spAutoFit/>
          </a:bodyPr>
          <a:lstStyle/>
          <a:p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于是有：</a:t>
            </a:r>
            <a:endParaRPr lang="zh-CN" altLang="en-US" sz="2800" b="1" dirty="0">
              <a:solidFill>
                <a:srgbClr val="0000FF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graphicFrame>
        <p:nvGraphicFramePr>
          <p:cNvPr id="26626" name="Object 4"/>
          <p:cNvGraphicFramePr/>
          <p:nvPr/>
        </p:nvGraphicFramePr>
        <p:xfrm>
          <a:off x="4978400" y="1484313"/>
          <a:ext cx="1970088" cy="1576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774065" imgH="660400" progId="Equation.DSMT4">
                  <p:embed/>
                </p:oleObj>
              </mc:Choice>
              <mc:Fallback>
                <p:oleObj name="" r:id="rId1" imgW="774065" imgH="660400" progId="Equation.DSMT4">
                  <p:embed/>
                  <p:pic>
                    <p:nvPicPr>
                      <p:cNvPr id="0" name="图片 310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978400" y="1484313"/>
                        <a:ext cx="1970088" cy="1576387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27" name="Rectangle 7"/>
          <p:cNvSpPr/>
          <p:nvPr/>
        </p:nvSpPr>
        <p:spPr>
          <a:xfrm>
            <a:off x="2566988" y="3211672"/>
            <a:ext cx="1255395" cy="521970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>
            <a:spAutoFit/>
          </a:bodyPr>
          <a:lstStyle/>
          <a:p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charset="0"/>
                <a:ea typeface="黑体" panose="02010609060101010101" pitchFamily="49" charset="-122"/>
              </a:rPr>
              <a:t>可得：</a:t>
            </a:r>
            <a:endParaRPr lang="zh-CN" altLang="en-US" sz="2800" b="1" dirty="0">
              <a:solidFill>
                <a:srgbClr val="0000FF"/>
              </a:solidFill>
              <a:latin typeface="Times New Roman" panose="02020603050405020304" charset="0"/>
              <a:ea typeface="黑体" panose="02010609060101010101" pitchFamily="49" charset="-122"/>
            </a:endParaRPr>
          </a:p>
        </p:txBody>
      </p:sp>
      <p:graphicFrame>
        <p:nvGraphicFramePr>
          <p:cNvPr id="26628" name="Object 8"/>
          <p:cNvGraphicFramePr/>
          <p:nvPr/>
        </p:nvGraphicFramePr>
        <p:xfrm>
          <a:off x="1954213" y="3933825"/>
          <a:ext cx="8534400" cy="187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3746500" imgH="850900" progId="Equation.DSMT4">
                  <p:embed/>
                </p:oleObj>
              </mc:Choice>
              <mc:Fallback>
                <p:oleObj name="" r:id="rId3" imgW="3746500" imgH="850900" progId="Equation.DSMT4">
                  <p:embed/>
                  <p:pic>
                    <p:nvPicPr>
                      <p:cNvPr id="0" name="图片 310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4213" y="3933825"/>
                        <a:ext cx="8534400" cy="1871663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29" name="Rectangle 9"/>
          <p:cNvSpPr/>
          <p:nvPr/>
        </p:nvSpPr>
        <p:spPr>
          <a:xfrm>
            <a:off x="1524000" y="-184150"/>
            <a:ext cx="309880" cy="368300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>
            <a:spAutoFit/>
          </a:bodyPr>
          <a:lstStyle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6630" name="Text Box 14"/>
          <p:cNvSpPr txBox="1"/>
          <p:nvPr/>
        </p:nvSpPr>
        <p:spPr>
          <a:xfrm>
            <a:off x="2424113" y="836613"/>
            <a:ext cx="6048375" cy="52197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将初始条件代入求积分常数</a:t>
            </a:r>
            <a:r>
              <a:rPr lang="en-US" altLang="zh-CN" sz="28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:</a:t>
            </a:r>
            <a:endParaRPr lang="en-US" altLang="zh-CN" sz="2800" b="1" dirty="0">
              <a:solidFill>
                <a:srgbClr val="0000FF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/>
          <p:cNvSpPr/>
          <p:nvPr/>
        </p:nvSpPr>
        <p:spPr>
          <a:xfrm>
            <a:off x="1919288" y="4580097"/>
            <a:ext cx="7422515" cy="521970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>
            <a:spAutoFit/>
          </a:bodyPr>
          <a:lstStyle/>
          <a:p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故，方程的解为</a:t>
            </a:r>
            <a:r>
              <a:rPr lang="en-US" altLang="zh-CN" sz="28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(</a:t>
            </a:r>
            <a:r>
              <a:rPr lang="zh-CN" altLang="en-US" sz="2800" b="1" dirty="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无限长弦的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charset="0"/>
                <a:ea typeface="黑体" panose="02010609060101010101" pitchFamily="49" charset="-122"/>
              </a:rPr>
              <a:t>d’Alembert</a:t>
            </a:r>
            <a:r>
              <a:rPr lang="zh-CN" altLang="en-US" sz="2800" b="1" dirty="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公式</a:t>
            </a:r>
            <a:r>
              <a:rPr lang="en-US" altLang="zh-CN" sz="28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)</a:t>
            </a:r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：</a:t>
            </a:r>
            <a:endParaRPr lang="zh-CN" altLang="en-US" sz="2800" b="1" dirty="0">
              <a:solidFill>
                <a:srgbClr val="0000FF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graphicFrame>
        <p:nvGraphicFramePr>
          <p:cNvPr id="27650" name="Object 3"/>
          <p:cNvGraphicFramePr/>
          <p:nvPr/>
        </p:nvGraphicFramePr>
        <p:xfrm>
          <a:off x="2208213" y="2852738"/>
          <a:ext cx="7775575" cy="165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3289300" imgH="736600" progId="Equation.DSMT4">
                  <p:embed/>
                </p:oleObj>
              </mc:Choice>
              <mc:Fallback>
                <p:oleObj name="" r:id="rId1" imgW="3289300" imgH="736600" progId="Equation.DSMT4">
                  <p:embed/>
                  <p:pic>
                    <p:nvPicPr>
                      <p:cNvPr id="0" name="图片 310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208213" y="2852738"/>
                        <a:ext cx="7775575" cy="1655762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1" name="Rectangle 4"/>
          <p:cNvSpPr/>
          <p:nvPr/>
        </p:nvSpPr>
        <p:spPr>
          <a:xfrm>
            <a:off x="1847850" y="2275047"/>
            <a:ext cx="6334760" cy="521970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>
            <a:spAutoFit/>
          </a:bodyPr>
          <a:lstStyle/>
          <a:p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charset="0"/>
                <a:ea typeface="黑体" panose="02010609060101010101" pitchFamily="49" charset="-122"/>
              </a:rPr>
              <a:t>对上式关于</a:t>
            </a:r>
            <a:r>
              <a:rPr lang="el-GR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λ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作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charset="0"/>
                <a:ea typeface="黑体" panose="02010609060101010101" pitchFamily="49" charset="-122"/>
              </a:rPr>
              <a:t>Fourier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逆变换，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charset="0"/>
                <a:ea typeface="黑体" panose="02010609060101010101" pitchFamily="49" charset="-122"/>
              </a:rPr>
              <a:t>可得：</a:t>
            </a:r>
            <a:endParaRPr lang="zh-CN" altLang="en-US" sz="2800" b="1" dirty="0">
              <a:solidFill>
                <a:srgbClr val="0000FF"/>
              </a:solidFill>
              <a:latin typeface="Times New Roman" panose="02020603050405020304" charset="0"/>
              <a:ea typeface="黑体" panose="02010609060101010101" pitchFamily="49" charset="-122"/>
            </a:endParaRPr>
          </a:p>
        </p:txBody>
      </p:sp>
      <p:graphicFrame>
        <p:nvGraphicFramePr>
          <p:cNvPr id="27652" name="Object 5"/>
          <p:cNvGraphicFramePr/>
          <p:nvPr/>
        </p:nvGraphicFramePr>
        <p:xfrm>
          <a:off x="1954213" y="333375"/>
          <a:ext cx="8462962" cy="187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3746500" imgH="850900" progId="Equation.DSMT4">
                  <p:embed/>
                </p:oleObj>
              </mc:Choice>
              <mc:Fallback>
                <p:oleObj name="" r:id="rId3" imgW="3746500" imgH="850900" progId="Equation.DSMT4">
                  <p:embed/>
                  <p:pic>
                    <p:nvPicPr>
                      <p:cNvPr id="0" name="图片 311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4213" y="333375"/>
                        <a:ext cx="8462962" cy="1871663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3" name="Rectangle 6"/>
          <p:cNvSpPr/>
          <p:nvPr/>
        </p:nvSpPr>
        <p:spPr>
          <a:xfrm>
            <a:off x="1524000" y="-184150"/>
            <a:ext cx="309880" cy="368300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>
            <a:spAutoFit/>
          </a:bodyPr>
          <a:lstStyle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7654" name="Object 8"/>
          <p:cNvGraphicFramePr/>
          <p:nvPr/>
        </p:nvGraphicFramePr>
        <p:xfrm>
          <a:off x="2093913" y="5157788"/>
          <a:ext cx="8074025" cy="1008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5" imgW="3276600" imgH="406400" progId="Equation.DSMT4">
                  <p:embed/>
                </p:oleObj>
              </mc:Choice>
              <mc:Fallback>
                <p:oleObj name="" r:id="rId5" imgW="3276600" imgH="406400" progId="Equation.DSMT4">
                  <p:embed/>
                  <p:pic>
                    <p:nvPicPr>
                      <p:cNvPr id="0" name="图片 311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093913" y="5157788"/>
                        <a:ext cx="8074025" cy="1008062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/>
          <p:nvPr/>
        </p:nvSpPr>
        <p:spPr>
          <a:xfrm>
            <a:off x="1379538" y="2892425"/>
            <a:ext cx="309880" cy="368300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>
            <a:spAutoFit/>
          </a:bodyPr>
          <a:lstStyle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8674" name="Rectangle 3"/>
          <p:cNvSpPr/>
          <p:nvPr/>
        </p:nvSpPr>
        <p:spPr>
          <a:xfrm>
            <a:off x="1379538" y="2911475"/>
            <a:ext cx="309880" cy="368300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>
            <a:spAutoFit/>
          </a:bodyPr>
          <a:lstStyle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8675" name="Rectangle 5"/>
          <p:cNvSpPr/>
          <p:nvPr/>
        </p:nvSpPr>
        <p:spPr>
          <a:xfrm>
            <a:off x="797878" y="634206"/>
            <a:ext cx="5774055" cy="521970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>
            <a:spAutoFit/>
          </a:bodyPr>
          <a:lstStyle/>
          <a:p>
            <a:r>
              <a:rPr lang="en-US" altLang="zh-CN" sz="2800" b="1" dirty="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5.3   Fourier</a:t>
            </a:r>
            <a:r>
              <a:rPr lang="zh-CN" altLang="en-US" sz="2800" b="1" dirty="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变换法解热传导方程：</a:t>
            </a:r>
            <a:endParaRPr lang="zh-CN" altLang="en-US" sz="2800" b="1" dirty="0">
              <a:solidFill>
                <a:schemeClr val="tx2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graphicFrame>
        <p:nvGraphicFramePr>
          <p:cNvPr id="28676" name="Object 6"/>
          <p:cNvGraphicFramePr/>
          <p:nvPr/>
        </p:nvGraphicFramePr>
        <p:xfrm>
          <a:off x="3316288" y="1557338"/>
          <a:ext cx="4292600" cy="161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1701800" imgH="711200" progId="Equation.DSMT4">
                  <p:embed/>
                </p:oleObj>
              </mc:Choice>
              <mc:Fallback>
                <p:oleObj name="" r:id="rId1" imgW="1701800" imgH="711200" progId="Equation.DSMT4">
                  <p:embed/>
                  <p:pic>
                    <p:nvPicPr>
                      <p:cNvPr id="0" name="图片 311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316288" y="1557338"/>
                        <a:ext cx="4292600" cy="16113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9" name="Rectangle 7"/>
          <p:cNvSpPr/>
          <p:nvPr/>
        </p:nvSpPr>
        <p:spPr>
          <a:xfrm>
            <a:off x="2424113" y="3569971"/>
            <a:ext cx="7599680" cy="953135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解：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考虑到自变量的取值范围，对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charset="0"/>
                <a:ea typeface="黑体" panose="02010609060101010101" pitchFamily="49" charset="-122"/>
              </a:rPr>
              <a:t>x 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进行傅立叶</a:t>
            </a:r>
            <a:endParaRPr lang="zh-CN" altLang="en-US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变换。设 </a:t>
            </a:r>
            <a:endParaRPr lang="zh-CN" altLang="en-US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3321" name="Object 9"/>
          <p:cNvGraphicFramePr/>
          <p:nvPr/>
        </p:nvGraphicFramePr>
        <p:xfrm>
          <a:off x="3308350" y="4581525"/>
          <a:ext cx="4973638" cy="163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2463800" imgH="736600" progId="Equation.DSMT4">
                  <p:embed/>
                </p:oleObj>
              </mc:Choice>
              <mc:Fallback>
                <p:oleObj name="" r:id="rId3" imgW="2463800" imgH="736600" progId="Equation.DSMT4">
                  <p:embed/>
                  <p:pic>
                    <p:nvPicPr>
                      <p:cNvPr id="0" name="图片 311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08350" y="4581525"/>
                        <a:ext cx="4973638" cy="1638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3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9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697" name="Group 3"/>
          <p:cNvGrpSpPr/>
          <p:nvPr/>
        </p:nvGrpSpPr>
        <p:grpSpPr>
          <a:xfrm>
            <a:off x="2495550" y="1557338"/>
            <a:ext cx="6386513" cy="1612900"/>
            <a:chOff x="703" y="1616"/>
            <a:chExt cx="4023" cy="1016"/>
          </a:xfrm>
        </p:grpSpPr>
        <p:sp>
          <p:nvSpPr>
            <p:cNvPr id="29698" name="Rectangle 4"/>
            <p:cNvSpPr/>
            <p:nvPr/>
          </p:nvSpPr>
          <p:spPr>
            <a:xfrm>
              <a:off x="703" y="1978"/>
              <a:ext cx="1241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lstStyle/>
            <a:p>
              <a:r>
                <a:rPr lang="zh-CN" altLang="en-US" sz="2800" b="1" dirty="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方程转化为</a:t>
              </a:r>
              <a:endPara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graphicFrame>
          <p:nvGraphicFramePr>
            <p:cNvPr id="29699" name="Object 5"/>
            <p:cNvGraphicFramePr/>
            <p:nvPr/>
          </p:nvGraphicFramePr>
          <p:xfrm>
            <a:off x="2526" y="1616"/>
            <a:ext cx="2200" cy="10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" name="" r:id="rId1" imgW="1676400" imgH="711200" progId="Equation.DSMT4">
                    <p:embed/>
                  </p:oleObj>
                </mc:Choice>
                <mc:Fallback>
                  <p:oleObj name="" r:id="rId1" imgW="1676400" imgH="711200" progId="Equation.DSMT4">
                    <p:embed/>
                    <p:pic>
                      <p:nvPicPr>
                        <p:cNvPr id="0" name="图片 3124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526" y="1616"/>
                          <a:ext cx="2200" cy="101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9700" name="Rectangle 6"/>
          <p:cNvSpPr/>
          <p:nvPr/>
        </p:nvSpPr>
        <p:spPr>
          <a:xfrm>
            <a:off x="1524000" y="2935288"/>
            <a:ext cx="309880" cy="368300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>
            <a:spAutoFit/>
          </a:bodyPr>
          <a:lstStyle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4343" name="Group 7"/>
          <p:cNvGrpSpPr/>
          <p:nvPr/>
        </p:nvGrpSpPr>
        <p:grpSpPr>
          <a:xfrm>
            <a:off x="2782888" y="3573463"/>
            <a:ext cx="5165725" cy="719137"/>
            <a:chOff x="703" y="2840"/>
            <a:chExt cx="2634" cy="453"/>
          </a:xfrm>
        </p:grpSpPr>
        <p:sp>
          <p:nvSpPr>
            <p:cNvPr id="29702" name="Rectangle 8"/>
            <p:cNvSpPr/>
            <p:nvPr/>
          </p:nvSpPr>
          <p:spPr>
            <a:xfrm>
              <a:off x="703" y="2885"/>
              <a:ext cx="533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anchor="ctr" anchorCtr="0">
              <a:spAutoFit/>
            </a:bodyPr>
            <a:lstStyle/>
            <a:p>
              <a:r>
                <a:rPr lang="zh-CN" altLang="en-US" sz="2800" b="1" dirty="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于是</a:t>
              </a:r>
              <a:endPara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graphicFrame>
          <p:nvGraphicFramePr>
            <p:cNvPr id="29703" name="Object 9"/>
            <p:cNvGraphicFramePr/>
            <p:nvPr/>
          </p:nvGraphicFramePr>
          <p:xfrm>
            <a:off x="1438" y="2840"/>
            <a:ext cx="1899" cy="4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" name="" r:id="rId3" imgW="1333500" imgH="279400" progId="Equation.DSMT4">
                    <p:embed/>
                  </p:oleObj>
                </mc:Choice>
                <mc:Fallback>
                  <p:oleObj name="" r:id="rId3" imgW="1333500" imgH="279400" progId="Equation.DSMT4">
                    <p:embed/>
                    <p:pic>
                      <p:nvPicPr>
                        <p:cNvPr id="0" name="图片 3120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438" y="2840"/>
                          <a:ext cx="1899" cy="45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9704" name="Rectangle 10"/>
          <p:cNvSpPr/>
          <p:nvPr/>
        </p:nvSpPr>
        <p:spPr>
          <a:xfrm>
            <a:off x="1524000" y="-184150"/>
            <a:ext cx="309880" cy="368300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>
            <a:spAutoFit/>
          </a:bodyPr>
          <a:lstStyle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705" name="Rectangle 12"/>
          <p:cNvSpPr/>
          <p:nvPr/>
        </p:nvSpPr>
        <p:spPr>
          <a:xfrm>
            <a:off x="2424113" y="4793933"/>
            <a:ext cx="7632700" cy="953135"/>
          </a:xfrm>
          <a:prstGeom prst="rect">
            <a:avLst/>
          </a:prstGeom>
          <a:noFill/>
          <a:ln w="25400">
            <a:noFill/>
          </a:ln>
        </p:spPr>
        <p:txBody>
          <a:bodyPr anchor="ctr" anchorCtr="0">
            <a:spAutoFit/>
          </a:bodyPr>
          <a:lstStyle/>
          <a:p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为了求出原方程的解</a:t>
            </a:r>
            <a:r>
              <a:rPr lang="en-US" altLang="zh-CN" sz="28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,</a:t>
            </a:r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下面对            关于   进行 </a:t>
            </a:r>
            <a:endParaRPr lang="zh-CN" altLang="en-US" sz="2800" b="1" dirty="0">
              <a:solidFill>
                <a:srgbClr val="0000FF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傅立叶逆变换</a:t>
            </a:r>
            <a:r>
              <a:rPr lang="en-US" altLang="zh-CN" sz="28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. </a:t>
            </a:r>
            <a:endParaRPr lang="en-US" altLang="zh-CN" sz="2800" b="1" dirty="0">
              <a:solidFill>
                <a:srgbClr val="0000FF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graphicFrame>
        <p:nvGraphicFramePr>
          <p:cNvPr id="29706" name="Object 13"/>
          <p:cNvGraphicFramePr>
            <a:graphicFrameLocks noChangeAspect="1"/>
          </p:cNvGraphicFramePr>
          <p:nvPr/>
        </p:nvGraphicFramePr>
        <p:xfrm>
          <a:off x="6959600" y="4818063"/>
          <a:ext cx="1081088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5" imgW="1116965" imgH="495300" progId="Equation.DSMT4">
                  <p:embed/>
                </p:oleObj>
              </mc:Choice>
              <mc:Fallback>
                <p:oleObj name="" r:id="rId5" imgW="1116965" imgH="495300" progId="Equation.DSMT4">
                  <p:embed/>
                  <p:pic>
                    <p:nvPicPr>
                      <p:cNvPr id="0" name="图片 312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959600" y="4818063"/>
                        <a:ext cx="1081088" cy="4714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7" name="Object 14"/>
          <p:cNvGraphicFramePr>
            <a:graphicFrameLocks noChangeAspect="1"/>
          </p:cNvGraphicFramePr>
          <p:nvPr/>
        </p:nvGraphicFramePr>
        <p:xfrm>
          <a:off x="8759825" y="4868863"/>
          <a:ext cx="2667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7" imgW="266065" imgH="316865" progId="Equation.DSMT4">
                  <p:embed/>
                </p:oleObj>
              </mc:Choice>
              <mc:Fallback>
                <p:oleObj name="" r:id="rId7" imgW="266065" imgH="316865" progId="Equation.DSMT4">
                  <p:embed/>
                  <p:pic>
                    <p:nvPicPr>
                      <p:cNvPr id="0" name="图片 312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759825" y="4868863"/>
                        <a:ext cx="266700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8" name="Text Box 15"/>
          <p:cNvSpPr txBox="1"/>
          <p:nvPr/>
        </p:nvSpPr>
        <p:spPr>
          <a:xfrm>
            <a:off x="2424113" y="836613"/>
            <a:ext cx="6048375" cy="52197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根据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charset="0"/>
                <a:ea typeface="黑体" panose="02010609060101010101" pitchFamily="49" charset="-122"/>
              </a:rPr>
              <a:t>Fourier</a:t>
            </a:r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变换微分性质</a:t>
            </a:r>
            <a:r>
              <a:rPr lang="en-US" altLang="zh-CN" sz="28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:</a:t>
            </a:r>
            <a:endParaRPr lang="en-US" altLang="zh-CN" sz="2800" b="1" dirty="0">
              <a:solidFill>
                <a:srgbClr val="0000FF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21" name="Group 2"/>
          <p:cNvGrpSpPr/>
          <p:nvPr/>
        </p:nvGrpSpPr>
        <p:grpSpPr>
          <a:xfrm>
            <a:off x="1847850" y="908050"/>
            <a:ext cx="3527425" cy="935038"/>
            <a:chOff x="2835" y="346"/>
            <a:chExt cx="2222" cy="589"/>
          </a:xfrm>
        </p:grpSpPr>
        <p:graphicFrame>
          <p:nvGraphicFramePr>
            <p:cNvPr id="30722" name="Object 3"/>
            <p:cNvGraphicFramePr/>
            <p:nvPr/>
          </p:nvGraphicFramePr>
          <p:xfrm>
            <a:off x="2998" y="391"/>
            <a:ext cx="1955" cy="4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" name="" r:id="rId1" imgW="1371600" imgH="279400" progId="Equation.DSMT4">
                    <p:embed/>
                  </p:oleObj>
                </mc:Choice>
                <mc:Fallback>
                  <p:oleObj name="" r:id="rId1" imgW="1371600" imgH="279400" progId="Equation.DSMT4">
                    <p:embed/>
                    <p:pic>
                      <p:nvPicPr>
                        <p:cNvPr id="0" name="图片 3119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998" y="391"/>
                          <a:ext cx="1955" cy="45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23" name="Rectangle 4"/>
            <p:cNvSpPr/>
            <p:nvPr/>
          </p:nvSpPr>
          <p:spPr>
            <a:xfrm>
              <a:off x="2835" y="346"/>
              <a:ext cx="2222" cy="589"/>
            </a:xfrm>
            <a:prstGeom prst="rect">
              <a:avLst/>
            </a:prstGeom>
            <a:noFill/>
            <a:ln w="25400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lg" len="lg"/>
            </a:ln>
          </p:spPr>
          <p:txBody>
            <a:bodyPr wrap="none" anchor="ctr" anchorCtr="0"/>
            <a:lstStyle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30724" name="Rectangle 5"/>
          <p:cNvSpPr/>
          <p:nvPr/>
        </p:nvSpPr>
        <p:spPr>
          <a:xfrm>
            <a:off x="1524000" y="1763713"/>
            <a:ext cx="309880" cy="368300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>
            <a:spAutoFit/>
          </a:bodyPr>
          <a:lstStyle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5366" name="Object 6"/>
          <p:cNvGraphicFramePr/>
          <p:nvPr/>
        </p:nvGraphicFramePr>
        <p:xfrm>
          <a:off x="3287713" y="2636838"/>
          <a:ext cx="4937125" cy="3138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2133600" imgH="1308100" progId="Equation.DSMT4">
                  <p:embed/>
                </p:oleObj>
              </mc:Choice>
              <mc:Fallback>
                <p:oleObj name="" r:id="rId3" imgW="2133600" imgH="1308100" progId="Equation.DSMT4">
                  <p:embed/>
                  <p:pic>
                    <p:nvPicPr>
                      <p:cNvPr id="0" name="图片 312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87713" y="2636838"/>
                        <a:ext cx="4937125" cy="31384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726" name="Group 12"/>
          <p:cNvGrpSpPr/>
          <p:nvPr/>
        </p:nvGrpSpPr>
        <p:grpSpPr>
          <a:xfrm>
            <a:off x="5664200" y="549275"/>
            <a:ext cx="4537075" cy="1582738"/>
            <a:chOff x="2608" y="346"/>
            <a:chExt cx="2858" cy="997"/>
          </a:xfrm>
        </p:grpSpPr>
        <p:sp>
          <p:nvSpPr>
            <p:cNvPr id="30727" name="Rectangle 9"/>
            <p:cNvSpPr/>
            <p:nvPr/>
          </p:nvSpPr>
          <p:spPr>
            <a:xfrm>
              <a:off x="2608" y="346"/>
              <a:ext cx="2858" cy="997"/>
            </a:xfrm>
            <a:prstGeom prst="rect">
              <a:avLst/>
            </a:prstGeom>
            <a:noFill/>
            <a:ln w="28575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lg" len="lg"/>
            </a:ln>
          </p:spPr>
          <p:txBody>
            <a:bodyPr wrap="none" anchor="ctr" anchorCtr="0"/>
            <a:lstStyle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30728" name="Object 10"/>
            <p:cNvGraphicFramePr>
              <a:graphicFrameLocks noChangeAspect="1"/>
            </p:cNvGraphicFramePr>
            <p:nvPr/>
          </p:nvGraphicFramePr>
          <p:xfrm>
            <a:off x="2699" y="845"/>
            <a:ext cx="2586" cy="4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" name="" r:id="rId5" imgW="1689100" imgH="279400" progId="Equation.DSMT4">
                    <p:embed/>
                  </p:oleObj>
                </mc:Choice>
                <mc:Fallback>
                  <p:oleObj name="" r:id="rId5" imgW="1689100" imgH="279400" progId="Equation.DSMT4">
                    <p:embed/>
                    <p:pic>
                      <p:nvPicPr>
                        <p:cNvPr id="0" name="图片 3116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699" y="845"/>
                          <a:ext cx="2586" cy="42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0729" name="Object 11"/>
          <p:cNvGraphicFramePr>
            <a:graphicFrameLocks noChangeAspect="1"/>
          </p:cNvGraphicFramePr>
          <p:nvPr/>
        </p:nvGraphicFramePr>
        <p:xfrm>
          <a:off x="6167438" y="692150"/>
          <a:ext cx="36195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7" imgW="3213100" imgH="469900" progId="Equation.DSMT4">
                  <p:embed/>
                </p:oleObj>
              </mc:Choice>
              <mc:Fallback>
                <p:oleObj name="" r:id="rId7" imgW="3213100" imgH="469900" progId="Equation.DSMT4">
                  <p:embed/>
                  <p:pic>
                    <p:nvPicPr>
                      <p:cNvPr id="0" name="图片 311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167438" y="692150"/>
                        <a:ext cx="3619500" cy="469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745" name="Object 7"/>
          <p:cNvGraphicFramePr>
            <a:graphicFrameLocks noChangeAspect="1"/>
          </p:cNvGraphicFramePr>
          <p:nvPr/>
        </p:nvGraphicFramePr>
        <p:xfrm>
          <a:off x="8126413" y="2500313"/>
          <a:ext cx="301625" cy="42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127000" imgH="190500" progId="Equation.DSMT4">
                  <p:embed/>
                </p:oleObj>
              </mc:Choice>
              <mc:Fallback>
                <p:oleObj name="" r:id="rId1" imgW="127000" imgH="190500" progId="Equation.DSMT4">
                  <p:embed/>
                  <p:pic>
                    <p:nvPicPr>
                      <p:cNvPr id="0" name="图片 313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126413" y="2500313"/>
                        <a:ext cx="301625" cy="4270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6" name="Object 14"/>
          <p:cNvGraphicFramePr>
            <a:graphicFrameLocks noChangeAspect="1"/>
          </p:cNvGraphicFramePr>
          <p:nvPr/>
        </p:nvGraphicFramePr>
        <p:xfrm>
          <a:off x="3925888" y="3989388"/>
          <a:ext cx="493712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127000" imgH="190500" progId="Equation.DSMT4">
                  <p:embed/>
                </p:oleObj>
              </mc:Choice>
              <mc:Fallback>
                <p:oleObj name="" r:id="rId3" imgW="127000" imgH="190500" progId="Equation.DSMT4">
                  <p:embed/>
                  <p:pic>
                    <p:nvPicPr>
                      <p:cNvPr id="0" name="图片 313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925888" y="3989388"/>
                        <a:ext cx="493712" cy="438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747" name="Group 23"/>
          <p:cNvGrpSpPr/>
          <p:nvPr/>
        </p:nvGrpSpPr>
        <p:grpSpPr>
          <a:xfrm>
            <a:off x="1847850" y="333375"/>
            <a:ext cx="8820150" cy="6073775"/>
            <a:chOff x="204" y="210"/>
            <a:chExt cx="5556" cy="3826"/>
          </a:xfrm>
        </p:grpSpPr>
        <p:grpSp>
          <p:nvGrpSpPr>
            <p:cNvPr id="31748" name="Group 22"/>
            <p:cNvGrpSpPr/>
            <p:nvPr/>
          </p:nvGrpSpPr>
          <p:grpSpPr>
            <a:xfrm>
              <a:off x="204" y="210"/>
              <a:ext cx="5556" cy="2430"/>
              <a:chOff x="204" y="210"/>
              <a:chExt cx="5556" cy="2430"/>
            </a:xfrm>
          </p:grpSpPr>
          <p:sp>
            <p:nvSpPr>
              <p:cNvPr id="31749" name="Text Box 2"/>
              <p:cNvSpPr txBox="1"/>
              <p:nvPr/>
            </p:nvSpPr>
            <p:spPr>
              <a:xfrm>
                <a:off x="385" y="210"/>
                <a:ext cx="1633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b="1" dirty="0">
                    <a:solidFill>
                      <a:srgbClr val="0000CC"/>
                    </a:solidFill>
                    <a:latin typeface="Times New Roman" panose="02020603050405020304" charset="0"/>
                    <a:ea typeface="黑体" panose="02010609060101010101" pitchFamily="49" charset="-122"/>
                  </a:rPr>
                  <a:t>回忆</a:t>
                </a:r>
                <a:r>
                  <a:rPr lang="en-US" altLang="zh-CN" sz="2800" b="1" dirty="0">
                    <a:solidFill>
                      <a:srgbClr val="0000CC"/>
                    </a:solidFill>
                    <a:latin typeface="Times New Roman" panose="02020603050405020304" charset="0"/>
                    <a:ea typeface="黑体" panose="02010609060101010101" pitchFamily="49" charset="-122"/>
                  </a:rPr>
                  <a:t>1(</a:t>
                </a:r>
                <a:r>
                  <a:rPr lang="zh-CN" altLang="en-US" sz="2800" b="1" dirty="0">
                    <a:solidFill>
                      <a:srgbClr val="0000CC"/>
                    </a:solidFill>
                    <a:latin typeface="Times New Roman" panose="02020603050405020304" charset="0"/>
                    <a:ea typeface="黑体" panose="02010609060101010101" pitchFamily="49" charset="-122"/>
                  </a:rPr>
                  <a:t>第一章</a:t>
                </a:r>
                <a:r>
                  <a:rPr lang="en-US" altLang="zh-CN" sz="2800" b="1" dirty="0">
                    <a:solidFill>
                      <a:srgbClr val="0000CC"/>
                    </a:solidFill>
                    <a:latin typeface="Times New Roman" panose="02020603050405020304" charset="0"/>
                    <a:ea typeface="黑体" panose="02010609060101010101" pitchFamily="49" charset="-122"/>
                  </a:rPr>
                  <a:t>)</a:t>
                </a:r>
                <a:r>
                  <a:rPr lang="zh-CN" altLang="en-US" sz="2800" b="1" dirty="0">
                    <a:solidFill>
                      <a:srgbClr val="0000CC"/>
                    </a:solidFill>
                    <a:latin typeface="Times New Roman" panose="02020603050405020304" charset="0"/>
                    <a:ea typeface="黑体" panose="02010609060101010101" pitchFamily="49" charset="-122"/>
                  </a:rPr>
                  <a:t>：</a:t>
                </a:r>
                <a:endParaRPr lang="zh-CN" altLang="en-US" sz="3200" b="1" dirty="0">
                  <a:solidFill>
                    <a:srgbClr val="0000CC"/>
                  </a:solidFill>
                  <a:latin typeface="Times New Roman" panose="02020603050405020304" charset="0"/>
                  <a:ea typeface="黑体" panose="02010609060101010101" pitchFamily="49" charset="-122"/>
                </a:endParaRPr>
              </a:p>
            </p:txBody>
          </p:sp>
          <p:graphicFrame>
            <p:nvGraphicFramePr>
              <p:cNvPr id="31750" name="Object 3"/>
              <p:cNvGraphicFramePr>
                <a:graphicFrameLocks noChangeAspect="1"/>
              </p:cNvGraphicFramePr>
              <p:nvPr/>
            </p:nvGraphicFramePr>
            <p:xfrm>
              <a:off x="657" y="656"/>
              <a:ext cx="2586" cy="54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" name="" r:id="rId4" imgW="1879600" imgH="444500" progId="Equation.DSMT4">
                      <p:embed/>
                    </p:oleObj>
                  </mc:Choice>
                  <mc:Fallback>
                    <p:oleObj name="" r:id="rId4" imgW="1879600" imgH="444500" progId="Equation.DSMT4">
                      <p:embed/>
                      <p:pic>
                        <p:nvPicPr>
                          <p:cNvPr id="0" name="图片 3129"/>
                          <p:cNvPicPr/>
                          <p:nvPr/>
                        </p:nvPicPr>
                        <p:blipFill>
                          <a:blip r:embed="rId5"/>
                          <a:stretch>
                            <a:fillRect/>
                          </a:stretch>
                        </p:blipFill>
                        <p:spPr>
                          <a:xfrm>
                            <a:off x="657" y="656"/>
                            <a:ext cx="2586" cy="54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1751" name="Text Box 4"/>
              <p:cNvSpPr txBox="1"/>
              <p:nvPr/>
            </p:nvSpPr>
            <p:spPr>
              <a:xfrm>
                <a:off x="204" y="754"/>
                <a:ext cx="288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800" b="1" dirty="0">
                    <a:solidFill>
                      <a:srgbClr val="0000CC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1.</a:t>
                </a:r>
                <a:endParaRPr lang="en-US" altLang="zh-CN" sz="2800" b="1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graphicFrame>
            <p:nvGraphicFramePr>
              <p:cNvPr id="31752" name="Object 5"/>
              <p:cNvGraphicFramePr>
                <a:graphicFrameLocks noChangeAspect="1"/>
              </p:cNvGraphicFramePr>
              <p:nvPr/>
            </p:nvGraphicFramePr>
            <p:xfrm>
              <a:off x="679" y="1253"/>
              <a:ext cx="5081" cy="6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" name="" r:id="rId6" imgW="4152900" imgH="558800" progId="Equation.DSMT4">
                      <p:embed/>
                    </p:oleObj>
                  </mc:Choice>
                  <mc:Fallback>
                    <p:oleObj name="" r:id="rId6" imgW="4152900" imgH="558800" progId="Equation.DSMT4">
                      <p:embed/>
                      <p:pic>
                        <p:nvPicPr>
                          <p:cNvPr id="0" name="图片 3127"/>
                          <p:cNvPicPr/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679" y="1253"/>
                            <a:ext cx="5081" cy="644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1753" name="Text Box 6"/>
              <p:cNvSpPr txBox="1"/>
              <p:nvPr/>
            </p:nvSpPr>
            <p:spPr>
              <a:xfrm>
                <a:off x="204" y="1434"/>
                <a:ext cx="288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800" b="1" dirty="0">
                    <a:solidFill>
                      <a:srgbClr val="0000CC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2.</a:t>
                </a:r>
                <a:endParaRPr lang="en-US" altLang="zh-CN" sz="2800" b="1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31754" name="Text Box 6"/>
              <p:cNvSpPr txBox="1"/>
              <p:nvPr/>
            </p:nvSpPr>
            <p:spPr>
              <a:xfrm>
                <a:off x="204" y="2205"/>
                <a:ext cx="288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800" b="1" dirty="0">
                    <a:solidFill>
                      <a:srgbClr val="0000CC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3.</a:t>
                </a:r>
                <a:endParaRPr lang="en-US" altLang="zh-CN" sz="2800" b="1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graphicFrame>
            <p:nvGraphicFramePr>
              <p:cNvPr id="31755" name="Object 5"/>
              <p:cNvGraphicFramePr>
                <a:graphicFrameLocks noChangeAspect="1"/>
              </p:cNvGraphicFramePr>
              <p:nvPr/>
            </p:nvGraphicFramePr>
            <p:xfrm>
              <a:off x="657" y="1979"/>
              <a:ext cx="3822" cy="66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" name="" r:id="rId8" imgW="2197100" imgH="469900" progId="Equation.DSMT4">
                      <p:embed/>
                    </p:oleObj>
                  </mc:Choice>
                  <mc:Fallback>
                    <p:oleObj name="" r:id="rId8" imgW="2197100" imgH="469900" progId="Equation.DSMT4">
                      <p:embed/>
                      <p:pic>
                        <p:nvPicPr>
                          <p:cNvPr id="0" name="图片 3128"/>
                          <p:cNvPicPr/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657" y="1979"/>
                            <a:ext cx="3822" cy="661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31756" name="Object 3"/>
            <p:cNvGraphicFramePr>
              <a:graphicFrameLocks noChangeAspect="1"/>
            </p:cNvGraphicFramePr>
            <p:nvPr/>
          </p:nvGraphicFramePr>
          <p:xfrm>
            <a:off x="657" y="2840"/>
            <a:ext cx="4061" cy="11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" name="" r:id="rId10" imgW="2717800" imgH="850900" progId="Equation.DSMT4">
                    <p:embed/>
                  </p:oleObj>
                </mc:Choice>
                <mc:Fallback>
                  <p:oleObj name="" r:id="rId10" imgW="2717800" imgH="850900" progId="Equation.DSMT4">
                    <p:embed/>
                    <p:pic>
                      <p:nvPicPr>
                        <p:cNvPr id="0" name="图片 3130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657" y="2840"/>
                          <a:ext cx="4061" cy="119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57" name="Text Box 4"/>
            <p:cNvSpPr txBox="1"/>
            <p:nvPr/>
          </p:nvSpPr>
          <p:spPr>
            <a:xfrm>
              <a:off x="249" y="2840"/>
              <a:ext cx="288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4.</a:t>
              </a:r>
              <a:endParaRPr lang="en-US" altLang="zh-CN" sz="2800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31758" name="AutoShape 24"/>
          <p:cNvSpPr/>
          <p:nvPr/>
        </p:nvSpPr>
        <p:spPr>
          <a:xfrm>
            <a:off x="6456363" y="260350"/>
            <a:ext cx="3816350" cy="1152525"/>
          </a:xfrm>
          <a:prstGeom prst="cloudCallout">
            <a:avLst>
              <a:gd name="adj1" fmla="val -48833"/>
              <a:gd name="adj2" fmla="val 101653"/>
            </a:avLst>
          </a:prstGeom>
          <a:solidFill>
            <a:srgbClr val="00FFFF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algn="ctr"/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rPr>
              <a:t>方程化简，直接积分</a:t>
            </a:r>
            <a:endParaRPr lang="zh-CN" altLang="en-US" sz="2800" b="1" dirty="0">
              <a:solidFill>
                <a:srgbClr val="0000FF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ext Box 2"/>
          <p:cNvSpPr txBox="1"/>
          <p:nvPr/>
        </p:nvSpPr>
        <p:spPr>
          <a:xfrm>
            <a:off x="2063750" y="549275"/>
            <a:ext cx="6840538" cy="521970"/>
          </a:xfrm>
          <a:prstGeom prst="rect">
            <a:avLst/>
          </a:prstGeom>
          <a:noFill/>
          <a:ln w="25400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20000"/>
              </a:spcBef>
            </a:pPr>
            <a:r>
              <a:rPr lang="zh-CN" altLang="en-US" sz="2800" b="1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回忆</a:t>
            </a:r>
            <a:r>
              <a:rPr lang="en-US" altLang="zh-CN" sz="2800" b="1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2</a:t>
            </a:r>
            <a:r>
              <a:rPr lang="zh-CN" altLang="en-US" sz="2800" b="1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：</a:t>
            </a:r>
            <a:r>
              <a:rPr lang="zh-CN" altLang="en-US" sz="2800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方程简化</a:t>
            </a:r>
            <a:endParaRPr lang="zh-CN" altLang="en-US" sz="2800" b="1" dirty="0">
              <a:solidFill>
                <a:srgbClr val="0000CC"/>
              </a:solidFill>
              <a:latin typeface="Times New Roman" panose="02020603050405020304" charset="0"/>
              <a:ea typeface="黑体" panose="02010609060101010101" pitchFamily="49" charset="-122"/>
            </a:endParaRPr>
          </a:p>
        </p:txBody>
      </p:sp>
      <p:sp>
        <p:nvSpPr>
          <p:cNvPr id="32770" name="Text Box 4"/>
          <p:cNvSpPr txBox="1"/>
          <p:nvPr/>
        </p:nvSpPr>
        <p:spPr>
          <a:xfrm>
            <a:off x="2063750" y="4149725"/>
            <a:ext cx="2089150" cy="521970"/>
          </a:xfrm>
          <a:prstGeom prst="rect">
            <a:avLst/>
          </a:prstGeom>
          <a:noFill/>
          <a:ln w="25400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 sz="2800" b="1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3. </a:t>
            </a:r>
            <a:r>
              <a:rPr lang="zh-CN" altLang="en-US" sz="2800" b="1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变量替换：</a:t>
            </a:r>
            <a:endParaRPr lang="zh-CN" altLang="en-US" sz="2800" b="1" dirty="0">
              <a:solidFill>
                <a:srgbClr val="0000CC"/>
              </a:solidFill>
              <a:latin typeface="Times New Roman" panose="02020603050405020304" charset="0"/>
              <a:ea typeface="黑体" panose="02010609060101010101" pitchFamily="49" charset="-122"/>
            </a:endParaRPr>
          </a:p>
        </p:txBody>
      </p:sp>
      <p:sp>
        <p:nvSpPr>
          <p:cNvPr id="32771" name="Rectangle 8"/>
          <p:cNvSpPr/>
          <p:nvPr/>
        </p:nvSpPr>
        <p:spPr>
          <a:xfrm>
            <a:off x="1919288" y="1340009"/>
            <a:ext cx="2952750" cy="52197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r>
              <a:rPr lang="en-US" altLang="zh-CN" sz="2800" b="1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1. </a:t>
            </a:r>
            <a:r>
              <a:rPr lang="zh-CN" altLang="en-US" sz="2800" b="1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偏微分方程：</a:t>
            </a:r>
            <a:endParaRPr lang="zh-CN" altLang="en-US" sz="2800" b="1" dirty="0">
              <a:solidFill>
                <a:srgbClr val="0000CC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32772" name="Rectangle 9"/>
          <p:cNvSpPr/>
          <p:nvPr/>
        </p:nvSpPr>
        <p:spPr>
          <a:xfrm>
            <a:off x="2063750" y="2130108"/>
            <a:ext cx="2087563" cy="95313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r>
              <a:rPr lang="en-US" altLang="zh-CN" sz="2800" b="1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2. </a:t>
            </a:r>
            <a:r>
              <a:rPr lang="zh-CN" altLang="en-US" sz="2800" b="1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特征方程与特征根：</a:t>
            </a:r>
            <a:endParaRPr lang="zh-CN" altLang="en-US" sz="2800" b="1" dirty="0">
              <a:solidFill>
                <a:srgbClr val="0000CC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graphicFrame>
        <p:nvGraphicFramePr>
          <p:cNvPr id="32773" name="Object 11"/>
          <p:cNvGraphicFramePr>
            <a:graphicFrameLocks noChangeAspect="1"/>
          </p:cNvGraphicFramePr>
          <p:nvPr/>
        </p:nvGraphicFramePr>
        <p:xfrm>
          <a:off x="5303838" y="1052513"/>
          <a:ext cx="4892675" cy="1049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2222500" imgH="469900" progId="Equation.DSMT4">
                  <p:embed/>
                </p:oleObj>
              </mc:Choice>
              <mc:Fallback>
                <p:oleObj name="" r:id="rId1" imgW="2222500" imgH="469900" progId="Equation.DSMT4">
                  <p:embed/>
                  <p:pic>
                    <p:nvPicPr>
                      <p:cNvPr id="0" name="图片 312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303838" y="1052513"/>
                        <a:ext cx="4892675" cy="1049337"/>
                      </a:xfrm>
                      <a:prstGeom prst="rect">
                        <a:avLst/>
                      </a:prstGeom>
                      <a:solidFill>
                        <a:srgbClr val="FFFF00">
                          <a:alpha val="81175"/>
                        </a:srgbClr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4" name="Object 13"/>
          <p:cNvGraphicFramePr>
            <a:graphicFrameLocks noChangeAspect="1"/>
          </p:cNvGraphicFramePr>
          <p:nvPr/>
        </p:nvGraphicFramePr>
        <p:xfrm>
          <a:off x="4224338" y="2205038"/>
          <a:ext cx="5975350" cy="1947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2603500" imgH="838200" progId="Equation.DSMT4">
                  <p:embed/>
                </p:oleObj>
              </mc:Choice>
              <mc:Fallback>
                <p:oleObj name="" r:id="rId3" imgW="2603500" imgH="838200" progId="Equation.DSMT4">
                  <p:embed/>
                  <p:pic>
                    <p:nvPicPr>
                      <p:cNvPr id="0" name="图片 312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224338" y="2205038"/>
                        <a:ext cx="5975350" cy="1947862"/>
                      </a:xfrm>
                      <a:prstGeom prst="rect">
                        <a:avLst/>
                      </a:prstGeom>
                      <a:solidFill>
                        <a:srgbClr val="FFFF00">
                          <a:alpha val="81175"/>
                        </a:srgbClr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5" name="Object 15"/>
          <p:cNvGraphicFramePr>
            <a:graphicFrameLocks noChangeAspect="1"/>
          </p:cNvGraphicFramePr>
          <p:nvPr/>
        </p:nvGraphicFramePr>
        <p:xfrm>
          <a:off x="4224338" y="4221163"/>
          <a:ext cx="3527425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5" imgW="1714500" imgH="241300" progId="Equation.DSMT4">
                  <p:embed/>
                </p:oleObj>
              </mc:Choice>
              <mc:Fallback>
                <p:oleObj name="" r:id="rId5" imgW="1714500" imgH="241300" progId="Equation.DSMT4">
                  <p:embed/>
                  <p:pic>
                    <p:nvPicPr>
                      <p:cNvPr id="0" name="图片 313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224338" y="4221163"/>
                        <a:ext cx="3527425" cy="495300"/>
                      </a:xfrm>
                      <a:prstGeom prst="rect">
                        <a:avLst/>
                      </a:prstGeom>
                      <a:solidFill>
                        <a:srgbClr val="FFFF00">
                          <a:alpha val="81175"/>
                        </a:srgbClr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6" name="Object 17"/>
          <p:cNvGraphicFramePr>
            <a:graphicFrameLocks noChangeAspect="1"/>
          </p:cNvGraphicFramePr>
          <p:nvPr/>
        </p:nvGraphicFramePr>
        <p:xfrm>
          <a:off x="3071813" y="4797425"/>
          <a:ext cx="7092950" cy="181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7" imgW="3225800" imgH="787400" progId="Equation.DSMT4">
                  <p:embed/>
                </p:oleObj>
              </mc:Choice>
              <mc:Fallback>
                <p:oleObj name="" r:id="rId7" imgW="3225800" imgH="787400" progId="Equation.DSMT4">
                  <p:embed/>
                  <p:pic>
                    <p:nvPicPr>
                      <p:cNvPr id="0" name="图片 313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071813" y="4797425"/>
                        <a:ext cx="7092950" cy="1812925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7" name="Text Box 18"/>
          <p:cNvSpPr txBox="1"/>
          <p:nvPr/>
        </p:nvSpPr>
        <p:spPr>
          <a:xfrm>
            <a:off x="2063750" y="4941888"/>
            <a:ext cx="2303463" cy="521970"/>
          </a:xfrm>
          <a:prstGeom prst="rect">
            <a:avLst/>
          </a:prstGeom>
          <a:noFill/>
          <a:ln w="25400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 sz="2800" b="1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4. </a:t>
            </a:r>
            <a:r>
              <a:rPr lang="zh-CN" altLang="en-US" sz="2800" b="1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解方程：</a:t>
            </a:r>
            <a:endParaRPr lang="zh-CN" altLang="en-US" sz="2800" b="1" dirty="0">
              <a:solidFill>
                <a:srgbClr val="0000CC"/>
              </a:solidFill>
              <a:latin typeface="Times New Roman" panose="0202060305040502030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Text Box 2"/>
          <p:cNvSpPr txBox="1"/>
          <p:nvPr/>
        </p:nvSpPr>
        <p:spPr>
          <a:xfrm>
            <a:off x="2063750" y="549275"/>
            <a:ext cx="6840538" cy="521970"/>
          </a:xfrm>
          <a:prstGeom prst="rect">
            <a:avLst/>
          </a:prstGeom>
          <a:noFill/>
          <a:ln w="25400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20000"/>
              </a:spcBef>
            </a:pPr>
            <a:r>
              <a:rPr lang="zh-CN" altLang="en-US" sz="2800" b="1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回忆</a:t>
            </a:r>
            <a:r>
              <a:rPr lang="en-US" altLang="zh-CN" sz="2800" b="1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2</a:t>
            </a:r>
            <a:r>
              <a:rPr lang="zh-CN" altLang="en-US" sz="2800" b="1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：例</a:t>
            </a:r>
            <a:endParaRPr lang="zh-CN" altLang="en-US" sz="2800" b="1" dirty="0">
              <a:solidFill>
                <a:srgbClr val="0000CC"/>
              </a:solidFill>
              <a:latin typeface="Times New Roman" panose="02020603050405020304" charset="0"/>
              <a:ea typeface="黑体" panose="02010609060101010101" pitchFamily="49" charset="-122"/>
            </a:endParaRPr>
          </a:p>
        </p:txBody>
      </p:sp>
      <p:sp>
        <p:nvSpPr>
          <p:cNvPr id="33794" name="Text Box 3"/>
          <p:cNvSpPr txBox="1"/>
          <p:nvPr/>
        </p:nvSpPr>
        <p:spPr>
          <a:xfrm>
            <a:off x="2063750" y="4149725"/>
            <a:ext cx="2089150" cy="521970"/>
          </a:xfrm>
          <a:prstGeom prst="rect">
            <a:avLst/>
          </a:prstGeom>
          <a:noFill/>
          <a:ln w="25400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 sz="2800" b="1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3. </a:t>
            </a:r>
            <a:r>
              <a:rPr lang="zh-CN" altLang="en-US" sz="2800" b="1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变量替换：</a:t>
            </a:r>
            <a:endParaRPr lang="zh-CN" altLang="en-US" sz="2800" b="1" dirty="0">
              <a:solidFill>
                <a:srgbClr val="0000CC"/>
              </a:solidFill>
              <a:latin typeface="Times New Roman" panose="02020603050405020304" charset="0"/>
              <a:ea typeface="黑体" panose="02010609060101010101" pitchFamily="49" charset="-122"/>
            </a:endParaRPr>
          </a:p>
        </p:txBody>
      </p:sp>
      <p:sp>
        <p:nvSpPr>
          <p:cNvPr id="33795" name="Rectangle 4"/>
          <p:cNvSpPr/>
          <p:nvPr/>
        </p:nvSpPr>
        <p:spPr>
          <a:xfrm>
            <a:off x="1919288" y="1340009"/>
            <a:ext cx="2952750" cy="52197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r>
              <a:rPr lang="en-US" altLang="zh-CN" sz="2800" b="1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1. </a:t>
            </a:r>
            <a:r>
              <a:rPr lang="zh-CN" altLang="en-US" sz="2800" b="1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偏微分方程：</a:t>
            </a:r>
            <a:endParaRPr lang="zh-CN" altLang="en-US" sz="2800" b="1" dirty="0">
              <a:solidFill>
                <a:srgbClr val="0000CC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33796" name="Rectangle 5"/>
          <p:cNvSpPr/>
          <p:nvPr/>
        </p:nvSpPr>
        <p:spPr>
          <a:xfrm>
            <a:off x="2063750" y="2139633"/>
            <a:ext cx="2376488" cy="95313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r>
              <a:rPr lang="en-US" altLang="zh-CN" sz="2800" b="1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2. </a:t>
            </a:r>
            <a:r>
              <a:rPr lang="zh-CN" altLang="en-US" sz="2800" b="1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特征方程与特征根：</a:t>
            </a:r>
            <a:endParaRPr lang="zh-CN" altLang="en-US" sz="2800" b="1" dirty="0">
              <a:solidFill>
                <a:srgbClr val="0000CC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graphicFrame>
        <p:nvGraphicFramePr>
          <p:cNvPr id="33797" name="Object 6"/>
          <p:cNvGraphicFramePr>
            <a:graphicFrameLocks noChangeAspect="1"/>
          </p:cNvGraphicFramePr>
          <p:nvPr/>
        </p:nvGraphicFramePr>
        <p:xfrm>
          <a:off x="4800600" y="1052513"/>
          <a:ext cx="4165600" cy="1049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1892300" imgH="469900" progId="Equation.DSMT4">
                  <p:embed/>
                </p:oleObj>
              </mc:Choice>
              <mc:Fallback>
                <p:oleObj name="" r:id="rId1" imgW="1892300" imgH="469900" progId="Equation.DSMT4">
                  <p:embed/>
                  <p:pic>
                    <p:nvPicPr>
                      <p:cNvPr id="0" name="图片 313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800600" y="1052513"/>
                        <a:ext cx="4165600" cy="1049337"/>
                      </a:xfrm>
                      <a:prstGeom prst="rect">
                        <a:avLst/>
                      </a:prstGeom>
                      <a:solidFill>
                        <a:srgbClr val="FFFF00">
                          <a:alpha val="81175"/>
                        </a:srgbClr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8" name="Object 7"/>
          <p:cNvGraphicFramePr>
            <a:graphicFrameLocks noChangeAspect="1"/>
          </p:cNvGraphicFramePr>
          <p:nvPr/>
        </p:nvGraphicFramePr>
        <p:xfrm>
          <a:off x="4656138" y="2349500"/>
          <a:ext cx="5321300" cy="1239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2095500" imgH="482600" progId="Equation.DSMT4">
                  <p:embed/>
                </p:oleObj>
              </mc:Choice>
              <mc:Fallback>
                <p:oleObj name="" r:id="rId3" imgW="2095500" imgH="482600" progId="Equation.DSMT4">
                  <p:embed/>
                  <p:pic>
                    <p:nvPicPr>
                      <p:cNvPr id="0" name="图片 314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656138" y="2349500"/>
                        <a:ext cx="5321300" cy="1239838"/>
                      </a:xfrm>
                      <a:prstGeom prst="rect">
                        <a:avLst/>
                      </a:prstGeom>
                      <a:solidFill>
                        <a:srgbClr val="FFFF00">
                          <a:alpha val="81175"/>
                        </a:srgbClr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9" name="Object 8"/>
          <p:cNvGraphicFramePr>
            <a:graphicFrameLocks noChangeAspect="1"/>
          </p:cNvGraphicFramePr>
          <p:nvPr/>
        </p:nvGraphicFramePr>
        <p:xfrm>
          <a:off x="4381500" y="4178300"/>
          <a:ext cx="3357563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5" imgW="1497965" imgH="215900" progId="Equation.DSMT4">
                  <p:embed/>
                </p:oleObj>
              </mc:Choice>
              <mc:Fallback>
                <p:oleObj name="" r:id="rId5" imgW="1497965" imgH="215900" progId="Equation.DSMT4">
                  <p:embed/>
                  <p:pic>
                    <p:nvPicPr>
                      <p:cNvPr id="0" name="图片 313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381500" y="4178300"/>
                        <a:ext cx="3357563" cy="482600"/>
                      </a:xfrm>
                      <a:prstGeom prst="rect">
                        <a:avLst/>
                      </a:prstGeom>
                      <a:solidFill>
                        <a:srgbClr val="FFFF00">
                          <a:alpha val="81175"/>
                        </a:srgbClr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0" name="Object 9"/>
          <p:cNvGraphicFramePr>
            <a:graphicFrameLocks noChangeAspect="1"/>
          </p:cNvGraphicFramePr>
          <p:nvPr/>
        </p:nvGraphicFramePr>
        <p:xfrm>
          <a:off x="4367213" y="4797425"/>
          <a:ext cx="4105275" cy="181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7" imgW="1866900" imgH="787400" progId="Equation.DSMT4">
                  <p:embed/>
                </p:oleObj>
              </mc:Choice>
              <mc:Fallback>
                <p:oleObj name="" r:id="rId7" imgW="1866900" imgH="787400" progId="Equation.DSMT4">
                  <p:embed/>
                  <p:pic>
                    <p:nvPicPr>
                      <p:cNvPr id="0" name="图片 313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67213" y="4797425"/>
                        <a:ext cx="4105275" cy="1812925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01" name="Text Box 10"/>
          <p:cNvSpPr txBox="1"/>
          <p:nvPr/>
        </p:nvSpPr>
        <p:spPr>
          <a:xfrm>
            <a:off x="2063750" y="4941888"/>
            <a:ext cx="2303463" cy="521970"/>
          </a:xfrm>
          <a:prstGeom prst="rect">
            <a:avLst/>
          </a:prstGeom>
          <a:noFill/>
          <a:ln w="25400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 sz="2800" b="1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4. </a:t>
            </a:r>
            <a:r>
              <a:rPr lang="zh-CN" altLang="en-US" sz="2800" b="1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解方程：</a:t>
            </a:r>
            <a:endParaRPr lang="zh-CN" altLang="en-US" sz="2800" b="1" dirty="0">
              <a:solidFill>
                <a:srgbClr val="0000CC"/>
              </a:solidFill>
              <a:latin typeface="Times New Roman" panose="0202060305040502030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Text Box 2"/>
          <p:cNvSpPr txBox="1"/>
          <p:nvPr/>
        </p:nvSpPr>
        <p:spPr>
          <a:xfrm>
            <a:off x="1992313" y="260350"/>
            <a:ext cx="2592387" cy="521970"/>
          </a:xfrm>
          <a:prstGeom prst="rect">
            <a:avLst/>
          </a:prstGeom>
          <a:noFill/>
          <a:ln w="25400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20000"/>
              </a:spcBef>
            </a:pPr>
            <a:r>
              <a:rPr lang="zh-CN" altLang="en-US" sz="2800" b="1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例</a:t>
            </a:r>
            <a:r>
              <a:rPr lang="en-US" altLang="zh-CN" sz="2800" b="1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:</a:t>
            </a:r>
            <a:r>
              <a:rPr lang="zh-CN" altLang="en-US" sz="2800" b="1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解波动方程</a:t>
            </a:r>
            <a:endParaRPr lang="zh-CN" altLang="en-US" sz="2800" b="1" dirty="0">
              <a:solidFill>
                <a:srgbClr val="0000CC"/>
              </a:solidFill>
              <a:latin typeface="Times New Roman" panose="02020603050405020304" charset="0"/>
              <a:ea typeface="黑体" panose="02010609060101010101" pitchFamily="49" charset="-122"/>
            </a:endParaRPr>
          </a:p>
        </p:txBody>
      </p:sp>
      <p:sp>
        <p:nvSpPr>
          <p:cNvPr id="34818" name="Text Box 3"/>
          <p:cNvSpPr txBox="1"/>
          <p:nvPr/>
        </p:nvSpPr>
        <p:spPr>
          <a:xfrm>
            <a:off x="2063750" y="3429000"/>
            <a:ext cx="2089150" cy="521970"/>
          </a:xfrm>
          <a:prstGeom prst="rect">
            <a:avLst/>
          </a:prstGeom>
          <a:noFill/>
          <a:ln w="25400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 sz="2800" b="1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3. </a:t>
            </a:r>
            <a:r>
              <a:rPr lang="zh-CN" altLang="en-US" sz="2800" b="1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变量替换：</a:t>
            </a:r>
            <a:endParaRPr lang="zh-CN" altLang="en-US" sz="2800" b="1" dirty="0">
              <a:solidFill>
                <a:srgbClr val="0000CC"/>
              </a:solidFill>
              <a:latin typeface="Times New Roman" panose="02020603050405020304" charset="0"/>
              <a:ea typeface="黑体" panose="02010609060101010101" pitchFamily="49" charset="-122"/>
            </a:endParaRPr>
          </a:p>
        </p:txBody>
      </p:sp>
      <p:sp>
        <p:nvSpPr>
          <p:cNvPr id="34819" name="Rectangle 4"/>
          <p:cNvSpPr/>
          <p:nvPr/>
        </p:nvSpPr>
        <p:spPr>
          <a:xfrm>
            <a:off x="1919288" y="1340009"/>
            <a:ext cx="2376487" cy="52197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r>
              <a:rPr lang="en-US" altLang="zh-CN" sz="2800" b="1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1. </a:t>
            </a:r>
            <a:r>
              <a:rPr lang="zh-CN" altLang="en-US" sz="2800" b="1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波动方程：</a:t>
            </a:r>
            <a:endParaRPr lang="zh-CN" altLang="en-US" sz="2800" b="1" dirty="0">
              <a:solidFill>
                <a:srgbClr val="0000CC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34820" name="Rectangle 5"/>
          <p:cNvSpPr/>
          <p:nvPr/>
        </p:nvSpPr>
        <p:spPr>
          <a:xfrm>
            <a:off x="2063750" y="2563972"/>
            <a:ext cx="3600450" cy="52197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r>
              <a:rPr lang="en-US" altLang="zh-CN" sz="2800" b="1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2. </a:t>
            </a:r>
            <a:r>
              <a:rPr lang="zh-CN" altLang="en-US" sz="2800" b="1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特征方程与特征根：</a:t>
            </a:r>
            <a:endParaRPr lang="zh-CN" altLang="en-US" sz="2800" b="1" dirty="0">
              <a:solidFill>
                <a:srgbClr val="0000CC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graphicFrame>
        <p:nvGraphicFramePr>
          <p:cNvPr id="34821" name="Object 6"/>
          <p:cNvGraphicFramePr>
            <a:graphicFrameLocks noChangeAspect="1"/>
          </p:cNvGraphicFramePr>
          <p:nvPr/>
        </p:nvGraphicFramePr>
        <p:xfrm>
          <a:off x="4367213" y="836613"/>
          <a:ext cx="5908675" cy="151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3073400" imgH="774700" progId="Equation.DSMT4">
                  <p:embed/>
                </p:oleObj>
              </mc:Choice>
              <mc:Fallback>
                <p:oleObj name="" r:id="rId1" imgW="3073400" imgH="774700" progId="Equation.DSMT4">
                  <p:embed/>
                  <p:pic>
                    <p:nvPicPr>
                      <p:cNvPr id="0" name="图片 313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367213" y="836613"/>
                        <a:ext cx="5908675" cy="1511300"/>
                      </a:xfrm>
                      <a:prstGeom prst="rect">
                        <a:avLst/>
                      </a:prstGeom>
                      <a:solidFill>
                        <a:srgbClr val="FFFF00">
                          <a:alpha val="81175"/>
                        </a:srgbClr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2" name="Object 7"/>
          <p:cNvGraphicFramePr>
            <a:graphicFrameLocks noChangeAspect="1"/>
          </p:cNvGraphicFramePr>
          <p:nvPr/>
        </p:nvGraphicFramePr>
        <p:xfrm>
          <a:off x="5664200" y="2492375"/>
          <a:ext cx="3902075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1536065" imgH="203200" progId="Equation.DSMT4">
                  <p:embed/>
                </p:oleObj>
              </mc:Choice>
              <mc:Fallback>
                <p:oleObj name="" r:id="rId3" imgW="1536065" imgH="203200" progId="Equation.DSMT4">
                  <p:embed/>
                  <p:pic>
                    <p:nvPicPr>
                      <p:cNvPr id="0" name="图片 314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664200" y="2492375"/>
                        <a:ext cx="3902075" cy="522288"/>
                      </a:xfrm>
                      <a:prstGeom prst="rect">
                        <a:avLst/>
                      </a:prstGeom>
                      <a:solidFill>
                        <a:srgbClr val="FFFF00">
                          <a:alpha val="81175"/>
                        </a:srgbClr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3" name="Object 8"/>
          <p:cNvGraphicFramePr>
            <a:graphicFrameLocks noChangeAspect="1"/>
          </p:cNvGraphicFramePr>
          <p:nvPr/>
        </p:nvGraphicFramePr>
        <p:xfrm>
          <a:off x="4197350" y="3429000"/>
          <a:ext cx="35560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5" imgW="1586865" imgH="215900" progId="Equation.DSMT4">
                  <p:embed/>
                </p:oleObj>
              </mc:Choice>
              <mc:Fallback>
                <p:oleObj name="" r:id="rId5" imgW="1586865" imgH="215900" progId="Equation.DSMT4">
                  <p:embed/>
                  <p:pic>
                    <p:nvPicPr>
                      <p:cNvPr id="0" name="图片 314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197350" y="3429000"/>
                        <a:ext cx="3556000" cy="482600"/>
                      </a:xfrm>
                      <a:prstGeom prst="rect">
                        <a:avLst/>
                      </a:prstGeom>
                      <a:solidFill>
                        <a:srgbClr val="FFFF00">
                          <a:alpha val="81175"/>
                        </a:srgbClr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4" name="Object 9"/>
          <p:cNvGraphicFramePr>
            <a:graphicFrameLocks noChangeAspect="1"/>
          </p:cNvGraphicFramePr>
          <p:nvPr/>
        </p:nvGraphicFramePr>
        <p:xfrm>
          <a:off x="4132263" y="4005263"/>
          <a:ext cx="6311900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7" imgW="2870200" imgH="508000" progId="Equation.DSMT4">
                  <p:embed/>
                </p:oleObj>
              </mc:Choice>
              <mc:Fallback>
                <p:oleObj name="" r:id="rId7" imgW="2870200" imgH="508000" progId="Equation.DSMT4">
                  <p:embed/>
                  <p:pic>
                    <p:nvPicPr>
                      <p:cNvPr id="0" name="图片 313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132263" y="4005263"/>
                        <a:ext cx="6311900" cy="1168400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5" name="Text Box 10"/>
          <p:cNvSpPr txBox="1"/>
          <p:nvPr/>
        </p:nvSpPr>
        <p:spPr>
          <a:xfrm>
            <a:off x="2135188" y="4149725"/>
            <a:ext cx="2303462" cy="521970"/>
          </a:xfrm>
          <a:prstGeom prst="rect">
            <a:avLst/>
          </a:prstGeom>
          <a:noFill/>
          <a:ln w="25400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 sz="2800" b="1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4. </a:t>
            </a:r>
            <a:r>
              <a:rPr lang="zh-CN" altLang="en-US" sz="2800" b="1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解方程：</a:t>
            </a:r>
            <a:endParaRPr lang="zh-CN" altLang="en-US" sz="2800" b="1" dirty="0">
              <a:solidFill>
                <a:srgbClr val="0000CC"/>
              </a:solidFill>
              <a:latin typeface="Times New Roman" panose="02020603050405020304" charset="0"/>
              <a:ea typeface="黑体" panose="02010609060101010101" pitchFamily="49" charset="-122"/>
            </a:endParaRPr>
          </a:p>
        </p:txBody>
      </p:sp>
      <p:sp>
        <p:nvSpPr>
          <p:cNvPr id="34826" name="Text Box 11"/>
          <p:cNvSpPr txBox="1"/>
          <p:nvPr/>
        </p:nvSpPr>
        <p:spPr>
          <a:xfrm>
            <a:off x="2063750" y="5157788"/>
            <a:ext cx="4392613" cy="521970"/>
          </a:xfrm>
          <a:prstGeom prst="rect">
            <a:avLst/>
          </a:prstGeom>
          <a:noFill/>
          <a:ln w="25400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 sz="2800" b="1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5. </a:t>
            </a:r>
            <a:r>
              <a:rPr lang="zh-CN" altLang="en-US" sz="2800" b="1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利用初始条件解</a:t>
            </a:r>
            <a:r>
              <a:rPr lang="en-US" altLang="zh-CN" sz="2800" b="1" i="1" dirty="0">
                <a:solidFill>
                  <a:srgbClr val="0000CC"/>
                </a:solidFill>
                <a:latin typeface="Times New Roman" panose="02020603050405020304" charset="0"/>
                <a:ea typeface="黑体" panose="02010609060101010101" pitchFamily="49" charset="-122"/>
              </a:rPr>
              <a:t>f</a:t>
            </a:r>
            <a:r>
              <a:rPr lang="en-US" altLang="zh-CN" sz="2800" b="1" i="1" baseline="-25000" dirty="0">
                <a:solidFill>
                  <a:srgbClr val="0000CC"/>
                </a:solidFill>
                <a:latin typeface="Times New Roman" panose="02020603050405020304" charset="0"/>
                <a:ea typeface="黑体" panose="02010609060101010101" pitchFamily="49" charset="-122"/>
              </a:rPr>
              <a:t>1</a:t>
            </a:r>
            <a:r>
              <a:rPr lang="zh-CN" altLang="en-US" sz="2800" b="1" i="1" dirty="0">
                <a:solidFill>
                  <a:srgbClr val="0000CC"/>
                </a:solidFill>
                <a:latin typeface="Times New Roman" panose="02020603050405020304" charset="0"/>
                <a:ea typeface="黑体" panose="02010609060101010101" pitchFamily="49" charset="-122"/>
              </a:rPr>
              <a:t>、</a:t>
            </a:r>
            <a:r>
              <a:rPr lang="en-US" altLang="zh-CN" sz="2800" b="1" i="1" dirty="0">
                <a:solidFill>
                  <a:srgbClr val="0000CC"/>
                </a:solidFill>
                <a:latin typeface="Times New Roman" panose="02020603050405020304" charset="0"/>
                <a:ea typeface="黑体" panose="02010609060101010101" pitchFamily="49" charset="-122"/>
              </a:rPr>
              <a:t>f</a:t>
            </a:r>
            <a:r>
              <a:rPr lang="en-US" altLang="zh-CN" sz="2800" b="1" i="1" baseline="-25000" dirty="0">
                <a:solidFill>
                  <a:srgbClr val="0000CC"/>
                </a:solidFill>
                <a:latin typeface="Times New Roman" panose="02020603050405020304" charset="0"/>
                <a:ea typeface="黑体" panose="02010609060101010101" pitchFamily="49" charset="-122"/>
              </a:rPr>
              <a:t>2</a:t>
            </a:r>
            <a:r>
              <a:rPr lang="zh-CN" altLang="en-US" sz="2800" b="1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：</a:t>
            </a:r>
            <a:endParaRPr lang="zh-CN" altLang="en-US" sz="2800" b="1" dirty="0">
              <a:solidFill>
                <a:srgbClr val="0000CC"/>
              </a:solidFill>
              <a:latin typeface="Times New Roman" panose="02020603050405020304" charset="0"/>
              <a:ea typeface="黑体" panose="02010609060101010101" pitchFamily="49" charset="-122"/>
            </a:endParaRPr>
          </a:p>
        </p:txBody>
      </p:sp>
      <p:graphicFrame>
        <p:nvGraphicFramePr>
          <p:cNvPr id="34827" name="Object 12"/>
          <p:cNvGraphicFramePr/>
          <p:nvPr/>
        </p:nvGraphicFramePr>
        <p:xfrm>
          <a:off x="2424113" y="5661025"/>
          <a:ext cx="8074025" cy="100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9" imgW="3276600" imgH="406400" progId="Equation.DSMT4">
                  <p:embed/>
                </p:oleObj>
              </mc:Choice>
              <mc:Fallback>
                <p:oleObj name="" r:id="rId9" imgW="3276600" imgH="406400" progId="Equation.DSMT4">
                  <p:embed/>
                  <p:pic>
                    <p:nvPicPr>
                      <p:cNvPr id="0" name="图片 3143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424113" y="5661025"/>
                        <a:ext cx="8074025" cy="1008063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Text Box 2"/>
          <p:cNvSpPr txBox="1"/>
          <p:nvPr/>
        </p:nvSpPr>
        <p:spPr>
          <a:xfrm>
            <a:off x="2566988" y="981075"/>
            <a:ext cx="6985000" cy="203009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charset="0"/>
                <a:ea typeface="黑体" panose="02010609060101010101" pitchFamily="49" charset="-122"/>
              </a:rPr>
              <a:t>Fourier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变换是一种把分析运算化为代数运算的有效方法</a:t>
            </a:r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但</a:t>
            </a:r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endParaRPr lang="en-US" altLang="zh-CN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charset="0"/>
                <a:ea typeface="黑体" panose="02010609060101010101" pitchFamily="49" charset="-122"/>
              </a:rPr>
              <a:t>Fourier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变换要求原象函数在</a:t>
            </a:r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上绝对可积，大部分函数不能作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charset="0"/>
                <a:ea typeface="黑体" panose="02010609060101010101" pitchFamily="49" charset="-122"/>
              </a:rPr>
              <a:t>Fourier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变换。</a:t>
            </a:r>
            <a:endParaRPr lang="zh-CN" altLang="en-US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5842" name="Text Box 3"/>
          <p:cNvSpPr txBox="1"/>
          <p:nvPr/>
        </p:nvSpPr>
        <p:spPr>
          <a:xfrm>
            <a:off x="2566988" y="3500438"/>
            <a:ext cx="7345362" cy="95313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charset="0"/>
                <a:ea typeface="黑体" panose="02010609060101010101" pitchFamily="49" charset="-122"/>
              </a:rPr>
              <a:t>Fourier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变换要求函数在整个数轴上有定义，研究混合问题时失效。</a:t>
            </a:r>
            <a:endParaRPr lang="zh-CN" altLang="en-US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/>
          <p:cNvSpPr>
            <a:spLocks noGrp="1" noRot="1"/>
          </p:cNvSpPr>
          <p:nvPr>
            <p:ph type="title"/>
          </p:nvPr>
        </p:nvSpPr>
        <p:spPr>
          <a:xfrm>
            <a:off x="2927350" y="476250"/>
            <a:ext cx="5761038" cy="782638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第五章： 复习思考题与作业</a:t>
            </a:r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6866" name="Rectangle 3"/>
          <p:cNvSpPr>
            <a:spLocks noGrp="1" noRot="1"/>
          </p:cNvSpPr>
          <p:nvPr>
            <p:ph idx="1"/>
          </p:nvPr>
        </p:nvSpPr>
        <p:spPr>
          <a:xfrm>
            <a:off x="2165668" y="1433830"/>
            <a:ext cx="7993062" cy="4392613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80000"/>
              </a:lnSpc>
              <a:buNone/>
            </a:pPr>
            <a:r>
              <a:rPr lang="zh-CN" altLang="en-US" sz="2000" dirty="0">
                <a:solidFill>
                  <a:srgbClr val="0000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一．名词解释：</a:t>
            </a:r>
            <a:endParaRPr lang="zh-CN" altLang="en-US" sz="2000" dirty="0">
              <a:solidFill>
                <a:srgbClr val="0000CC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000" dirty="0">
                <a:solidFill>
                  <a:srgbClr val="0000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    </a:t>
            </a:r>
            <a:r>
              <a:rPr lang="en-US" altLang="zh-CN" sz="2000" dirty="0">
                <a:solidFill>
                  <a:srgbClr val="0000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1.Fourier</a:t>
            </a:r>
            <a:r>
              <a:rPr lang="zh-CN" altLang="en-US" sz="2000" dirty="0">
                <a:solidFill>
                  <a:srgbClr val="0000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变换，</a:t>
            </a:r>
            <a:r>
              <a:rPr lang="en-US" altLang="zh-CN" sz="2000" dirty="0">
                <a:solidFill>
                  <a:srgbClr val="0000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Fourier</a:t>
            </a:r>
            <a:r>
              <a:rPr lang="zh-CN" altLang="en-US" sz="2000" dirty="0">
                <a:solidFill>
                  <a:srgbClr val="0000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逆变换；</a:t>
            </a:r>
            <a:endParaRPr lang="zh-CN" altLang="en-US" sz="2000" dirty="0">
              <a:solidFill>
                <a:srgbClr val="0000CC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000" dirty="0">
                <a:solidFill>
                  <a:srgbClr val="0000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    </a:t>
            </a:r>
            <a:r>
              <a:rPr lang="en-US" altLang="zh-CN" sz="2000" dirty="0">
                <a:solidFill>
                  <a:srgbClr val="0000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2.Fourier</a:t>
            </a:r>
            <a:r>
              <a:rPr lang="zh-CN" altLang="en-US" sz="2000" dirty="0">
                <a:solidFill>
                  <a:srgbClr val="0000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变换线性性质；</a:t>
            </a:r>
            <a:endParaRPr lang="zh-CN" altLang="en-US" sz="2000" dirty="0">
              <a:solidFill>
                <a:srgbClr val="0000CC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000" dirty="0">
                <a:solidFill>
                  <a:srgbClr val="0000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    </a:t>
            </a:r>
            <a:r>
              <a:rPr lang="en-US" altLang="zh-CN" sz="2000" dirty="0">
                <a:solidFill>
                  <a:srgbClr val="0000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3. Fourier</a:t>
            </a:r>
            <a:r>
              <a:rPr lang="zh-CN" altLang="en-US" sz="2000" dirty="0">
                <a:solidFill>
                  <a:srgbClr val="0000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位移性质；</a:t>
            </a:r>
            <a:endParaRPr lang="zh-CN" altLang="en-US" sz="2000" dirty="0">
              <a:solidFill>
                <a:srgbClr val="0000CC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000" dirty="0">
                <a:solidFill>
                  <a:srgbClr val="0000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    </a:t>
            </a:r>
            <a:r>
              <a:rPr lang="en-US" altLang="zh-CN" sz="2000" dirty="0">
                <a:solidFill>
                  <a:srgbClr val="0000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4. Fourier</a:t>
            </a:r>
            <a:r>
              <a:rPr lang="zh-CN" altLang="en-US" sz="2000" dirty="0">
                <a:solidFill>
                  <a:srgbClr val="0000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微分性质；</a:t>
            </a:r>
            <a:endParaRPr lang="zh-CN" altLang="en-US" sz="2000" dirty="0">
              <a:solidFill>
                <a:srgbClr val="0000CC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000" dirty="0">
                <a:solidFill>
                  <a:srgbClr val="0000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    </a:t>
            </a:r>
            <a:r>
              <a:rPr lang="en-US" altLang="zh-CN" sz="2000" dirty="0">
                <a:solidFill>
                  <a:srgbClr val="0000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5. Fourier</a:t>
            </a:r>
            <a:r>
              <a:rPr lang="zh-CN" altLang="en-US" sz="2000" dirty="0">
                <a:solidFill>
                  <a:srgbClr val="0000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多项式性质；</a:t>
            </a:r>
            <a:endParaRPr lang="zh-CN" altLang="en-US" sz="2000" dirty="0">
              <a:solidFill>
                <a:srgbClr val="0000CC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000" dirty="0">
                <a:solidFill>
                  <a:srgbClr val="0000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    </a:t>
            </a:r>
            <a:r>
              <a:rPr lang="en-US" altLang="zh-CN" sz="2000" dirty="0">
                <a:solidFill>
                  <a:srgbClr val="0000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6. Fourier</a:t>
            </a:r>
            <a:r>
              <a:rPr lang="zh-CN" altLang="en-US" sz="2000" dirty="0">
                <a:solidFill>
                  <a:srgbClr val="0000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积分性质。</a:t>
            </a:r>
            <a:endParaRPr lang="zh-CN" altLang="en-US" sz="2000" dirty="0">
              <a:solidFill>
                <a:srgbClr val="0000CC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000" dirty="0">
                <a:solidFill>
                  <a:srgbClr val="0000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二．简述</a:t>
            </a:r>
            <a:r>
              <a:rPr lang="en-US" altLang="zh-CN" sz="2000" dirty="0">
                <a:solidFill>
                  <a:srgbClr val="0000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Fourier</a:t>
            </a:r>
            <a:r>
              <a:rPr lang="zh-CN" altLang="en-US" sz="2000" dirty="0">
                <a:solidFill>
                  <a:srgbClr val="0000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变换法求解偏微分方程定解问题的基本步骤</a:t>
            </a:r>
            <a:r>
              <a:rPr lang="zh-CN" altLang="en-US" sz="2000" dirty="0"/>
              <a:t> </a:t>
            </a:r>
            <a:r>
              <a:rPr lang="zh-CN" altLang="en-US" sz="2000" dirty="0">
                <a:solidFill>
                  <a:srgbClr val="0000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。</a:t>
            </a:r>
            <a:endParaRPr lang="zh-CN" altLang="en-US" sz="2000" dirty="0">
              <a:solidFill>
                <a:srgbClr val="0000CC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000" dirty="0">
                <a:solidFill>
                  <a:srgbClr val="0000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三．简述</a:t>
            </a:r>
            <a:r>
              <a:rPr lang="en-US" altLang="zh-CN" sz="2000" dirty="0">
                <a:solidFill>
                  <a:srgbClr val="0000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Fourier</a:t>
            </a:r>
            <a:r>
              <a:rPr lang="zh-CN" altLang="en-US" sz="2000" dirty="0">
                <a:solidFill>
                  <a:srgbClr val="0000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变换存在的条件</a:t>
            </a:r>
            <a:endParaRPr lang="zh-CN" altLang="en-US" sz="2000" dirty="0">
              <a:solidFill>
                <a:srgbClr val="0000CC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000" dirty="0">
                <a:solidFill>
                  <a:srgbClr val="0000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四</a:t>
            </a:r>
            <a:r>
              <a:rPr lang="en-US" altLang="zh-CN" sz="2000" dirty="0">
                <a:solidFill>
                  <a:srgbClr val="0000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. </a:t>
            </a:r>
            <a:r>
              <a:rPr lang="zh-CN" altLang="en-US" sz="2000" dirty="0">
                <a:solidFill>
                  <a:srgbClr val="0000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简述</a:t>
            </a:r>
            <a:r>
              <a:rPr lang="en-US" altLang="zh-CN" sz="2000" dirty="0">
                <a:solidFill>
                  <a:srgbClr val="0000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Fourier</a:t>
            </a:r>
            <a:r>
              <a:rPr lang="zh-CN" altLang="en-US" sz="2000" dirty="0">
                <a:solidFill>
                  <a:srgbClr val="0000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变换求解偏微分方程的不足之处。</a:t>
            </a:r>
            <a:endParaRPr lang="zh-CN" altLang="en-US" sz="2000" dirty="0">
              <a:solidFill>
                <a:srgbClr val="0000CC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000" dirty="0">
                <a:solidFill>
                  <a:srgbClr val="0000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五</a:t>
            </a:r>
            <a:r>
              <a:rPr lang="en-US" altLang="zh-CN" sz="2000" dirty="0">
                <a:solidFill>
                  <a:srgbClr val="0000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. </a:t>
            </a:r>
            <a:r>
              <a:rPr lang="zh-CN" altLang="en-US" sz="2000" dirty="0">
                <a:solidFill>
                  <a:srgbClr val="0000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（</a:t>
            </a:r>
            <a:r>
              <a:rPr lang="en-US" altLang="zh-CN" sz="2000" dirty="0">
                <a:solidFill>
                  <a:srgbClr val="0000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1</a:t>
            </a:r>
            <a:r>
              <a:rPr lang="zh-CN" altLang="en-US" sz="2000" dirty="0">
                <a:solidFill>
                  <a:srgbClr val="0000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）用</a:t>
            </a:r>
            <a:r>
              <a:rPr lang="en-US" altLang="zh-CN" sz="2000" dirty="0">
                <a:solidFill>
                  <a:srgbClr val="0000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Fourier</a:t>
            </a:r>
            <a:r>
              <a:rPr lang="zh-CN" altLang="en-US" sz="2000" dirty="0">
                <a:solidFill>
                  <a:srgbClr val="0000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变换解波动方程的</a:t>
            </a:r>
            <a:r>
              <a:rPr lang="en-US" altLang="zh-CN" sz="2000" dirty="0">
                <a:solidFill>
                  <a:srgbClr val="0000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Cauch</a:t>
            </a:r>
            <a:r>
              <a:rPr lang="zh-CN" altLang="en-US" sz="2000" dirty="0">
                <a:solidFill>
                  <a:srgbClr val="0000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问题。</a:t>
            </a:r>
            <a:endParaRPr lang="zh-CN" altLang="en-US" sz="2000" dirty="0">
              <a:solidFill>
                <a:srgbClr val="0000CC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000" dirty="0">
                <a:solidFill>
                  <a:srgbClr val="0000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  （</a:t>
            </a:r>
            <a:r>
              <a:rPr lang="en-US" altLang="zh-CN" sz="2000" dirty="0">
                <a:solidFill>
                  <a:srgbClr val="0000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2</a:t>
            </a:r>
            <a:r>
              <a:rPr lang="zh-CN" altLang="en-US" sz="2000" dirty="0">
                <a:solidFill>
                  <a:srgbClr val="0000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）用</a:t>
            </a:r>
            <a:r>
              <a:rPr lang="en-US" altLang="zh-CN" sz="2000" dirty="0">
                <a:solidFill>
                  <a:srgbClr val="0000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Fourier</a:t>
            </a:r>
            <a:r>
              <a:rPr lang="zh-CN" altLang="en-US" sz="2000" dirty="0">
                <a:solidFill>
                  <a:srgbClr val="0000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变换法推导无限长弦的</a:t>
            </a:r>
            <a:r>
              <a:rPr lang="en-US" altLang="zh-CN" sz="2000" dirty="0">
                <a:solidFill>
                  <a:srgbClr val="0000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d’Alembert</a:t>
            </a:r>
            <a:r>
              <a:rPr lang="zh-CN" altLang="en-US" sz="2000" dirty="0">
                <a:solidFill>
                  <a:srgbClr val="0000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公式。</a:t>
            </a:r>
            <a:endParaRPr lang="zh-CN" altLang="en-US" sz="2000" dirty="0">
              <a:solidFill>
                <a:srgbClr val="0000CC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000" dirty="0">
                <a:solidFill>
                  <a:srgbClr val="0000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六</a:t>
            </a:r>
            <a:r>
              <a:rPr lang="en-US" altLang="zh-CN" sz="2000" dirty="0">
                <a:solidFill>
                  <a:srgbClr val="0000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. </a:t>
            </a:r>
            <a:r>
              <a:rPr lang="zh-CN" altLang="en-US" sz="2000" dirty="0">
                <a:solidFill>
                  <a:srgbClr val="0000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书习题：</a:t>
            </a:r>
            <a:r>
              <a:rPr lang="en-US" altLang="zh-CN" sz="2000" dirty="0">
                <a:solidFill>
                  <a:srgbClr val="0000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1(1)(2)</a:t>
            </a:r>
            <a:r>
              <a:rPr lang="zh-CN" altLang="en-US" sz="2000" dirty="0">
                <a:solidFill>
                  <a:srgbClr val="0000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，</a:t>
            </a:r>
            <a:r>
              <a:rPr lang="en-US" altLang="zh-CN" sz="2000" dirty="0">
                <a:solidFill>
                  <a:srgbClr val="0000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2</a:t>
            </a:r>
            <a:r>
              <a:rPr lang="zh-CN" altLang="en-US" sz="2000" dirty="0">
                <a:solidFill>
                  <a:srgbClr val="0000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，</a:t>
            </a:r>
            <a:r>
              <a:rPr lang="en-US" altLang="zh-CN" sz="2000" dirty="0">
                <a:solidFill>
                  <a:srgbClr val="0000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5</a:t>
            </a:r>
            <a:r>
              <a:rPr lang="zh-CN" altLang="en-US" sz="2000" dirty="0">
                <a:solidFill>
                  <a:srgbClr val="0000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（</a:t>
            </a:r>
            <a:r>
              <a:rPr lang="en-US" altLang="zh-CN" sz="2000" dirty="0">
                <a:solidFill>
                  <a:srgbClr val="0000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P143</a:t>
            </a:r>
            <a:r>
              <a:rPr lang="zh-CN" altLang="en-US" sz="2000" dirty="0">
                <a:solidFill>
                  <a:srgbClr val="0000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）。</a:t>
            </a:r>
            <a:endParaRPr lang="zh-CN" altLang="en-US" sz="2000" dirty="0">
              <a:solidFill>
                <a:srgbClr val="0000CC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000" dirty="0">
                <a:solidFill>
                  <a:srgbClr val="0000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</a:t>
            </a:r>
            <a:endParaRPr lang="zh-CN" altLang="en-US" sz="2000" dirty="0">
              <a:solidFill>
                <a:srgbClr val="0000CC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96579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96579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TAG_VERSION" val="1.0"/>
  <p:tag name="KSO_WM_BEAUTIFY_FLAG" val="#wm#"/>
  <p:tag name="KSO_WM_COMBINE_RELATE_SLIDE_ID" val="custom925310_1"/>
  <p:tag name="KSO_WM_TEMPLATE_CATEGORY" val="custom"/>
  <p:tag name="KSO_WM_TEMPLATE_INDEX" val="20196579"/>
  <p:tag name="KSO_WM_TEMPLATE_SUBCATEGORY" val="0"/>
  <p:tag name="KSO_WM_TEMPLATE_THUMBS_INDEX" val="1"/>
</p:tagLst>
</file>

<file path=ppt/tags/tag71.xml><?xml version="1.0" encoding="utf-8"?>
<p:tagLst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6_1*a*1"/>
  <p:tag name="KSO_WM_TEMPLATE_CATEGORY" val="custom"/>
  <p:tag name="KSO_WM_TEMPLATE_INDEX" val="20205176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输入您的封面副标题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176_1*b*1"/>
  <p:tag name="KSO_WM_TEMPLATE_CATEGORY" val="custom"/>
  <p:tag name="KSO_WM_TEMPLATE_INDEX" val="20205176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8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9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81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82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84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85.xml><?xml version="1.0" encoding="utf-8"?>
<p:tagLst xmlns:p="http://schemas.openxmlformats.org/presentationml/2006/main">
  <p:tag name="KSO_WPP_MARK_KEY" val="fa891ce3-655c-4d00-add9-2849e16b941a"/>
  <p:tag name="COMMONDATA" val="eyJoZGlkIjoiY2YyZjYwNzZkOTRlODhkYjczZjVjNjg3YTAxMjY4NDkifQ=="/>
</p:tagLst>
</file>

<file path=ppt/theme/theme1.xml><?xml version="1.0" encoding="utf-8"?>
<a:theme xmlns:a="http://schemas.openxmlformats.org/drawingml/2006/main" name="1_Office 主题​​">
  <a:themeElements>
    <a:clrScheme name="自定义 4">
      <a:dk1>
        <a:srgbClr val="000000"/>
      </a:dk1>
      <a:lt1>
        <a:srgbClr val="FFFFFF"/>
      </a:lt1>
      <a:dk2>
        <a:srgbClr val="364048"/>
      </a:dk2>
      <a:lt2>
        <a:srgbClr val="8F7046"/>
      </a:lt2>
      <a:accent1>
        <a:srgbClr val="8F7046"/>
      </a:accent1>
      <a:accent2>
        <a:srgbClr val="C8AF92"/>
      </a:accent2>
      <a:accent3>
        <a:srgbClr val="C6BCB2"/>
      </a:accent3>
      <a:accent4>
        <a:srgbClr val="D7C9BC"/>
      </a:accent4>
      <a:accent5>
        <a:srgbClr val="364148"/>
      </a:accent5>
      <a:accent6>
        <a:srgbClr val="907046"/>
      </a:accent6>
      <a:hlink>
        <a:srgbClr val="D7C9BC"/>
      </a:hlink>
      <a:folHlink>
        <a:srgbClr val="BFBFBF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1652</Words>
  <Application>WPS 演示</Application>
  <PresentationFormat>宽屏</PresentationFormat>
  <Paragraphs>220</Paragraphs>
  <Slides>40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102</vt:i4>
      </vt:variant>
      <vt:variant>
        <vt:lpstr>幻灯片标题</vt:lpstr>
      </vt:variant>
      <vt:variant>
        <vt:i4>40</vt:i4>
      </vt:variant>
    </vt:vector>
  </HeadingPairs>
  <TitlesOfParts>
    <vt:vector size="156" baseType="lpstr">
      <vt:lpstr>Arial</vt:lpstr>
      <vt:lpstr>宋体</vt:lpstr>
      <vt:lpstr>Wingdings</vt:lpstr>
      <vt:lpstr>微软雅黑</vt:lpstr>
      <vt:lpstr>黑体</vt:lpstr>
      <vt:lpstr>Arial Unicode MS</vt:lpstr>
      <vt:lpstr>Calibri</vt:lpstr>
      <vt:lpstr>Times New Roman</vt:lpstr>
      <vt:lpstr>楷体_GB2312</vt:lpstr>
      <vt:lpstr>新宋体</vt:lpstr>
      <vt:lpstr>华文中宋</vt:lpstr>
      <vt:lpstr>quote-cjk-patch</vt:lpstr>
      <vt:lpstr>Segoe Print</vt:lpstr>
      <vt:lpstr>1_Office 主题​​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数学物理方法</vt:lpstr>
      <vt:lpstr>道生一，一生二，二生三，三生万物。   ——《道德经》</vt:lpstr>
      <vt:lpstr>三角正交函数系</vt:lpstr>
      <vt:lpstr>三角正交函数系</vt:lpstr>
      <vt:lpstr>三角正交函数系</vt:lpstr>
      <vt:lpstr>傅里叶级数</vt:lpstr>
      <vt:lpstr>傅里叶级数</vt:lpstr>
      <vt:lpstr>傅里叶级数</vt:lpstr>
      <vt:lpstr>傅里叶级数-&gt;傅里叶变换</vt:lpstr>
      <vt:lpstr>傅里叶级数-&gt;傅里叶变换</vt:lpstr>
      <vt:lpstr>傅里叶级数-&gt;傅里叶变换</vt:lpstr>
      <vt:lpstr>PowerPoint 演示文稿</vt:lpstr>
      <vt:lpstr>PowerPoint 演示文稿</vt:lpstr>
      <vt:lpstr>PowerPoint 演示文稿</vt:lpstr>
      <vt:lpstr>PowerPoint 演示文稿</vt:lpstr>
      <vt:lpstr>三:Fourier积分与Fourier逆变换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第五章： 复习思考题与作业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Ning</cp:lastModifiedBy>
  <cp:revision>304</cp:revision>
  <dcterms:created xsi:type="dcterms:W3CDTF">2019-06-19T02:08:00Z</dcterms:created>
  <dcterms:modified xsi:type="dcterms:W3CDTF">2025-11-18T02:04:22Z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ICV">
    <vt:lpwstr>D6DA4DF937EB42BC8C5BC20BD7B79D0B_13</vt:lpwstr>
  </property>
</Properties>
</file>