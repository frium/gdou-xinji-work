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694" r:id="rId4"/>
    <p:sldId id="677" r:id="rId6"/>
    <p:sldId id="653" r:id="rId7"/>
    <p:sldId id="696" r:id="rId8"/>
    <p:sldId id="294" r:id="rId9"/>
    <p:sldId id="295" r:id="rId10"/>
    <p:sldId id="296" r:id="rId11"/>
    <p:sldId id="297" r:id="rId12"/>
    <p:sldId id="379" r:id="rId13"/>
    <p:sldId id="301" r:id="rId14"/>
    <p:sldId id="304" r:id="rId15"/>
    <p:sldId id="380" r:id="rId16"/>
    <p:sldId id="298" r:id="rId17"/>
    <p:sldId id="299" r:id="rId18"/>
    <p:sldId id="300" r:id="rId19"/>
    <p:sldId id="302" r:id="rId20"/>
    <p:sldId id="303" r:id="rId21"/>
    <p:sldId id="305" r:id="rId22"/>
    <p:sldId id="306" r:id="rId23"/>
    <p:sldId id="307" r:id="rId24"/>
    <p:sldId id="308" r:id="rId25"/>
    <p:sldId id="309" r:id="rId26"/>
    <p:sldId id="310" r:id="rId27"/>
    <p:sldId id="311" r:id="rId28"/>
    <p:sldId id="312" r:id="rId29"/>
    <p:sldId id="349" r:id="rId30"/>
    <p:sldId id="654" r:id="rId31"/>
    <p:sldId id="655" r:id="rId32"/>
    <p:sldId id="656" r:id="rId33"/>
    <p:sldId id="657" r:id="rId34"/>
    <p:sldId id="658" r:id="rId35"/>
    <p:sldId id="706" r:id="rId36"/>
    <p:sldId id="707" r:id="rId37"/>
    <p:sldId id="659" r:id="rId38"/>
    <p:sldId id="660" r:id="rId39"/>
    <p:sldId id="661" r:id="rId40"/>
    <p:sldId id="662" r:id="rId41"/>
    <p:sldId id="363" r:id="rId42"/>
    <p:sldId id="332" r:id="rId43"/>
    <p:sldId id="334" r:id="rId44"/>
    <p:sldId id="362" r:id="rId45"/>
    <p:sldId id="361" r:id="rId46"/>
    <p:sldId id="335" r:id="rId47"/>
    <p:sldId id="664" r:id="rId48"/>
    <p:sldId id="708" r:id="rId49"/>
    <p:sldId id="709" r:id="rId50"/>
  </p:sldIdLst>
  <p:sldSz cx="12192000" cy="6858000"/>
  <p:notesSz cx="6858000" cy="9144000"/>
  <p:custDataLst>
    <p:tags r:id="rId5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B6C15"/>
    <a:srgbClr val="D9D9D9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1032" y="240"/>
      </p:cViewPr>
      <p:guideLst>
        <p:guide orient="horz" pos="217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5" Type="http://schemas.openxmlformats.org/officeDocument/2006/relationships/tags" Target="tags/tag74.xml"/><Relationship Id="rId54" Type="http://schemas.openxmlformats.org/officeDocument/2006/relationships/commentAuthors" Target="commentAuthors.xml"/><Relationship Id="rId53" Type="http://schemas.openxmlformats.org/officeDocument/2006/relationships/tableStyles" Target="tableStyles.xml"/><Relationship Id="rId52" Type="http://schemas.openxmlformats.org/officeDocument/2006/relationships/viewProps" Target="viewProps.xml"/><Relationship Id="rId51" Type="http://schemas.openxmlformats.org/officeDocument/2006/relationships/presProps" Target="presProps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4" Type="http://schemas.openxmlformats.org/officeDocument/2006/relationships/image" Target="../media/image16.wmf"/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4.vml.rels><?xml version="1.0" encoding="UTF-8" standalone="yes"?>
<Relationships xmlns="http://schemas.openxmlformats.org/package/2006/relationships"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5.wmf"/><Relationship Id="rId1" Type="http://schemas.openxmlformats.org/officeDocument/2006/relationships/image" Target="../media/image44.w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20.vml.rels><?xml version="1.0" encoding="UTF-8" standalone="yes"?>
<Relationships xmlns="http://schemas.openxmlformats.org/package/2006/relationships"><Relationship Id="rId6" Type="http://schemas.openxmlformats.org/officeDocument/2006/relationships/image" Target="../media/image57.wmf"/><Relationship Id="rId5" Type="http://schemas.openxmlformats.org/officeDocument/2006/relationships/image" Target="../media/image56.wmf"/><Relationship Id="rId4" Type="http://schemas.openxmlformats.org/officeDocument/2006/relationships/image" Target="../media/image55.wmf"/><Relationship Id="rId3" Type="http://schemas.openxmlformats.org/officeDocument/2006/relationships/image" Target="../media/image54.wmf"/><Relationship Id="rId2" Type="http://schemas.openxmlformats.org/officeDocument/2006/relationships/image" Target="../media/image53.wmf"/><Relationship Id="rId1" Type="http://schemas.openxmlformats.org/officeDocument/2006/relationships/image" Target="../media/image52.wmf"/></Relationships>
</file>

<file path=ppt/drawings/_rels/vmlDrawing21.vml.rels><?xml version="1.0" encoding="UTF-8" standalone="yes"?>
<Relationships xmlns="http://schemas.openxmlformats.org/package/2006/relationships"><Relationship Id="rId4" Type="http://schemas.openxmlformats.org/officeDocument/2006/relationships/image" Target="../media/image61.wmf"/><Relationship Id="rId3" Type="http://schemas.openxmlformats.org/officeDocument/2006/relationships/image" Target="../media/image60.wmf"/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22.vml.rels><?xml version="1.0" encoding="UTF-8" standalone="yes"?>
<Relationships xmlns="http://schemas.openxmlformats.org/package/2006/relationships"><Relationship Id="rId5" Type="http://schemas.openxmlformats.org/officeDocument/2006/relationships/image" Target="../media/image66.wmf"/><Relationship Id="rId4" Type="http://schemas.openxmlformats.org/officeDocument/2006/relationships/image" Target="../media/image65.wmf"/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/Relationships>
</file>

<file path=ppt/drawings/_rels/vmlDrawing23.vml.rels><?xml version="1.0" encoding="UTF-8" standalone="yes"?>
<Relationships xmlns="http://schemas.openxmlformats.org/package/2006/relationships"><Relationship Id="rId4" Type="http://schemas.openxmlformats.org/officeDocument/2006/relationships/image" Target="../media/image69.wmf"/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2.wmf"/></Relationships>
</file>

<file path=ppt/drawings/_rels/vmlDrawing24.vml.rels><?xml version="1.0" encoding="UTF-8" standalone="yes"?>
<Relationships xmlns="http://schemas.openxmlformats.org/package/2006/relationships"><Relationship Id="rId4" Type="http://schemas.openxmlformats.org/officeDocument/2006/relationships/image" Target="../media/image73.wmf"/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25.vml.rels><?xml version="1.0" encoding="UTF-8" standalone="yes"?>
<Relationships xmlns="http://schemas.openxmlformats.org/package/2006/relationships"><Relationship Id="rId6" Type="http://schemas.openxmlformats.org/officeDocument/2006/relationships/image" Target="../media/image79.wmf"/><Relationship Id="rId5" Type="http://schemas.openxmlformats.org/officeDocument/2006/relationships/image" Target="../media/image78.wmf"/><Relationship Id="rId4" Type="http://schemas.openxmlformats.org/officeDocument/2006/relationships/image" Target="../media/image77.wmf"/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74.wmf"/></Relationships>
</file>

<file path=ppt/drawings/_rels/vmlDrawing26.vml.rels><?xml version="1.0" encoding="UTF-8" standalone="yes"?>
<Relationships xmlns="http://schemas.openxmlformats.org/package/2006/relationships"><Relationship Id="rId5" Type="http://schemas.openxmlformats.org/officeDocument/2006/relationships/image" Target="../media/image84.wmf"/><Relationship Id="rId4" Type="http://schemas.openxmlformats.org/officeDocument/2006/relationships/image" Target="../media/image83.wmf"/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/Relationships>
</file>

<file path=ppt/drawings/_rels/vmlDrawing27.vml.rels><?xml version="1.0" encoding="UTF-8" standalone="yes"?>
<Relationships xmlns="http://schemas.openxmlformats.org/package/2006/relationships"><Relationship Id="rId2" Type="http://schemas.openxmlformats.org/officeDocument/2006/relationships/image" Target="../media/image86.wmf"/><Relationship Id="rId1" Type="http://schemas.openxmlformats.org/officeDocument/2006/relationships/image" Target="../media/image85.wmf"/></Relationships>
</file>

<file path=ppt/drawings/_rels/vmlDrawing28.vml.rels><?xml version="1.0" encoding="UTF-8" standalone="yes"?>
<Relationships xmlns="http://schemas.openxmlformats.org/package/2006/relationships"><Relationship Id="rId7" Type="http://schemas.openxmlformats.org/officeDocument/2006/relationships/image" Target="../media/image93.wmf"/><Relationship Id="rId6" Type="http://schemas.openxmlformats.org/officeDocument/2006/relationships/image" Target="../media/image92.wmf"/><Relationship Id="rId5" Type="http://schemas.openxmlformats.org/officeDocument/2006/relationships/image" Target="../media/image91.wmf"/><Relationship Id="rId4" Type="http://schemas.openxmlformats.org/officeDocument/2006/relationships/image" Target="../media/image90.wmf"/><Relationship Id="rId3" Type="http://schemas.openxmlformats.org/officeDocument/2006/relationships/image" Target="../media/image89.wmf"/><Relationship Id="rId2" Type="http://schemas.openxmlformats.org/officeDocument/2006/relationships/image" Target="../media/image88.wmf"/><Relationship Id="rId1" Type="http://schemas.openxmlformats.org/officeDocument/2006/relationships/image" Target="../media/image87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2" Type="http://schemas.openxmlformats.org/officeDocument/2006/relationships/image" Target="../media/image95.wmf"/><Relationship Id="rId1" Type="http://schemas.openxmlformats.org/officeDocument/2006/relationships/image" Target="../media/image94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" Type="http://schemas.openxmlformats.org/officeDocument/2006/relationships/image" Target="../media/image95.wmf"/></Relationships>
</file>

<file path=ppt/drawings/_rels/vmlDrawing31.vml.rels><?xml version="1.0" encoding="UTF-8" standalone="yes"?>
<Relationships xmlns="http://schemas.openxmlformats.org/package/2006/relationships"><Relationship Id="rId5" Type="http://schemas.openxmlformats.org/officeDocument/2006/relationships/image" Target="../media/image103.wmf"/><Relationship Id="rId4" Type="http://schemas.openxmlformats.org/officeDocument/2006/relationships/image" Target="../media/image102.wmf"/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3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4.emf"/></Relationships>
</file>

<file path=ppt/drawings/_rels/vmlDrawing3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5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wmf"/><Relationship Id="rId2" Type="http://schemas.openxmlformats.org/officeDocument/2006/relationships/image" Target="../media/image110.wmf"/><Relationship Id="rId1" Type="http://schemas.openxmlformats.org/officeDocument/2006/relationships/image" Target="../media/image109.wmf"/></Relationships>
</file>

<file path=ppt/drawings/_rels/vmlDrawing36.vml.rels><?xml version="1.0" encoding="UTF-8" standalone="yes"?>
<Relationships xmlns="http://schemas.openxmlformats.org/package/2006/relationships"><Relationship Id="rId9" Type="http://schemas.openxmlformats.org/officeDocument/2006/relationships/image" Target="../media/image120.wmf"/><Relationship Id="rId8" Type="http://schemas.openxmlformats.org/officeDocument/2006/relationships/image" Target="../media/image119.wmf"/><Relationship Id="rId7" Type="http://schemas.openxmlformats.org/officeDocument/2006/relationships/image" Target="../media/image118.wmf"/><Relationship Id="rId6" Type="http://schemas.openxmlformats.org/officeDocument/2006/relationships/image" Target="../media/image117.wmf"/><Relationship Id="rId5" Type="http://schemas.openxmlformats.org/officeDocument/2006/relationships/image" Target="../media/image116.wmf"/><Relationship Id="rId4" Type="http://schemas.openxmlformats.org/officeDocument/2006/relationships/image" Target="../media/image115.wmf"/><Relationship Id="rId3" Type="http://schemas.openxmlformats.org/officeDocument/2006/relationships/image" Target="../media/image114.wmf"/><Relationship Id="rId2" Type="http://schemas.openxmlformats.org/officeDocument/2006/relationships/image" Target="../media/image113.wmf"/><Relationship Id="rId10" Type="http://schemas.openxmlformats.org/officeDocument/2006/relationships/image" Target="../media/image121.wmf"/><Relationship Id="rId1" Type="http://schemas.openxmlformats.org/officeDocument/2006/relationships/image" Target="../media/image1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D0D7E9-5BB9-434F-9777-20A256BC978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23B831-D7D8-4455-B001-E5A2EB41014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663554" name="幻灯片图像占位符 66355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63555" name="文本占位符 66355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800770" name="幻灯片图像占位符 800769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00771" name="文本占位符 80077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51618" name="幻灯片图像占位符 751617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1619" name="文本占位符 75161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49570" name="幻灯片图像占位符 749569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49571" name="文本占位符 74957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53666" name="幻灯片图像占位符 753665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3667" name="文本占位符 75366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55714" name="幻灯片图像占位符 75571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5715" name="文本占位符 75571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57762" name="幻灯片图像占位符 75776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7763" name="文本占位符 75776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59810" name="幻灯片图像占位符 759809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9811" name="文本占位符 75981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61858" name="幻灯片图像占位符 761857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1859" name="文本占位符 761858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63906" name="幻灯片图像占位符 763905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3907" name="文本占位符 76390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65954" name="幻灯片图像占位符 76595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5955" name="文本占位符 76595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68002" name="幻灯片图像占位符 76800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68003" name="文本占位符 76800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70050" name="幻灯片图像占位符 770049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70051" name="文本占位符 770050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pPr lvl="0" algn="r"/>
            <a:fld id="{9A0DB2DC-4C9A-4742-B13C-FB6460FD3503}" type="slidenum">
              <a:rPr lang="zh-CN" altLang="en-US" sz="1200" b="0" dirty="0"/>
            </a:fld>
            <a:endParaRPr lang="zh-CN" altLang="en-US" sz="1200" b="0" dirty="0"/>
          </a:p>
        </p:txBody>
      </p:sp>
      <p:sp>
        <p:nvSpPr>
          <p:cNvPr id="774146" name="幻灯片图像占位符 774145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74147" name="文本占位符 77414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image" Target="../media/image2.png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8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image" Target="../media/image1.png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1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8588"/>
            <a:ext cx="12192000" cy="291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/>
          <p:cNvCxnSpPr/>
          <p:nvPr>
            <p:custDataLst>
              <p:tags r:id="rId4"/>
            </p:custDataLst>
          </p:nvPr>
        </p:nvCxnSpPr>
        <p:spPr>
          <a:xfrm flipH="1">
            <a:off x="0" y="2298700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>
            <p:custDataLst>
              <p:tags r:id="rId5"/>
            </p:custDataLst>
          </p:nvPr>
        </p:nvCxnSpPr>
        <p:spPr>
          <a:xfrm flipH="1" flipV="1">
            <a:off x="9605963" y="2298700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: 圆角 6"/>
          <p:cNvSpPr/>
          <p:nvPr>
            <p:custDataLst>
              <p:tags r:id="rId6"/>
            </p:custDataLst>
          </p:nvPr>
        </p:nvSpPr>
        <p:spPr>
          <a:xfrm>
            <a:off x="4900613" y="752475"/>
            <a:ext cx="2390775" cy="75565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noProof="1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7"/>
            </p:custDataLst>
          </p:nvPr>
        </p:nvSpPr>
        <p:spPr>
          <a:xfrm>
            <a:off x="2495600" y="1826578"/>
            <a:ext cx="7200800" cy="949878"/>
          </a:xfrm>
        </p:spPr>
        <p:txBody>
          <a:bodyPr>
            <a:normAutofit/>
          </a:bodyPr>
          <a:lstStyle>
            <a:lvl1pPr algn="ctr"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2495600" y="2826092"/>
            <a:ext cx="7200800" cy="465746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3038475" y="2284413"/>
            <a:ext cx="6115050" cy="7667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pic>
        <p:nvPicPr>
          <p:cNvPr id="5" name="Picture 3" descr="D:\Desktop\素材\素描城市.pn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>
            <a:biLevel thresh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2284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831850" y="3373606"/>
            <a:ext cx="10515600" cy="1061467"/>
          </a:xfrm>
        </p:spPr>
        <p:txBody>
          <a:bodyPr>
            <a:normAutofit/>
          </a:bodyPr>
          <a:lstStyle>
            <a:lvl1pPr algn="ctr">
              <a:defRPr sz="4800" b="0">
                <a:solidFill>
                  <a:schemeClr val="tx2"/>
                </a:solidFill>
                <a:effectLst/>
              </a:defRPr>
            </a:lvl1pPr>
          </a:lstStyle>
          <a:p>
            <a:r>
              <a:rPr lang="zh-CN" altLang="en-US" noProof="1"/>
              <a:t>单击此处编辑标题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2207568" y="4527773"/>
            <a:ext cx="7776864" cy="1061467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6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7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DFCB4D56-782D-442B-9B32-0BC325ED746A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tIns="38100" rIns="76200" bIns="3810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单击此处编辑文本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tIns="38100" rIns="76200" bIns="3810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noProof="1">
                <a:sym typeface="+mn-ea"/>
              </a:rPr>
              <a:t>单击此处编辑文本</a:t>
            </a:r>
            <a:endParaRPr noProof="1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  <a:p>
            <a:pPr lvl="1"/>
            <a:r>
              <a:rPr lang="zh-CN" altLang="en-US" noProof="1">
                <a:sym typeface="+mn-ea"/>
              </a:rPr>
              <a:t>第二级</a:t>
            </a:r>
            <a:endParaRPr lang="zh-CN" altLang="en-US" noProof="1">
              <a:sym typeface="+mn-ea"/>
            </a:endParaRPr>
          </a:p>
          <a:p>
            <a:pPr lvl="2"/>
            <a:r>
              <a:rPr lang="zh-CN" altLang="en-US" noProof="1">
                <a:sym typeface="+mn-ea"/>
              </a:rPr>
              <a:t>第三级</a:t>
            </a:r>
            <a:endParaRPr lang="zh-CN" altLang="en-US" noProof="1">
              <a:sym typeface="+mn-ea"/>
            </a:endParaRPr>
          </a:p>
          <a:p>
            <a:pPr lvl="3"/>
            <a:r>
              <a:rPr lang="zh-CN" altLang="en-US" noProof="1">
                <a:sym typeface="+mn-ea"/>
              </a:rPr>
              <a:t>第四级</a:t>
            </a:r>
            <a:endParaRPr lang="zh-CN" altLang="en-US" noProof="1">
              <a:sym typeface="+mn-ea"/>
            </a:endParaRPr>
          </a:p>
          <a:p>
            <a:pPr lvl="4"/>
            <a:r>
              <a:rPr lang="zh-CN" altLang="en-US" noProof="1">
                <a:sym typeface="+mn-ea"/>
              </a:rPr>
              <a:t>第五级</a:t>
            </a:r>
            <a:endParaRPr noProof="1">
              <a:sym typeface="+mn-ea"/>
            </a:endParaRP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BD269E1A-4DF9-4A6A-B519-38EBE42E334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rtlCol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lang="zh-CN" altLang="en-US" noProof="1">
                <a:sym typeface="+mn-ea"/>
              </a:rPr>
              <a:t>单击图标添加图片</a:t>
            </a:r>
            <a:endParaRPr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单击此处编辑母版文本样式</a:t>
            </a:r>
            <a:endParaRPr lang="zh-CN" altLang="en-US" noProof="1">
              <a:sym typeface="+mn-ea"/>
            </a:endParaRP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rtlCol="0" anchor="ctr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lang="zh-CN" altLang="en-US" noProof="1">
                <a:sym typeface="+mn-ea"/>
              </a:rPr>
              <a:t>单击此处编辑母版标题样式</a:t>
            </a:r>
            <a:endParaRPr noProof="1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indent="0" eaLnBrk="1" fontAlgn="auto" latinLnBrk="0" hangingPunct="1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4"/>
            <p:custDataLst>
              <p:tags r:id="rId3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5"/>
            <p:custDataLst>
              <p:tags r:id="rId4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6"/>
            <p:custDataLst>
              <p:tags r:id="rId5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9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38588"/>
            <a:ext cx="12192000" cy="291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直接连接符 3"/>
          <p:cNvCxnSpPr/>
          <p:nvPr>
            <p:custDataLst>
              <p:tags r:id="rId4"/>
            </p:custDataLst>
          </p:nvPr>
        </p:nvCxnSpPr>
        <p:spPr>
          <a:xfrm flipH="1">
            <a:off x="0" y="2995613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>
            <p:custDataLst>
              <p:tags r:id="rId5"/>
            </p:custDataLst>
          </p:nvPr>
        </p:nvCxnSpPr>
        <p:spPr>
          <a:xfrm flipH="1" flipV="1">
            <a:off x="9605963" y="2995613"/>
            <a:ext cx="2587625" cy="0"/>
          </a:xfrm>
          <a:prstGeom prst="line">
            <a:avLst/>
          </a:prstGeom>
          <a:ln w="127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2726808" y="2313806"/>
            <a:ext cx="6738385" cy="1448117"/>
          </a:xfrm>
        </p:spPr>
        <p:txBody>
          <a:bodyPr rIns="25400" rtlCol="0" anchor="ctr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0" i="0" u="none" strike="noStrike" kern="1200" cap="none" spc="600" normalizeH="0" baseline="0" noProof="1" dirty="0">
                <a:solidFill>
                  <a:schemeClr val="tx2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noProof="1">
                <a:sym typeface="+mn-ea"/>
              </a:rPr>
              <a:t>编辑标题</a:t>
            </a:r>
            <a:endParaRPr noProof="1">
              <a:sym typeface="+mn-ea"/>
            </a:endParaRP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/>
            </a:fld>
            <a:endParaRPr lang="zh-CN" altLang="en-US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/>
            </a:lvl1pPr>
          </a:lstStyle>
          <a:p>
            <a:fld id="{1F416EC6-90A0-4FF7-BF22-87F915FB23BB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72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838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838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BB962C8B-B14F-4D97-AF65-F5344CB8AC3E}" type="datetime1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172200" y="1825626"/>
            <a:ext cx="5181600" cy="20986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172200" y="4076701"/>
            <a:ext cx="5181600" cy="21002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 dirty="0">
              <a:latin typeface="Arial" panose="020B0604020202020204" pitchFamily="34" charset="0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 dirty="0">
                <a:latin typeface="Arial" panose="020B0604020202020204" pitchFamily="34" charset="0"/>
              </a:rPr>
            </a:fld>
            <a:endParaRPr lang="zh-CN" altLang="en-US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2" Type="http://schemas.openxmlformats.org/officeDocument/2006/relationships/theme" Target="../theme/theme1.xml"/><Relationship Id="rId21" Type="http://schemas.openxmlformats.org/officeDocument/2006/relationships/tags" Target="../tags/tag70.xml"/><Relationship Id="rId20" Type="http://schemas.openxmlformats.org/officeDocument/2006/relationships/tags" Target="../tags/tag69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68.xml"/><Relationship Id="rId18" Type="http://schemas.openxmlformats.org/officeDocument/2006/relationships/tags" Target="../tags/tag67.xml"/><Relationship Id="rId17" Type="http://schemas.openxmlformats.org/officeDocument/2006/relationships/tags" Target="../tags/tag66.xml"/><Relationship Id="rId16" Type="http://schemas.openxmlformats.org/officeDocument/2006/relationships/tags" Target="../tags/tag65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 noChangeArrowheads="1"/>
          </p:cNvSpPr>
          <p:nvPr>
            <p:ph type="title" idx="4294967295"/>
            <p:custDataLst>
              <p:tags r:id="rId16"/>
            </p:custDataLst>
          </p:nvPr>
        </p:nvSpPr>
        <p:spPr bwMode="auto">
          <a:xfrm>
            <a:off x="669925" y="442913"/>
            <a:ext cx="10852150" cy="442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 noChangeArrowheads="1"/>
          </p:cNvSpPr>
          <p:nvPr>
            <p:ph type="body" idx="9"/>
            <p:custDataLst>
              <p:tags r:id="rId17"/>
            </p:custDataLst>
          </p:nvPr>
        </p:nvSpPr>
        <p:spPr bwMode="auto">
          <a:xfrm>
            <a:off x="669925" y="952500"/>
            <a:ext cx="10852150" cy="5389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0" rIns="82550" bIns="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879475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noProof="1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116388" y="6350000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 noProof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610600" y="6350000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 noProof="1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KSO_TEMPLATE" hidden="1"/>
          <p:cNvSpPr/>
          <p:nvPr>
            <p:custDataLst>
              <p:tags r:id="rId2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zh-CN" altLang="en-US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 kern="1200" spc="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rtl="0" eaLnBrk="1" fontAlgn="base" hangingPunct="1">
        <a:lnSpc>
          <a:spcPct val="130000"/>
        </a:lnSpc>
        <a:spcBef>
          <a:spcPct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kern="1200" spc="15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tags" Target="../tags/tag72.xml"/><Relationship Id="rId1" Type="http://schemas.openxmlformats.org/officeDocument/2006/relationships/tags" Target="../tags/tag7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6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5.wmf"/><Relationship Id="rId1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4.bin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wmf"/><Relationship Id="rId1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5.v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1.wmf"/><Relationship Id="rId3" Type="http://schemas.openxmlformats.org/officeDocument/2006/relationships/oleObject" Target="../embeddings/oleObject7.bin"/><Relationship Id="rId2" Type="http://schemas.openxmlformats.org/officeDocument/2006/relationships/image" Target="../media/image10.wmf"/><Relationship Id="rId1" Type="http://schemas.openxmlformats.org/officeDocument/2006/relationships/oleObject" Target="../embeddings/oleObject6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16.wmf"/><Relationship Id="rId7" Type="http://schemas.openxmlformats.org/officeDocument/2006/relationships/oleObject" Target="../embeddings/oleObject12.bin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4.wmf"/><Relationship Id="rId3" Type="http://schemas.openxmlformats.org/officeDocument/2006/relationships/oleObject" Target="../embeddings/oleObject10.bin"/><Relationship Id="rId2" Type="http://schemas.openxmlformats.org/officeDocument/2006/relationships/image" Target="../media/image13.wmf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9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18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17.wmf"/><Relationship Id="rId1" Type="http://schemas.openxmlformats.org/officeDocument/2006/relationships/oleObject" Target="../embeddings/oleObject13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8.v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21.w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20.wmf"/><Relationship Id="rId1" Type="http://schemas.openxmlformats.org/officeDocument/2006/relationships/oleObject" Target="../embeddings/oleObject16.bin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23.wmf"/><Relationship Id="rId1" Type="http://schemas.openxmlformats.org/officeDocument/2006/relationships/oleObject" Target="../embeddings/oleObject19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0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2.bin"/><Relationship Id="rId4" Type="http://schemas.openxmlformats.org/officeDocument/2006/relationships/image" Target="../media/image25.wmf"/><Relationship Id="rId3" Type="http://schemas.openxmlformats.org/officeDocument/2006/relationships/oleObject" Target="../embeddings/oleObject21.bin"/><Relationship Id="rId2" Type="http://schemas.openxmlformats.org/officeDocument/2006/relationships/image" Target="../media/image24.wmf"/><Relationship Id="rId1" Type="http://schemas.openxmlformats.org/officeDocument/2006/relationships/oleObject" Target="../embeddings/oleObject20.bin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1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28.wmf"/><Relationship Id="rId3" Type="http://schemas.openxmlformats.org/officeDocument/2006/relationships/oleObject" Target="../embeddings/oleObject24.bin"/><Relationship Id="rId2" Type="http://schemas.openxmlformats.org/officeDocument/2006/relationships/image" Target="../media/image27.wmf"/><Relationship Id="rId1" Type="http://schemas.openxmlformats.org/officeDocument/2006/relationships/oleObject" Target="../embeddings/oleObject23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2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7.bin"/><Relationship Id="rId4" Type="http://schemas.openxmlformats.org/officeDocument/2006/relationships/image" Target="../media/image30.wmf"/><Relationship Id="rId3" Type="http://schemas.openxmlformats.org/officeDocument/2006/relationships/oleObject" Target="../embeddings/oleObject26.bin"/><Relationship Id="rId2" Type="http://schemas.openxmlformats.org/officeDocument/2006/relationships/image" Target="../media/image29.wmf"/><Relationship Id="rId1" Type="http://schemas.openxmlformats.org/officeDocument/2006/relationships/oleObject" Target="../embeddings/oleObject25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0.bin"/><Relationship Id="rId4" Type="http://schemas.openxmlformats.org/officeDocument/2006/relationships/image" Target="../media/image33.wmf"/><Relationship Id="rId3" Type="http://schemas.openxmlformats.org/officeDocument/2006/relationships/oleObject" Target="../embeddings/oleObject29.bin"/><Relationship Id="rId2" Type="http://schemas.openxmlformats.org/officeDocument/2006/relationships/image" Target="../media/image32.wmf"/><Relationship Id="rId1" Type="http://schemas.openxmlformats.org/officeDocument/2006/relationships/oleObject" Target="../embeddings/oleObject28.bin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35.bin"/><Relationship Id="rId8" Type="http://schemas.openxmlformats.org/officeDocument/2006/relationships/image" Target="../media/image38.wmf"/><Relationship Id="rId7" Type="http://schemas.openxmlformats.org/officeDocument/2006/relationships/oleObject" Target="../embeddings/oleObject34.bin"/><Relationship Id="rId6" Type="http://schemas.openxmlformats.org/officeDocument/2006/relationships/image" Target="../media/image37.w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6.w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35.wmf"/><Relationship Id="rId16" Type="http://schemas.openxmlformats.org/officeDocument/2006/relationships/vmlDrawing" Target="../drawings/vmlDrawing14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40.wmf"/><Relationship Id="rId13" Type="http://schemas.openxmlformats.org/officeDocument/2006/relationships/oleObject" Target="../embeddings/oleObject38.bin"/><Relationship Id="rId12" Type="http://schemas.openxmlformats.org/officeDocument/2006/relationships/oleObject" Target="../embeddings/oleObject37.bin"/><Relationship Id="rId11" Type="http://schemas.openxmlformats.org/officeDocument/2006/relationships/oleObject" Target="../embeddings/oleObject36.bin"/><Relationship Id="rId10" Type="http://schemas.openxmlformats.org/officeDocument/2006/relationships/image" Target="../media/image39.wmf"/><Relationship Id="rId1" Type="http://schemas.openxmlformats.org/officeDocument/2006/relationships/oleObject" Target="../embeddings/oleObject31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5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41.bin"/><Relationship Id="rId4" Type="http://schemas.openxmlformats.org/officeDocument/2006/relationships/image" Target="../media/image42.wmf"/><Relationship Id="rId3" Type="http://schemas.openxmlformats.org/officeDocument/2006/relationships/oleObject" Target="../embeddings/oleObject40.bin"/><Relationship Id="rId2" Type="http://schemas.openxmlformats.org/officeDocument/2006/relationships/image" Target="../media/image41.wmf"/><Relationship Id="rId1" Type="http://schemas.openxmlformats.org/officeDocument/2006/relationships/oleObject" Target="../embeddings/oleObject39.bin"/></Relationships>
</file>

<file path=ppt/slides/_rels/slide21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6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5.wmf"/><Relationship Id="rId3" Type="http://schemas.openxmlformats.org/officeDocument/2006/relationships/oleObject" Target="../embeddings/oleObject43.bin"/><Relationship Id="rId2" Type="http://schemas.openxmlformats.org/officeDocument/2006/relationships/image" Target="../media/image44.wmf"/><Relationship Id="rId1" Type="http://schemas.openxmlformats.org/officeDocument/2006/relationships/oleObject" Target="../embeddings/oleObject42.bin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7.vml"/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47.wmf"/><Relationship Id="rId3" Type="http://schemas.openxmlformats.org/officeDocument/2006/relationships/oleObject" Target="../embeddings/oleObject45.bin"/><Relationship Id="rId2" Type="http://schemas.openxmlformats.org/officeDocument/2006/relationships/image" Target="../media/image46.emf"/><Relationship Id="rId1" Type="http://schemas.openxmlformats.org/officeDocument/2006/relationships/oleObject" Target="../embeddings/oleObject44.bin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8.vml"/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49.emf"/><Relationship Id="rId2" Type="http://schemas.openxmlformats.org/officeDocument/2006/relationships/image" Target="../media/image48.wmf"/><Relationship Id="rId1" Type="http://schemas.openxmlformats.org/officeDocument/2006/relationships/oleObject" Target="../embeddings/oleObject46.bin"/></Relationships>
</file>

<file path=ppt/slides/_rels/slide24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9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1.wmf"/><Relationship Id="rId3" Type="http://schemas.openxmlformats.org/officeDocument/2006/relationships/oleObject" Target="../embeddings/oleObject48.bin"/><Relationship Id="rId2" Type="http://schemas.openxmlformats.org/officeDocument/2006/relationships/image" Target="../media/image50.wmf"/><Relationship Id="rId1" Type="http://schemas.openxmlformats.org/officeDocument/2006/relationships/oleObject" Target="../embeddings/oleObject47.bin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3.bin"/><Relationship Id="rId8" Type="http://schemas.openxmlformats.org/officeDocument/2006/relationships/image" Target="../media/image55.wmf"/><Relationship Id="rId7" Type="http://schemas.openxmlformats.org/officeDocument/2006/relationships/oleObject" Target="../embeddings/oleObject52.bin"/><Relationship Id="rId6" Type="http://schemas.openxmlformats.org/officeDocument/2006/relationships/image" Target="../media/image54.wmf"/><Relationship Id="rId5" Type="http://schemas.openxmlformats.org/officeDocument/2006/relationships/oleObject" Target="../embeddings/oleObject51.bin"/><Relationship Id="rId4" Type="http://schemas.openxmlformats.org/officeDocument/2006/relationships/image" Target="../media/image53.wmf"/><Relationship Id="rId3" Type="http://schemas.openxmlformats.org/officeDocument/2006/relationships/oleObject" Target="../embeddings/oleObject50.bin"/><Relationship Id="rId2" Type="http://schemas.openxmlformats.org/officeDocument/2006/relationships/image" Target="../media/image52.wmf"/><Relationship Id="rId14" Type="http://schemas.openxmlformats.org/officeDocument/2006/relationships/vmlDrawing" Target="../drawings/vmlDrawing20.vml"/><Relationship Id="rId13" Type="http://schemas.openxmlformats.org/officeDocument/2006/relationships/slideLayout" Target="../slideLayouts/slideLayout7.xml"/><Relationship Id="rId12" Type="http://schemas.openxmlformats.org/officeDocument/2006/relationships/image" Target="../media/image57.wmf"/><Relationship Id="rId11" Type="http://schemas.openxmlformats.org/officeDocument/2006/relationships/oleObject" Target="../embeddings/oleObject54.bin"/><Relationship Id="rId10" Type="http://schemas.openxmlformats.org/officeDocument/2006/relationships/image" Target="../media/image56.wmf"/><Relationship Id="rId1" Type="http://schemas.openxmlformats.org/officeDocument/2006/relationships/oleObject" Target="../embeddings/oleObject49.bin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1.wmf"/><Relationship Id="rId7" Type="http://schemas.openxmlformats.org/officeDocument/2006/relationships/oleObject" Target="../embeddings/oleObject58.bin"/><Relationship Id="rId6" Type="http://schemas.openxmlformats.org/officeDocument/2006/relationships/image" Target="../media/image60.w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59.wmf"/><Relationship Id="rId3" Type="http://schemas.openxmlformats.org/officeDocument/2006/relationships/oleObject" Target="../embeddings/oleObject56.bin"/><Relationship Id="rId2" Type="http://schemas.openxmlformats.org/officeDocument/2006/relationships/image" Target="../media/image58.wmf"/><Relationship Id="rId10" Type="http://schemas.openxmlformats.org/officeDocument/2006/relationships/vmlDrawing" Target="../drawings/vmlDrawing21.vml"/><Relationship Id="rId1" Type="http://schemas.openxmlformats.org/officeDocument/2006/relationships/oleObject" Target="../embeddings/oleObject55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63.bin"/><Relationship Id="rId8" Type="http://schemas.openxmlformats.org/officeDocument/2006/relationships/image" Target="../media/image65.wmf"/><Relationship Id="rId7" Type="http://schemas.openxmlformats.org/officeDocument/2006/relationships/oleObject" Target="../embeddings/oleObject62.bin"/><Relationship Id="rId6" Type="http://schemas.openxmlformats.org/officeDocument/2006/relationships/image" Target="../media/image64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63.wmf"/><Relationship Id="rId3" Type="http://schemas.openxmlformats.org/officeDocument/2006/relationships/oleObject" Target="../embeddings/oleObject60.bin"/><Relationship Id="rId2" Type="http://schemas.openxmlformats.org/officeDocument/2006/relationships/image" Target="../media/image62.wmf"/><Relationship Id="rId14" Type="http://schemas.openxmlformats.org/officeDocument/2006/relationships/notesSlide" Target="../notesSlides/notesSlide5.xml"/><Relationship Id="rId13" Type="http://schemas.openxmlformats.org/officeDocument/2006/relationships/vmlDrawing" Target="../drawings/vmlDrawing22.vml"/><Relationship Id="rId12" Type="http://schemas.openxmlformats.org/officeDocument/2006/relationships/slideLayout" Target="../slideLayouts/slideLayout12.xml"/><Relationship Id="rId11" Type="http://schemas.openxmlformats.org/officeDocument/2006/relationships/oleObject" Target="../embeddings/oleObject64.bin"/><Relationship Id="rId10" Type="http://schemas.openxmlformats.org/officeDocument/2006/relationships/image" Target="../media/image66.wmf"/><Relationship Id="rId1" Type="http://schemas.openxmlformats.org/officeDocument/2006/relationships/oleObject" Target="../embeddings/oleObject59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wmf"/><Relationship Id="rId8" Type="http://schemas.openxmlformats.org/officeDocument/2006/relationships/oleObject" Target="../embeddings/oleObject69.bin"/><Relationship Id="rId7" Type="http://schemas.openxmlformats.org/officeDocument/2006/relationships/image" Target="../media/image68.wmf"/><Relationship Id="rId6" Type="http://schemas.openxmlformats.org/officeDocument/2006/relationships/oleObject" Target="../embeddings/oleObject68.bin"/><Relationship Id="rId5" Type="http://schemas.openxmlformats.org/officeDocument/2006/relationships/oleObject" Target="../embeddings/oleObject67.bin"/><Relationship Id="rId4" Type="http://schemas.openxmlformats.org/officeDocument/2006/relationships/image" Target="../media/image67.wmf"/><Relationship Id="rId3" Type="http://schemas.openxmlformats.org/officeDocument/2006/relationships/oleObject" Target="../embeddings/oleObject66.bin"/><Relationship Id="rId2" Type="http://schemas.openxmlformats.org/officeDocument/2006/relationships/image" Target="../media/image62.wmf"/><Relationship Id="rId12" Type="http://schemas.openxmlformats.org/officeDocument/2006/relationships/notesSlide" Target="../notesSlides/notesSlide6.xml"/><Relationship Id="rId11" Type="http://schemas.openxmlformats.org/officeDocument/2006/relationships/vmlDrawing" Target="../drawings/vmlDrawing23.vml"/><Relationship Id="rId10" Type="http://schemas.openxmlformats.org/officeDocument/2006/relationships/slideLayout" Target="../slideLayouts/slideLayout12.xml"/><Relationship Id="rId1" Type="http://schemas.openxmlformats.org/officeDocument/2006/relationships/oleObject" Target="../embeddings/oleObject65.bin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4.xml"/><Relationship Id="rId8" Type="http://schemas.openxmlformats.org/officeDocument/2006/relationships/image" Target="../media/image73.wmf"/><Relationship Id="rId7" Type="http://schemas.openxmlformats.org/officeDocument/2006/relationships/oleObject" Target="../embeddings/oleObject73.bin"/><Relationship Id="rId6" Type="http://schemas.openxmlformats.org/officeDocument/2006/relationships/image" Target="../media/image72.w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71.wmf"/><Relationship Id="rId3" Type="http://schemas.openxmlformats.org/officeDocument/2006/relationships/oleObject" Target="../embeddings/oleObject71.bin"/><Relationship Id="rId2" Type="http://schemas.openxmlformats.org/officeDocument/2006/relationships/image" Target="../media/image70.wmf"/><Relationship Id="rId11" Type="http://schemas.openxmlformats.org/officeDocument/2006/relationships/notesSlide" Target="../notesSlides/notesSlide7.xml"/><Relationship Id="rId10" Type="http://schemas.openxmlformats.org/officeDocument/2006/relationships/vmlDrawing" Target="../drawings/vmlDrawing24.vml"/><Relationship Id="rId1" Type="http://schemas.openxmlformats.org/officeDocument/2006/relationships/oleObject" Target="../embeddings/oleObject70.bin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8.bin"/><Relationship Id="rId8" Type="http://schemas.openxmlformats.org/officeDocument/2006/relationships/image" Target="../media/image77.wmf"/><Relationship Id="rId7" Type="http://schemas.openxmlformats.org/officeDocument/2006/relationships/oleObject" Target="../embeddings/oleObject77.bin"/><Relationship Id="rId6" Type="http://schemas.openxmlformats.org/officeDocument/2006/relationships/image" Target="../media/image76.wmf"/><Relationship Id="rId5" Type="http://schemas.openxmlformats.org/officeDocument/2006/relationships/oleObject" Target="../embeddings/oleObject76.bin"/><Relationship Id="rId4" Type="http://schemas.openxmlformats.org/officeDocument/2006/relationships/image" Target="../media/image75.wmf"/><Relationship Id="rId3" Type="http://schemas.openxmlformats.org/officeDocument/2006/relationships/oleObject" Target="../embeddings/oleObject75.bin"/><Relationship Id="rId2" Type="http://schemas.openxmlformats.org/officeDocument/2006/relationships/image" Target="../media/image74.wmf"/><Relationship Id="rId15" Type="http://schemas.openxmlformats.org/officeDocument/2006/relationships/notesSlide" Target="../notesSlides/notesSlide8.xml"/><Relationship Id="rId14" Type="http://schemas.openxmlformats.org/officeDocument/2006/relationships/vmlDrawing" Target="../drawings/vmlDrawing25.vml"/><Relationship Id="rId13" Type="http://schemas.openxmlformats.org/officeDocument/2006/relationships/slideLayout" Target="../slideLayouts/slideLayout14.xml"/><Relationship Id="rId12" Type="http://schemas.openxmlformats.org/officeDocument/2006/relationships/image" Target="../media/image79.wmf"/><Relationship Id="rId11" Type="http://schemas.openxmlformats.org/officeDocument/2006/relationships/oleObject" Target="../embeddings/oleObject79.bin"/><Relationship Id="rId10" Type="http://schemas.openxmlformats.org/officeDocument/2006/relationships/image" Target="../media/image78.wmf"/><Relationship Id="rId1" Type="http://schemas.openxmlformats.org/officeDocument/2006/relationships/oleObject" Target="../embeddings/oleObject74.bin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4.bin"/><Relationship Id="rId8" Type="http://schemas.openxmlformats.org/officeDocument/2006/relationships/image" Target="../media/image83.wmf"/><Relationship Id="rId7" Type="http://schemas.openxmlformats.org/officeDocument/2006/relationships/oleObject" Target="../embeddings/oleObject83.bin"/><Relationship Id="rId6" Type="http://schemas.openxmlformats.org/officeDocument/2006/relationships/image" Target="../media/image82.wmf"/><Relationship Id="rId5" Type="http://schemas.openxmlformats.org/officeDocument/2006/relationships/oleObject" Target="../embeddings/oleObject82.bin"/><Relationship Id="rId4" Type="http://schemas.openxmlformats.org/officeDocument/2006/relationships/image" Target="../media/image81.wmf"/><Relationship Id="rId3" Type="http://schemas.openxmlformats.org/officeDocument/2006/relationships/oleObject" Target="../embeddings/oleObject81.bin"/><Relationship Id="rId2" Type="http://schemas.openxmlformats.org/officeDocument/2006/relationships/image" Target="../media/image80.wmf"/><Relationship Id="rId13" Type="http://schemas.openxmlformats.org/officeDocument/2006/relationships/notesSlide" Target="../notesSlides/notesSlide9.xml"/><Relationship Id="rId12" Type="http://schemas.openxmlformats.org/officeDocument/2006/relationships/vmlDrawing" Target="../drawings/vmlDrawing26.v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84.wmf"/><Relationship Id="rId1" Type="http://schemas.openxmlformats.org/officeDocument/2006/relationships/oleObject" Target="../embeddings/oleObject80.bin"/></Relationships>
</file>

<file path=ppt/slides/_rels/slide3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7.vml"/><Relationship Id="rId5" Type="http://schemas.openxmlformats.org/officeDocument/2006/relationships/slideLayout" Target="../slideLayouts/slideLayout14.xml"/><Relationship Id="rId4" Type="http://schemas.openxmlformats.org/officeDocument/2006/relationships/image" Target="../media/image86.wmf"/><Relationship Id="rId3" Type="http://schemas.openxmlformats.org/officeDocument/2006/relationships/oleObject" Target="../embeddings/oleObject86.bin"/><Relationship Id="rId2" Type="http://schemas.openxmlformats.org/officeDocument/2006/relationships/image" Target="../media/image85.wmf"/><Relationship Id="rId1" Type="http://schemas.openxmlformats.org/officeDocument/2006/relationships/oleObject" Target="../embeddings/oleObject85.bin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1.bin"/><Relationship Id="rId8" Type="http://schemas.openxmlformats.org/officeDocument/2006/relationships/image" Target="../media/image90.wmf"/><Relationship Id="rId7" Type="http://schemas.openxmlformats.org/officeDocument/2006/relationships/oleObject" Target="../embeddings/oleObject90.bin"/><Relationship Id="rId6" Type="http://schemas.openxmlformats.org/officeDocument/2006/relationships/image" Target="../media/image89.wmf"/><Relationship Id="rId5" Type="http://schemas.openxmlformats.org/officeDocument/2006/relationships/oleObject" Target="../embeddings/oleObject89.bin"/><Relationship Id="rId4" Type="http://schemas.openxmlformats.org/officeDocument/2006/relationships/image" Target="../media/image88.wmf"/><Relationship Id="rId3" Type="http://schemas.openxmlformats.org/officeDocument/2006/relationships/oleObject" Target="../embeddings/oleObject88.bin"/><Relationship Id="rId2" Type="http://schemas.openxmlformats.org/officeDocument/2006/relationships/image" Target="../media/image87.wmf"/><Relationship Id="rId16" Type="http://schemas.openxmlformats.org/officeDocument/2006/relationships/vmlDrawing" Target="../drawings/vmlDrawing28.vml"/><Relationship Id="rId15" Type="http://schemas.openxmlformats.org/officeDocument/2006/relationships/slideLayout" Target="../slideLayouts/slideLayout14.xml"/><Relationship Id="rId14" Type="http://schemas.openxmlformats.org/officeDocument/2006/relationships/image" Target="../media/image93.wmf"/><Relationship Id="rId13" Type="http://schemas.openxmlformats.org/officeDocument/2006/relationships/oleObject" Target="../embeddings/oleObject93.bin"/><Relationship Id="rId12" Type="http://schemas.openxmlformats.org/officeDocument/2006/relationships/image" Target="../media/image92.wmf"/><Relationship Id="rId11" Type="http://schemas.openxmlformats.org/officeDocument/2006/relationships/oleObject" Target="../embeddings/oleObject92.bin"/><Relationship Id="rId10" Type="http://schemas.openxmlformats.org/officeDocument/2006/relationships/image" Target="../media/image91.wmf"/><Relationship Id="rId1" Type="http://schemas.openxmlformats.org/officeDocument/2006/relationships/oleObject" Target="../embeddings/oleObject87.bin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vmlDrawing" Target="../drawings/vmlDrawing29.vml"/><Relationship Id="rId7" Type="http://schemas.openxmlformats.org/officeDocument/2006/relationships/slideLayout" Target="../slideLayouts/slideLayout15.xml"/><Relationship Id="rId6" Type="http://schemas.openxmlformats.org/officeDocument/2006/relationships/image" Target="../media/image96.wmf"/><Relationship Id="rId5" Type="http://schemas.openxmlformats.org/officeDocument/2006/relationships/oleObject" Target="../embeddings/oleObject96.bin"/><Relationship Id="rId4" Type="http://schemas.openxmlformats.org/officeDocument/2006/relationships/image" Target="../media/image95.wmf"/><Relationship Id="rId3" Type="http://schemas.openxmlformats.org/officeDocument/2006/relationships/oleObject" Target="../embeddings/oleObject95.bin"/><Relationship Id="rId2" Type="http://schemas.openxmlformats.org/officeDocument/2006/relationships/image" Target="../media/image94.wmf"/><Relationship Id="rId1" Type="http://schemas.openxmlformats.org/officeDocument/2006/relationships/oleObject" Target="../embeddings/oleObject94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vmlDrawing" Target="../drawings/vmlDrawing30.vml"/><Relationship Id="rId7" Type="http://schemas.openxmlformats.org/officeDocument/2006/relationships/slideLayout" Target="../slideLayouts/slideLayout4.xml"/><Relationship Id="rId6" Type="http://schemas.openxmlformats.org/officeDocument/2006/relationships/image" Target="../media/image98.wmf"/><Relationship Id="rId5" Type="http://schemas.openxmlformats.org/officeDocument/2006/relationships/oleObject" Target="../embeddings/oleObject99.bin"/><Relationship Id="rId4" Type="http://schemas.openxmlformats.org/officeDocument/2006/relationships/image" Target="../media/image97.wmf"/><Relationship Id="rId3" Type="http://schemas.openxmlformats.org/officeDocument/2006/relationships/oleObject" Target="../embeddings/oleObject98.bin"/><Relationship Id="rId2" Type="http://schemas.openxmlformats.org/officeDocument/2006/relationships/image" Target="../media/image95.wmf"/><Relationship Id="rId1" Type="http://schemas.openxmlformats.org/officeDocument/2006/relationships/oleObject" Target="../embeddings/oleObject97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04.bin"/><Relationship Id="rId8" Type="http://schemas.openxmlformats.org/officeDocument/2006/relationships/image" Target="../media/image102.wmf"/><Relationship Id="rId7" Type="http://schemas.openxmlformats.org/officeDocument/2006/relationships/oleObject" Target="../embeddings/oleObject103.bin"/><Relationship Id="rId6" Type="http://schemas.openxmlformats.org/officeDocument/2006/relationships/image" Target="../media/image101.wmf"/><Relationship Id="rId5" Type="http://schemas.openxmlformats.org/officeDocument/2006/relationships/oleObject" Target="../embeddings/oleObject102.bin"/><Relationship Id="rId4" Type="http://schemas.openxmlformats.org/officeDocument/2006/relationships/image" Target="../media/image100.wmf"/><Relationship Id="rId3" Type="http://schemas.openxmlformats.org/officeDocument/2006/relationships/oleObject" Target="../embeddings/oleObject101.bin"/><Relationship Id="rId2" Type="http://schemas.openxmlformats.org/officeDocument/2006/relationships/image" Target="../media/image99.wmf"/><Relationship Id="rId12" Type="http://schemas.openxmlformats.org/officeDocument/2006/relationships/vmlDrawing" Target="../drawings/vmlDrawing31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03.wmf"/><Relationship Id="rId1" Type="http://schemas.openxmlformats.org/officeDocument/2006/relationships/oleObject" Target="../embeddings/oleObject100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4.emf"/><Relationship Id="rId1" Type="http://schemas.openxmlformats.org/officeDocument/2006/relationships/oleObject" Target="../embeddings/oleObject105.bin"/></Relationships>
</file>

<file path=ppt/slides/_rels/slide4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5.wmf"/><Relationship Id="rId1" Type="http://schemas.openxmlformats.org/officeDocument/2006/relationships/oleObject" Target="../embeddings/oleObject106.bin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34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109.bin"/><Relationship Id="rId4" Type="http://schemas.openxmlformats.org/officeDocument/2006/relationships/image" Target="../media/image107.wmf"/><Relationship Id="rId3" Type="http://schemas.openxmlformats.org/officeDocument/2006/relationships/oleObject" Target="../embeddings/oleObject108.bin"/><Relationship Id="rId2" Type="http://schemas.openxmlformats.org/officeDocument/2006/relationships/image" Target="../media/image106.wmf"/><Relationship Id="rId1" Type="http://schemas.openxmlformats.org/officeDocument/2006/relationships/oleObject" Target="../embeddings/oleObject107.bin"/></Relationships>
</file>

<file path=ppt/slides/_rels/slide4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4.xml"/><Relationship Id="rId8" Type="http://schemas.openxmlformats.org/officeDocument/2006/relationships/vmlDrawing" Target="../drawings/vmlDrawing35.vml"/><Relationship Id="rId7" Type="http://schemas.openxmlformats.org/officeDocument/2006/relationships/slideLayout" Target="../slideLayouts/slideLayout14.xml"/><Relationship Id="rId6" Type="http://schemas.openxmlformats.org/officeDocument/2006/relationships/image" Target="../media/image111.wmf"/><Relationship Id="rId5" Type="http://schemas.openxmlformats.org/officeDocument/2006/relationships/oleObject" Target="../embeddings/oleObject112.bin"/><Relationship Id="rId4" Type="http://schemas.openxmlformats.org/officeDocument/2006/relationships/image" Target="../media/image110.wmf"/><Relationship Id="rId3" Type="http://schemas.openxmlformats.org/officeDocument/2006/relationships/oleObject" Target="../embeddings/oleObject111.bin"/><Relationship Id="rId2" Type="http://schemas.openxmlformats.org/officeDocument/2006/relationships/image" Target="../media/image109.wmf"/><Relationship Id="rId1" Type="http://schemas.openxmlformats.org/officeDocument/2006/relationships/oleObject" Target="../embeddings/oleObject110.bin"/></Relationships>
</file>

<file path=ppt/slides/_rels/slide4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117.bin"/><Relationship Id="rId8" Type="http://schemas.openxmlformats.org/officeDocument/2006/relationships/image" Target="../media/image115.wmf"/><Relationship Id="rId7" Type="http://schemas.openxmlformats.org/officeDocument/2006/relationships/oleObject" Target="../embeddings/oleObject116.bin"/><Relationship Id="rId6" Type="http://schemas.openxmlformats.org/officeDocument/2006/relationships/image" Target="../media/image114.wmf"/><Relationship Id="rId5" Type="http://schemas.openxmlformats.org/officeDocument/2006/relationships/oleObject" Target="../embeddings/oleObject115.bin"/><Relationship Id="rId4" Type="http://schemas.openxmlformats.org/officeDocument/2006/relationships/image" Target="../media/image113.wmf"/><Relationship Id="rId3" Type="http://schemas.openxmlformats.org/officeDocument/2006/relationships/oleObject" Target="../embeddings/oleObject114.bin"/><Relationship Id="rId22" Type="http://schemas.openxmlformats.org/officeDocument/2006/relationships/vmlDrawing" Target="../drawings/vmlDrawing36.vml"/><Relationship Id="rId21" Type="http://schemas.openxmlformats.org/officeDocument/2006/relationships/slideLayout" Target="../slideLayouts/slideLayout13.xml"/><Relationship Id="rId20" Type="http://schemas.openxmlformats.org/officeDocument/2006/relationships/image" Target="../media/image121.wmf"/><Relationship Id="rId2" Type="http://schemas.openxmlformats.org/officeDocument/2006/relationships/image" Target="../media/image112.wmf"/><Relationship Id="rId19" Type="http://schemas.openxmlformats.org/officeDocument/2006/relationships/oleObject" Target="../embeddings/oleObject122.bin"/><Relationship Id="rId18" Type="http://schemas.openxmlformats.org/officeDocument/2006/relationships/image" Target="../media/image120.wmf"/><Relationship Id="rId17" Type="http://schemas.openxmlformats.org/officeDocument/2006/relationships/oleObject" Target="../embeddings/oleObject121.bin"/><Relationship Id="rId16" Type="http://schemas.openxmlformats.org/officeDocument/2006/relationships/image" Target="../media/image119.wmf"/><Relationship Id="rId15" Type="http://schemas.openxmlformats.org/officeDocument/2006/relationships/oleObject" Target="../embeddings/oleObject120.bin"/><Relationship Id="rId14" Type="http://schemas.openxmlformats.org/officeDocument/2006/relationships/image" Target="../media/image118.wmf"/><Relationship Id="rId13" Type="http://schemas.openxmlformats.org/officeDocument/2006/relationships/oleObject" Target="../embeddings/oleObject119.bin"/><Relationship Id="rId12" Type="http://schemas.openxmlformats.org/officeDocument/2006/relationships/image" Target="../media/image117.wmf"/><Relationship Id="rId11" Type="http://schemas.openxmlformats.org/officeDocument/2006/relationships/oleObject" Target="../embeddings/oleObject118.bin"/><Relationship Id="rId10" Type="http://schemas.openxmlformats.org/officeDocument/2006/relationships/image" Target="../media/image116.wmf"/><Relationship Id="rId1" Type="http://schemas.openxmlformats.org/officeDocument/2006/relationships/oleObject" Target="../embeddings/oleObject113.bin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495600" y="1713548"/>
            <a:ext cx="7200800" cy="949878"/>
          </a:xfrm>
        </p:spPr>
        <p:txBody>
          <a:bodyPr>
            <a:noAutofit/>
          </a:bodyPr>
          <a:lstStyle/>
          <a:p>
            <a:r>
              <a:rPr lang="zh-CN" altLang="zh-CN" sz="5400" dirty="0"/>
              <a:t>数学物理方法</a:t>
            </a:r>
            <a:endParaRPr lang="zh-CN" altLang="zh-CN" sz="54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2669886" y="2728908"/>
            <a:ext cx="7200900" cy="167559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dirty="0"/>
              <a:t>任课教师：曹宁</a:t>
            </a:r>
            <a:r>
              <a:rPr lang="en-US" altLang="zh-CN" dirty="0"/>
              <a:t> 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en-US" dirty="0"/>
              <a:t>海洋与气象学院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en-US" altLang="zh-CN" dirty="0"/>
              <a:t>Email: ncao@gdou.edu.cn</a:t>
            </a:r>
            <a:endParaRPr lang="zh-CN" altLang="en-US" dirty="0"/>
          </a:p>
          <a:p>
            <a:pPr>
              <a:lnSpc>
                <a:spcPct val="100000"/>
              </a:lnSpc>
            </a:pPr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zh-CN" altLang="en-US" dirty="0"/>
              <a:t>秋季学期</a:t>
            </a:r>
            <a:endParaRPr lang="zh-CN" altLang="en-US" dirty="0"/>
          </a:p>
        </p:txBody>
      </p:sp>
      <p:pic>
        <p:nvPicPr>
          <p:cNvPr id="5" name="图片 4" descr="校名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2050" y="867410"/>
            <a:ext cx="2248535" cy="49022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4171" y="4542503"/>
            <a:ext cx="1983657" cy="1983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026" name="标题 513025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sz="4800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数学物理方法</a:t>
            </a:r>
            <a:r>
              <a:rPr lang="en-US" altLang="zh-CN" sz="480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4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核心</a:t>
            </a:r>
            <a:endParaRPr lang="zh-CN" altLang="en-US" sz="4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13027" name="文本占位符 513026"/>
          <p:cNvSpPr>
            <a:spLocks noGrp="1"/>
          </p:cNvSpPr>
          <p:nvPr>
            <p:ph type="body" sz="half" idx="1"/>
          </p:nvPr>
        </p:nvSpPr>
        <p:spPr>
          <a:xfrm>
            <a:off x="2567781" y="1557338"/>
            <a:ext cx="7056437" cy="4525962"/>
          </a:xfrm>
        </p:spPr>
        <p:txBody>
          <a:bodyPr/>
          <a:lstStyle/>
          <a:p>
            <a:pPr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用数学物理方法处理实际问题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Tx/>
              <a:buSzTx/>
              <a:buFontTx/>
              <a:buNone/>
            </a:pPr>
            <a:endParaRPr lang="en-US" altLang="zh-CN" sz="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第一步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它是最重要的一步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也是最困难的一步：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Tx/>
              <a:buSzTx/>
              <a:buFontTx/>
              <a:buNone/>
            </a:pPr>
            <a:endParaRPr lang="zh-CN" altLang="en-US" sz="1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>
              <a:buClrTx/>
              <a:buSzTx/>
              <a:buFontTx/>
              <a:buNone/>
            </a:pPr>
            <a:r>
              <a:rPr lang="zh-CN" altLang="en-US" sz="4000" b="1" dirty="0">
                <a:solidFill>
                  <a:srgbClr val="0000FF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数学物理方程的建立</a:t>
            </a:r>
            <a:endParaRPr lang="zh-CN" altLang="en-US" sz="4000" b="1" dirty="0">
              <a:solidFill>
                <a:srgbClr val="0000FF"/>
              </a:solidFill>
              <a:highlight>
                <a:srgbClr val="FFFF00"/>
              </a:highlight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0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02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746" name="标题 799745"/>
          <p:cNvSpPr>
            <a:spLocks noGrp="1"/>
          </p:cNvSpPr>
          <p:nvPr>
            <p:ph type="title"/>
          </p:nvPr>
        </p:nvSpPr>
        <p:spPr>
          <a:xfrm>
            <a:off x="1992313" y="0"/>
            <a:ext cx="8229600" cy="1143000"/>
          </a:xfrm>
        </p:spPr>
        <p:txBody>
          <a:bodyPr anchor="ctr" anchorCtr="0"/>
          <a:lstStyle/>
          <a:p>
            <a:r>
              <a:rPr lang="zh-CN" altLang="en-US" sz="3600" b="1" dirty="0">
                <a:solidFill>
                  <a:srgbClr val="CC0000"/>
                </a:solidFill>
                <a:ea typeface="黑体" panose="02010609060101010101" pitchFamily="49" charset="-122"/>
              </a:rPr>
              <a:t>建立</a:t>
            </a:r>
            <a:r>
              <a:rPr lang="zh-CN" altLang="en-US" sz="36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数理方程的方法</a:t>
            </a:r>
            <a:endParaRPr lang="zh-CN" altLang="en-US" sz="3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99747" name="文本占位符 799746"/>
          <p:cNvSpPr>
            <a:spLocks noGrp="1"/>
          </p:cNvSpPr>
          <p:nvPr>
            <p:ph type="body" idx="1"/>
          </p:nvPr>
        </p:nvSpPr>
        <p:spPr>
          <a:xfrm>
            <a:off x="1919288" y="1196976"/>
            <a:ext cx="8229600" cy="4824413"/>
          </a:xfrm>
        </p:spPr>
        <p:txBody>
          <a:bodyPr/>
          <a:lstStyle/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统计法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：对所考察的问题进行统计学研究，分析考察量的变化规律，写出它所满足的微分方程。这种方法具有非常广泛的用途，包括生物学、生态学、经济学、社会学等。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endParaRPr lang="zh-CN" altLang="en-US" sz="9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微元法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：在系统中分出一个微元，分析它与附近部分的相互作用，写出作用规律的数学表达式（比如牛顿第二定律表达式），它就是系统的微分方程。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endParaRPr lang="zh-CN" altLang="en-US" sz="9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endParaRPr lang="zh-CN" altLang="en-US" sz="9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09600" indent="-609600">
              <a:lnSpc>
                <a:spcPct val="80000"/>
              </a:lnSpc>
              <a:buFontTx/>
              <a:buAutoNum type="arabicPeriod"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规律法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：直接利用物理学规律写出考察量所遵循的数学物理方程，比如利用电磁波的麦克斯韦方程，写出电位、电场强度、磁场强度等物理量的微分方程。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09600" indent="-609600">
              <a:lnSpc>
                <a:spcPct val="80000"/>
              </a:lnSpc>
              <a:buNone/>
            </a:pP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609600" indent="-609600">
              <a:lnSpc>
                <a:spcPct val="80000"/>
              </a:lnSpc>
            </a:pP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747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594" name="标题 750593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sz="3600" b="1" dirty="0">
                <a:solidFill>
                  <a:srgbClr val="CC0000"/>
                </a:solidFill>
                <a:ea typeface="黑体" panose="02010609060101010101" pitchFamily="49" charset="-122"/>
              </a:rPr>
              <a:t>数理方程：</a:t>
            </a:r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泛定方程</a:t>
            </a:r>
            <a:endParaRPr lang="zh-CN" altLang="en-US" sz="3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50595" name="内容占位符 750594"/>
          <p:cNvGraphicFramePr>
            <a:graphicFrameLocks noGrp="1"/>
          </p:cNvGraphicFramePr>
          <p:nvPr>
            <p:ph sz="quarter" idx="2"/>
          </p:nvPr>
        </p:nvGraphicFramePr>
        <p:xfrm>
          <a:off x="7824789" y="1916113"/>
          <a:ext cx="1616075" cy="352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977900" imgH="2133600" progId="Equation.3">
                  <p:embed/>
                </p:oleObj>
              </mc:Choice>
              <mc:Fallback>
                <p:oleObj name="" r:id="rId1" imgW="977900" imgH="2133600" progId="Equation.3">
                  <p:embed/>
                  <p:pic>
                    <p:nvPicPr>
                      <p:cNvPr id="0" name="内容占位符 7505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824789" y="1916113"/>
                        <a:ext cx="1616075" cy="352901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596" name="内容占位符 750595"/>
          <p:cNvGraphicFramePr>
            <a:graphicFrameLocks noGrp="1"/>
          </p:cNvGraphicFramePr>
          <p:nvPr>
            <p:ph sz="quarter" idx="3"/>
          </p:nvPr>
        </p:nvGraphicFramePr>
        <p:xfrm>
          <a:off x="5016500" y="1989139"/>
          <a:ext cx="1974850" cy="345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269365" imgH="2221230" progId="Equation.3">
                  <p:embed/>
                </p:oleObj>
              </mc:Choice>
              <mc:Fallback>
                <p:oleObj name="" r:id="rId3" imgW="1269365" imgH="2221230" progId="Equation.3">
                  <p:embed/>
                  <p:pic>
                    <p:nvPicPr>
                      <p:cNvPr id="0" name="内容占位符 75059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016500" y="1989139"/>
                        <a:ext cx="1974850" cy="345598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0597" name="文本占位符 750596"/>
          <p:cNvSpPr>
            <a:spLocks noGrp="1"/>
          </p:cNvSpPr>
          <p:nvPr>
            <p:ph type="body" sz="half" idx="1"/>
          </p:nvPr>
        </p:nvSpPr>
        <p:spPr>
          <a:xfrm>
            <a:off x="1257588" y="1484313"/>
            <a:ext cx="2852448" cy="4777941"/>
          </a:xfrm>
          <a:solidFill>
            <a:srgbClr val="CCFFFF">
              <a:alpha val="100000"/>
            </a:srgbClr>
          </a:solidFill>
          <a:ln w="25400">
            <a:solidFill>
              <a:srgbClr val="0000FF"/>
            </a:solidFill>
            <a:miter/>
          </a:ln>
        </p:spPr>
        <p:txBody>
          <a:bodyPr/>
          <a:lstStyle/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数理方程包括常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微分方程和偏微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分方程等。由于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同一个方程可以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广泛描述多种物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理作用，故称为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“泛定方程”。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如果函数</a:t>
            </a:r>
            <a:r>
              <a:rPr lang="zh-CN" altLang="en-US" sz="18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400" i="1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en-US" altLang="zh-CN" sz="1800" i="1" dirty="0">
                <a:solidFill>
                  <a:srgbClr val="CC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4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和它的</a:t>
            </a:r>
            <a:endParaRPr lang="zh-CN" altLang="en-US" sz="2400" b="1" dirty="0">
              <a:solidFill>
                <a:srgbClr val="CC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各阶导数都是一</a:t>
            </a:r>
            <a:endParaRPr lang="zh-CN" altLang="en-US" sz="2400" b="1" dirty="0">
              <a:solidFill>
                <a:srgbClr val="CC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次幂，称为线性</a:t>
            </a:r>
            <a:endParaRPr lang="zh-CN" altLang="en-US" sz="2400" b="1" dirty="0">
              <a:solidFill>
                <a:srgbClr val="CC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4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微分方程。</a:t>
            </a:r>
            <a:endParaRPr lang="zh-CN" altLang="en-US" sz="2400" b="1" dirty="0">
              <a:solidFill>
                <a:srgbClr val="CC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ClrTx/>
              <a:buSzTx/>
              <a:buFontTx/>
            </a:pPr>
            <a:endParaRPr lang="zh-CN" altLang="en-US" sz="12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sp>
        <p:nvSpPr>
          <p:cNvPr id="750598" name="文本框 750597"/>
          <p:cNvSpPr txBox="1"/>
          <p:nvPr/>
        </p:nvSpPr>
        <p:spPr>
          <a:xfrm>
            <a:off x="4943475" y="1484313"/>
            <a:ext cx="18732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>
                <a:latin typeface="Verdana" panose="020B0604030504040204" pitchFamily="34" charset="0"/>
                <a:ea typeface="黑体" panose="02010609060101010101" pitchFamily="49" charset="-122"/>
              </a:rPr>
              <a:t>波动方程：</a:t>
            </a:r>
            <a:endParaRPr lang="zh-CN" altLang="en-US" sz="2400" dirty="0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50599" name="文本框 750598"/>
          <p:cNvSpPr txBox="1"/>
          <p:nvPr/>
        </p:nvSpPr>
        <p:spPr>
          <a:xfrm>
            <a:off x="4943475" y="2924175"/>
            <a:ext cx="23050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>
                <a:latin typeface="Verdana" panose="020B0604030504040204" pitchFamily="34" charset="0"/>
                <a:ea typeface="黑体" panose="02010609060101010101" pitchFamily="49" charset="-122"/>
              </a:rPr>
              <a:t>热传导方程：</a:t>
            </a:r>
            <a:endParaRPr lang="zh-CN" altLang="en-US" sz="2400" dirty="0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50600" name="文本框 750599"/>
          <p:cNvSpPr txBox="1"/>
          <p:nvPr/>
        </p:nvSpPr>
        <p:spPr>
          <a:xfrm>
            <a:off x="7751763" y="1484313"/>
            <a:ext cx="25209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人口增长方程：</a:t>
            </a:r>
            <a:endParaRPr lang="zh-CN" altLang="en-US" sz="2400" dirty="0">
              <a:solidFill>
                <a:srgbClr val="0000FF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50601" name="文本框 750600"/>
          <p:cNvSpPr txBox="1"/>
          <p:nvPr/>
        </p:nvSpPr>
        <p:spPr>
          <a:xfrm>
            <a:off x="7751763" y="2924175"/>
            <a:ext cx="26654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孤立波方程：</a:t>
            </a:r>
            <a:endParaRPr lang="zh-CN" altLang="en-US" sz="2400" dirty="0">
              <a:solidFill>
                <a:srgbClr val="0000FF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50602" name="文本框 750601"/>
          <p:cNvSpPr txBox="1"/>
          <p:nvPr/>
        </p:nvSpPr>
        <p:spPr>
          <a:xfrm>
            <a:off x="4943475" y="4292600"/>
            <a:ext cx="25209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>
                <a:latin typeface="Verdana" panose="020B0604030504040204" pitchFamily="34" charset="0"/>
                <a:ea typeface="黑体" panose="02010609060101010101" pitchFamily="49" charset="-122"/>
              </a:rPr>
              <a:t>拉普拉斯方程：</a:t>
            </a:r>
            <a:endParaRPr lang="zh-CN" altLang="en-US" sz="2400" dirty="0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50603" name="文本框 750602"/>
          <p:cNvSpPr txBox="1"/>
          <p:nvPr/>
        </p:nvSpPr>
        <p:spPr>
          <a:xfrm>
            <a:off x="7751764" y="4292600"/>
            <a:ext cx="22320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冲击波方程：</a:t>
            </a:r>
            <a:endParaRPr lang="zh-CN" altLang="en-US" sz="2400" dirty="0">
              <a:solidFill>
                <a:srgbClr val="0000FF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50604" name="文本框 750603"/>
          <p:cNvSpPr txBox="1"/>
          <p:nvPr/>
        </p:nvSpPr>
        <p:spPr>
          <a:xfrm>
            <a:off x="5448301" y="5516564"/>
            <a:ext cx="1223963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dirty="0">
                <a:latin typeface="Verdana" panose="020B0604030504040204" pitchFamily="34" charset="0"/>
                <a:ea typeface="黑体" panose="02010609060101010101" pitchFamily="49" charset="-122"/>
              </a:rPr>
              <a:t>线性</a:t>
            </a:r>
            <a:endParaRPr lang="zh-CN" altLang="en-US" sz="3200" dirty="0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50605" name="文本框 750604"/>
          <p:cNvSpPr txBox="1"/>
          <p:nvPr/>
        </p:nvSpPr>
        <p:spPr>
          <a:xfrm>
            <a:off x="7967664" y="5516564"/>
            <a:ext cx="1512887" cy="57943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dirty="0">
                <a:latin typeface="Verdana" panose="020B0604030504040204" pitchFamily="34" charset="0"/>
                <a:ea typeface="黑体" panose="02010609060101010101" pitchFamily="49" charset="-122"/>
              </a:rPr>
              <a:t>非线性</a:t>
            </a:r>
            <a:endParaRPr lang="zh-CN" altLang="en-US" sz="3200" dirty="0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546" name="标题 748545"/>
          <p:cNvSpPr>
            <a:spLocks noGrp="1"/>
          </p:cNvSpPr>
          <p:nvPr>
            <p:ph type="title" sz="quarter"/>
          </p:nvPr>
        </p:nvSpPr>
        <p:spPr>
          <a:xfrm>
            <a:off x="1919288" y="549275"/>
            <a:ext cx="8229600" cy="1143000"/>
          </a:xfrm>
        </p:spPr>
        <p:txBody>
          <a:bodyPr anchor="ctr" anchorCtr="0"/>
          <a:lstStyle/>
          <a:p>
            <a:r>
              <a:rPr lang="zh-CN" altLang="en-US" sz="4800" dirty="0">
                <a:solidFill>
                  <a:srgbClr val="CC0000"/>
                </a:solidFill>
                <a:ea typeface="黑体" panose="02010609060101010101" pitchFamily="49" charset="-122"/>
              </a:rPr>
              <a:t>数学物理方程：</a:t>
            </a:r>
            <a:r>
              <a:rPr lang="zh-CN" altLang="en-US" sz="4800" dirty="0">
                <a:solidFill>
                  <a:srgbClr val="0000FF"/>
                </a:solidFill>
                <a:ea typeface="黑体" panose="02010609060101010101" pitchFamily="49" charset="-122"/>
              </a:rPr>
              <a:t>完整表述</a:t>
            </a:r>
            <a:endParaRPr lang="zh-CN" altLang="en-US" sz="480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748547" name="文本框 748546"/>
          <p:cNvSpPr txBox="1"/>
          <p:nvPr/>
        </p:nvSpPr>
        <p:spPr>
          <a:xfrm>
            <a:off x="3648076" y="2205039"/>
            <a:ext cx="5402263" cy="40862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4000" dirty="0">
                <a:latin typeface="Verdana" panose="020B0604030504040204" pitchFamily="34" charset="0"/>
                <a:ea typeface="黑体" panose="02010609060101010101" pitchFamily="49" charset="-122"/>
              </a:rPr>
              <a:t>泛定方程</a:t>
            </a:r>
            <a:endParaRPr lang="zh-CN" altLang="en-US" sz="4000" dirty="0"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r>
              <a:rPr lang="zh-CN" altLang="en-US" sz="4000" dirty="0">
                <a:latin typeface="Verdana" panose="020B0604030504040204" pitchFamily="34" charset="0"/>
                <a:ea typeface="黑体" panose="02010609060101010101" pitchFamily="49" charset="-122"/>
              </a:rPr>
              <a:t>定解条件</a:t>
            </a:r>
            <a:endParaRPr lang="zh-CN" altLang="en-US" sz="4000" dirty="0"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endParaRPr lang="zh-CN" altLang="en-US" sz="4000" dirty="0">
              <a:latin typeface="Verdana" panose="020B0604030504040204" pitchFamily="34" charset="0"/>
              <a:ea typeface="黑体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48549" name="文本框 748548"/>
          <p:cNvSpPr txBox="1"/>
          <p:nvPr/>
        </p:nvSpPr>
        <p:spPr>
          <a:xfrm>
            <a:off x="6096001" y="2708276"/>
            <a:ext cx="2519363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4000" dirty="0">
                <a:latin typeface="Verdana" panose="020B0604030504040204" pitchFamily="34" charset="0"/>
                <a:ea typeface="黑体" panose="02010609060101010101" pitchFamily="49" charset="-122"/>
              </a:rPr>
              <a:t>定解问题</a:t>
            </a:r>
            <a:endParaRPr lang="zh-CN" altLang="en-US" sz="4000" dirty="0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48550" name="右大括号 748549"/>
          <p:cNvSpPr/>
          <p:nvPr/>
        </p:nvSpPr>
        <p:spPr>
          <a:xfrm>
            <a:off x="5880100" y="2565401"/>
            <a:ext cx="431800" cy="1008063"/>
          </a:xfrm>
          <a:prstGeom prst="rightBrace">
            <a:avLst>
              <a:gd name="adj1" fmla="val 19454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Rot="1"/>
          </p:cNvSpPr>
          <p:nvPr>
            <p:ph type="title"/>
          </p:nvPr>
        </p:nvSpPr>
        <p:spPr>
          <a:xfrm>
            <a:off x="732473" y="196056"/>
            <a:ext cx="7586662" cy="576263"/>
          </a:xfrm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l" eaLnBrk="1" hangingPunct="1"/>
            <a:r>
              <a:rPr lang="zh-CN" altLang="en-US" sz="44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定解问题</a:t>
            </a:r>
            <a:r>
              <a:rPr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及其适定性</a:t>
            </a:r>
            <a:endParaRPr lang="zh-CN" altLang="en-US" sz="4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9091" name="Rectangle 3"/>
          <p:cNvSpPr/>
          <p:nvPr/>
        </p:nvSpPr>
        <p:spPr>
          <a:xfrm>
            <a:off x="2063750" y="2862264"/>
            <a:ext cx="7696200" cy="946150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特定条件</a:t>
            </a:r>
            <a:r>
              <a:rPr lang="zh-CN" altLang="en-US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准确说明对象的初始状态以及边界上的约束条件。</a:t>
            </a:r>
            <a:endParaRPr lang="zh-CN" altLang="en-US" sz="2800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9092" name="Rectangle 4"/>
          <p:cNvSpPr/>
          <p:nvPr/>
        </p:nvSpPr>
        <p:spPr>
          <a:xfrm>
            <a:off x="2063750" y="4292601"/>
            <a:ext cx="7258050" cy="519113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用以说明初始状态的条件称为“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初始条件</a:t>
            </a:r>
            <a:r>
              <a:rPr lang="zh-CN" altLang="en-US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”；</a:t>
            </a:r>
            <a:endParaRPr lang="zh-CN" altLang="en-US" sz="2800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9093" name="Rectangle 5"/>
          <p:cNvSpPr/>
          <p:nvPr/>
        </p:nvSpPr>
        <p:spPr>
          <a:xfrm>
            <a:off x="2063750" y="5295901"/>
            <a:ext cx="8256588" cy="519113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用以说明边界上约束情况的条件称为“</a:t>
            </a:r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边界条件</a:t>
            </a:r>
            <a:r>
              <a:rPr lang="zh-CN" altLang="en-US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”。</a:t>
            </a:r>
            <a:endParaRPr lang="zh-CN" altLang="en-US" sz="2800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4656138" y="1925640"/>
            <a:ext cx="4824412" cy="531813"/>
            <a:chOff x="521" y="1117"/>
            <a:chExt cx="3039" cy="335"/>
          </a:xfrm>
        </p:grpSpPr>
        <p:sp>
          <p:nvSpPr>
            <p:cNvPr id="56326" name="Text Box 7"/>
            <p:cNvSpPr txBox="1"/>
            <p:nvPr/>
          </p:nvSpPr>
          <p:spPr>
            <a:xfrm>
              <a:off x="521" y="1117"/>
              <a:ext cx="140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偏微分方程</a:t>
              </a:r>
              <a:endParaRPr lang="zh-CN" altLang="en-US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56327" name="Object 8"/>
            <p:cNvGraphicFramePr>
              <a:graphicFrameLocks noChangeAspect="1"/>
            </p:cNvGraphicFramePr>
            <p:nvPr/>
          </p:nvGraphicFramePr>
          <p:xfrm>
            <a:off x="1782" y="1162"/>
            <a:ext cx="290" cy="2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1" imgW="139700" imgH="139700" progId="Equation.DSMT4">
                    <p:embed/>
                  </p:oleObj>
                </mc:Choice>
                <mc:Fallback>
                  <p:oleObj name="" r:id="rId1" imgW="139700" imgH="139700" progId="Equation.DSMT4">
                    <p:embed/>
                    <p:pic>
                      <p:nvPicPr>
                        <p:cNvPr id="0" name="Object 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782" y="1162"/>
                          <a:ext cx="290" cy="29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6328" name="Text Box 9"/>
            <p:cNvSpPr txBox="1"/>
            <p:nvPr/>
          </p:nvSpPr>
          <p:spPr>
            <a:xfrm>
              <a:off x="2064" y="1117"/>
              <a:ext cx="149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特定条件</a:t>
              </a:r>
              <a:endParaRPr lang="zh-CN" altLang="en-US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</p:grpSp>
      <p:sp>
        <p:nvSpPr>
          <p:cNvPr id="89098" name="Text Box 10"/>
          <p:cNvSpPr txBox="1"/>
          <p:nvPr/>
        </p:nvSpPr>
        <p:spPr>
          <a:xfrm>
            <a:off x="2063751" y="1925640"/>
            <a:ext cx="3311525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描述物理现象：</a:t>
            </a:r>
            <a:endParaRPr lang="zh-CN" altLang="en-US" sz="2800" dirty="0">
              <a:solidFill>
                <a:srgbClr val="0000CC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8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9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1" grpId="0"/>
      <p:bldP spid="89092" grpId="0"/>
      <p:bldP spid="89093" grpId="0"/>
      <p:bldP spid="8909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2"/>
          <p:cNvSpPr>
            <a:spLocks noGrp="1" noRot="1"/>
          </p:cNvSpPr>
          <p:nvPr>
            <p:ph type="title"/>
          </p:nvPr>
        </p:nvSpPr>
        <p:spPr>
          <a:xfrm>
            <a:off x="1282700" y="405606"/>
            <a:ext cx="4813300" cy="649288"/>
          </a:xfrm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l" eaLnBrk="1" hangingPunct="1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初始条件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0115" name="Rectangle 3"/>
          <p:cNvSpPr/>
          <p:nvPr/>
        </p:nvSpPr>
        <p:spPr>
          <a:xfrm>
            <a:off x="2279650" y="2708275"/>
            <a:ext cx="8001000" cy="13731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弦振动问题：初始条件是指弦在开始振动时刻的位移和速度。如果以 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 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g</a:t>
            </a:r>
            <a:r>
              <a:rPr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分别表示弦的初位移和初速度，则初始条件可以表达为</a:t>
            </a:r>
            <a:r>
              <a:rPr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endParaRPr lang="en-US" altLang="zh-CN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0116" name="Object 4"/>
          <p:cNvGraphicFramePr>
            <a:graphicFrameLocks noChangeAspect="1"/>
          </p:cNvGraphicFramePr>
          <p:nvPr/>
        </p:nvGraphicFramePr>
        <p:xfrm>
          <a:off x="4800601" y="4437064"/>
          <a:ext cx="2284413" cy="148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371600" imgH="889000" progId="Equation.DSMT4">
                  <p:embed/>
                </p:oleObj>
              </mc:Choice>
              <mc:Fallback>
                <p:oleObj name="" r:id="rId1" imgW="1371600" imgH="8890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800601" y="4437064"/>
                        <a:ext cx="2284413" cy="1481137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117" name="Text Box 5"/>
          <p:cNvSpPr txBox="1"/>
          <p:nvPr/>
        </p:nvSpPr>
        <p:spPr>
          <a:xfrm>
            <a:off x="2279651" y="1557338"/>
            <a:ext cx="7343775" cy="946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初始条件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用以给出具体物理现象的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初始状态。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又称：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柯西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Cauchy</a:t>
            </a:r>
            <a:r>
              <a:rPr lang="en-US" altLang="zh-CN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初始条件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0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0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0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/>
      <p:bldP spid="9011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/>
          <p:nvPr/>
        </p:nvSpPr>
        <p:spPr>
          <a:xfrm>
            <a:off x="2279650" y="981076"/>
            <a:ext cx="7924800" cy="180022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2.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热传导问题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初始条件是指开始传热的时刻物体温度的分布情况。若以 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f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表示 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 =0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时物体内一点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的温度，则热传导问题的初始条件可以表示为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:</a:t>
            </a:r>
            <a:endParaRPr lang="en-US" altLang="zh-CN" sz="2800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91139" name="Rectangle 3"/>
          <p:cNvSpPr/>
          <p:nvPr/>
        </p:nvSpPr>
        <p:spPr>
          <a:xfrm>
            <a:off x="2209800" y="4191000"/>
            <a:ext cx="7989888" cy="946150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泊松方程和拉普拉斯方程：描述稳恒状态，与时间无关，所以不提初始条件。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91140" name="Object 4"/>
          <p:cNvGraphicFramePr>
            <a:graphicFrameLocks noChangeAspect="1"/>
          </p:cNvGraphicFramePr>
          <p:nvPr/>
        </p:nvGraphicFramePr>
        <p:xfrm>
          <a:off x="4489451" y="2943226"/>
          <a:ext cx="3190875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523365" imgH="317500" progId="Equation.DSMT4">
                  <p:embed/>
                </p:oleObj>
              </mc:Choice>
              <mc:Fallback>
                <p:oleObj name="" r:id="rId1" imgW="1523365" imgH="3175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89451" y="2943226"/>
                        <a:ext cx="3190875" cy="665163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chemeClr val="bg2">
                            <a:alpha val="50000"/>
                          </a:scheme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1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/>
          <p:nvPr/>
        </p:nvSpPr>
        <p:spPr>
          <a:xfrm>
            <a:off x="2063750" y="1125539"/>
            <a:ext cx="8174038" cy="39211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algn="just">
              <a:spcBef>
                <a:spcPct val="20000"/>
              </a:spcBef>
            </a:pPr>
            <a:endParaRPr lang="en-US" altLang="zh-CN" sz="2800" dirty="0">
              <a:solidFill>
                <a:schemeClr val="bg2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342900" indent="-342900" algn="just">
              <a:lnSpc>
                <a:spcPct val="145000"/>
              </a:lnSpc>
              <a:spcBef>
                <a:spcPct val="50000"/>
              </a:spcBef>
              <a:buClr>
                <a:srgbClr val="22148A"/>
              </a:buClr>
              <a:buFont typeface="Wingdings" panose="05000000000000000000" pitchFamily="2" charset="2"/>
              <a:buChar char="Ø"/>
            </a:pPr>
            <a:r>
              <a:rPr lang="en-US" altLang="zh-CN" sz="2800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不同类型的方程，相应初值条件的个数不同。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just">
              <a:lnSpc>
                <a:spcPct val="145000"/>
              </a:lnSpc>
              <a:spcBef>
                <a:spcPct val="50000"/>
              </a:spcBef>
              <a:buClr>
                <a:srgbClr val="22148A"/>
              </a:buClr>
            </a:pP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关于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 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 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阶偏微分方程，要给出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个初始条件。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just">
              <a:lnSpc>
                <a:spcPct val="145000"/>
              </a:lnSpc>
              <a:spcBef>
                <a:spcPct val="50000"/>
              </a:spcBef>
              <a:buClr>
                <a:srgbClr val="22148A"/>
              </a:buClr>
              <a:buFont typeface="Wingdings" panose="05000000000000000000" pitchFamily="2" charset="2"/>
              <a:buChar char="Ø"/>
            </a:pP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初始条件给出的应是整个系统的初始状态，而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 algn="just">
              <a:lnSpc>
                <a:spcPct val="145000"/>
              </a:lnSpc>
              <a:spcBef>
                <a:spcPct val="50000"/>
              </a:spcBef>
              <a:buClr>
                <a:srgbClr val="22148A"/>
              </a:buClr>
            </a:pP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非系统中个别点的初始状态。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9394" name="Text Box 3"/>
          <p:cNvSpPr txBox="1"/>
          <p:nvPr/>
        </p:nvSpPr>
        <p:spPr>
          <a:xfrm>
            <a:off x="2351088" y="836614"/>
            <a:ext cx="1408112" cy="579437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注意：</a:t>
            </a:r>
            <a:endParaRPr lang="zh-CN" altLang="en-US" sz="32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Rot="1"/>
          </p:cNvSpPr>
          <p:nvPr>
            <p:ph type="title"/>
          </p:nvPr>
        </p:nvSpPr>
        <p:spPr/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l" eaLnBrk="1" hangingPunct="1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边界条件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0418" name="Object 9"/>
          <p:cNvGraphicFramePr>
            <a:graphicFrameLocks noGrp="1" noChangeAspect="1"/>
          </p:cNvGraphicFramePr>
          <p:nvPr>
            <p:ph sz="half" idx="1"/>
          </p:nvPr>
        </p:nvGraphicFramePr>
        <p:xfrm>
          <a:off x="5664200" y="5300664"/>
          <a:ext cx="2952750" cy="636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524000" imgH="330200" progId="Equation.DSMT4">
                  <p:embed/>
                </p:oleObj>
              </mc:Choice>
              <mc:Fallback>
                <p:oleObj name="" r:id="rId1" imgW="1524000" imgH="330200" progId="Equation.DSMT4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664200" y="5300664"/>
                        <a:ext cx="2952750" cy="636587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47" name="Rectangle 3"/>
          <p:cNvSpPr/>
          <p:nvPr/>
        </p:nvSpPr>
        <p:spPr>
          <a:xfrm>
            <a:off x="2286000" y="1524001"/>
            <a:ext cx="7696200" cy="1458913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边界条件是给出具体物理现象在边界上所处的物理情况。</a:t>
            </a:r>
            <a:endParaRPr lang="zh-CN" altLang="en-US" sz="2800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>
              <a:spcBef>
                <a:spcPct val="20000"/>
              </a:spcBef>
            </a:pP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1.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弦振动边界条件的三种类型：</a:t>
            </a:r>
            <a:endParaRPr lang="zh-CN" altLang="en-US" sz="2800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0420" name="Rectangle 5"/>
          <p:cNvSpPr/>
          <p:nvPr/>
        </p:nvSpPr>
        <p:spPr>
          <a:xfrm>
            <a:off x="2855914" y="3213101"/>
            <a:ext cx="2117725" cy="519113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(1) 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固定端：</a:t>
            </a:r>
            <a:endParaRPr lang="zh-CN" altLang="en-US" sz="2800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60421" name="Object 6"/>
          <p:cNvGraphicFramePr>
            <a:graphicFrameLocks noChangeAspect="1"/>
          </p:cNvGraphicFramePr>
          <p:nvPr/>
        </p:nvGraphicFramePr>
        <p:xfrm>
          <a:off x="5375276" y="3213101"/>
          <a:ext cx="3097213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638300" imgH="241300" progId="Equation.DSMT4">
                  <p:embed/>
                </p:oleObj>
              </mc:Choice>
              <mc:Fallback>
                <p:oleObj name="" r:id="rId3" imgW="1638300" imgH="2413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75276" y="3213101"/>
                        <a:ext cx="3097213" cy="449263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51" name="Rectangle 7"/>
          <p:cNvSpPr/>
          <p:nvPr/>
        </p:nvSpPr>
        <p:spPr>
          <a:xfrm>
            <a:off x="2566988" y="5300663"/>
            <a:ext cx="7696200" cy="519112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(3)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弹性支撑端：</a:t>
            </a:r>
            <a:endParaRPr lang="zh-CN" altLang="en-US" sz="2800" dirty="0">
              <a:solidFill>
                <a:srgbClr val="FF212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85352" name="Rectangle 8"/>
          <p:cNvSpPr/>
          <p:nvPr/>
        </p:nvSpPr>
        <p:spPr>
          <a:xfrm>
            <a:off x="2566988" y="4221163"/>
            <a:ext cx="7696200" cy="519112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(2)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自由端：</a:t>
            </a:r>
            <a:endParaRPr lang="zh-CN" altLang="en-US" sz="2800" dirty="0">
              <a:solidFill>
                <a:srgbClr val="FF212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60424" name="Object 11"/>
          <p:cNvGraphicFramePr>
            <a:graphicFrameLocks noGrp="1" noChangeAspect="1"/>
          </p:cNvGraphicFramePr>
          <p:nvPr>
            <p:ph sz="half" idx="2"/>
          </p:nvPr>
        </p:nvGraphicFramePr>
        <p:xfrm>
          <a:off x="4943475" y="4005263"/>
          <a:ext cx="5329238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2971800" imgH="584200" progId="Equation.DSMT4">
                  <p:embed/>
                </p:oleObj>
              </mc:Choice>
              <mc:Fallback>
                <p:oleObj name="" r:id="rId5" imgW="2971800" imgH="584200" progId="Equation.DSMT4">
                  <p:embed/>
                  <p:pic>
                    <p:nvPicPr>
                      <p:cNvPr id="0" name="Object 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43475" y="4005263"/>
                        <a:ext cx="5329238" cy="105410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5" name="AutoShape 13"/>
          <p:cNvSpPr/>
          <p:nvPr/>
        </p:nvSpPr>
        <p:spPr>
          <a:xfrm>
            <a:off x="1847851" y="3716338"/>
            <a:ext cx="2016125" cy="576262"/>
          </a:xfrm>
          <a:prstGeom prst="cloudCallout">
            <a:avLst>
              <a:gd name="adj1" fmla="val 130000"/>
              <a:gd name="adj2" fmla="val 67630"/>
            </a:avLst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r>
              <a:rPr lang="zh-CN" altLang="en-US" sz="2400" dirty="0">
                <a:latin typeface="Arial" panose="020B0604020202020204" pitchFamily="34" charset="0"/>
                <a:ea typeface="楷体_GB2312" pitchFamily="49" charset="-122"/>
              </a:rPr>
              <a:t>张力</a:t>
            </a:r>
            <a:endParaRPr lang="zh-CN" altLang="en-US" sz="240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0426" name="AutoShape 14"/>
          <p:cNvSpPr/>
          <p:nvPr/>
        </p:nvSpPr>
        <p:spPr>
          <a:xfrm>
            <a:off x="7535864" y="6092826"/>
            <a:ext cx="2879725" cy="576263"/>
          </a:xfrm>
          <a:prstGeom prst="cloudCallout">
            <a:avLst>
              <a:gd name="adj1" fmla="val -70009"/>
              <a:gd name="adj2" fmla="val -93528"/>
            </a:avLst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r>
              <a:rPr lang="zh-CN" altLang="en-US" sz="2000" dirty="0">
                <a:latin typeface="Arial" panose="020B0604020202020204" pitchFamily="34" charset="0"/>
                <a:ea typeface="楷体_GB2312" pitchFamily="49" charset="-122"/>
              </a:rPr>
              <a:t>弹性支撑力</a:t>
            </a:r>
            <a:endParaRPr lang="zh-CN" altLang="en-US" sz="2000" dirty="0">
              <a:latin typeface="Arial" panose="020B0604020202020204" pitchFamily="34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5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5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5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7" grpId="0"/>
      <p:bldP spid="185351" grpId="0"/>
      <p:bldP spid="18535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41" name="Group 2"/>
          <p:cNvGrpSpPr/>
          <p:nvPr/>
        </p:nvGrpSpPr>
        <p:grpSpPr>
          <a:xfrm>
            <a:off x="2362200" y="533400"/>
            <a:ext cx="7924800" cy="2101850"/>
            <a:chOff x="528" y="336"/>
            <a:chExt cx="4992" cy="1324"/>
          </a:xfrm>
        </p:grpSpPr>
        <p:sp>
          <p:nvSpPr>
            <p:cNvPr id="61442" name="Rectangle 3"/>
            <p:cNvSpPr/>
            <p:nvPr/>
          </p:nvSpPr>
          <p:spPr>
            <a:xfrm>
              <a:off x="528" y="336"/>
              <a:ext cx="4992" cy="1324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140000"/>
                </a:lnSpc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在这一端点，边界上的张力沿垂直于</a:t>
              </a:r>
              <a:r>
                <a:rPr lang="en-US" altLang="zh-CN" sz="2800" i="1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lang="zh-CN" altLang="en-US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轴的方向的分量为</a:t>
              </a:r>
              <a:r>
                <a:rPr lang="en-US" altLang="zh-CN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r>
                <a:rPr lang="zh-CN" altLang="en-US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，因此在方程的推导中知</a:t>
              </a:r>
              <a:r>
                <a:rPr lang="zh-CN" altLang="en-US" sz="28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                     </a:t>
              </a:r>
              <a:r>
                <a:rPr lang="en-US" altLang="zh-CN" sz="28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, </a:t>
              </a:r>
              <a:endPara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>
                <a:lnSpc>
                  <a:spcPct val="140000"/>
                </a:lnSpc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即</a:t>
              </a:r>
              <a:endPara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61443" name="Object 4"/>
            <p:cNvGraphicFramePr>
              <a:graphicFrameLocks noChangeAspect="1"/>
            </p:cNvGraphicFramePr>
            <p:nvPr/>
          </p:nvGraphicFramePr>
          <p:xfrm>
            <a:off x="3888" y="720"/>
            <a:ext cx="1132" cy="5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1002665" imgH="584200" progId="Equation.DSMT4">
                    <p:embed/>
                  </p:oleObj>
                </mc:Choice>
                <mc:Fallback>
                  <p:oleObj name="" r:id="rId1" imgW="1002665" imgH="584200" progId="Equation.DSMT4">
                    <p:embed/>
                    <p:pic>
                      <p:nvPicPr>
                        <p:cNvPr id="0" name="Object 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888" y="720"/>
                          <a:ext cx="1132" cy="5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6261" name="Object 5"/>
          <p:cNvGraphicFramePr>
            <a:graphicFrameLocks noChangeAspect="1"/>
          </p:cNvGraphicFramePr>
          <p:nvPr/>
        </p:nvGraphicFramePr>
        <p:xfrm>
          <a:off x="4479925" y="2209801"/>
          <a:ext cx="3570288" cy="1033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752600" imgH="584200" progId="Equation.DSMT4">
                  <p:embed/>
                </p:oleObj>
              </mc:Choice>
              <mc:Fallback>
                <p:oleObj name="" r:id="rId3" imgW="1752600" imgH="5842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79925" y="2209801"/>
                        <a:ext cx="3570288" cy="10334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6"/>
          <p:cNvGrpSpPr/>
          <p:nvPr/>
        </p:nvGrpSpPr>
        <p:grpSpPr>
          <a:xfrm>
            <a:off x="2279650" y="3716338"/>
            <a:ext cx="8153400" cy="2362200"/>
            <a:chOff x="521" y="2432"/>
            <a:chExt cx="5136" cy="1488"/>
          </a:xfrm>
        </p:grpSpPr>
        <p:sp>
          <p:nvSpPr>
            <p:cNvPr id="61446" name="Rectangle 7"/>
            <p:cNvSpPr/>
            <p:nvPr/>
          </p:nvSpPr>
          <p:spPr>
            <a:xfrm>
              <a:off x="521" y="2432"/>
              <a:ext cx="5136" cy="726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当该点处的张力沿垂直</a:t>
              </a:r>
              <a:r>
                <a:rPr lang="en-US" altLang="zh-CN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lang="zh-CN" altLang="en-US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轴的方向的分量是 </a:t>
              </a:r>
              <a:r>
                <a:rPr lang="en-US" altLang="zh-CN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t </a:t>
              </a:r>
              <a:r>
                <a:rPr lang="zh-CN" altLang="en-US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的已知函数              时，有</a:t>
              </a:r>
              <a:endPara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pSp>
          <p:nvGrpSpPr>
            <p:cNvPr id="61447" name="Group 8"/>
            <p:cNvGrpSpPr/>
            <p:nvPr/>
          </p:nvGrpSpPr>
          <p:grpSpPr>
            <a:xfrm>
              <a:off x="1202" y="2854"/>
              <a:ext cx="1951" cy="1066"/>
              <a:chOff x="1202" y="2854"/>
              <a:chExt cx="1951" cy="1066"/>
            </a:xfrm>
          </p:grpSpPr>
          <p:graphicFrame>
            <p:nvGraphicFramePr>
              <p:cNvPr id="61448" name="Object 9"/>
              <p:cNvGraphicFramePr>
                <a:graphicFrameLocks noChangeAspect="1"/>
              </p:cNvGraphicFramePr>
              <p:nvPr/>
            </p:nvGraphicFramePr>
            <p:xfrm>
              <a:off x="1202" y="2854"/>
              <a:ext cx="408" cy="2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" name="" r:id="rId5" imgW="647700" imgH="393700" progId="Equation.DSMT4">
                      <p:embed/>
                    </p:oleObj>
                  </mc:Choice>
                  <mc:Fallback>
                    <p:oleObj name="" r:id="rId5" imgW="647700" imgH="393700" progId="Equation.DSMT4">
                      <p:embed/>
                      <p:pic>
                        <p:nvPicPr>
                          <p:cNvPr id="0" name="Object 9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202" y="2854"/>
                            <a:ext cx="408" cy="248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449" name="Object 10"/>
              <p:cNvGraphicFramePr>
                <a:graphicFrameLocks noChangeAspect="1"/>
              </p:cNvGraphicFramePr>
              <p:nvPr/>
            </p:nvGraphicFramePr>
            <p:xfrm>
              <a:off x="1973" y="3294"/>
              <a:ext cx="1180" cy="62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6" name="" r:id="rId7" imgW="837565" imgH="444500" progId="Equation.3">
                      <p:embed/>
                    </p:oleObj>
                  </mc:Choice>
                  <mc:Fallback>
                    <p:oleObj name="" r:id="rId7" imgW="837565" imgH="444500" progId="Equation.3">
                      <p:embed/>
                      <p:pic>
                        <p:nvPicPr>
                          <p:cNvPr id="0" name="Object 10"/>
                          <p:cNvPicPr/>
                          <p:nvPr/>
                        </p:nvPicPr>
                        <p:blipFill>
                          <a:blip r:embed="rId8"/>
                          <a:stretch>
                            <a:fillRect/>
                          </a:stretch>
                        </p:blipFill>
                        <p:spPr>
                          <a:xfrm>
                            <a:off x="1973" y="3294"/>
                            <a:ext cx="1180" cy="62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6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465" name="Group 2"/>
          <p:cNvGrpSpPr/>
          <p:nvPr/>
        </p:nvGrpSpPr>
        <p:grpSpPr>
          <a:xfrm>
            <a:off x="2286000" y="1066801"/>
            <a:ext cx="8229600" cy="1255713"/>
            <a:chOff x="480" y="672"/>
            <a:chExt cx="5184" cy="791"/>
          </a:xfrm>
        </p:grpSpPr>
        <p:sp>
          <p:nvSpPr>
            <p:cNvPr id="62466" name="Rectangle 3"/>
            <p:cNvSpPr/>
            <p:nvPr/>
          </p:nvSpPr>
          <p:spPr>
            <a:xfrm>
              <a:off x="480" y="672"/>
              <a:ext cx="5184" cy="650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由</a:t>
              </a:r>
              <a:r>
                <a:rPr lang="en-US" altLang="zh-CN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Hooke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定律知，在 </a:t>
              </a:r>
              <a:r>
                <a:rPr lang="en-US" altLang="zh-CN" sz="2800" i="1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x=l</a:t>
              </a:r>
              <a:r>
                <a:rPr lang="en-US" altLang="zh-CN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端张力沿位移方向的分量     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spcBef>
                  <a:spcPct val="20000"/>
                </a:spcBef>
              </a:pP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应等于                 </a:t>
              </a:r>
              <a:r>
                <a:rPr lang="en-US" altLang="zh-CN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,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即有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62467" name="Object 4"/>
            <p:cNvGraphicFramePr>
              <a:graphicFrameLocks noChangeAspect="1"/>
            </p:cNvGraphicFramePr>
            <p:nvPr/>
          </p:nvGraphicFramePr>
          <p:xfrm>
            <a:off x="1248" y="912"/>
            <a:ext cx="1894" cy="5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1117600" imgH="457200" progId="Equation.DSMT4">
                    <p:embed/>
                  </p:oleObj>
                </mc:Choice>
                <mc:Fallback>
                  <p:oleObj name="" r:id="rId1" imgW="1117600" imgH="457200" progId="Equation.DSMT4">
                    <p:embed/>
                    <p:pic>
                      <p:nvPicPr>
                        <p:cNvPr id="0" name="Object 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248" y="912"/>
                          <a:ext cx="1894" cy="55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2468" name="Object 6"/>
          <p:cNvGraphicFramePr>
            <a:graphicFrameLocks noChangeAspect="1"/>
          </p:cNvGraphicFramePr>
          <p:nvPr/>
        </p:nvGraphicFramePr>
        <p:xfrm>
          <a:off x="4800601" y="2708276"/>
          <a:ext cx="2424113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549400" imgH="609600" progId="Equation.DSMT4">
                  <p:embed/>
                </p:oleObj>
              </mc:Choice>
              <mc:Fallback>
                <p:oleObj name="" r:id="rId3" imgW="1549400" imgH="6096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00601" y="2708276"/>
                        <a:ext cx="2424113" cy="949325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9" name="Rectangle 8"/>
          <p:cNvSpPr/>
          <p:nvPr/>
        </p:nvSpPr>
        <p:spPr>
          <a:xfrm>
            <a:off x="2566988" y="4149726"/>
            <a:ext cx="6616700" cy="519113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其中非负常数 </a:t>
            </a:r>
            <a:r>
              <a:rPr lang="en-US" altLang="zh-CN" sz="2800" i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k</a:t>
            </a:r>
            <a:r>
              <a:rPr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表示弹性体的倔强系数</a:t>
            </a:r>
            <a:r>
              <a:rPr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,</a:t>
            </a:r>
            <a:endParaRPr lang="en-US" altLang="zh-CN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2470" name="Object 9"/>
          <p:cNvGraphicFramePr>
            <a:graphicFrameLocks noChangeAspect="1"/>
          </p:cNvGraphicFramePr>
          <p:nvPr/>
        </p:nvGraphicFramePr>
        <p:xfrm>
          <a:off x="5375275" y="4868863"/>
          <a:ext cx="1562100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634365" imgH="177800" progId="Equation.DSMT4">
                  <p:embed/>
                </p:oleObj>
              </mc:Choice>
              <mc:Fallback>
                <p:oleObj name="" r:id="rId5" imgW="634365" imgH="177800" progId="Equation.DSMT4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375275" y="4868863"/>
                        <a:ext cx="1562100" cy="45085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2"/>
          <p:cNvSpPr>
            <a:spLocks noGrp="1" noRot="1"/>
          </p:cNvSpPr>
          <p:nvPr>
            <p:ph type="title"/>
          </p:nvPr>
        </p:nvSpPr>
        <p:spPr>
          <a:xfrm>
            <a:off x="1774825" y="404813"/>
            <a:ext cx="8540750" cy="1143000"/>
          </a:xfrm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l" eaLnBrk="1" hangingPunct="1"/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二</a:t>
            </a:r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. 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边界条件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3490" name="Object 3"/>
          <p:cNvGraphicFramePr>
            <a:graphicFrameLocks noGrp="1" noChangeAspect="1"/>
          </p:cNvGraphicFramePr>
          <p:nvPr>
            <p:ph sz="half" idx="1"/>
          </p:nvPr>
        </p:nvGraphicFramePr>
        <p:xfrm>
          <a:off x="5591175" y="5300664"/>
          <a:ext cx="3240088" cy="1112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701800" imgH="584200" progId="Equation.DSMT4">
                  <p:embed/>
                </p:oleObj>
              </mc:Choice>
              <mc:Fallback>
                <p:oleObj name="" r:id="rId1" imgW="1701800" imgH="5842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591175" y="5300664"/>
                        <a:ext cx="3240088" cy="1112837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20" name="Rectangle 4"/>
          <p:cNvSpPr/>
          <p:nvPr/>
        </p:nvSpPr>
        <p:spPr>
          <a:xfrm>
            <a:off x="2135188" y="1412876"/>
            <a:ext cx="7696200" cy="519113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   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2.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热传导边界条件的三种类型：</a:t>
            </a:r>
            <a:endParaRPr lang="zh-CN" altLang="en-US" sz="2800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63492" name="Rectangle 5"/>
          <p:cNvSpPr/>
          <p:nvPr/>
        </p:nvSpPr>
        <p:spPr>
          <a:xfrm>
            <a:off x="2711451" y="2133601"/>
            <a:ext cx="2111375" cy="519113"/>
          </a:xfrm>
          <a:prstGeom prst="rect">
            <a:avLst/>
          </a:prstGeom>
          <a:noFill/>
          <a:ln w="25400">
            <a:noFill/>
          </a:ln>
        </p:spPr>
        <p:txBody>
          <a:bodyPr wrap="none" anchor="t" anchorCtr="0">
            <a:spAutoFit/>
          </a:bodyPr>
          <a:lstStyle/>
          <a:p>
            <a:pPr algn="ctr">
              <a:spcBef>
                <a:spcPct val="20000"/>
              </a:spcBef>
            </a:pP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(1) 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定温端：</a:t>
            </a:r>
            <a:endParaRPr lang="zh-CN" altLang="en-US" sz="2800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63493" name="Object 6"/>
          <p:cNvGraphicFramePr>
            <a:graphicFrameLocks noChangeAspect="1"/>
          </p:cNvGraphicFramePr>
          <p:nvPr/>
        </p:nvGraphicFramePr>
        <p:xfrm>
          <a:off x="3143251" y="2852738"/>
          <a:ext cx="705802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3733800" imgH="241300" progId="Equation.DSMT4">
                  <p:embed/>
                </p:oleObj>
              </mc:Choice>
              <mc:Fallback>
                <p:oleObj name="" r:id="rId3" imgW="3733800" imgH="2413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143251" y="2852738"/>
                        <a:ext cx="7058025" cy="449262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8423" name="Rectangle 7"/>
          <p:cNvSpPr/>
          <p:nvPr/>
        </p:nvSpPr>
        <p:spPr>
          <a:xfrm>
            <a:off x="2495550" y="5013326"/>
            <a:ext cx="7696200" cy="519113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(3)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热交换端：</a:t>
            </a:r>
            <a:endParaRPr lang="zh-CN" altLang="en-US" sz="2800" dirty="0">
              <a:solidFill>
                <a:srgbClr val="FF212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88424" name="Rectangle 8"/>
          <p:cNvSpPr/>
          <p:nvPr/>
        </p:nvSpPr>
        <p:spPr>
          <a:xfrm>
            <a:off x="2424113" y="3573463"/>
            <a:ext cx="7696200" cy="519112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(2)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绝热端：</a:t>
            </a:r>
            <a:endParaRPr lang="zh-CN" altLang="en-US" sz="2800" dirty="0">
              <a:solidFill>
                <a:srgbClr val="FF212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63496" name="Object 9"/>
          <p:cNvGraphicFramePr>
            <a:graphicFrameLocks noGrp="1" noChangeAspect="1"/>
          </p:cNvGraphicFramePr>
          <p:nvPr>
            <p:ph sz="half" idx="2"/>
          </p:nvPr>
        </p:nvGraphicFramePr>
        <p:xfrm>
          <a:off x="4800601" y="3860800"/>
          <a:ext cx="4881563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2552700" imgH="508000" progId="Equation.DSMT4">
                  <p:embed/>
                </p:oleObj>
              </mc:Choice>
              <mc:Fallback>
                <p:oleObj name="" r:id="rId5" imgW="2552700" imgH="508000" progId="Equation.DSMT4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00601" y="3860800"/>
                        <a:ext cx="4881563" cy="97155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497" name="AutoShape 10"/>
          <p:cNvSpPr/>
          <p:nvPr/>
        </p:nvSpPr>
        <p:spPr>
          <a:xfrm>
            <a:off x="1703389" y="4149726"/>
            <a:ext cx="2016125" cy="1008063"/>
          </a:xfrm>
          <a:prstGeom prst="cloudCallout">
            <a:avLst>
              <a:gd name="adj1" fmla="val 104014"/>
              <a:gd name="adj2" fmla="val -29685"/>
            </a:avLst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699999" algn="ctr" rotWithShape="0">
              <a:schemeClr val="bg2">
                <a:alpha val="50000"/>
              </a:schemeClr>
            </a:outerShdw>
          </a:effectLst>
        </p:spPr>
        <p:txBody>
          <a:bodyPr anchor="t" anchorCtr="0"/>
          <a:lstStyle/>
          <a:p>
            <a:pPr algn="ctr"/>
            <a:r>
              <a:rPr lang="zh-CN" altLang="en-US" sz="2000" dirty="0">
                <a:latin typeface="Arial" panose="020B0604020202020204" pitchFamily="34" charset="0"/>
                <a:ea typeface="楷体_GB2312" pitchFamily="49" charset="-122"/>
              </a:rPr>
              <a:t>绝热，热流速为</a:t>
            </a:r>
            <a:r>
              <a:rPr lang="en-US" altLang="zh-CN" sz="2000" dirty="0">
                <a:latin typeface="Arial" panose="020B0604020202020204" pitchFamily="34" charset="0"/>
                <a:ea typeface="楷体_GB2312" pitchFamily="49" charset="-122"/>
              </a:rPr>
              <a:t>0</a:t>
            </a:r>
            <a:endParaRPr lang="en-US" altLang="zh-CN" sz="2000" dirty="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63498" name="AutoShape 11"/>
          <p:cNvSpPr/>
          <p:nvPr/>
        </p:nvSpPr>
        <p:spPr>
          <a:xfrm>
            <a:off x="2135189" y="5661026"/>
            <a:ext cx="2592387" cy="1196975"/>
          </a:xfrm>
          <a:prstGeom prst="cloudCallout">
            <a:avLst>
              <a:gd name="adj1" fmla="val 82148"/>
              <a:gd name="adj2" fmla="val -21884"/>
            </a:avLst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dist="107763" dir="2699999" algn="ctr" rotWithShape="0">
              <a:schemeClr val="bg2">
                <a:alpha val="50000"/>
              </a:schemeClr>
            </a:outerShdw>
          </a:effectLst>
        </p:spPr>
        <p:txBody>
          <a:bodyPr anchor="t" anchorCtr="0"/>
          <a:lstStyle/>
          <a:p>
            <a:pPr algn="ctr"/>
            <a:r>
              <a:rPr lang="zh-CN" altLang="en-US" sz="2000" dirty="0">
                <a:latin typeface="Arial" panose="020B0604020202020204" pitchFamily="34" charset="0"/>
                <a:ea typeface="楷体_GB2312" pitchFamily="49" charset="-122"/>
              </a:rPr>
              <a:t>热交换，傅氏热传导定律，</a:t>
            </a:r>
            <a:r>
              <a:rPr lang="en-US" altLang="zh-CN" dirty="0">
                <a:latin typeface="楷体_GB2312" pitchFamily="49" charset="-122"/>
                <a:ea typeface="楷体_GB2312" pitchFamily="49" charset="-122"/>
              </a:rPr>
              <a:t>P14</a:t>
            </a:r>
            <a:endParaRPr lang="en-US" altLang="zh-CN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88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88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88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8420" grpId="0"/>
      <p:bldP spid="188423" grpId="0"/>
      <p:bldP spid="18842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/>
          </p:cNvSpPr>
          <p:nvPr>
            <p:ph type="title"/>
          </p:nvPr>
        </p:nvSpPr>
        <p:spPr>
          <a:xfrm>
            <a:off x="2286001" y="620713"/>
            <a:ext cx="6257925" cy="647700"/>
          </a:xfrm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l" eaLnBrk="1" hangingPunct="1"/>
            <a:r>
              <a:rPr lang="en-US" altLang="zh-CN" sz="3200" dirty="0">
                <a:latin typeface="黑体" panose="02010609060101010101" pitchFamily="49" charset="-122"/>
                <a:ea typeface="黑体" panose="02010609060101010101" pitchFamily="49" charset="-122"/>
              </a:rPr>
              <a:t>3.</a:t>
            </a:r>
            <a:r>
              <a:rPr lang="zh-CN" altLang="en-US" sz="3200" dirty="0">
                <a:latin typeface="黑体" panose="02010609060101010101" pitchFamily="49" charset="-122"/>
                <a:ea typeface="黑体" panose="02010609060101010101" pitchFamily="49" charset="-122"/>
              </a:rPr>
              <a:t>三类边界条件</a:t>
            </a:r>
            <a:endParaRPr lang="zh-CN" altLang="en-US" sz="32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93187" name="Rectangle 3"/>
          <p:cNvSpPr/>
          <p:nvPr/>
        </p:nvSpPr>
        <p:spPr>
          <a:xfrm>
            <a:off x="2286000" y="1524001"/>
            <a:ext cx="7696200" cy="2016125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50000"/>
              </a:lnSpc>
              <a:spcBef>
                <a:spcPct val="20000"/>
              </a:spcBef>
            </a:pP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 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根据边界条件数学表达方式的不同，一般把边界条件分为三类。设 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是未知函数，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为边界，则分类如下：</a:t>
            </a:r>
            <a:endParaRPr lang="zh-CN" altLang="en-US" sz="2800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2" name="Group 4"/>
          <p:cNvGrpSpPr/>
          <p:nvPr/>
        </p:nvGrpSpPr>
        <p:grpSpPr>
          <a:xfrm>
            <a:off x="1984376" y="3933826"/>
            <a:ext cx="7959725" cy="1376363"/>
            <a:chOff x="507" y="2318"/>
            <a:chExt cx="5014" cy="867"/>
          </a:xfrm>
        </p:grpSpPr>
        <p:sp>
          <p:nvSpPr>
            <p:cNvPr id="64516" name="Rectangle 5"/>
            <p:cNvSpPr/>
            <p:nvPr/>
          </p:nvSpPr>
          <p:spPr>
            <a:xfrm>
              <a:off x="507" y="2318"/>
              <a:ext cx="5014" cy="327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none" anchor="t" anchorCtr="0">
              <a:spAutoFit/>
            </a:bodyPr>
            <a:lstStyle/>
            <a:p>
              <a:pPr algn="ctr">
                <a:spcBef>
                  <a:spcPct val="20000"/>
                </a:spcBef>
              </a:pP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(1)  </a:t>
              </a:r>
              <a:r>
                <a:rPr lang="zh-CN" alt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第一类边界条件</a:t>
              </a:r>
              <a:r>
                <a:rPr lang="zh-CN" altLang="en-US" sz="28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：</a:t>
              </a:r>
              <a:r>
                <a:rPr lang="zh-CN" altLang="en-US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直接给出 </a:t>
              </a:r>
              <a:r>
                <a:rPr lang="en-US" altLang="zh-CN" sz="2800" i="1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u</a:t>
              </a:r>
              <a:r>
                <a:rPr lang="en-US" altLang="zh-CN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zh-CN" altLang="en-US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在边界 </a:t>
              </a:r>
              <a:r>
                <a:rPr lang="en-US" altLang="zh-CN" sz="2800" i="1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S</a:t>
              </a:r>
              <a:r>
                <a:rPr lang="en-US" altLang="zh-CN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zh-CN" altLang="en-US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上的值</a:t>
              </a:r>
              <a:endPara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64517" name="Object 6"/>
            <p:cNvGraphicFramePr>
              <a:graphicFrameLocks noChangeAspect="1"/>
            </p:cNvGraphicFramePr>
            <p:nvPr/>
          </p:nvGraphicFramePr>
          <p:xfrm>
            <a:off x="2497" y="2784"/>
            <a:ext cx="912" cy="4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1" imgW="711200" imgH="317500" progId="Equation.DSMT4">
                    <p:embed/>
                  </p:oleObj>
                </mc:Choice>
                <mc:Fallback>
                  <p:oleObj name="" r:id="rId1" imgW="711200" imgH="317500" progId="Equation.DSMT4">
                    <p:embed/>
                    <p:pic>
                      <p:nvPicPr>
                        <p:cNvPr id="0" name="Object 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497" y="2784"/>
                          <a:ext cx="912" cy="401"/>
                        </a:xfrm>
                        <a:prstGeom prst="rect">
                          <a:avLst/>
                        </a:prstGeom>
                        <a:solidFill>
                          <a:srgbClr val="00FFFF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3194" name="Rectangle 10"/>
          <p:cNvSpPr/>
          <p:nvPr/>
        </p:nvSpPr>
        <p:spPr>
          <a:xfrm>
            <a:off x="2424113" y="5661026"/>
            <a:ext cx="7696200" cy="519113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又称：</a:t>
            </a:r>
            <a:r>
              <a:rPr lang="zh-CN" altLang="en-US" sz="2800" dirty="0">
                <a:solidFill>
                  <a:srgbClr val="FF21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狄利克雷</a:t>
            </a:r>
            <a:r>
              <a:rPr lang="en-US" altLang="zh-CN" sz="2800" dirty="0">
                <a:solidFill>
                  <a:srgbClr val="FF21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(Dirichlet)</a:t>
            </a:r>
            <a:r>
              <a:rPr lang="zh-CN" altLang="en-US" sz="2800" dirty="0">
                <a:solidFill>
                  <a:srgbClr val="FF21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边界条件</a:t>
            </a:r>
            <a:endParaRPr lang="zh-CN" altLang="en-US" sz="2800" dirty="0">
              <a:solidFill>
                <a:srgbClr val="FF212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3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/>
      <p:bldP spid="9319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537" name="Group 2"/>
          <p:cNvGrpSpPr/>
          <p:nvPr/>
        </p:nvGrpSpPr>
        <p:grpSpPr>
          <a:xfrm>
            <a:off x="2208213" y="188913"/>
            <a:ext cx="7804150" cy="2286000"/>
            <a:chOff x="528" y="384"/>
            <a:chExt cx="4916" cy="1440"/>
          </a:xfrm>
        </p:grpSpPr>
        <p:sp>
          <p:nvSpPr>
            <p:cNvPr id="65538" name="Rectangle 3"/>
            <p:cNvSpPr/>
            <p:nvPr/>
          </p:nvSpPr>
          <p:spPr>
            <a:xfrm>
              <a:off x="528" y="384"/>
              <a:ext cx="4916" cy="875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150000"/>
                </a:lnSpc>
                <a:spcBef>
                  <a:spcPct val="20000"/>
                </a:spcBef>
              </a:pPr>
              <a:endParaRPr lang="en-US" altLang="zh-CN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ct val="150000"/>
                </a:lnSpc>
                <a:spcBef>
                  <a:spcPct val="20000"/>
                </a:spcBef>
              </a:pP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en-US" altLang="zh-CN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1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：长为</a:t>
              </a:r>
              <a:r>
                <a:rPr lang="en-US" altLang="zh-CN" sz="2800" i="1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l </a:t>
              </a:r>
              <a:r>
                <a:rPr lang="zh-CN" altLang="en-US" sz="2800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的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弦，两端固定，则其边界条件为：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65539" name="Object 4"/>
            <p:cNvGraphicFramePr>
              <a:graphicFrameLocks noChangeAspect="1"/>
            </p:cNvGraphicFramePr>
            <p:nvPr/>
          </p:nvGraphicFramePr>
          <p:xfrm>
            <a:off x="1824" y="1440"/>
            <a:ext cx="2016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1651000" imgH="317500" progId="Equation.DSMT4">
                    <p:embed/>
                  </p:oleObj>
                </mc:Choice>
                <mc:Fallback>
                  <p:oleObj name="" r:id="rId1" imgW="1651000" imgH="317500" progId="Equation.DSMT4">
                    <p:embed/>
                    <p:pic>
                      <p:nvPicPr>
                        <p:cNvPr id="0" name="Object 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824" y="1440"/>
                          <a:ext cx="2016" cy="384"/>
                        </a:xfrm>
                        <a:prstGeom prst="rect">
                          <a:avLst/>
                        </a:prstGeom>
                        <a:solidFill>
                          <a:srgbClr val="00FFFF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5540" name="Rectangle 6"/>
          <p:cNvSpPr/>
          <p:nvPr/>
        </p:nvSpPr>
        <p:spPr>
          <a:xfrm>
            <a:off x="2208213" y="2781300"/>
            <a:ext cx="8001000" cy="946150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：长为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l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的弦，一端固定，另一端以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sint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规律自由运动，则其边界条件为：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5541" name="Object 8"/>
          <p:cNvGraphicFramePr>
            <a:graphicFrameLocks noChangeAspect="1"/>
          </p:cNvGraphicFramePr>
          <p:nvPr/>
        </p:nvGraphicFramePr>
        <p:xfrm>
          <a:off x="4208464" y="4076700"/>
          <a:ext cx="3546475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891665" imgH="317500" progId="Equation.DSMT4">
                  <p:embed/>
                </p:oleObj>
              </mc:Choice>
              <mc:Fallback>
                <p:oleObj name="" r:id="rId3" imgW="1891665" imgH="317500" progId="Equation.DSMT4">
                  <p:embed/>
                  <p:pic>
                    <p:nvPicPr>
                      <p:cNvPr id="0" name="Object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08464" y="4076700"/>
                        <a:ext cx="3546475" cy="59055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217" name="Rectangle 9"/>
          <p:cNvSpPr/>
          <p:nvPr/>
        </p:nvSpPr>
        <p:spPr>
          <a:xfrm>
            <a:off x="2279651" y="4868863"/>
            <a:ext cx="7993063" cy="647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marL="342900" indent="-342900" algn="just">
              <a:spcBef>
                <a:spcPct val="55000"/>
              </a:spcBef>
              <a:buClr>
                <a:srgbClr val="000099"/>
              </a:buClr>
            </a:pP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：长为</a:t>
            </a:r>
            <a:r>
              <a:rPr lang="zh-CN" altLang="en-US" sz="2800" i="1" dirty="0">
                <a:solidFill>
                  <a:srgbClr val="0000CC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l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的杆，一端温度为</a:t>
            </a:r>
            <a:r>
              <a:rPr lang="zh-CN" altLang="en-US" sz="2800" dirty="0">
                <a:solidFill>
                  <a:srgbClr val="0000CC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0，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一端温度为</a:t>
            </a:r>
            <a:r>
              <a:rPr lang="el-GR" altLang="en-US" sz="2800" i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ξ</a:t>
            </a:r>
            <a:r>
              <a:rPr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800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t</a:t>
            </a:r>
            <a:r>
              <a:rPr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zh-CN" altLang="en-US" sz="2800" dirty="0">
              <a:solidFill>
                <a:srgbClr val="0000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94218" name="Object 10"/>
          <p:cNvGraphicFramePr>
            <a:graphicFrameLocks noChangeAspect="1"/>
          </p:cNvGraphicFramePr>
          <p:nvPr/>
        </p:nvGraphicFramePr>
        <p:xfrm>
          <a:off x="4367214" y="5589588"/>
          <a:ext cx="3024187" cy="641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358265" imgH="254000" progId="Equation.DSMT4">
                  <p:embed/>
                </p:oleObj>
              </mc:Choice>
              <mc:Fallback>
                <p:oleObj name="" r:id="rId5" imgW="1358265" imgH="254000" progId="Equation.DSMT4">
                  <p:embed/>
                  <p:pic>
                    <p:nvPicPr>
                      <p:cNvPr id="0" name="Object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67214" y="5589588"/>
                        <a:ext cx="3024187" cy="641350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4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17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561" name="Group 2"/>
          <p:cNvGrpSpPr/>
          <p:nvPr/>
        </p:nvGrpSpPr>
        <p:grpSpPr>
          <a:xfrm>
            <a:off x="2286000" y="533401"/>
            <a:ext cx="7924800" cy="1833563"/>
            <a:chOff x="480" y="336"/>
            <a:chExt cx="4992" cy="1155"/>
          </a:xfrm>
        </p:grpSpPr>
        <p:sp>
          <p:nvSpPr>
            <p:cNvPr id="66562" name="Rectangle 3"/>
            <p:cNvSpPr/>
            <p:nvPr/>
          </p:nvSpPr>
          <p:spPr>
            <a:xfrm>
              <a:off x="480" y="336"/>
              <a:ext cx="4992" cy="596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热传导问题</a:t>
              </a:r>
              <a:r>
                <a:rPr lang="zh-CN" altLang="en-US" sz="28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：</a:t>
              </a:r>
              <a:r>
                <a:rPr lang="zh-CN" altLang="en-US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当物体与外界接触的表面温度 </a:t>
              </a:r>
              <a:r>
                <a:rPr lang="en-US" altLang="zh-CN" sz="2800" i="1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f(M,t)</a:t>
              </a:r>
              <a:r>
                <a:rPr lang="en-US" altLang="zh-CN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zh-CN" altLang="en-US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已知时，其边界条件为</a:t>
              </a:r>
              <a:endPara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66563" name="Object 4"/>
            <p:cNvGraphicFramePr>
              <a:graphicFrameLocks noChangeAspect="1"/>
            </p:cNvGraphicFramePr>
            <p:nvPr/>
          </p:nvGraphicFramePr>
          <p:xfrm>
            <a:off x="2016" y="1104"/>
            <a:ext cx="1437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1167765" imgH="317500" progId="Equation.DSMT4">
                    <p:embed/>
                  </p:oleObj>
                </mc:Choice>
                <mc:Fallback>
                  <p:oleObj name="" r:id="rId1" imgW="1167765" imgH="317500" progId="Equation.DSMT4">
                    <p:embed/>
                    <p:pic>
                      <p:nvPicPr>
                        <p:cNvPr id="0" name="Object 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016" y="1104"/>
                          <a:ext cx="1437" cy="3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"/>
          <p:cNvGrpSpPr/>
          <p:nvPr/>
        </p:nvGrpSpPr>
        <p:grpSpPr>
          <a:xfrm>
            <a:off x="1565275" y="2590800"/>
            <a:ext cx="8985250" cy="1620838"/>
            <a:chOff x="26" y="1632"/>
            <a:chExt cx="5660" cy="1021"/>
          </a:xfrm>
        </p:grpSpPr>
        <p:sp>
          <p:nvSpPr>
            <p:cNvPr id="66565" name="Rectangle 6"/>
            <p:cNvSpPr/>
            <p:nvPr/>
          </p:nvSpPr>
          <p:spPr>
            <a:xfrm>
              <a:off x="26" y="1632"/>
              <a:ext cx="5660" cy="655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（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2</a:t>
              </a:r>
              <a:r>
                <a:rPr lang="zh-CN" alt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）第二类边界条件</a:t>
              </a:r>
              <a:r>
                <a:rPr lang="zh-CN" altLang="en-US" sz="28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：</a:t>
              </a:r>
              <a:r>
                <a:rPr lang="zh-CN" altLang="en-US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给出 </a:t>
              </a:r>
              <a:r>
                <a:rPr lang="en-US" altLang="zh-CN" sz="2800" i="1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u</a:t>
              </a:r>
              <a:r>
                <a:rPr lang="en-US" altLang="zh-CN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zh-CN" altLang="en-US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沿 </a:t>
              </a:r>
              <a:r>
                <a:rPr lang="en-US" altLang="zh-CN" sz="2800" i="1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S</a:t>
              </a:r>
              <a:r>
                <a:rPr lang="en-US" altLang="zh-CN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zh-CN" altLang="en-US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的外法线方向的</a:t>
              </a:r>
              <a:endPara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  <a:p>
              <a:pPr>
                <a:spcBef>
                  <a:spcPct val="20000"/>
                </a:spcBef>
              </a:pPr>
              <a:r>
                <a:rPr lang="zh-CN" altLang="en-US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方向导数 </a:t>
              </a:r>
              <a:endPara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endParaRPr>
            </a:p>
          </p:txBody>
        </p:sp>
        <p:graphicFrame>
          <p:nvGraphicFramePr>
            <p:cNvPr id="66566" name="Object 7"/>
            <p:cNvGraphicFramePr>
              <a:graphicFrameLocks noChangeAspect="1"/>
            </p:cNvGraphicFramePr>
            <p:nvPr/>
          </p:nvGraphicFramePr>
          <p:xfrm>
            <a:off x="2325" y="2016"/>
            <a:ext cx="1359" cy="6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3" imgW="799465" imgH="584200" progId="Equation.DSMT4">
                    <p:embed/>
                  </p:oleObj>
                </mc:Choice>
                <mc:Fallback>
                  <p:oleObj name="" r:id="rId3" imgW="799465" imgH="584200" progId="Equation.DSMT4">
                    <p:embed/>
                    <p:pic>
                      <p:nvPicPr>
                        <p:cNvPr id="0" name="Object 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325" y="2016"/>
                          <a:ext cx="1359" cy="63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5240" name="Rectangle 8"/>
          <p:cNvSpPr/>
          <p:nvPr/>
        </p:nvSpPr>
        <p:spPr>
          <a:xfrm>
            <a:off x="2063750" y="4005264"/>
            <a:ext cx="8077200" cy="1887537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弦振动问题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</a:rPr>
              <a:t>：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弦的一端（如 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x=l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）可以在垂直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轴的直线上自由的上下滑动，且不受垂直方向的外力，我们称这种端点为“自由端”。</a:t>
            </a:r>
            <a:endParaRPr lang="zh-CN" altLang="en-US" sz="2800" dirty="0">
              <a:solidFill>
                <a:srgbClr val="0000CC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95242" name="Rectangle 10"/>
          <p:cNvSpPr/>
          <p:nvPr/>
        </p:nvSpPr>
        <p:spPr>
          <a:xfrm>
            <a:off x="2208213" y="5949951"/>
            <a:ext cx="7696200" cy="519113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又称：</a:t>
            </a:r>
            <a:r>
              <a:rPr lang="zh-CN" altLang="en-US" sz="2800" dirty="0">
                <a:solidFill>
                  <a:srgbClr val="FF21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纽曼</a:t>
            </a:r>
            <a:r>
              <a:rPr lang="en-US" altLang="zh-CN" sz="2800" dirty="0">
                <a:solidFill>
                  <a:srgbClr val="FF21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(Neumann)</a:t>
            </a:r>
            <a:r>
              <a:rPr lang="zh-CN" altLang="en-US" sz="2800" dirty="0">
                <a:solidFill>
                  <a:srgbClr val="FF21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边界条件</a:t>
            </a:r>
            <a:endParaRPr lang="zh-CN" altLang="en-US" sz="2800" dirty="0">
              <a:solidFill>
                <a:srgbClr val="FF212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5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5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40" grpId="0"/>
      <p:bldP spid="9524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585" name="Group 2"/>
          <p:cNvGrpSpPr/>
          <p:nvPr/>
        </p:nvGrpSpPr>
        <p:grpSpPr>
          <a:xfrm>
            <a:off x="2438400" y="457200"/>
            <a:ext cx="7696200" cy="2235200"/>
            <a:chOff x="576" y="192"/>
            <a:chExt cx="4848" cy="1408"/>
          </a:xfrm>
        </p:grpSpPr>
        <p:sp>
          <p:nvSpPr>
            <p:cNvPr id="67586" name="Rectangle 3"/>
            <p:cNvSpPr/>
            <p:nvPr/>
          </p:nvSpPr>
          <p:spPr>
            <a:xfrm>
              <a:off x="576" y="192"/>
              <a:ext cx="4848" cy="1216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热传导问题</a:t>
              </a:r>
              <a:r>
                <a: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rPr>
                <a:t>：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如果物体和周围介质处于</a:t>
              </a:r>
              <a:r>
                <a:rPr lang="zh-CN" altLang="en-US" sz="2800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绝热状态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，即在表面上热量的流速始终为</a:t>
              </a:r>
              <a:r>
                <a:rPr lang="en-US" altLang="zh-CN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0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，则由方程推导过程可知，有边界条件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67587" name="Object 4"/>
            <p:cNvGraphicFramePr>
              <a:graphicFrameLocks noChangeAspect="1"/>
            </p:cNvGraphicFramePr>
            <p:nvPr/>
          </p:nvGraphicFramePr>
          <p:xfrm>
            <a:off x="3648" y="1008"/>
            <a:ext cx="836" cy="5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825500" imgH="584200" progId="Equation.DSMT4">
                    <p:embed/>
                  </p:oleObj>
                </mc:Choice>
                <mc:Fallback>
                  <p:oleObj name="" r:id="rId1" imgW="825500" imgH="584200" progId="Equation.DSMT4">
                    <p:embed/>
                    <p:pic>
                      <p:nvPicPr>
                        <p:cNvPr id="0" name="Object 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648" y="1008"/>
                          <a:ext cx="836" cy="5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7285" name="Object 5"/>
          <p:cNvGraphicFramePr>
            <a:graphicFrameLocks noChangeAspect="1"/>
          </p:cNvGraphicFramePr>
          <p:nvPr/>
        </p:nvGraphicFramePr>
        <p:xfrm>
          <a:off x="4816475" y="5181601"/>
          <a:ext cx="2128838" cy="942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320165" imgH="584200" progId="Equation.DSMT4">
                  <p:embed/>
                </p:oleObj>
              </mc:Choice>
              <mc:Fallback>
                <p:oleObj name="" r:id="rId3" imgW="1320165" imgH="5842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16475" y="5181601"/>
                        <a:ext cx="2128838" cy="942975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6"/>
          <p:cNvGrpSpPr/>
          <p:nvPr/>
        </p:nvGrpSpPr>
        <p:grpSpPr>
          <a:xfrm>
            <a:off x="2362201" y="2895601"/>
            <a:ext cx="8126413" cy="2047875"/>
            <a:chOff x="528" y="1824"/>
            <a:chExt cx="4992" cy="1290"/>
          </a:xfrm>
        </p:grpSpPr>
        <p:grpSp>
          <p:nvGrpSpPr>
            <p:cNvPr id="67590" name="Group 7"/>
            <p:cNvGrpSpPr/>
            <p:nvPr/>
          </p:nvGrpSpPr>
          <p:grpSpPr>
            <a:xfrm>
              <a:off x="528" y="1872"/>
              <a:ext cx="4992" cy="1242"/>
              <a:chOff x="528" y="1872"/>
              <a:chExt cx="4992" cy="1242"/>
            </a:xfrm>
          </p:grpSpPr>
          <p:sp>
            <p:nvSpPr>
              <p:cNvPr id="67591" name="Rectangle 8"/>
              <p:cNvSpPr/>
              <p:nvPr/>
            </p:nvSpPr>
            <p:spPr>
              <a:xfrm>
                <a:off x="528" y="1872"/>
                <a:ext cx="4992" cy="1242"/>
              </a:xfrm>
              <a:prstGeom prst="rect">
                <a:avLst/>
              </a:prstGeom>
              <a:noFill/>
              <a:ln w="25400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zh-CN" altLang="en-US" sz="28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当物体与外界接触的表面 </a:t>
                </a:r>
                <a:r>
                  <a:rPr lang="en-US" altLang="zh-CN" sz="2800" i="1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S</a:t>
                </a:r>
                <a:r>
                  <a:rPr lang="en-US" altLang="zh-CN" sz="28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</a:t>
                </a:r>
                <a:r>
                  <a:rPr lang="zh-CN" altLang="en-US" sz="28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上各单位面积在单位时间内流过的热量已知时，由傅立叶定律，在 </a:t>
                </a:r>
                <a:r>
                  <a:rPr lang="en-US" altLang="zh-CN" sz="2800" i="1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S</a:t>
                </a:r>
                <a:r>
                  <a:rPr lang="en-US" altLang="zh-CN" sz="28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 </a:t>
                </a:r>
                <a:endParaRPr lang="en-US" altLang="zh-CN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  <a:p>
                <a:pPr>
                  <a:spcBef>
                    <a:spcPct val="20000"/>
                  </a:spcBef>
                </a:pPr>
                <a:r>
                  <a:rPr lang="zh-CN" altLang="en-US" sz="28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上有                       ，这表明温度沿外法线方向的方</a:t>
                </a:r>
                <a:endParaRPr lang="zh-CN" altLang="en-US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  <a:p>
                <a:pPr>
                  <a:spcBef>
                    <a:spcPct val="20000"/>
                  </a:spcBef>
                </a:pPr>
                <a:r>
                  <a:rPr lang="zh-CN" altLang="en-US" sz="2800" dirty="0">
                    <a:solidFill>
                      <a:srgbClr val="0000CC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向导数是已知的，故边界条件可以表示为</a:t>
                </a:r>
                <a:endParaRPr lang="zh-CN" altLang="en-US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endParaRPr>
              </a:p>
            </p:txBody>
          </p:sp>
          <p:graphicFrame>
            <p:nvGraphicFramePr>
              <p:cNvPr id="67592" name="Object 9"/>
              <p:cNvGraphicFramePr>
                <a:graphicFrameLocks noChangeAspect="1"/>
              </p:cNvGraphicFramePr>
              <p:nvPr/>
            </p:nvGraphicFramePr>
            <p:xfrm>
              <a:off x="1104" y="2400"/>
              <a:ext cx="1235" cy="44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" name="" r:id="rId5" imgW="1181100" imgH="508000" progId="Equation.DSMT4">
                      <p:embed/>
                    </p:oleObj>
                  </mc:Choice>
                  <mc:Fallback>
                    <p:oleObj name="" r:id="rId5" imgW="1181100" imgH="508000" progId="Equation.DSMT4">
                      <p:embed/>
                      <p:pic>
                        <p:nvPicPr>
                          <p:cNvPr id="0" name="Object 9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1104" y="2400"/>
                            <a:ext cx="1235" cy="443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67593" name="Line 10"/>
            <p:cNvSpPr/>
            <p:nvPr/>
          </p:nvSpPr>
          <p:spPr>
            <a:xfrm>
              <a:off x="624" y="1824"/>
              <a:ext cx="4896" cy="0"/>
            </a:xfrm>
            <a:prstGeom prst="line">
              <a:avLst/>
            </a:prstGeom>
            <a:ln w="2540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7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609" name="Group 2"/>
          <p:cNvGrpSpPr/>
          <p:nvPr/>
        </p:nvGrpSpPr>
        <p:grpSpPr>
          <a:xfrm>
            <a:off x="1544638" y="1052514"/>
            <a:ext cx="9267827" cy="1925637"/>
            <a:chOff x="13" y="663"/>
            <a:chExt cx="5838" cy="1213"/>
          </a:xfrm>
        </p:grpSpPr>
        <p:sp>
          <p:nvSpPr>
            <p:cNvPr id="68610" name="Rectangle 3"/>
            <p:cNvSpPr/>
            <p:nvPr/>
          </p:nvSpPr>
          <p:spPr>
            <a:xfrm>
              <a:off x="13" y="773"/>
              <a:ext cx="5838" cy="981"/>
            </a:xfrm>
            <a:prstGeom prst="rect">
              <a:avLst/>
            </a:prstGeom>
            <a:noFill/>
            <a:ln w="25400">
              <a:noFill/>
            </a:ln>
          </p:spPr>
          <p:txBody>
            <a:bodyPr wrap="square" anchor="t" anchorCtr="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（</a:t>
              </a:r>
              <a:r>
                <a: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3</a:t>
              </a:r>
              <a:r>
                <a:rPr lang="zh-CN" alt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）第三类边界条件</a:t>
              </a:r>
              <a:r>
                <a:rPr lang="zh-CN" altLang="en-US" sz="28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：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给出</a:t>
              </a:r>
              <a:r>
                <a:rPr lang="zh-CN" altLang="en-US" sz="28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en-US" altLang="zh-CN" sz="2800" i="1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u</a:t>
              </a:r>
              <a:r>
                <a:rPr lang="en-US" altLang="zh-CN" sz="28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以及 </a:t>
              </a:r>
              <a:r>
                <a:rPr lang="zh-CN" altLang="en-US" sz="2800" dirty="0">
                  <a:latin typeface="Times New Roman" panose="02020603050405020304" pitchFamily="18" charset="0"/>
                  <a:ea typeface="黑体" panose="02010609060101010101" pitchFamily="49" charset="-122"/>
                </a:rPr>
                <a:t>         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的线性组合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spcBef>
                  <a:spcPct val="20000"/>
                </a:spcBef>
              </a:pP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spcBef>
                  <a:spcPct val="20000"/>
                </a:spcBef>
              </a:pP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在边界的值，即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68611" name="Object 4"/>
            <p:cNvGraphicFramePr>
              <a:graphicFrameLocks noChangeAspect="1"/>
            </p:cNvGraphicFramePr>
            <p:nvPr/>
          </p:nvGraphicFramePr>
          <p:xfrm>
            <a:off x="3644" y="663"/>
            <a:ext cx="426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292100" imgH="508000" progId="Equation.DSMT4">
                    <p:embed/>
                  </p:oleObj>
                </mc:Choice>
                <mc:Fallback>
                  <p:oleObj name="" r:id="rId1" imgW="292100" imgH="508000" progId="Equation.DSMT4">
                    <p:embed/>
                    <p:pic>
                      <p:nvPicPr>
                        <p:cNvPr id="0" name="Object 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644" y="663"/>
                          <a:ext cx="426" cy="499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8612" name="Object 5"/>
            <p:cNvGraphicFramePr>
              <a:graphicFrameLocks noChangeAspect="1"/>
            </p:cNvGraphicFramePr>
            <p:nvPr/>
          </p:nvGraphicFramePr>
          <p:xfrm>
            <a:off x="2258" y="1253"/>
            <a:ext cx="1491" cy="6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447800" imgH="609600" progId="Equation.DSMT4">
                    <p:embed/>
                  </p:oleObj>
                </mc:Choice>
                <mc:Fallback>
                  <p:oleObj name="" r:id="rId3" imgW="1447800" imgH="609600" progId="Equation.DSMT4">
                    <p:embed/>
                    <p:pic>
                      <p:nvPicPr>
                        <p:cNvPr id="0" name="Object 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258" y="1253"/>
                          <a:ext cx="1491" cy="623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6"/>
          <p:cNvGrpSpPr/>
          <p:nvPr/>
        </p:nvGrpSpPr>
        <p:grpSpPr>
          <a:xfrm>
            <a:off x="2279650" y="3429000"/>
            <a:ext cx="8001000" cy="1758950"/>
            <a:chOff x="476" y="2160"/>
            <a:chExt cx="5040" cy="1108"/>
          </a:xfrm>
        </p:grpSpPr>
        <p:sp>
          <p:nvSpPr>
            <p:cNvPr id="68614" name="Rectangle 7"/>
            <p:cNvSpPr/>
            <p:nvPr/>
          </p:nvSpPr>
          <p:spPr>
            <a:xfrm>
              <a:off x="476" y="2160"/>
              <a:ext cx="5040" cy="1108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弦振动问题：当端点 </a:t>
              </a:r>
              <a:r>
                <a:rPr lang="en-US" altLang="zh-CN" sz="2800" i="1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x=l</a:t>
              </a:r>
              <a:r>
                <a:rPr lang="en-US" altLang="zh-CN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被弹性支撑所支承，设弹性支撑原来位置在</a:t>
              </a:r>
              <a:r>
                <a:rPr lang="zh-CN" altLang="en-US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 </a:t>
              </a:r>
              <a:r>
                <a:rPr lang="en-US" altLang="zh-CN" sz="2800" i="1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u=</a:t>
              </a:r>
              <a:r>
                <a:rPr lang="en-US" altLang="zh-CN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，则     表示弹性支撑的应变。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68615" name="Object 8"/>
            <p:cNvGraphicFramePr>
              <a:graphicFrameLocks noChangeAspect="1"/>
            </p:cNvGraphicFramePr>
            <p:nvPr/>
          </p:nvGraphicFramePr>
          <p:xfrm>
            <a:off x="3560" y="2568"/>
            <a:ext cx="481" cy="3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5" imgW="304800" imgH="254000" progId="Equation.DSMT4">
                    <p:embed/>
                  </p:oleObj>
                </mc:Choice>
                <mc:Fallback>
                  <p:oleObj name="" r:id="rId5" imgW="304800" imgH="254000" progId="Equation.DSMT4">
                    <p:embed/>
                    <p:pic>
                      <p:nvPicPr>
                        <p:cNvPr id="0" name="Object 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560" y="2568"/>
                          <a:ext cx="481" cy="3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8313" name="Rectangle 9"/>
          <p:cNvSpPr/>
          <p:nvPr/>
        </p:nvSpPr>
        <p:spPr>
          <a:xfrm>
            <a:off x="2424113" y="5445126"/>
            <a:ext cx="7696200" cy="519113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又称：</a:t>
            </a:r>
            <a:r>
              <a:rPr lang="zh-CN" altLang="en-US" sz="2800" dirty="0">
                <a:solidFill>
                  <a:srgbClr val="FF21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罗宾</a:t>
            </a:r>
            <a:r>
              <a:rPr lang="en-US" altLang="zh-CN" sz="2800" dirty="0">
                <a:solidFill>
                  <a:srgbClr val="FF21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(Robin)</a:t>
            </a:r>
            <a:r>
              <a:rPr lang="zh-CN" altLang="en-US" sz="2800" dirty="0">
                <a:solidFill>
                  <a:srgbClr val="FF2121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边界条件</a:t>
            </a:r>
            <a:endParaRPr lang="zh-CN" altLang="en-US" sz="2800" dirty="0">
              <a:solidFill>
                <a:srgbClr val="FF2121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8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3"/>
          <p:cNvSpPr/>
          <p:nvPr/>
        </p:nvSpPr>
        <p:spPr>
          <a:xfrm>
            <a:off x="2279650" y="549275"/>
            <a:ext cx="7848600" cy="3081338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热传导问题：如果物体内部通过边界</a:t>
            </a:r>
            <a:r>
              <a:rPr lang="en-US" altLang="zh-CN" sz="2800" i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 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与周围的介质有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热量交换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，这时能测量到物体与接触处的介质的温度  。通常情形下， 与物体在表面</a:t>
            </a:r>
            <a:r>
              <a:rPr lang="en-US" altLang="zh-CN" sz="2800" i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上的温度</a:t>
            </a:r>
            <a:r>
              <a:rPr lang="zh-CN" altLang="en-US" sz="2800" i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800" i="1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不相同。根据热学中的牛顿实验定律，物体从一介质流入另一介质的热量与两个介质间的温度差成正比，即               ，其中常数     表示两种介质之间的热交换系数。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69634" name="Object 4"/>
          <p:cNvGraphicFramePr>
            <a:graphicFrameLocks noChangeAspect="1"/>
          </p:cNvGraphicFramePr>
          <p:nvPr/>
        </p:nvGraphicFramePr>
        <p:xfrm>
          <a:off x="4079875" y="1412875"/>
          <a:ext cx="3952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65100" imgH="228600" progId="Equation.DSMT4">
                  <p:embed/>
                </p:oleObj>
              </mc:Choice>
              <mc:Fallback>
                <p:oleObj name="" r:id="rId1" imgW="165100" imgH="2286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79875" y="1412875"/>
                        <a:ext cx="395288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5" name="Object 5"/>
          <p:cNvGraphicFramePr>
            <a:graphicFrameLocks noChangeAspect="1"/>
          </p:cNvGraphicFramePr>
          <p:nvPr/>
        </p:nvGraphicFramePr>
        <p:xfrm>
          <a:off x="6816726" y="1412875"/>
          <a:ext cx="38576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65100" imgH="228600" progId="Equation.DSMT4">
                  <p:embed/>
                </p:oleObj>
              </mc:Choice>
              <mc:Fallback>
                <p:oleObj name="" r:id="rId3" imgW="165100" imgH="2286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816726" y="1412875"/>
                        <a:ext cx="385763" cy="5334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6" name="Object 6"/>
          <p:cNvGraphicFramePr>
            <a:graphicFrameLocks noChangeAspect="1"/>
          </p:cNvGraphicFramePr>
          <p:nvPr/>
        </p:nvGraphicFramePr>
        <p:xfrm>
          <a:off x="5664200" y="2708276"/>
          <a:ext cx="26543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231265" imgH="228600" progId="Equation.DSMT4">
                  <p:embed/>
                </p:oleObj>
              </mc:Choice>
              <mc:Fallback>
                <p:oleObj name="" r:id="rId5" imgW="1231265" imgH="228600" progId="Equation.DSMT4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64200" y="2708276"/>
                        <a:ext cx="2654300" cy="498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7" name="Object 7"/>
          <p:cNvGraphicFramePr>
            <a:graphicFrameLocks noChangeAspect="1"/>
          </p:cNvGraphicFramePr>
          <p:nvPr/>
        </p:nvGraphicFramePr>
        <p:xfrm>
          <a:off x="7751764" y="3141664"/>
          <a:ext cx="77628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354965" imgH="177800" progId="Equation.DSMT4">
                  <p:embed/>
                </p:oleObj>
              </mc:Choice>
              <mc:Fallback>
                <p:oleObj name="" r:id="rId7" imgW="354965" imgH="1778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751764" y="3141664"/>
                        <a:ext cx="776287" cy="3968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8"/>
          <p:cNvGrpSpPr/>
          <p:nvPr/>
        </p:nvGrpSpPr>
        <p:grpSpPr>
          <a:xfrm>
            <a:off x="2279650" y="3644901"/>
            <a:ext cx="7924800" cy="2601913"/>
            <a:chOff x="480" y="2400"/>
            <a:chExt cx="4992" cy="1639"/>
          </a:xfrm>
        </p:grpSpPr>
        <p:sp>
          <p:nvSpPr>
            <p:cNvPr id="69639" name="Rectangle 9"/>
            <p:cNvSpPr/>
            <p:nvPr/>
          </p:nvSpPr>
          <p:spPr>
            <a:xfrm>
              <a:off x="480" y="2400"/>
              <a:ext cx="4992" cy="1510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135000"/>
                </a:lnSpc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在物体内部任意取一个无限贴近</a:t>
              </a:r>
              <a:r>
                <a:rPr lang="en-US" altLang="zh-CN" sz="2800" i="1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 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的闭曲面  ，由于在</a:t>
              </a:r>
              <a:r>
                <a:rPr lang="en-US" altLang="zh-CN" sz="2800" i="1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 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的内侧热量不能积累，所以在  上的热量流速应等于边界</a:t>
              </a:r>
              <a:r>
                <a:rPr lang="en-US" altLang="zh-CN" sz="2800" i="1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上的热量流速。 上的热量流速为           ，其中 </a:t>
              </a:r>
              <a:r>
                <a:rPr lang="en-US" altLang="zh-CN" sz="2800" i="1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k 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为热传导系数</a:t>
              </a:r>
              <a:r>
                <a:rPr lang="en-US" altLang="zh-CN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.</a:t>
              </a:r>
              <a:endParaRPr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69640" name="Object 10"/>
            <p:cNvGraphicFramePr>
              <a:graphicFrameLocks noChangeAspect="1"/>
            </p:cNvGraphicFramePr>
            <p:nvPr/>
          </p:nvGraphicFramePr>
          <p:xfrm>
            <a:off x="4848" y="2544"/>
            <a:ext cx="22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9" imgW="139700" imgH="152400" progId="Equation.DSMT4">
                    <p:embed/>
                  </p:oleObj>
                </mc:Choice>
                <mc:Fallback>
                  <p:oleObj name="" r:id="rId9" imgW="139700" imgH="152400" progId="Equation.DSMT4">
                    <p:embed/>
                    <p:pic>
                      <p:nvPicPr>
                        <p:cNvPr id="0" name="Object 10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848" y="2544"/>
                          <a:ext cx="226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641" name="Object 11"/>
            <p:cNvGraphicFramePr>
              <a:graphicFrameLocks noChangeAspect="1"/>
            </p:cNvGraphicFramePr>
            <p:nvPr/>
          </p:nvGraphicFramePr>
          <p:xfrm>
            <a:off x="4416" y="2880"/>
            <a:ext cx="22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" name="" r:id="rId11" imgW="139700" imgH="152400" progId="Equation.DSMT4">
                    <p:embed/>
                  </p:oleObj>
                </mc:Choice>
                <mc:Fallback>
                  <p:oleObj name="" r:id="rId11" imgW="139700" imgH="152400" progId="Equation.DSMT4">
                    <p:embed/>
                    <p:pic>
                      <p:nvPicPr>
                        <p:cNvPr id="0" name="Object 11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4416" y="2880"/>
                          <a:ext cx="226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642" name="Object 12"/>
            <p:cNvGraphicFramePr>
              <a:graphicFrameLocks noChangeAspect="1"/>
            </p:cNvGraphicFramePr>
            <p:nvPr/>
          </p:nvGraphicFramePr>
          <p:xfrm>
            <a:off x="3936" y="3264"/>
            <a:ext cx="22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" name="" r:id="rId12" imgW="139700" imgH="152400" progId="Equation.DSMT4">
                    <p:embed/>
                  </p:oleObj>
                </mc:Choice>
                <mc:Fallback>
                  <p:oleObj name="" r:id="rId12" imgW="139700" imgH="152400" progId="Equation.DSMT4">
                    <p:embed/>
                    <p:pic>
                      <p:nvPicPr>
                        <p:cNvPr id="0" name="Object 12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936" y="3264"/>
                          <a:ext cx="226" cy="24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9643" name="Object 13"/>
            <p:cNvGraphicFramePr>
              <a:graphicFrameLocks noChangeAspect="1"/>
            </p:cNvGraphicFramePr>
            <p:nvPr/>
          </p:nvGraphicFramePr>
          <p:xfrm>
            <a:off x="1008" y="3504"/>
            <a:ext cx="1248" cy="5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" name="" r:id="rId13" imgW="1092200" imgH="457200" progId="Equation.DSMT4">
                    <p:embed/>
                  </p:oleObj>
                </mc:Choice>
                <mc:Fallback>
                  <p:oleObj name="" r:id="rId13" imgW="1092200" imgH="457200" progId="Equation.DSMT4">
                    <p:embed/>
                    <p:pic>
                      <p:nvPicPr>
                        <p:cNvPr id="0" name="Object 13"/>
                        <p:cNvPicPr/>
                        <p:nvPr/>
                      </p:nvPicPr>
                      <p:blipFill>
                        <a:blip r:embed="rId14"/>
                        <a:stretch>
                          <a:fillRect/>
                        </a:stretch>
                      </p:blipFill>
                      <p:spPr>
                        <a:xfrm>
                          <a:off x="1008" y="3504"/>
                          <a:ext cx="1248" cy="53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657" name="Group 2"/>
          <p:cNvGrpSpPr/>
          <p:nvPr/>
        </p:nvGrpSpPr>
        <p:grpSpPr>
          <a:xfrm>
            <a:off x="2351088" y="981076"/>
            <a:ext cx="7848600" cy="1744663"/>
            <a:chOff x="576" y="432"/>
            <a:chExt cx="4944" cy="1099"/>
          </a:xfrm>
        </p:grpSpPr>
        <p:sp>
          <p:nvSpPr>
            <p:cNvPr id="70658" name="Rectangle 3"/>
            <p:cNvSpPr/>
            <p:nvPr/>
          </p:nvSpPr>
          <p:spPr>
            <a:xfrm>
              <a:off x="576" y="432"/>
              <a:ext cx="4944" cy="596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所以当物体与外界有热交换时，相应的边界条件为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70659" name="Object 4"/>
            <p:cNvGraphicFramePr>
              <a:graphicFrameLocks noChangeAspect="1"/>
            </p:cNvGraphicFramePr>
            <p:nvPr/>
          </p:nvGraphicFramePr>
          <p:xfrm>
            <a:off x="1632" y="912"/>
            <a:ext cx="1853" cy="6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1397000" imgH="457200" progId="Equation.DSMT4">
                    <p:embed/>
                  </p:oleObj>
                </mc:Choice>
                <mc:Fallback>
                  <p:oleObj name="" r:id="rId1" imgW="1397000" imgH="457200" progId="Equation.DSMT4">
                    <p:embed/>
                    <p:pic>
                      <p:nvPicPr>
                        <p:cNvPr id="0" name="Object 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1632" y="912"/>
                          <a:ext cx="1853" cy="619"/>
                        </a:xfrm>
                        <a:prstGeom prst="rect">
                          <a:avLst/>
                        </a:prstGeom>
                        <a:solidFill>
                          <a:srgbClr val="00FFFF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0660" name="Rectangle 6"/>
          <p:cNvSpPr/>
          <p:nvPr/>
        </p:nvSpPr>
        <p:spPr>
          <a:xfrm>
            <a:off x="2424114" y="3068638"/>
            <a:ext cx="541337" cy="519112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0661" name="Object 7"/>
          <p:cNvGraphicFramePr>
            <a:graphicFrameLocks noChangeAspect="1"/>
          </p:cNvGraphicFramePr>
          <p:nvPr/>
        </p:nvGraphicFramePr>
        <p:xfrm>
          <a:off x="4024314" y="3297239"/>
          <a:ext cx="3201987" cy="1049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828800" imgH="609600" progId="Equation.DSMT4">
                  <p:embed/>
                </p:oleObj>
              </mc:Choice>
              <mc:Fallback>
                <p:oleObj name="" r:id="rId3" imgW="1828800" imgH="609600" progId="Equation.DSMT4">
                  <p:embed/>
                  <p:pic>
                    <p:nvPicPr>
                      <p:cNvPr id="0" name="Object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024314" y="3297239"/>
                        <a:ext cx="3201987" cy="1049337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2" name="Rectangle 8"/>
          <p:cNvSpPr/>
          <p:nvPr/>
        </p:nvSpPr>
        <p:spPr>
          <a:xfrm>
            <a:off x="2424114" y="4897438"/>
            <a:ext cx="898525" cy="519112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其中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0663" name="Object 9"/>
          <p:cNvGraphicFramePr>
            <a:graphicFrameLocks noChangeAspect="1"/>
          </p:cNvGraphicFramePr>
          <p:nvPr/>
        </p:nvGraphicFramePr>
        <p:xfrm>
          <a:off x="4943475" y="4868864"/>
          <a:ext cx="15621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609600" imgH="177800" progId="Equation.DSMT4">
                  <p:embed/>
                </p:oleObj>
              </mc:Choice>
              <mc:Fallback>
                <p:oleObj name="" r:id="rId5" imgW="609600" imgH="177800" progId="Equation.DSMT4">
                  <p:embed/>
                  <p:pic>
                    <p:nvPicPr>
                      <p:cNvPr id="0" name="Object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43475" y="4868864"/>
                        <a:ext cx="1562100" cy="460375"/>
                      </a:xfrm>
                      <a:prstGeom prst="rect">
                        <a:avLst/>
                      </a:prstGeom>
                      <a:solidFill>
                        <a:srgbClr val="00FFFF"/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rgbClr val="808080">
                            <a:alpha val="50000"/>
                          </a:srgb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79650" y="2133600"/>
            <a:ext cx="7696200" cy="2528888"/>
            <a:chOff x="576" y="629"/>
            <a:chExt cx="4848" cy="1593"/>
          </a:xfrm>
        </p:grpSpPr>
        <p:sp>
          <p:nvSpPr>
            <p:cNvPr id="71682" name="Rectangle 3"/>
            <p:cNvSpPr/>
            <p:nvPr/>
          </p:nvSpPr>
          <p:spPr>
            <a:xfrm>
              <a:off x="576" y="629"/>
              <a:ext cx="4848" cy="1593"/>
            </a:xfrm>
            <a:prstGeom prst="rect">
              <a:avLst/>
            </a:prstGeom>
            <a:noFill/>
            <a:ln w="25400">
              <a:noFill/>
            </a:ln>
          </p:spPr>
          <p:txBody>
            <a:bodyPr anchor="t" anchorCtr="0">
              <a:spAutoFit/>
            </a:bodyPr>
            <a:lstStyle/>
            <a:p>
              <a:pPr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在上面给出的边界条件中，          都是定义在边界</a:t>
              </a:r>
              <a:r>
                <a:rPr lang="en-US" altLang="zh-CN" sz="2800" i="1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S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上（通常也依赖于</a:t>
              </a:r>
              <a:r>
                <a:rPr lang="en-US" altLang="zh-CN" sz="2800" i="1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t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）的已知函数。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当               时，相应的边界条件称为齐次的，否则称为非齐次的。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71683" name="Object 4"/>
            <p:cNvGraphicFramePr>
              <a:graphicFrameLocks noChangeAspect="1"/>
            </p:cNvGraphicFramePr>
            <p:nvPr/>
          </p:nvGraphicFramePr>
          <p:xfrm>
            <a:off x="3264" y="720"/>
            <a:ext cx="1195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1" imgW="875665" imgH="254000" progId="Equation.DSMT4">
                    <p:embed/>
                  </p:oleObj>
                </mc:Choice>
                <mc:Fallback>
                  <p:oleObj name="" r:id="rId1" imgW="875665" imgH="254000" progId="Equation.DSMT4">
                    <p:embed/>
                    <p:pic>
                      <p:nvPicPr>
                        <p:cNvPr id="0" name="Object 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264" y="720"/>
                          <a:ext cx="1195" cy="3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1684" name="Object 5"/>
            <p:cNvGraphicFramePr>
              <a:graphicFrameLocks noChangeAspect="1"/>
            </p:cNvGraphicFramePr>
            <p:nvPr/>
          </p:nvGraphicFramePr>
          <p:xfrm>
            <a:off x="912" y="1536"/>
            <a:ext cx="1576" cy="3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3" imgW="1155700" imgH="254000" progId="Equation.DSMT4">
                    <p:embed/>
                  </p:oleObj>
                </mc:Choice>
                <mc:Fallback>
                  <p:oleObj name="" r:id="rId3" imgW="1155700" imgH="254000" progId="Equation.DSMT4">
                    <p:embed/>
                    <p:pic>
                      <p:nvPicPr>
                        <p:cNvPr id="0" name="Object 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912" y="1536"/>
                          <a:ext cx="1576" cy="3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1685" name="Text Box 6"/>
          <p:cNvSpPr txBox="1"/>
          <p:nvPr/>
        </p:nvSpPr>
        <p:spPr>
          <a:xfrm>
            <a:off x="2279650" y="1341439"/>
            <a:ext cx="2952750" cy="5794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3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endParaRPr lang="en-US" altLang="zh-CN" sz="3200" dirty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05" name="Group 2"/>
          <p:cNvGrpSpPr/>
          <p:nvPr/>
        </p:nvGrpSpPr>
        <p:grpSpPr>
          <a:xfrm>
            <a:off x="2279650" y="620713"/>
            <a:ext cx="7416800" cy="2163762"/>
            <a:chOff x="476" y="391"/>
            <a:chExt cx="4672" cy="1363"/>
          </a:xfrm>
        </p:grpSpPr>
        <p:sp>
          <p:nvSpPr>
            <p:cNvPr id="72706" name="Text Box 3"/>
            <p:cNvSpPr txBox="1"/>
            <p:nvPr/>
          </p:nvSpPr>
          <p:spPr>
            <a:xfrm>
              <a:off x="476" y="391"/>
              <a:ext cx="4672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3200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注</a:t>
              </a:r>
              <a:r>
                <a:rPr lang="en-US" altLang="zh-CN" sz="3200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2  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三种边界条件可用一个式子表达：</a:t>
              </a:r>
              <a:endParaRPr lang="zh-CN" altLang="en-US" sz="32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72707" name="Object 4"/>
            <p:cNvGraphicFramePr>
              <a:graphicFrameLocks noChangeAspect="1"/>
            </p:cNvGraphicFramePr>
            <p:nvPr/>
          </p:nvGraphicFramePr>
          <p:xfrm>
            <a:off x="1701" y="946"/>
            <a:ext cx="2087" cy="8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875665" imgH="325755" progId="Equation.DSMT4">
                    <p:embed/>
                  </p:oleObj>
                </mc:Choice>
                <mc:Fallback>
                  <p:oleObj name="" r:id="rId1" imgW="875665" imgH="325755" progId="Equation.DSMT4">
                    <p:embed/>
                    <p:pic>
                      <p:nvPicPr>
                        <p:cNvPr id="0" name="Object 4"/>
                        <p:cNvPicPr/>
                        <p:nvPr/>
                      </p:nvPicPr>
                      <p:blipFill>
                        <a:blip r:embed="rId2">
                          <a:clrChange>
                            <a:clrFrom>
                              <a:srgbClr val="000000"/>
                            </a:clrFrom>
                            <a:clrTo>
                              <a:srgbClr val="0000CC"/>
                            </a:clrTo>
                          </a:clrChange>
                        </a:blip>
                        <a:stretch>
                          <a:fillRect/>
                        </a:stretch>
                      </p:blipFill>
                      <p:spPr>
                        <a:xfrm>
                          <a:off x="1701" y="946"/>
                          <a:ext cx="2087" cy="808"/>
                        </a:xfrm>
                        <a:prstGeom prst="rect">
                          <a:avLst/>
                        </a:prstGeom>
                        <a:solidFill>
                          <a:srgbClr val="00FFFF"/>
                        </a:solidFill>
                        <a:ln w="38100">
                          <a:noFill/>
                          <a:miter/>
                        </a:ln>
                        <a:effectLst>
                          <a:outerShdw dist="107763" dir="2699999" algn="ctr" rotWithShape="0">
                            <a:srgbClr val="808080">
                              <a:alpha val="50000"/>
                            </a:srgbClr>
                          </a:outerShdw>
                        </a:effec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5"/>
          <p:cNvGrpSpPr/>
          <p:nvPr/>
        </p:nvGrpSpPr>
        <p:grpSpPr>
          <a:xfrm>
            <a:off x="2495551" y="2781301"/>
            <a:ext cx="7561263" cy="2468563"/>
            <a:chOff x="521" y="2024"/>
            <a:chExt cx="4763" cy="1555"/>
          </a:xfrm>
        </p:grpSpPr>
        <p:sp>
          <p:nvSpPr>
            <p:cNvPr id="72709" name="Text Box 6"/>
            <p:cNvSpPr txBox="1"/>
            <p:nvPr/>
          </p:nvSpPr>
          <p:spPr>
            <a:xfrm>
              <a:off x="521" y="2024"/>
              <a:ext cx="589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rPr>
                <a:t>其中</a:t>
              </a:r>
              <a:endParaRPr lang="zh-CN" altLang="en-US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endParaRPr>
            </a:p>
          </p:txBody>
        </p:sp>
        <p:grpSp>
          <p:nvGrpSpPr>
            <p:cNvPr id="72710" name="Group 7"/>
            <p:cNvGrpSpPr/>
            <p:nvPr/>
          </p:nvGrpSpPr>
          <p:grpSpPr>
            <a:xfrm>
              <a:off x="1111" y="2332"/>
              <a:ext cx="4173" cy="1247"/>
              <a:chOff x="1202" y="2197"/>
              <a:chExt cx="4173" cy="1247"/>
            </a:xfrm>
          </p:grpSpPr>
          <p:graphicFrame>
            <p:nvGraphicFramePr>
              <p:cNvPr id="72711" name="Object 8"/>
              <p:cNvGraphicFramePr>
                <a:graphicFrameLocks noChangeAspect="1"/>
              </p:cNvGraphicFramePr>
              <p:nvPr/>
            </p:nvGraphicFramePr>
            <p:xfrm>
              <a:off x="1202" y="2197"/>
              <a:ext cx="2358" cy="12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" name="" r:id="rId3" imgW="1536700" imgH="812800" progId="Equation.DSMT4">
                      <p:embed/>
                    </p:oleObj>
                  </mc:Choice>
                  <mc:Fallback>
                    <p:oleObj name="" r:id="rId3" imgW="1536700" imgH="812800" progId="Equation.DSMT4">
                      <p:embed/>
                      <p:pic>
                        <p:nvPicPr>
                          <p:cNvPr id="0" name="Object 8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1202" y="2197"/>
                            <a:ext cx="2358" cy="124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2712" name="Text Box 9"/>
              <p:cNvSpPr txBox="1"/>
              <p:nvPr/>
            </p:nvSpPr>
            <p:spPr>
              <a:xfrm>
                <a:off x="3198" y="2206"/>
                <a:ext cx="217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solidFill>
                      <a:srgbClr val="0000CC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第一类边界条件</a:t>
                </a:r>
                <a:endParaRPr lang="zh-CN" altLang="en-US" sz="2800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72713" name="Text Box 10"/>
              <p:cNvSpPr txBox="1"/>
              <p:nvPr/>
            </p:nvSpPr>
            <p:spPr>
              <a:xfrm>
                <a:off x="3198" y="2614"/>
                <a:ext cx="217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solidFill>
                      <a:srgbClr val="0000CC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第二类边界条件</a:t>
                </a:r>
                <a:endParaRPr lang="zh-CN" altLang="en-US" sz="2800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  <p:sp>
            <p:nvSpPr>
              <p:cNvPr id="72714" name="Text Box 11"/>
              <p:cNvSpPr txBox="1"/>
              <p:nvPr/>
            </p:nvSpPr>
            <p:spPr>
              <a:xfrm>
                <a:off x="3198" y="3022"/>
                <a:ext cx="2177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solidFill>
                      <a:srgbClr val="0000CC"/>
                    </a:solidFill>
                    <a:latin typeface="Arial" panose="020B0604020202020204" pitchFamily="34" charset="0"/>
                    <a:ea typeface="黑体" panose="02010609060101010101" pitchFamily="49" charset="-122"/>
                  </a:rPr>
                  <a:t>第三类边界条件</a:t>
                </a:r>
                <a:endParaRPr lang="zh-CN" altLang="en-US" sz="2800" dirty="0">
                  <a:solidFill>
                    <a:srgbClr val="0000CC"/>
                  </a:solidFill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</p:grpSp>
      </p:grpSp>
      <p:sp>
        <p:nvSpPr>
          <p:cNvPr id="72715" name="Text Box 13"/>
          <p:cNvSpPr txBox="1"/>
          <p:nvPr/>
        </p:nvSpPr>
        <p:spPr>
          <a:xfrm>
            <a:off x="2063751" y="5445125"/>
            <a:ext cx="7993063" cy="5794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</a:t>
            </a:r>
            <a:r>
              <a:rPr lang="en-US" altLang="zh-CN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3  </a:t>
            </a:r>
            <a:r>
              <a:rPr lang="zh-CN" altLang="en-US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书</a:t>
            </a:r>
            <a:r>
              <a:rPr lang="en-US" altLang="zh-CN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(P16)</a:t>
            </a:r>
            <a:r>
              <a:rPr lang="zh-CN" altLang="en-US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lang="en-US" altLang="zh-CN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1.3.1</a:t>
            </a:r>
            <a:r>
              <a:rPr lang="zh-CN" altLang="en-US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，例</a:t>
            </a:r>
            <a:r>
              <a:rPr lang="en-US" altLang="zh-CN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1.3.2</a:t>
            </a:r>
            <a:r>
              <a:rPr lang="zh-CN" altLang="en-US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，例</a:t>
            </a:r>
            <a:r>
              <a:rPr lang="en-US" altLang="zh-CN" sz="32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1.3.3</a:t>
            </a:r>
            <a:endParaRPr lang="en-US" altLang="zh-CN" sz="32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Rot="1"/>
          </p:cNvSpPr>
          <p:nvPr>
            <p:ph type="title"/>
          </p:nvPr>
        </p:nvSpPr>
        <p:spPr>
          <a:xfrm>
            <a:off x="1919288" y="476250"/>
            <a:ext cx="8443912" cy="895350"/>
          </a:xfrm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algn="l" eaLnBrk="1" hangingPunct="1"/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三</a:t>
            </a:r>
            <a:r>
              <a:rPr lang="en-US" altLang="zh-CN" sz="3600" dirty="0"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3600" dirty="0">
                <a:latin typeface="黑体" panose="02010609060101010101" pitchFamily="49" charset="-122"/>
                <a:ea typeface="黑体" panose="02010609060101010101" pitchFamily="49" charset="-122"/>
              </a:rPr>
              <a:t>定解问题的提法</a:t>
            </a:r>
            <a:endParaRPr lang="zh-CN" alt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4451" name="Rectangle 3"/>
          <p:cNvSpPr/>
          <p:nvPr/>
        </p:nvSpPr>
        <p:spPr>
          <a:xfrm>
            <a:off x="2927350" y="1628776"/>
            <a:ext cx="5976938" cy="492251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初始条件 </a:t>
            </a:r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边界条件 </a:t>
            </a:r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定解条件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4452" name="Rectangle 4"/>
          <p:cNvSpPr/>
          <p:nvPr/>
        </p:nvSpPr>
        <p:spPr>
          <a:xfrm>
            <a:off x="2711450" y="2349501"/>
            <a:ext cx="6121400" cy="492251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 algn="ctr">
              <a:lnSpc>
                <a:spcPct val="105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定解问题 </a:t>
            </a:r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 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偏微分方程</a:t>
            </a:r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定解条件</a:t>
            </a:r>
            <a:endParaRPr lang="zh-CN" altLang="en-US" sz="2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4453" name="Rectangle 5"/>
          <p:cNvSpPr/>
          <p:nvPr/>
        </p:nvSpPr>
        <p:spPr>
          <a:xfrm>
            <a:off x="2135188" y="3213101"/>
            <a:ext cx="8532812" cy="519113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偏微分方程 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+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初始条件 </a:t>
            </a:r>
            <a:r>
              <a:rPr lang="en-US" altLang="zh-CN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= 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初值问题或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Cauchy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问题</a:t>
            </a:r>
            <a:endParaRPr lang="zh-CN" altLang="en-US" sz="2800" dirty="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04454" name="Object 6"/>
          <p:cNvGraphicFramePr>
            <a:graphicFrameLocks noChangeAspect="1"/>
          </p:cNvGraphicFramePr>
          <p:nvPr/>
        </p:nvGraphicFramePr>
        <p:xfrm>
          <a:off x="3216276" y="4652964"/>
          <a:ext cx="6061075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6083300" imgH="1079500" progId="Equation.3">
                  <p:embed/>
                </p:oleObj>
              </mc:Choice>
              <mc:Fallback>
                <p:oleObj name="" r:id="rId1" imgW="6083300" imgH="1079500" progId="Equation.3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216276" y="4652964"/>
                        <a:ext cx="6061075" cy="1076325"/>
                      </a:xfrm>
                      <a:prstGeom prst="rect">
                        <a:avLst/>
                      </a:prstGeom>
                      <a:solidFill>
                        <a:srgbClr val="00FFFF">
                          <a:alpha val="50195"/>
                        </a:srgbClr>
                      </a:solidFill>
                      <a:ln w="38100">
                        <a:noFill/>
                        <a:miter/>
                      </a:ln>
                      <a:effectLst>
                        <a:outerShdw dist="107763" dir="2699999" algn="ctr" rotWithShape="0">
                          <a:schemeClr val="bg2">
                            <a:alpha val="50000"/>
                          </a:schemeClr>
                        </a:outerShdw>
                      </a:effec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4455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650" y="4005264"/>
            <a:ext cx="3455988" cy="428625"/>
          </a:xfrm>
          <a:prstGeom prst="rect">
            <a:avLst/>
          </a:prstGeom>
          <a:solidFill>
            <a:srgbClr val="FFFF00">
              <a:alpha val="85097"/>
            </a:srgbClr>
          </a:solidFill>
          <a:ln w="19050"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4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4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04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1" grpId="0"/>
      <p:bldP spid="104452" grpId="0"/>
      <p:bldP spid="10445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753" name="Object 2"/>
          <p:cNvGraphicFramePr>
            <a:graphicFrameLocks noChangeAspect="1"/>
          </p:cNvGraphicFramePr>
          <p:nvPr/>
        </p:nvGraphicFramePr>
        <p:xfrm>
          <a:off x="2927350" y="679451"/>
          <a:ext cx="6769100" cy="183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6210300" imgH="1689100" progId="Equation.3">
                  <p:embed/>
                </p:oleObj>
              </mc:Choice>
              <mc:Fallback>
                <p:oleObj name="" r:id="rId1" imgW="6210300" imgH="1689100" progId="Equation.3">
                  <p:embed/>
                  <p:pic>
                    <p:nvPicPr>
                      <p:cNvPr id="0" name="Object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927350" y="679451"/>
                        <a:ext cx="6769100" cy="18399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5" name="Rectangle 3"/>
          <p:cNvSpPr/>
          <p:nvPr/>
        </p:nvSpPr>
        <p:spPr>
          <a:xfrm>
            <a:off x="1745299" y="222251"/>
            <a:ext cx="3671887" cy="457200"/>
          </a:xfrm>
          <a:prstGeom prst="rect">
            <a:avLst/>
          </a:prstGeom>
          <a:solidFill>
            <a:srgbClr val="FFFF00">
              <a:alpha val="85097"/>
            </a:srgbClr>
          </a:solidFill>
          <a:ln w="19050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波动方程的</a:t>
            </a:r>
            <a:r>
              <a:rPr lang="en-US" altLang="zh-CN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Cauchy</a:t>
            </a: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</a:t>
            </a:r>
            <a:endParaRPr lang="zh-CN" altLang="en-US" sz="24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5476" name="Rectangle 4"/>
          <p:cNvSpPr/>
          <p:nvPr/>
        </p:nvSpPr>
        <p:spPr>
          <a:xfrm>
            <a:off x="2208213" y="3068639"/>
            <a:ext cx="7924800" cy="492251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05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偏微分方程 </a:t>
            </a:r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+ 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边界条件 </a:t>
            </a:r>
            <a:r>
              <a:rPr lang="en-US" altLang="zh-CN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=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边值问题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05477" name="Object 5"/>
          <p:cNvGraphicFramePr>
            <a:graphicFrameLocks noChangeAspect="1"/>
          </p:cNvGraphicFramePr>
          <p:nvPr/>
        </p:nvGraphicFramePr>
        <p:xfrm>
          <a:off x="2807653" y="4495800"/>
          <a:ext cx="4032250" cy="1335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765300" imgH="584200" progId="Equation.DSMT4">
                  <p:embed/>
                </p:oleObj>
              </mc:Choice>
              <mc:Fallback>
                <p:oleObj name="" r:id="rId3" imgW="1765300" imgH="584200" progId="Equation.DSMT4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07653" y="4495800"/>
                        <a:ext cx="4032250" cy="1335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5478" name="Rectangle 6"/>
          <p:cNvSpPr/>
          <p:nvPr/>
        </p:nvSpPr>
        <p:spPr>
          <a:xfrm>
            <a:off x="2208213" y="3881565"/>
            <a:ext cx="3403600" cy="457200"/>
          </a:xfrm>
          <a:prstGeom prst="rect">
            <a:avLst/>
          </a:prstGeom>
          <a:solidFill>
            <a:srgbClr val="FFFF00">
              <a:alpha val="85097"/>
            </a:srgbClr>
          </a:solidFill>
          <a:ln w="19050">
            <a:noFill/>
          </a:ln>
        </p:spPr>
        <p:txBody>
          <a:bodyPr anchor="t" anchorCtr="0">
            <a:spAutoFit/>
          </a:bodyPr>
          <a:lstStyle/>
          <a:p>
            <a:r>
              <a:rPr lang="en-US" altLang="zh-CN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Laplace</a:t>
            </a:r>
            <a:r>
              <a:rPr lang="zh-CN" altLang="en-US" sz="24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方程的边值问题</a:t>
            </a:r>
            <a:endParaRPr lang="zh-CN" altLang="en-US" sz="2400" dirty="0">
              <a:solidFill>
                <a:schemeClr val="tx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5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54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0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75" grpId="0" animBg="1"/>
      <p:bldP spid="105476" grpId="0"/>
      <p:bldP spid="10547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2"/>
          <p:cNvSpPr/>
          <p:nvPr/>
        </p:nvSpPr>
        <p:spPr>
          <a:xfrm>
            <a:off x="1992313" y="1369182"/>
            <a:ext cx="7935912" cy="5922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>
              <a:lnSpc>
                <a:spcPct val="130000"/>
              </a:lnSpc>
              <a:tabLst>
                <a:tab pos="838200" algn="l"/>
              </a:tabLst>
            </a:pP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定解问题的适定性</a:t>
            </a:r>
            <a:r>
              <a:rPr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en-US" altLang="zh-CN" sz="2800" i="1" dirty="0">
                <a:solidFill>
                  <a:srgbClr val="0000CC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Well-posedness</a:t>
            </a:r>
            <a:r>
              <a:rPr lang="en-US" altLang="zh-CN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指：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6499" name="Rectangle 3"/>
          <p:cNvSpPr/>
          <p:nvPr/>
        </p:nvSpPr>
        <p:spPr>
          <a:xfrm>
            <a:off x="2135188" y="2133600"/>
            <a:ext cx="8229600" cy="590354"/>
          </a:xfrm>
          <a:prstGeom prst="rect">
            <a:avLst/>
          </a:prstGeom>
          <a:noFill/>
          <a:ln w="25400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0000"/>
              </a:lnSpc>
              <a:spcBef>
                <a:spcPct val="50000"/>
              </a:spcBef>
            </a:pP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1. 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解的</a:t>
            </a:r>
            <a:r>
              <a:rPr lang="zh-CN" altLang="en-US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存在性：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即所提定解问题是否有解；</a:t>
            </a:r>
            <a:endParaRPr lang="zh-CN" altLang="en-US" sz="2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6500" name="Rectangle 4"/>
          <p:cNvSpPr/>
          <p:nvPr/>
        </p:nvSpPr>
        <p:spPr>
          <a:xfrm>
            <a:off x="2135188" y="3644901"/>
            <a:ext cx="8077200" cy="23971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pPr>
              <a:lnSpc>
                <a:spcPct val="135000"/>
              </a:lnSpc>
              <a:tabLst>
                <a:tab pos="838200" algn="l"/>
              </a:tabLst>
            </a:pPr>
            <a:r>
              <a:rPr lang="en-US" altLang="zh-CN" sz="2800" dirty="0">
                <a:solidFill>
                  <a:srgbClr val="0000CC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3. 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解的</a:t>
            </a:r>
            <a:r>
              <a:rPr lang="zh-CN" altLang="en-US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稳定性：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即看定解问题的解是否连续依赖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5000"/>
              </a:lnSpc>
              <a:tabLst>
                <a:tab pos="838200" algn="l"/>
              </a:tabLst>
            </a:pP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定解条件。即：当定解条件有微小变动时，引起 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5000"/>
              </a:lnSpc>
              <a:tabLst>
                <a:tab pos="838200" algn="l"/>
              </a:tabLst>
            </a:pP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解的变动是否足够小。若是，则称解稳定，否则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35000"/>
              </a:lnSpc>
              <a:tabLst>
                <a:tab pos="838200" algn="l"/>
              </a:tabLst>
            </a:pP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称解不稳定。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06502" name="Text Box 6"/>
          <p:cNvSpPr txBox="1"/>
          <p:nvPr/>
        </p:nvSpPr>
        <p:spPr>
          <a:xfrm>
            <a:off x="2135188" y="2997201"/>
            <a:ext cx="7993062" cy="51911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2. 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解的</a:t>
            </a:r>
            <a:r>
              <a:rPr lang="zh-CN" altLang="en-US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唯一性：</a:t>
            </a:r>
            <a:r>
              <a:rPr lang="zh-CN" altLang="en-US" sz="2800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即所提定解问题是否有唯一解；</a:t>
            </a:r>
            <a:endParaRPr lang="zh-CN" altLang="en-US" sz="2800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781" name="Rectangle 7"/>
          <p:cNvSpPr/>
          <p:nvPr/>
        </p:nvSpPr>
        <p:spPr>
          <a:xfrm>
            <a:off x="401380" y="155847"/>
            <a:ext cx="4780220" cy="707886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pPr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zh-CN" altLang="en-US" sz="40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定解问题的</a:t>
            </a:r>
            <a:r>
              <a:rPr lang="zh-CN" altLang="en-US" sz="40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适定性</a:t>
            </a:r>
            <a:endParaRPr lang="zh-CN" altLang="en-US" sz="40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6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10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9" grpId="0"/>
      <p:bldP spid="106500" grpId="0"/>
      <p:bldP spid="10650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801" name="Group 3"/>
          <p:cNvGrpSpPr/>
          <p:nvPr/>
        </p:nvGrpSpPr>
        <p:grpSpPr>
          <a:xfrm>
            <a:off x="2286001" y="685801"/>
            <a:ext cx="7885113" cy="3046413"/>
            <a:chOff x="480" y="432"/>
            <a:chExt cx="4967" cy="1919"/>
          </a:xfrm>
        </p:grpSpPr>
        <p:grpSp>
          <p:nvGrpSpPr>
            <p:cNvPr id="76802" name="Group 4"/>
            <p:cNvGrpSpPr/>
            <p:nvPr/>
          </p:nvGrpSpPr>
          <p:grpSpPr>
            <a:xfrm>
              <a:off x="3888" y="1152"/>
              <a:ext cx="1465" cy="1199"/>
              <a:chOff x="3789" y="1158"/>
              <a:chExt cx="1465" cy="1199"/>
            </a:xfrm>
          </p:grpSpPr>
          <p:sp>
            <p:nvSpPr>
              <p:cNvPr id="76803" name="Line 5"/>
              <p:cNvSpPr/>
              <p:nvPr/>
            </p:nvSpPr>
            <p:spPr>
              <a:xfrm>
                <a:off x="3875" y="2128"/>
                <a:ext cx="1379" cy="1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04" name="Line 6"/>
              <p:cNvSpPr/>
              <p:nvPr/>
            </p:nvSpPr>
            <p:spPr>
              <a:xfrm flipV="1">
                <a:off x="3875" y="1158"/>
                <a:ext cx="0" cy="970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05" name="Line 7"/>
              <p:cNvSpPr/>
              <p:nvPr/>
            </p:nvSpPr>
            <p:spPr>
              <a:xfrm flipV="1">
                <a:off x="3875" y="1606"/>
                <a:ext cx="603" cy="522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6806" name="Line 8"/>
              <p:cNvSpPr/>
              <p:nvPr/>
            </p:nvSpPr>
            <p:spPr>
              <a:xfrm>
                <a:off x="4478" y="1606"/>
                <a:ext cx="562" cy="506"/>
              </a:xfrm>
              <a:prstGeom prst="line">
                <a:avLst/>
              </a:prstGeom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76807" name="Object 9"/>
              <p:cNvGraphicFramePr>
                <a:graphicFrameLocks noChangeAspect="1"/>
              </p:cNvGraphicFramePr>
              <p:nvPr/>
            </p:nvGraphicFramePr>
            <p:xfrm>
              <a:off x="4301" y="1301"/>
              <a:ext cx="364" cy="3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" name="" r:id="rId1" imgW="482600" imgH="444500" progId="Equation.DSMT4">
                      <p:embed/>
                    </p:oleObj>
                  </mc:Choice>
                  <mc:Fallback>
                    <p:oleObj name="" r:id="rId1" imgW="482600" imgH="444500" progId="Equation.DSMT4">
                      <p:embed/>
                      <p:pic>
                        <p:nvPicPr>
                          <p:cNvPr id="0" name="Object 9"/>
                          <p:cNvPicPr/>
                          <p:nvPr/>
                        </p:nvPicPr>
                        <p:blipFill>
                          <a:blip r:embed="rId2"/>
                          <a:stretch>
                            <a:fillRect/>
                          </a:stretch>
                        </p:blipFill>
                        <p:spPr>
                          <a:xfrm>
                            <a:off x="4301" y="1301"/>
                            <a:ext cx="364" cy="33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6808" name="Object 10"/>
              <p:cNvGraphicFramePr>
                <a:graphicFrameLocks noChangeAspect="1"/>
              </p:cNvGraphicFramePr>
              <p:nvPr/>
            </p:nvGraphicFramePr>
            <p:xfrm>
              <a:off x="4992" y="2160"/>
              <a:ext cx="112" cy="19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" name="" r:id="rId3" imgW="101600" imgH="177800" progId="Equation.DSMT4">
                      <p:embed/>
                    </p:oleObj>
                  </mc:Choice>
                  <mc:Fallback>
                    <p:oleObj name="" r:id="rId3" imgW="101600" imgH="177800" progId="Equation.DSMT4">
                      <p:embed/>
                      <p:pic>
                        <p:nvPicPr>
                          <p:cNvPr id="0" name="Object 10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4992" y="2160"/>
                            <a:ext cx="112" cy="197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6809" name="Object 11"/>
              <p:cNvGraphicFramePr>
                <a:graphicFrameLocks noChangeAspect="1"/>
              </p:cNvGraphicFramePr>
              <p:nvPr/>
            </p:nvGraphicFramePr>
            <p:xfrm>
              <a:off x="3789" y="2128"/>
              <a:ext cx="125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" name="" r:id="rId5" imgW="127000" imgH="177165" progId="Equation.DSMT4">
                      <p:embed/>
                    </p:oleObj>
                  </mc:Choice>
                  <mc:Fallback>
                    <p:oleObj name="" r:id="rId5" imgW="127000" imgH="177165" progId="Equation.DSMT4">
                      <p:embed/>
                      <p:pic>
                        <p:nvPicPr>
                          <p:cNvPr id="0" name="Object 11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3789" y="2128"/>
                            <a:ext cx="125" cy="17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76810" name="Rectangle 12"/>
            <p:cNvSpPr/>
            <p:nvPr/>
          </p:nvSpPr>
          <p:spPr>
            <a:xfrm>
              <a:off x="480" y="432"/>
              <a:ext cx="4967" cy="59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ctr" anchorCtr="0">
              <a:spAutoFit/>
            </a:bodyPr>
            <a:lstStyle/>
            <a:p>
              <a:r>
                <a:rPr lang="zh-CN" altLang="en-US" sz="2800" dirty="0">
                  <a:solidFill>
                    <a:srgbClr val="FF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例</a:t>
              </a:r>
              <a:r>
                <a:rPr lang="zh-CN" altLang="en-US" sz="2800" dirty="0">
                  <a:latin typeface="黑体" panose="02010609060101010101" pitchFamily="49" charset="-122"/>
                  <a:ea typeface="黑体" panose="02010609060101010101" pitchFamily="49" charset="-122"/>
                </a:rPr>
                <a:t> 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设弦的两端固定于</a:t>
              </a:r>
              <a:r>
                <a:rPr lang="en-US" altLang="zh-CN" sz="2800" i="1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x </a:t>
              </a:r>
              <a:r>
                <a:rPr lang="en-US" altLang="zh-CN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</a:t>
              </a:r>
              <a:r>
                <a:rPr lang="en-US" altLang="zh-CN" sz="2800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0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和</a:t>
              </a:r>
              <a:r>
                <a:rPr lang="en-US" altLang="zh-CN" sz="2800" i="1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x</a:t>
              </a:r>
              <a:r>
                <a:rPr lang="en-US" altLang="zh-CN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=</a:t>
              </a:r>
              <a:r>
                <a:rPr lang="en-US" altLang="zh-CN" sz="2800" i="1" dirty="0">
                  <a:solidFill>
                    <a:srgbClr val="0000CC"/>
                  </a:solidFill>
                  <a:latin typeface="Times New Roman" panose="02020603050405020304" pitchFamily="18" charset="0"/>
                  <a:ea typeface="黑体" panose="02010609060101010101" pitchFamily="49" charset="-122"/>
                </a:rPr>
                <a:t>l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，弦的初始位移如下图，初速度为零，求弦满足的定解问题。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sp>
        <p:nvSpPr>
          <p:cNvPr id="107533" name="Text Box 13"/>
          <p:cNvSpPr txBox="1"/>
          <p:nvPr/>
        </p:nvSpPr>
        <p:spPr>
          <a:xfrm>
            <a:off x="2351089" y="1773238"/>
            <a:ext cx="898525" cy="519112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解：</a:t>
            </a:r>
            <a:endParaRPr lang="zh-CN" altLang="en-US" sz="28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76812" name="Group 16"/>
          <p:cNvGrpSpPr/>
          <p:nvPr/>
        </p:nvGrpSpPr>
        <p:grpSpPr>
          <a:xfrm>
            <a:off x="2855914" y="2492375"/>
            <a:ext cx="5976937" cy="3879850"/>
            <a:chOff x="839" y="1570"/>
            <a:chExt cx="3765" cy="2444"/>
          </a:xfrm>
        </p:grpSpPr>
        <p:graphicFrame>
          <p:nvGraphicFramePr>
            <p:cNvPr id="76813" name="Object 2"/>
            <p:cNvGraphicFramePr>
              <a:graphicFrameLocks noChangeAspect="1"/>
            </p:cNvGraphicFramePr>
            <p:nvPr/>
          </p:nvGraphicFramePr>
          <p:xfrm>
            <a:off x="839" y="1570"/>
            <a:ext cx="2806" cy="2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2209800" imgH="1727200" progId="Equation.DSMT4">
                    <p:embed/>
                  </p:oleObj>
                </mc:Choice>
                <mc:Fallback>
                  <p:oleObj name="" r:id="rId7" imgW="2209800" imgH="1727200" progId="Equation.DSMT4">
                    <p:embed/>
                    <p:pic>
                      <p:nvPicPr>
                        <p:cNvPr id="0" name="Object 2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39" y="1570"/>
                          <a:ext cx="2806" cy="2187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14" name="Object 14"/>
            <p:cNvGraphicFramePr>
              <a:graphicFrameLocks noChangeAspect="1"/>
            </p:cNvGraphicFramePr>
            <p:nvPr/>
          </p:nvGraphicFramePr>
          <p:xfrm>
            <a:off x="1066" y="2903"/>
            <a:ext cx="3538" cy="11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2667000" imgH="838200" progId="Equation.DSMT4">
                    <p:embed/>
                  </p:oleObj>
                </mc:Choice>
                <mc:Fallback>
                  <p:oleObj name="" r:id="rId9" imgW="2667000" imgH="838200" progId="Equation.DSMT4">
                    <p:embed/>
                    <p:pic>
                      <p:nvPicPr>
                        <p:cNvPr id="0" name="Object 14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066" y="2903"/>
                          <a:ext cx="3538" cy="1111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6815" name="Object 15"/>
            <p:cNvGraphicFramePr>
              <a:graphicFrameLocks noChangeAspect="1"/>
            </p:cNvGraphicFramePr>
            <p:nvPr/>
          </p:nvGraphicFramePr>
          <p:xfrm>
            <a:off x="1066" y="2414"/>
            <a:ext cx="1814" cy="3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" name="" r:id="rId11" imgW="1358900" imgH="279400" progId="Equation.DSMT4">
                    <p:embed/>
                  </p:oleObj>
                </mc:Choice>
                <mc:Fallback>
                  <p:oleObj name="" r:id="rId11" imgW="1358900" imgH="279400" progId="Equation.DSMT4">
                    <p:embed/>
                    <p:pic>
                      <p:nvPicPr>
                        <p:cNvPr id="0" name="Object 15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1066" y="2414"/>
                          <a:ext cx="1814" cy="37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7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3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48" name="Rectangle 16"/>
          <p:cNvSpPr/>
          <p:nvPr/>
        </p:nvSpPr>
        <p:spPr>
          <a:xfrm>
            <a:off x="1703389" y="549276"/>
            <a:ext cx="8713787" cy="609269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>
              <a:lnSpc>
                <a:spcPct val="135000"/>
              </a:lnSpc>
              <a:spcBef>
                <a:spcPct val="20000"/>
              </a:spcBef>
            </a:pPr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长为 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l </a:t>
            </a:r>
            <a:r>
              <a:rPr lang="zh-CN" altLang="en-US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两端固定的弦，初始时刻将弦的中点拉起</a:t>
            </a:r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h</a:t>
            </a:r>
            <a:endParaRPr lang="en-US" altLang="zh-CN" sz="2800" i="1" dirty="0">
              <a:solidFill>
                <a:schemeClr val="tx2"/>
              </a:solidFill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grpSp>
        <p:nvGrpSpPr>
          <p:cNvPr id="77826" name="Group 17"/>
          <p:cNvGrpSpPr/>
          <p:nvPr/>
        </p:nvGrpSpPr>
        <p:grpSpPr>
          <a:xfrm>
            <a:off x="2728914" y="1557338"/>
            <a:ext cx="7466013" cy="4405312"/>
            <a:chOff x="623" y="1117"/>
            <a:chExt cx="4703" cy="2775"/>
          </a:xfrm>
        </p:grpSpPr>
        <p:graphicFrame>
          <p:nvGraphicFramePr>
            <p:cNvPr id="77827" name="Object 18"/>
            <p:cNvGraphicFramePr>
              <a:graphicFrameLocks noChangeAspect="1"/>
            </p:cNvGraphicFramePr>
            <p:nvPr/>
          </p:nvGraphicFramePr>
          <p:xfrm>
            <a:off x="839" y="1357"/>
            <a:ext cx="785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" name="" r:id="rId1" imgW="1244600" imgH="482600" progId="Equation.3">
                    <p:embed/>
                  </p:oleObj>
                </mc:Choice>
                <mc:Fallback>
                  <p:oleObj name="" r:id="rId1" imgW="1244600" imgH="482600" progId="Equation.3">
                    <p:embed/>
                    <p:pic>
                      <p:nvPicPr>
                        <p:cNvPr id="0" name="Object 1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839" y="1357"/>
                          <a:ext cx="785" cy="30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7828" name="Object 19"/>
            <p:cNvGraphicFramePr>
              <a:graphicFrameLocks noChangeAspect="1"/>
            </p:cNvGraphicFramePr>
            <p:nvPr/>
          </p:nvGraphicFramePr>
          <p:xfrm>
            <a:off x="839" y="1895"/>
            <a:ext cx="997" cy="3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1549400" imgH="482600" progId="Equation.3">
                    <p:embed/>
                  </p:oleObj>
                </mc:Choice>
                <mc:Fallback>
                  <p:oleObj name="" r:id="rId3" imgW="1549400" imgH="482600" progId="Equation.3">
                    <p:embed/>
                    <p:pic>
                      <p:nvPicPr>
                        <p:cNvPr id="0" name="Object 1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839" y="1895"/>
                          <a:ext cx="997" cy="31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7829" name="Group 20"/>
            <p:cNvGrpSpPr/>
            <p:nvPr/>
          </p:nvGrpSpPr>
          <p:grpSpPr>
            <a:xfrm>
              <a:off x="2064" y="1389"/>
              <a:ext cx="528" cy="288"/>
              <a:chOff x="0" y="0"/>
              <a:chExt cx="528" cy="288"/>
            </a:xfrm>
          </p:grpSpPr>
          <p:sp>
            <p:nvSpPr>
              <p:cNvPr id="77830" name="Text Box 21"/>
              <p:cNvSpPr txBox="1"/>
              <p:nvPr/>
            </p:nvSpPr>
            <p:spPr>
              <a:xfrm>
                <a:off x="0" y="0"/>
                <a:ext cx="528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    )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831" name="Line 22"/>
              <p:cNvSpPr/>
              <p:nvPr/>
            </p:nvSpPr>
            <p:spPr>
              <a:xfrm>
                <a:off x="192" y="96"/>
                <a:ext cx="144" cy="144"/>
              </a:xfrm>
              <a:prstGeom prst="line">
                <a:avLst/>
              </a:prstGeom>
              <a:ln w="222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2" name="Line 23"/>
              <p:cNvSpPr/>
              <p:nvPr/>
            </p:nvSpPr>
            <p:spPr>
              <a:xfrm flipH="1">
                <a:off x="192" y="96"/>
                <a:ext cx="144" cy="144"/>
              </a:xfrm>
              <a:prstGeom prst="line">
                <a:avLst/>
              </a:prstGeom>
              <a:ln w="222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7833" name="Group 24"/>
            <p:cNvGrpSpPr/>
            <p:nvPr/>
          </p:nvGrpSpPr>
          <p:grpSpPr>
            <a:xfrm>
              <a:off x="2109" y="1872"/>
              <a:ext cx="525" cy="288"/>
              <a:chOff x="0" y="0"/>
              <a:chExt cx="480" cy="288"/>
            </a:xfrm>
          </p:grpSpPr>
          <p:sp>
            <p:nvSpPr>
              <p:cNvPr id="77834" name="Text Box 25"/>
              <p:cNvSpPr txBox="1"/>
              <p:nvPr/>
            </p:nvSpPr>
            <p:spPr>
              <a:xfrm>
                <a:off x="0" y="0"/>
                <a:ext cx="480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(   )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835" name="Line 26"/>
              <p:cNvSpPr/>
              <p:nvPr/>
            </p:nvSpPr>
            <p:spPr>
              <a:xfrm>
                <a:off x="144" y="96"/>
                <a:ext cx="144" cy="144"/>
              </a:xfrm>
              <a:prstGeom prst="line">
                <a:avLst/>
              </a:prstGeom>
              <a:ln w="222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7836" name="Line 27"/>
              <p:cNvSpPr/>
              <p:nvPr/>
            </p:nvSpPr>
            <p:spPr>
              <a:xfrm flipH="1">
                <a:off x="144" y="96"/>
                <a:ext cx="144" cy="144"/>
              </a:xfrm>
              <a:prstGeom prst="line">
                <a:avLst/>
              </a:prstGeom>
              <a:ln w="22225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77837" name="Group 28"/>
            <p:cNvGrpSpPr/>
            <p:nvPr/>
          </p:nvGrpSpPr>
          <p:grpSpPr>
            <a:xfrm>
              <a:off x="3107" y="1117"/>
              <a:ext cx="2219" cy="1543"/>
              <a:chOff x="0" y="0"/>
              <a:chExt cx="2219" cy="1405"/>
            </a:xfrm>
          </p:grpSpPr>
          <p:sp>
            <p:nvSpPr>
              <p:cNvPr id="77838" name="Text Box 29"/>
              <p:cNvSpPr txBox="1"/>
              <p:nvPr/>
            </p:nvSpPr>
            <p:spPr>
              <a:xfrm>
                <a:off x="1860" y="998"/>
                <a:ext cx="359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x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pSp>
            <p:nvGrpSpPr>
              <p:cNvPr id="77839" name="Group 30"/>
              <p:cNvGrpSpPr/>
              <p:nvPr/>
            </p:nvGrpSpPr>
            <p:grpSpPr>
              <a:xfrm>
                <a:off x="0" y="49"/>
                <a:ext cx="1999" cy="1174"/>
                <a:chOff x="0" y="0"/>
                <a:chExt cx="3240" cy="2340"/>
              </a:xfrm>
            </p:grpSpPr>
            <p:sp>
              <p:nvSpPr>
                <p:cNvPr id="77840" name="Line 31"/>
                <p:cNvSpPr/>
                <p:nvPr/>
              </p:nvSpPr>
              <p:spPr>
                <a:xfrm>
                  <a:off x="0" y="2073"/>
                  <a:ext cx="3240" cy="0"/>
                </a:xfrm>
                <a:prstGeom prst="line">
                  <a:avLst/>
                </a:prstGeom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841" name="Line 32"/>
                <p:cNvSpPr/>
                <p:nvPr/>
              </p:nvSpPr>
              <p:spPr>
                <a:xfrm flipV="1">
                  <a:off x="360" y="0"/>
                  <a:ext cx="0" cy="2340"/>
                </a:xfrm>
                <a:prstGeom prst="line">
                  <a:avLst/>
                </a:prstGeom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842" name="Line 33"/>
                <p:cNvSpPr/>
                <p:nvPr/>
              </p:nvSpPr>
              <p:spPr>
                <a:xfrm flipV="1">
                  <a:off x="360" y="1272"/>
                  <a:ext cx="1080" cy="780"/>
                </a:xfrm>
                <a:prstGeom prst="line">
                  <a:avLst/>
                </a:prstGeom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843" name="Line 34"/>
                <p:cNvSpPr/>
                <p:nvPr/>
              </p:nvSpPr>
              <p:spPr>
                <a:xfrm>
                  <a:off x="1440" y="1293"/>
                  <a:ext cx="1080" cy="804"/>
                </a:xfrm>
                <a:prstGeom prst="line">
                  <a:avLst/>
                </a:prstGeom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77844" name="Line 35"/>
                <p:cNvSpPr/>
                <p:nvPr/>
              </p:nvSpPr>
              <p:spPr>
                <a:xfrm>
                  <a:off x="1440" y="1317"/>
                  <a:ext cx="0" cy="780"/>
                </a:xfrm>
                <a:prstGeom prst="line">
                  <a:avLst/>
                </a:prstGeom>
                <a:ln w="19050" cap="flat" cmpd="sng">
                  <a:solidFill>
                    <a:srgbClr val="000000"/>
                  </a:solidFill>
                  <a:prstDash val="lgDash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77845" name="Text Box 36"/>
              <p:cNvSpPr txBox="1"/>
              <p:nvPr/>
            </p:nvSpPr>
            <p:spPr>
              <a:xfrm>
                <a:off x="0" y="0"/>
                <a:ext cx="308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846" name="Text Box 37"/>
              <p:cNvSpPr txBox="1"/>
              <p:nvPr/>
            </p:nvSpPr>
            <p:spPr>
              <a:xfrm flipH="1">
                <a:off x="53" y="1027"/>
                <a:ext cx="155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0</a:t>
                </a:r>
                <a:endParaRPr lang="en-US" altLang="zh-CN" sz="2400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77847" name="Object 38"/>
              <p:cNvGraphicFramePr>
                <a:graphicFrameLocks noChangeAspect="1"/>
              </p:cNvGraphicFramePr>
              <p:nvPr/>
            </p:nvGraphicFramePr>
            <p:xfrm>
              <a:off x="862" y="1089"/>
              <a:ext cx="155" cy="3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" name="" r:id="rId5" imgW="241300" imgH="825500" progId="Equation.3">
                      <p:embed/>
                    </p:oleObj>
                  </mc:Choice>
                  <mc:Fallback>
                    <p:oleObj name="" r:id="rId5" imgW="241300" imgH="825500" progId="Equation.3">
                      <p:embed/>
                      <p:pic>
                        <p:nvPicPr>
                          <p:cNvPr id="0" name="Object 38"/>
                          <p:cNvPicPr/>
                          <p:nvPr/>
                        </p:nvPicPr>
                        <p:blipFill>
                          <a:blip r:embed="rId6"/>
                          <a:stretch>
                            <a:fillRect/>
                          </a:stretch>
                        </p:blipFill>
                        <p:spPr>
                          <a:xfrm>
                            <a:off x="862" y="1089"/>
                            <a:ext cx="155" cy="3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7848" name="Text Box 39"/>
              <p:cNvSpPr txBox="1"/>
              <p:nvPr/>
            </p:nvSpPr>
            <p:spPr>
              <a:xfrm>
                <a:off x="1435" y="1027"/>
                <a:ext cx="205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l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77849" name="Text Box 40"/>
              <p:cNvSpPr txBox="1"/>
              <p:nvPr/>
            </p:nvSpPr>
            <p:spPr>
              <a:xfrm>
                <a:off x="718" y="391"/>
                <a:ext cx="358" cy="2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lstStyle/>
              <a:p>
                <a:pPr algn="ctr">
                  <a:spcBef>
                    <a:spcPct val="50000"/>
                  </a:spcBef>
                </a:pPr>
                <a:r>
                  <a:rPr lang="en-US" altLang="zh-CN" sz="2400" i="1" dirty="0">
                    <a:latin typeface="Times New Roman" panose="02020603050405020304" pitchFamily="18" charset="0"/>
                    <a:ea typeface="宋体" panose="02010600030101010101" pitchFamily="2" charset="-122"/>
                  </a:rPr>
                  <a:t>h</a:t>
                </a:r>
                <a:endParaRPr lang="en-US" altLang="zh-CN" sz="2400" i="1" dirty="0">
                  <a:latin typeface="Times New Roman" panose="02020603050405020304" pitchFamily="18" charset="0"/>
                  <a:ea typeface="宋体" panose="02010600030101010101" pitchFamily="2" charset="-122"/>
                </a:endParaRPr>
              </a:p>
            </p:txBody>
          </p:sp>
        </p:grpSp>
        <p:graphicFrame>
          <p:nvGraphicFramePr>
            <p:cNvPr id="77850" name="Object 41"/>
            <p:cNvGraphicFramePr>
              <a:graphicFrameLocks noChangeAspect="1"/>
            </p:cNvGraphicFramePr>
            <p:nvPr/>
          </p:nvGraphicFramePr>
          <p:xfrm>
            <a:off x="1565" y="2768"/>
            <a:ext cx="3129" cy="11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4457700" imgH="1866900" progId="Equation.3">
                    <p:embed/>
                  </p:oleObj>
                </mc:Choice>
                <mc:Fallback>
                  <p:oleObj name="" r:id="rId7" imgW="4457700" imgH="1866900" progId="Equation.3">
                    <p:embed/>
                    <p:pic>
                      <p:nvPicPr>
                        <p:cNvPr id="0" name="Object 41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565" y="2768"/>
                          <a:ext cx="3129" cy="1124"/>
                        </a:xfrm>
                        <a:prstGeom prst="rect">
                          <a:avLst/>
                        </a:prstGeom>
                        <a:solidFill>
                          <a:srgbClr val="FFFFCC"/>
                        </a:solidFill>
                        <a:ln w="41275" cap="flat" cmpd="sng">
                          <a:solidFill>
                            <a:srgbClr val="808000"/>
                          </a:solidFill>
                          <a:prstDash val="solid"/>
                          <a:miter/>
                          <a:headEnd type="none" w="med" len="med"/>
                          <a:tailEnd type="none" w="med" len="med"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7851" name="Rectangle 42"/>
            <p:cNvSpPr/>
            <p:nvPr/>
          </p:nvSpPr>
          <p:spPr>
            <a:xfrm>
              <a:off x="623" y="3249"/>
              <a:ext cx="905" cy="271"/>
            </a:xfrm>
            <a:prstGeom prst="rect">
              <a:avLst/>
            </a:prstGeom>
            <a:solidFill>
              <a:srgbClr val="FFFFCC"/>
            </a:solidFill>
            <a:ln w="41275" cap="flat" cmpd="sng">
              <a:solidFill>
                <a:srgbClr val="808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rgbClr val="FF66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正确写法</a:t>
              </a:r>
              <a:endParaRPr lang="zh-CN" altLang="en-US" sz="2400" i="1" dirty="0">
                <a:solidFill>
                  <a:schemeClr val="bg2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48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642" name="标题 752641"/>
          <p:cNvSpPr>
            <a:spLocks noGrp="1"/>
          </p:cNvSpPr>
          <p:nvPr>
            <p:ph type="title"/>
          </p:nvPr>
        </p:nvSpPr>
        <p:spPr>
          <a:xfrm>
            <a:off x="538625" y="0"/>
            <a:ext cx="8229600" cy="925768"/>
          </a:xfrm>
        </p:spPr>
        <p:txBody>
          <a:bodyPr anchor="ctr" anchorCtr="0"/>
          <a:lstStyle/>
          <a:p>
            <a:r>
              <a:rPr lang="zh-CN" altLang="en-US" sz="3200" b="1" dirty="0">
                <a:solidFill>
                  <a:srgbClr val="CC0000"/>
                </a:solidFill>
                <a:ea typeface="黑体" panose="02010609060101010101" pitchFamily="49" charset="-122"/>
              </a:rPr>
              <a:t>总结：</a:t>
            </a:r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定解条件</a:t>
            </a:r>
            <a:endParaRPr lang="zh-CN" altLang="en-US" sz="32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2643" name="文本占位符 752642"/>
          <p:cNvSpPr>
            <a:spLocks noGrp="1"/>
          </p:cNvSpPr>
          <p:nvPr>
            <p:ph type="body" sz="half" idx="1"/>
          </p:nvPr>
        </p:nvSpPr>
        <p:spPr>
          <a:xfrm>
            <a:off x="290945" y="873126"/>
            <a:ext cx="11610109" cy="5852793"/>
          </a:xfrm>
        </p:spPr>
        <p:txBody>
          <a:bodyPr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初始条件、边界条件，还可以有衔接条件等，统称“定解条件”。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例如：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7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	  </a:t>
            </a:r>
            <a:r>
              <a:rPr lang="zh-CN" altLang="en-US" sz="24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初始条件</a:t>
            </a:r>
            <a:r>
              <a:rPr lang="en-US" altLang="zh-CN" sz="24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　　　　　　　　      　　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　　　　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初始位移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　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初始速度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)   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（弦振动）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　　　　　　　　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5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    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初始温度分布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)    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热传导</a:t>
            </a:r>
            <a:r>
              <a:rPr lang="en-US" altLang="zh-CN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endParaRPr lang="en-US" altLang="zh-CN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en-US" altLang="zh-CN" sz="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4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4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边界条件</a:t>
            </a:r>
            <a:r>
              <a:rPr lang="en-US" altLang="zh-CN" sz="24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　　　　　　　　   （弦振动）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　　　　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起点固定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终点被微扰</a:t>
            </a:r>
            <a:r>
              <a:rPr lang="en-US" altLang="zh-CN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　　　　　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9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r>
              <a:rPr lang="zh-CN" altLang="en-US" sz="2400" b="1" dirty="0">
                <a:solidFill>
                  <a:srgbClr val="00B0F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衔接条件</a:t>
            </a:r>
            <a:r>
              <a:rPr lang="en-US" altLang="zh-CN" sz="2400" b="1" dirty="0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　   </a:t>
            </a: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（光由空气入水电场强度切向分量相等）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52644" name="内容占位符 752643"/>
          <p:cNvGraphicFramePr>
            <a:graphicFrameLocks noGrp="1"/>
          </p:cNvGraphicFramePr>
          <p:nvPr>
            <p:ph sz="quarter" idx="2"/>
          </p:nvPr>
        </p:nvGraphicFramePr>
        <p:xfrm>
          <a:off x="2710325" y="2087472"/>
          <a:ext cx="19431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028065" imgH="254000" progId="Equation.3">
                  <p:embed/>
                </p:oleObj>
              </mc:Choice>
              <mc:Fallback>
                <p:oleObj name="" r:id="rId1" imgW="1028065" imgH="254000" progId="Equation.3">
                  <p:embed/>
                  <p:pic>
                    <p:nvPicPr>
                      <p:cNvPr id="0" name="内容占位符 75264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10325" y="2087472"/>
                        <a:ext cx="1943100" cy="4794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2645" name="内容占位符 752644"/>
          <p:cNvGraphicFramePr>
            <a:graphicFrameLocks noGrp="1"/>
          </p:cNvGraphicFramePr>
          <p:nvPr>
            <p:ph sz="quarter" idx="3"/>
          </p:nvPr>
        </p:nvGraphicFramePr>
        <p:xfrm>
          <a:off x="2632394" y="3998852"/>
          <a:ext cx="151765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824865" imgH="254000" progId="Equation.3">
                  <p:embed/>
                </p:oleObj>
              </mc:Choice>
              <mc:Fallback>
                <p:oleObj name="" r:id="rId3" imgW="824865" imgH="254000" progId="Equation.3">
                  <p:embed/>
                  <p:pic>
                    <p:nvPicPr>
                      <p:cNvPr id="0" name="内容占位符 75264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32394" y="3998852"/>
                        <a:ext cx="1517650" cy="4667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2646" name="对象 752645"/>
          <p:cNvGraphicFramePr/>
          <p:nvPr/>
        </p:nvGraphicFramePr>
        <p:xfrm>
          <a:off x="4446330" y="3969267"/>
          <a:ext cx="200025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028065" imgH="254000" progId="Equation.3">
                  <p:embed/>
                </p:oleObj>
              </mc:Choice>
              <mc:Fallback>
                <p:oleObj name="" r:id="rId5" imgW="1028065" imgH="254000" progId="Equation.3">
                  <p:embed/>
                  <p:pic>
                    <p:nvPicPr>
                      <p:cNvPr id="0" name="对象 75264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46330" y="3969267"/>
                        <a:ext cx="2000250" cy="495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2647" name="对象 752646"/>
          <p:cNvGraphicFramePr/>
          <p:nvPr/>
        </p:nvGraphicFramePr>
        <p:xfrm>
          <a:off x="2710325" y="5193893"/>
          <a:ext cx="1366837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698500" imgH="228600" progId="Equation.3">
                  <p:embed/>
                </p:oleObj>
              </mc:Choice>
              <mc:Fallback>
                <p:oleObj name="" r:id="rId7" imgW="698500" imgH="228600" progId="Equation.3">
                  <p:embed/>
                  <p:pic>
                    <p:nvPicPr>
                      <p:cNvPr id="0" name="对象 75264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710325" y="5193893"/>
                        <a:ext cx="1366837" cy="446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2648" name="对象 752647"/>
          <p:cNvGraphicFramePr/>
          <p:nvPr/>
        </p:nvGraphicFramePr>
        <p:xfrm>
          <a:off x="5105286" y="1958163"/>
          <a:ext cx="1419225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850265" imgH="444500" progId="Equation.3">
                  <p:embed/>
                </p:oleObj>
              </mc:Choice>
              <mc:Fallback>
                <p:oleObj name="" r:id="rId9" imgW="850265" imgH="444500" progId="Equation.3">
                  <p:embed/>
                  <p:pic>
                    <p:nvPicPr>
                      <p:cNvPr id="0" name="对象 75264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5105286" y="1958163"/>
                        <a:ext cx="1419225" cy="7413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2649" name="对象 752648"/>
          <p:cNvGraphicFramePr/>
          <p:nvPr/>
        </p:nvGraphicFramePr>
        <p:xfrm>
          <a:off x="2771660" y="2959253"/>
          <a:ext cx="19431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1" imgW="1028065" imgH="254000" progId="Equation.3">
                  <p:embed/>
                </p:oleObj>
              </mc:Choice>
              <mc:Fallback>
                <p:oleObj name="" r:id="rId11" imgW="1028065" imgH="254000" progId="Equation.3">
                  <p:embed/>
                  <p:pic>
                    <p:nvPicPr>
                      <p:cNvPr id="0" name="对象 7526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71660" y="2959253"/>
                        <a:ext cx="1943100" cy="479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690" name="标题 754689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sz="3200" b="1" dirty="0">
                <a:solidFill>
                  <a:srgbClr val="CC0000"/>
                </a:solidFill>
                <a:ea typeface="黑体" panose="02010609060101010101" pitchFamily="49" charset="-122"/>
              </a:rPr>
              <a:t>数理方程：</a:t>
            </a:r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初始条件</a:t>
            </a:r>
            <a:endParaRPr lang="zh-CN" altLang="en-US" sz="32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4691" name="文本占位符 754690"/>
          <p:cNvSpPr>
            <a:spLocks noGrp="1"/>
          </p:cNvSpPr>
          <p:nvPr>
            <p:ph type="body" sz="half" idx="1"/>
          </p:nvPr>
        </p:nvSpPr>
        <p:spPr>
          <a:xfrm>
            <a:off x="669925" y="1412876"/>
            <a:ext cx="9998075" cy="4824413"/>
          </a:xfrm>
        </p:spPr>
        <p:txBody>
          <a:bodyPr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泛定方程只含一阶微商  　，只有一个初始条件：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	　泛定方程含二阶微商　  ，需要两个初始条件</a:t>
            </a:r>
            <a:r>
              <a:rPr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　　　　　　　　　　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　　　　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　　　　　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1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泛定方程不含时间变量，不涉及初始条件（例如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800" b="1" dirty="0">
                <a:solidFill>
                  <a:srgbClr val="990033"/>
                </a:solidFill>
                <a:ea typeface="黑体" panose="02010609060101010101" pitchFamily="49" charset="-122"/>
              </a:rPr>
              <a:t>拉普拉斯方程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　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　　　　　</a:t>
            </a:r>
            <a:endParaRPr lang="zh-CN" alt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1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54692" name="内容占位符 754691"/>
          <p:cNvGraphicFramePr>
            <a:graphicFrameLocks noGrp="1"/>
          </p:cNvGraphicFramePr>
          <p:nvPr>
            <p:ph sz="quarter" idx="2"/>
          </p:nvPr>
        </p:nvGraphicFramePr>
        <p:xfrm>
          <a:off x="4440238" y="3644900"/>
          <a:ext cx="2087562" cy="514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028065" imgH="254000" progId="Equation.3">
                  <p:embed/>
                </p:oleObj>
              </mc:Choice>
              <mc:Fallback>
                <p:oleObj name="" r:id="rId1" imgW="1028065" imgH="254000" progId="Equation.3">
                  <p:embed/>
                  <p:pic>
                    <p:nvPicPr>
                      <p:cNvPr id="0" name="内容占位符 7546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40238" y="3644900"/>
                        <a:ext cx="2087562" cy="5143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4693" name="矩形 754692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54694" name="对象 754693"/>
          <p:cNvGraphicFramePr/>
          <p:nvPr/>
        </p:nvGraphicFramePr>
        <p:xfrm>
          <a:off x="5303044" y="1412876"/>
          <a:ext cx="488156" cy="5405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228600" imgH="393700" progId="Equation.3">
                  <p:embed/>
                </p:oleObj>
              </mc:Choice>
              <mc:Fallback>
                <p:oleObj name="" r:id="rId3" imgW="228600" imgH="393700" progId="Equation.3">
                  <p:embed/>
                  <p:pic>
                    <p:nvPicPr>
                      <p:cNvPr id="0" name="对象 75469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303044" y="1412876"/>
                        <a:ext cx="488156" cy="540544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695" name="对象 754694"/>
          <p:cNvGraphicFramePr/>
          <p:nvPr/>
        </p:nvGraphicFramePr>
        <p:xfrm>
          <a:off x="4511675" y="2133601"/>
          <a:ext cx="194310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028065" imgH="254000" progId="Equation.3">
                  <p:embed/>
                </p:oleObj>
              </mc:Choice>
              <mc:Fallback>
                <p:oleObj name="" r:id="rId5" imgW="1028065" imgH="254000" progId="Equation.3">
                  <p:embed/>
                  <p:pic>
                    <p:nvPicPr>
                      <p:cNvPr id="0" name="对象 7546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11675" y="2133601"/>
                        <a:ext cx="1943100" cy="479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4696" name="内容占位符 754695"/>
          <p:cNvGraphicFramePr>
            <a:graphicFrameLocks noGrp="1"/>
          </p:cNvGraphicFramePr>
          <p:nvPr>
            <p:ph sz="quarter" idx="3"/>
          </p:nvPr>
        </p:nvGraphicFramePr>
        <p:xfrm>
          <a:off x="6888163" y="3573463"/>
          <a:ext cx="1439862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6" imgW="862965" imgH="444500" progId="Equation.3">
                  <p:embed/>
                </p:oleObj>
              </mc:Choice>
              <mc:Fallback>
                <p:oleObj name="" r:id="rId6" imgW="862965" imgH="444500" progId="Equation.3">
                  <p:embed/>
                  <p:pic>
                    <p:nvPicPr>
                      <p:cNvPr id="0" name="内容占位符 754695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888163" y="3573463"/>
                        <a:ext cx="1439862" cy="74136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4697" name="矩形 754696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54698" name="对象 754697"/>
          <p:cNvGraphicFramePr/>
          <p:nvPr/>
        </p:nvGraphicFramePr>
        <p:xfrm>
          <a:off x="4846004" y="2865120"/>
          <a:ext cx="579436" cy="6845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8" imgW="292100" imgH="419100" progId="Equation.3">
                  <p:embed/>
                </p:oleObj>
              </mc:Choice>
              <mc:Fallback>
                <p:oleObj name="" r:id="rId8" imgW="292100" imgH="419100" progId="Equation.3">
                  <p:embed/>
                  <p:pic>
                    <p:nvPicPr>
                      <p:cNvPr id="0" name="对象 754697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846004" y="2865120"/>
                        <a:ext cx="579436" cy="684529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738" name="标题 756737"/>
          <p:cNvSpPr>
            <a:spLocks noGrp="1"/>
          </p:cNvSpPr>
          <p:nvPr>
            <p:ph type="title"/>
          </p:nvPr>
        </p:nvSpPr>
        <p:spPr>
          <a:xfrm>
            <a:off x="612776" y="125413"/>
            <a:ext cx="8229600" cy="1143000"/>
          </a:xfrm>
        </p:spPr>
        <p:txBody>
          <a:bodyPr anchor="ctr" anchorCtr="0"/>
          <a:lstStyle/>
          <a:p>
            <a:r>
              <a:rPr lang="zh-CN" altLang="en-US" sz="3200" b="1" dirty="0">
                <a:solidFill>
                  <a:srgbClr val="CC0000"/>
                </a:solidFill>
                <a:ea typeface="黑体" panose="02010609060101010101" pitchFamily="49" charset="-122"/>
              </a:rPr>
              <a:t>数理方程：</a:t>
            </a:r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边界条件</a:t>
            </a:r>
            <a:endParaRPr lang="zh-CN" altLang="en-US" sz="32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6739" name="文本占位符 756738"/>
          <p:cNvSpPr>
            <a:spLocks noGrp="1"/>
          </p:cNvSpPr>
          <p:nvPr>
            <p:ph type="body" sz="half" idx="1"/>
          </p:nvPr>
        </p:nvSpPr>
        <p:spPr>
          <a:xfrm>
            <a:off x="1524001" y="1268412"/>
            <a:ext cx="8964613" cy="5464173"/>
          </a:xfrm>
        </p:spPr>
        <p:txBody>
          <a:bodyPr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第一类边界条件：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直接给出考察量在边界</a:t>
            </a:r>
            <a:r>
              <a:rPr lang="en-US" altLang="zh-CN" sz="24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S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上的值：</a:t>
            </a:r>
            <a:endParaRPr lang="zh-CN" altLang="en-US" sz="7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	 　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1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第二类边界条件：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给出考察量的导数在边界上的值：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1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r>
              <a:rPr lang="zh-CN" altLang="en-US" sz="24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第三类边界条件：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给出考察量及其导数的线性组合：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7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	 　　　　　　　　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　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6740" name="矩形 756739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6741" name="矩形 756740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56742" name="对象 756741"/>
          <p:cNvGraphicFramePr/>
          <p:nvPr/>
        </p:nvGraphicFramePr>
        <p:xfrm>
          <a:off x="4727576" y="3203573"/>
          <a:ext cx="1128713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635000" imgH="444500" progId="Equation.3">
                  <p:embed/>
                </p:oleObj>
              </mc:Choice>
              <mc:Fallback>
                <p:oleObj name="" r:id="rId1" imgW="635000" imgH="444500" progId="Equation.3">
                  <p:embed/>
                  <p:pic>
                    <p:nvPicPr>
                      <p:cNvPr id="0" name="对象 75674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27576" y="3203573"/>
                        <a:ext cx="1128713" cy="796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6743" name="内容占位符 756742"/>
          <p:cNvGraphicFramePr>
            <a:graphicFrameLocks noGrp="1"/>
          </p:cNvGraphicFramePr>
          <p:nvPr>
            <p:ph sz="half" idx="2"/>
          </p:nvPr>
        </p:nvGraphicFramePr>
        <p:xfrm>
          <a:off x="4683125" y="1864994"/>
          <a:ext cx="141287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799465" imgH="254000" progId="Equation.3">
                  <p:embed/>
                </p:oleObj>
              </mc:Choice>
              <mc:Fallback>
                <p:oleObj name="" r:id="rId3" imgW="799465" imgH="254000" progId="Equation.3">
                  <p:embed/>
                  <p:pic>
                    <p:nvPicPr>
                      <p:cNvPr id="0" name="内容占位符 75674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683125" y="1864994"/>
                        <a:ext cx="1412875" cy="44926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6744" name="矩形 756743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6745" name="矩形 756744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56746" name="对象 756745"/>
          <p:cNvGraphicFramePr/>
          <p:nvPr/>
        </p:nvGraphicFramePr>
        <p:xfrm>
          <a:off x="4542474" y="5011103"/>
          <a:ext cx="219233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205865" imgH="444500" progId="Equation.3">
                  <p:embed/>
                </p:oleObj>
              </mc:Choice>
              <mc:Fallback>
                <p:oleObj name="" r:id="rId5" imgW="1205865" imgH="444500" progId="Equation.3">
                  <p:embed/>
                  <p:pic>
                    <p:nvPicPr>
                      <p:cNvPr id="0" name="对象 75674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42474" y="5011103"/>
                        <a:ext cx="2192337" cy="81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6747" name="矩形 756746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56748" name="对象 756747"/>
          <p:cNvGraphicFramePr/>
          <p:nvPr/>
        </p:nvGraphicFramePr>
        <p:xfrm>
          <a:off x="4367213" y="5949951"/>
          <a:ext cx="107950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609600" imgH="241300" progId="Equation.3">
                  <p:embed/>
                </p:oleObj>
              </mc:Choice>
              <mc:Fallback>
                <p:oleObj name="" r:id="rId7" imgW="609600" imgH="241300" progId="Equation.3">
                  <p:embed/>
                  <p:pic>
                    <p:nvPicPr>
                      <p:cNvPr id="0" name="对象 75674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367213" y="5949951"/>
                        <a:ext cx="1079500" cy="422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6749" name="文本框 756748"/>
          <p:cNvSpPr txBox="1"/>
          <p:nvPr/>
        </p:nvSpPr>
        <p:spPr>
          <a:xfrm>
            <a:off x="4008439" y="5949950"/>
            <a:ext cx="3887787" cy="42703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200" dirty="0">
                <a:latin typeface="Verdana" panose="020B0604030504040204" pitchFamily="34" charset="0"/>
                <a:ea typeface="黑体" panose="02010609060101010101" pitchFamily="49" charset="-122"/>
              </a:rPr>
              <a:t>（           均为已知函数）</a:t>
            </a:r>
            <a:endParaRPr lang="zh-CN" altLang="en-US" sz="2200" dirty="0"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786" name="标题 758785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sz="3200" b="1" dirty="0">
                <a:solidFill>
                  <a:srgbClr val="CC0000"/>
                </a:solidFill>
                <a:ea typeface="黑体" panose="02010609060101010101" pitchFamily="49" charset="-122"/>
              </a:rPr>
              <a:t>数理方程：</a:t>
            </a:r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边界条件</a:t>
            </a:r>
            <a:endParaRPr lang="zh-CN" altLang="en-US" sz="32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8787" name="文本占位符 758786"/>
          <p:cNvSpPr>
            <a:spLocks noGrp="1"/>
          </p:cNvSpPr>
          <p:nvPr>
            <p:ph type="body" sz="half" idx="1"/>
          </p:nvPr>
        </p:nvSpPr>
        <p:spPr>
          <a:xfrm>
            <a:off x="1981200" y="1600201"/>
            <a:ext cx="8002588" cy="4525963"/>
          </a:xfrm>
        </p:spPr>
        <p:txBody>
          <a:bodyPr/>
          <a:lstStyle/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分别称为第一类，第二类，第三类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齐次边界条件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	 　</a:t>
            </a:r>
            <a:endParaRPr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endParaRPr lang="zh-CN" altLang="en-US" sz="7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分别称为第一类，第二类，第三类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非齐次边界条件</a:t>
            </a: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	 　</a:t>
            </a:r>
            <a:endParaRPr lang="zh-CN" altLang="en-US" sz="2400" b="1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endParaRPr lang="zh-CN" altLang="en-US" sz="7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endParaRPr lang="zh-CN" altLang="en-US" sz="7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	 　　　　　　　　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400" b="1" dirty="0">
                <a:latin typeface="黑体" panose="02010609060101010101" pitchFamily="49" charset="-122"/>
                <a:ea typeface="黑体" panose="02010609060101010101" pitchFamily="49" charset="-122"/>
              </a:rPr>
              <a:t>　　　　</a:t>
            </a:r>
            <a:endParaRPr lang="zh-CN" altLang="en-US" sz="24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58788" name="矩形 758787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8789" name="矩形 758788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8790" name="矩形 758789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8791" name="矩形 758790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58792" name="对象 758791"/>
          <p:cNvGraphicFramePr/>
          <p:nvPr/>
        </p:nvGraphicFramePr>
        <p:xfrm>
          <a:off x="5137151" y="4149726"/>
          <a:ext cx="1128713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635000" imgH="444500" progId="Equation.3">
                  <p:embed/>
                </p:oleObj>
              </mc:Choice>
              <mc:Fallback>
                <p:oleObj name="" r:id="rId1" imgW="635000" imgH="444500" progId="Equation.3">
                  <p:embed/>
                  <p:pic>
                    <p:nvPicPr>
                      <p:cNvPr id="0" name="对象 7587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37151" y="4149726"/>
                        <a:ext cx="1128713" cy="796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793" name="对象 758792"/>
          <p:cNvGraphicFramePr/>
          <p:nvPr/>
        </p:nvGraphicFramePr>
        <p:xfrm>
          <a:off x="2700338" y="4292601"/>
          <a:ext cx="1433512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799465" imgH="254000" progId="Equation.3">
                  <p:embed/>
                </p:oleObj>
              </mc:Choice>
              <mc:Fallback>
                <p:oleObj name="" r:id="rId3" imgW="799465" imgH="254000" progId="Equation.3">
                  <p:embed/>
                  <p:pic>
                    <p:nvPicPr>
                      <p:cNvPr id="0" name="对象 75879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00338" y="4292601"/>
                        <a:ext cx="1433512" cy="455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794" name="对象 758793"/>
          <p:cNvGraphicFramePr/>
          <p:nvPr/>
        </p:nvGraphicFramePr>
        <p:xfrm>
          <a:off x="7297739" y="4076700"/>
          <a:ext cx="2193925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205865" imgH="444500" progId="Equation.3">
                  <p:embed/>
                </p:oleObj>
              </mc:Choice>
              <mc:Fallback>
                <p:oleObj name="" r:id="rId5" imgW="1205865" imgH="444500" progId="Equation.3">
                  <p:embed/>
                  <p:pic>
                    <p:nvPicPr>
                      <p:cNvPr id="0" name="对象 758793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297739" y="4076700"/>
                        <a:ext cx="2193925" cy="81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795" name="直接连接符 758794"/>
          <p:cNvSpPr/>
          <p:nvPr/>
        </p:nvSpPr>
        <p:spPr>
          <a:xfrm flipH="1">
            <a:off x="2279651" y="3716338"/>
            <a:ext cx="7345363" cy="0"/>
          </a:xfrm>
          <a:prstGeom prst="line">
            <a:avLst/>
          </a:prstGeom>
          <a:ln w="9525" cap="flat" cmpd="sng">
            <a:solidFill>
              <a:schemeClr val="folHlink"/>
            </a:solidFill>
            <a:prstDash val="dash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58796" name="对象 758795"/>
          <p:cNvGraphicFramePr/>
          <p:nvPr/>
        </p:nvGraphicFramePr>
        <p:xfrm>
          <a:off x="5148263" y="1916114"/>
          <a:ext cx="1014412" cy="796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571500" imgH="444500" progId="Equation.3">
                  <p:embed/>
                </p:oleObj>
              </mc:Choice>
              <mc:Fallback>
                <p:oleObj name="" r:id="rId7" imgW="571500" imgH="444500" progId="Equation.3">
                  <p:embed/>
                  <p:pic>
                    <p:nvPicPr>
                      <p:cNvPr id="0" name="对象 758795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48263" y="1916114"/>
                        <a:ext cx="1014412" cy="796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797" name="对象 758796"/>
          <p:cNvGraphicFramePr/>
          <p:nvPr/>
        </p:nvGraphicFramePr>
        <p:xfrm>
          <a:off x="2628900" y="2060576"/>
          <a:ext cx="1366838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761365" imgH="254000" progId="Equation.3">
                  <p:embed/>
                </p:oleObj>
              </mc:Choice>
              <mc:Fallback>
                <p:oleObj name="" r:id="rId9" imgW="761365" imgH="254000" progId="Equation.3">
                  <p:embed/>
                  <p:pic>
                    <p:nvPicPr>
                      <p:cNvPr id="0" name="对象 75879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628900" y="2060576"/>
                        <a:ext cx="1366838" cy="4556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798" name="对象 758797"/>
          <p:cNvGraphicFramePr/>
          <p:nvPr/>
        </p:nvGraphicFramePr>
        <p:xfrm>
          <a:off x="7297739" y="1844675"/>
          <a:ext cx="2103437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1" imgW="1155065" imgH="444500" progId="Equation.3">
                  <p:embed/>
                </p:oleObj>
              </mc:Choice>
              <mc:Fallback>
                <p:oleObj name="" r:id="rId11" imgW="1155065" imgH="444500" progId="Equation.3">
                  <p:embed/>
                  <p:pic>
                    <p:nvPicPr>
                      <p:cNvPr id="0" name="对象 758797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297739" y="1844675"/>
                        <a:ext cx="2103437" cy="812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834" name="标题 760833"/>
          <p:cNvSpPr>
            <a:spLocks noGrp="1"/>
          </p:cNvSpPr>
          <p:nvPr>
            <p:ph type="title"/>
          </p:nvPr>
        </p:nvSpPr>
        <p:spPr>
          <a:xfrm>
            <a:off x="893763" y="261463"/>
            <a:ext cx="8642350" cy="1143000"/>
          </a:xfrm>
        </p:spPr>
        <p:txBody>
          <a:bodyPr anchor="ctr" anchorCtr="0"/>
          <a:lstStyle/>
          <a:p>
            <a:r>
              <a:rPr lang="zh-CN" altLang="en-US" sz="3200" b="1" dirty="0">
                <a:solidFill>
                  <a:srgbClr val="CC0000"/>
                </a:solidFill>
                <a:ea typeface="黑体" panose="02010609060101010101" pitchFamily="49" charset="-122"/>
              </a:rPr>
              <a:t>数理方程：</a:t>
            </a:r>
            <a:r>
              <a:rPr lang="zh-CN" altLang="en-US" sz="32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定解问题</a:t>
            </a:r>
            <a:endParaRPr lang="zh-CN" altLang="en-US" sz="32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60835" name="文本占位符 760834"/>
          <p:cNvSpPr>
            <a:spLocks noGrp="1"/>
          </p:cNvSpPr>
          <p:nvPr>
            <p:ph type="body" sz="half" idx="1"/>
          </p:nvPr>
        </p:nvSpPr>
        <p:spPr>
          <a:xfrm>
            <a:off x="1069658" y="1372236"/>
            <a:ext cx="10271760" cy="4525962"/>
          </a:xfrm>
        </p:spPr>
        <p:txBody>
          <a:bodyPr/>
          <a:lstStyle/>
          <a:p>
            <a:pPr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　一个泛定方程与相应的定解条件构成“定解问题”。</a:t>
            </a:r>
            <a:endParaRPr lang="en-US" altLang="zh-CN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例如：弦振动的一个定解问题可以表示为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ClrTx/>
              <a:buSzTx/>
              <a:buFontTx/>
              <a:buNone/>
            </a:pP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760836" name="内容占位符 760835"/>
          <p:cNvGraphicFramePr>
            <a:graphicFrameLocks noGrp="1"/>
          </p:cNvGraphicFramePr>
          <p:nvPr>
            <p:ph sz="quarter" idx="3"/>
          </p:nvPr>
        </p:nvGraphicFramePr>
        <p:xfrm>
          <a:off x="4298950" y="2652714"/>
          <a:ext cx="1906588" cy="938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850265" imgH="419100" progId="Equation.3">
                  <p:embed/>
                </p:oleObj>
              </mc:Choice>
              <mc:Fallback>
                <p:oleObj name="" r:id="rId1" imgW="850265" imgH="419100" progId="Equation.3">
                  <p:embed/>
                  <p:pic>
                    <p:nvPicPr>
                      <p:cNvPr id="0" name="内容占位符 76083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98950" y="2652714"/>
                        <a:ext cx="1906588" cy="93821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0837" name="内容占位符 760836"/>
          <p:cNvGraphicFramePr>
            <a:graphicFrameLocks noGrp="1"/>
          </p:cNvGraphicFramePr>
          <p:nvPr>
            <p:ph sz="quarter" idx="2"/>
          </p:nvPr>
        </p:nvGraphicFramePr>
        <p:xfrm>
          <a:off x="4224338" y="4005264"/>
          <a:ext cx="23050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040765" imgH="254000" progId="Equation.3">
                  <p:embed/>
                </p:oleObj>
              </mc:Choice>
              <mc:Fallback>
                <p:oleObj name="" r:id="rId3" imgW="1040765" imgH="254000" progId="Equation.3">
                  <p:embed/>
                  <p:pic>
                    <p:nvPicPr>
                      <p:cNvPr id="0" name="内容占位符 76083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24338" y="4005264"/>
                        <a:ext cx="2305050" cy="5619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0838" name="对象 760837"/>
          <p:cNvGraphicFramePr/>
          <p:nvPr/>
        </p:nvGraphicFramePr>
        <p:xfrm>
          <a:off x="4224338" y="5011738"/>
          <a:ext cx="1981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862965" imgH="254000" progId="Equation.3">
                  <p:embed/>
                </p:oleObj>
              </mc:Choice>
              <mc:Fallback>
                <p:oleObj name="" r:id="rId5" imgW="862965" imgH="254000" progId="Equation.3">
                  <p:embed/>
                  <p:pic>
                    <p:nvPicPr>
                      <p:cNvPr id="0" name="对象 760837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24338" y="5011738"/>
                        <a:ext cx="1981200" cy="58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0839" name="对象 760838"/>
          <p:cNvGraphicFramePr/>
          <p:nvPr/>
        </p:nvGraphicFramePr>
        <p:xfrm>
          <a:off x="6711950" y="3859213"/>
          <a:ext cx="1289050" cy="920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622300" imgH="444500" progId="Equation.3">
                  <p:embed/>
                </p:oleObj>
              </mc:Choice>
              <mc:Fallback>
                <p:oleObj name="" r:id="rId7" imgW="622300" imgH="444500" progId="Equation.3">
                  <p:embed/>
                  <p:pic>
                    <p:nvPicPr>
                      <p:cNvPr id="0" name="对象 76083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711950" y="3859213"/>
                        <a:ext cx="1289050" cy="920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0840" name="对象 760839"/>
          <p:cNvGraphicFramePr/>
          <p:nvPr/>
        </p:nvGraphicFramePr>
        <p:xfrm>
          <a:off x="6456364" y="5011739"/>
          <a:ext cx="2016125" cy="611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837565" imgH="254000" progId="Equation.3">
                  <p:embed/>
                </p:oleObj>
              </mc:Choice>
              <mc:Fallback>
                <p:oleObj name="" r:id="rId9" imgW="837565" imgH="254000" progId="Equation.3">
                  <p:embed/>
                  <p:pic>
                    <p:nvPicPr>
                      <p:cNvPr id="0" name="对象 760839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456364" y="5011739"/>
                        <a:ext cx="2016125" cy="6111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0841" name="左大括号 760840"/>
          <p:cNvSpPr/>
          <p:nvPr/>
        </p:nvSpPr>
        <p:spPr>
          <a:xfrm>
            <a:off x="3792538" y="2995613"/>
            <a:ext cx="373062" cy="2305050"/>
          </a:xfrm>
          <a:prstGeom prst="leftBrace">
            <a:avLst>
              <a:gd name="adj1" fmla="val 51489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994" name="标题 852993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en-US" altLang="zh-CN" dirty="0"/>
              <a:t>   </a:t>
            </a:r>
            <a:endParaRPr lang="en-US" altLang="zh-CN" dirty="0"/>
          </a:p>
        </p:txBody>
      </p:sp>
      <p:sp>
        <p:nvSpPr>
          <p:cNvPr id="852995" name="文本占位符 852994"/>
          <p:cNvSpPr>
            <a:spLocks noGrp="1"/>
          </p:cNvSpPr>
          <p:nvPr>
            <p:ph type="body" sz="half" idx="1"/>
          </p:nvPr>
        </p:nvSpPr>
        <p:spPr>
          <a:xfrm>
            <a:off x="1774826" y="476251"/>
            <a:ext cx="8137525" cy="5832475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None/>
            </a:pPr>
            <a:r>
              <a:rPr lang="en-US" altLang="zh-CN" sz="3600" b="1" dirty="0">
                <a:solidFill>
                  <a:srgbClr val="FF0000"/>
                </a:solidFill>
                <a:ea typeface="黑体" panose="02010609060101010101" pitchFamily="49" charset="-122"/>
              </a:rPr>
              <a:t>                           </a:t>
            </a:r>
            <a:r>
              <a:rPr lang="zh-CN" altLang="en-US" sz="4400" b="1" dirty="0">
                <a:solidFill>
                  <a:srgbClr val="FF0000"/>
                </a:solidFill>
                <a:ea typeface="黑体" panose="02010609060101010101" pitchFamily="49" charset="-122"/>
              </a:rPr>
              <a:t>例题</a:t>
            </a:r>
            <a:endParaRPr lang="zh-CN" altLang="en-US" sz="4400" b="1" dirty="0">
              <a:solidFill>
                <a:srgbClr val="FF0000"/>
              </a:solidFill>
              <a:ea typeface="黑体" panose="02010609060101010101" pitchFamily="49" charset="-122"/>
            </a:endParaRPr>
          </a:p>
          <a:p>
            <a:pPr marL="533400" indent="-533400">
              <a:lnSpc>
                <a:spcPct val="90000"/>
              </a:lnSpc>
              <a:buNone/>
            </a:pPr>
            <a:endParaRPr lang="zh-CN" altLang="en-US" sz="1400" b="1" dirty="0">
              <a:solidFill>
                <a:schemeClr val="hlink"/>
              </a:solidFill>
              <a:ea typeface="黑体" panose="02010609060101010101" pitchFamily="49" charset="-122"/>
            </a:endParaRPr>
          </a:p>
          <a:p>
            <a:pPr marL="533400" indent="-533400">
              <a:lnSpc>
                <a:spcPct val="90000"/>
              </a:lnSpc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     长度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28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L</a:t>
            </a:r>
            <a:r>
              <a:rPr lang="zh-CN" altLang="en-US" sz="2800" b="1" dirty="0">
                <a:ea typeface="黑体" panose="02010609060101010101" pitchFamily="49" charset="-122"/>
              </a:rPr>
              <a:t>的均匀杆，侧面绝热，其线密度为    、热传导系数为</a:t>
            </a:r>
            <a:r>
              <a:rPr lang="en-US" altLang="zh-CN" sz="28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zh-CN" altLang="en-US" sz="2800" b="1" dirty="0">
                <a:ea typeface="黑体" panose="02010609060101010101" pitchFamily="49" charset="-122"/>
              </a:rPr>
              <a:t>、比热为</a:t>
            </a:r>
            <a:r>
              <a:rPr lang="en-US" altLang="zh-CN" sz="28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c</a:t>
            </a:r>
            <a:r>
              <a:rPr lang="en-US" altLang="zh-CN" sz="2800" b="1" dirty="0"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ea typeface="黑体" panose="02010609060101010101" pitchFamily="49" charset="-122"/>
              </a:rPr>
              <a:t>。</a:t>
            </a:r>
            <a:endParaRPr lang="zh-CN" altLang="en-US" sz="2800" b="1" dirty="0">
              <a:ea typeface="黑体" panose="02010609060101010101" pitchFamily="49" charset="-122"/>
            </a:endParaRPr>
          </a:p>
          <a:p>
            <a:pPr marL="533400" indent="-533400">
              <a:lnSpc>
                <a:spcPct val="90000"/>
              </a:lnSpc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     （</a:t>
            </a:r>
            <a:r>
              <a:rPr lang="en-US" altLang="zh-CN" sz="2800" b="1" dirty="0">
                <a:ea typeface="黑体" panose="02010609060101010101" pitchFamily="49" charset="-122"/>
              </a:rPr>
              <a:t>1</a:t>
            </a:r>
            <a:r>
              <a:rPr lang="zh-CN" altLang="en-US" sz="2800" b="1" dirty="0">
                <a:ea typeface="黑体" panose="02010609060101010101" pitchFamily="49" charset="-122"/>
              </a:rPr>
              <a:t>）推导出杆的热传导方程；</a:t>
            </a:r>
            <a:endParaRPr lang="zh-CN" altLang="en-US" sz="2800" b="1" dirty="0">
              <a:ea typeface="黑体" panose="02010609060101010101" pitchFamily="49" charset="-122"/>
            </a:endParaRPr>
          </a:p>
          <a:p>
            <a:pPr marL="533400" indent="-533400">
              <a:lnSpc>
                <a:spcPct val="90000"/>
              </a:lnSpc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     （</a:t>
            </a:r>
            <a:r>
              <a:rPr lang="en-US" altLang="zh-CN" sz="2800" b="1" dirty="0">
                <a:ea typeface="黑体" panose="02010609060101010101" pitchFamily="49" charset="-122"/>
              </a:rPr>
              <a:t>2</a:t>
            </a:r>
            <a:r>
              <a:rPr lang="zh-CN" altLang="en-US" sz="2800" b="1" dirty="0">
                <a:ea typeface="黑体" panose="02010609060101010101" pitchFamily="49" charset="-122"/>
              </a:rPr>
              <a:t>）设杆一端的温度为零，另一端有恒定热流 </a:t>
            </a:r>
            <a:r>
              <a:rPr lang="en-US" altLang="zh-CN" sz="28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q </a:t>
            </a:r>
            <a:r>
              <a:rPr lang="zh-CN" altLang="en-US" sz="2800" b="1" dirty="0">
                <a:ea typeface="黑体" panose="02010609060101010101" pitchFamily="49" charset="-122"/>
              </a:rPr>
              <a:t>进入</a:t>
            </a:r>
            <a:r>
              <a:rPr lang="zh-CN" altLang="en-US" b="1" dirty="0">
                <a:ea typeface="黑体" panose="02010609060101010101" pitchFamily="49" charset="-122"/>
              </a:rPr>
              <a:t> 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（</a:t>
            </a:r>
            <a:r>
              <a:rPr lang="zh-CN" altLang="en-US" sz="2800" b="1" dirty="0">
                <a:ea typeface="黑体" panose="02010609060101010101" pitchFamily="49" charset="-122"/>
              </a:rPr>
              <a:t>即单位时间内通过单位面积流入的热量为 </a:t>
            </a:r>
            <a:r>
              <a:rPr lang="en-US" altLang="zh-CN" sz="2800" i="1" dirty="0">
                <a:latin typeface="Times New Roman" panose="02020603050405020304" pitchFamily="18" charset="0"/>
                <a:ea typeface="黑体" panose="02010609060101010101" pitchFamily="49" charset="-122"/>
              </a:rPr>
              <a:t>q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）</a:t>
            </a:r>
            <a:r>
              <a:rPr lang="zh-CN" altLang="en-US" sz="2800" b="1" dirty="0">
                <a:ea typeface="黑体" panose="02010609060101010101" pitchFamily="49" charset="-122"/>
              </a:rPr>
              <a:t>，已知杆的初始温度分布为</a:t>
            </a:r>
            <a:endParaRPr lang="zh-CN" altLang="en-US" sz="2800" b="1" dirty="0">
              <a:ea typeface="黑体" panose="02010609060101010101" pitchFamily="49" charset="-122"/>
            </a:endParaRPr>
          </a:p>
          <a:p>
            <a:pPr marL="533400" indent="-533400">
              <a:lnSpc>
                <a:spcPct val="90000"/>
              </a:lnSpc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              ，试写出相应的定解问题。</a:t>
            </a:r>
            <a:endParaRPr lang="zh-CN" altLang="en-US" sz="2800" b="1" dirty="0">
              <a:ea typeface="黑体" panose="02010609060101010101" pitchFamily="49" charset="-122"/>
            </a:endParaRPr>
          </a:p>
          <a:p>
            <a:pPr marL="533400" indent="-533400">
              <a:lnSpc>
                <a:spcPct val="90000"/>
              </a:lnSpc>
              <a:buFontTx/>
              <a:buAutoNum type="arabicPeriod"/>
            </a:pPr>
            <a:endParaRPr lang="zh-CN" altLang="en-US" sz="2800" b="1" dirty="0">
              <a:ea typeface="黑体" panose="02010609060101010101" pitchFamily="49" charset="-122"/>
            </a:endParaRPr>
          </a:p>
          <a:p>
            <a:pPr marL="533400" indent="-533400">
              <a:lnSpc>
                <a:spcPct val="90000"/>
              </a:lnSpc>
              <a:buNone/>
            </a:pPr>
            <a:endParaRPr lang="zh-CN" altLang="en-US" sz="2800" b="1" dirty="0">
              <a:ea typeface="黑体" panose="02010609060101010101" pitchFamily="49" charset="-122"/>
            </a:endParaRPr>
          </a:p>
          <a:p>
            <a:pPr marL="533400" indent="-533400">
              <a:lnSpc>
                <a:spcPct val="90000"/>
              </a:lnSpc>
              <a:buNone/>
            </a:pPr>
            <a:endParaRPr lang="zh-CN" altLang="en-US" sz="2800" b="1" dirty="0">
              <a:ea typeface="黑体" panose="02010609060101010101" pitchFamily="49" charset="-122"/>
            </a:endParaRPr>
          </a:p>
          <a:p>
            <a:pPr marL="533400" indent="-533400">
              <a:lnSpc>
                <a:spcPct val="90000"/>
              </a:lnSpc>
              <a:buNone/>
            </a:pPr>
            <a:r>
              <a:rPr lang="zh-CN" altLang="en-US" sz="800" b="1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zh-CN" altLang="en-US" sz="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52996" name="矩形 852995"/>
          <p:cNvSpPr/>
          <p:nvPr/>
        </p:nvSpPr>
        <p:spPr>
          <a:xfrm>
            <a:off x="152400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2997" name="矩形 852996"/>
          <p:cNvSpPr/>
          <p:nvPr/>
        </p:nvSpPr>
        <p:spPr>
          <a:xfrm>
            <a:off x="1524000" y="33194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2998" name="矩形 852997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2999" name="文本框 852998"/>
          <p:cNvSpPr txBox="1"/>
          <p:nvPr/>
        </p:nvSpPr>
        <p:spPr>
          <a:xfrm>
            <a:off x="6167438" y="3213100"/>
            <a:ext cx="2665412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endParaRPr dirty="0">
              <a:latin typeface="Verdana" panose="020B0604030504040204" pitchFamily="34" charset="0"/>
            </a:endParaRPr>
          </a:p>
        </p:txBody>
      </p:sp>
      <p:graphicFrame>
        <p:nvGraphicFramePr>
          <p:cNvPr id="853000" name="内容占位符 852999"/>
          <p:cNvGraphicFramePr>
            <a:graphicFrameLocks noGrp="1"/>
          </p:cNvGraphicFramePr>
          <p:nvPr>
            <p:ph sz="half" idx="2"/>
          </p:nvPr>
        </p:nvGraphicFramePr>
        <p:xfrm>
          <a:off x="2849245" y="1917700"/>
          <a:ext cx="342900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52400" imgH="165100" progId="Equation.3">
                  <p:embed/>
                </p:oleObj>
              </mc:Choice>
              <mc:Fallback>
                <p:oleObj name="" r:id="rId1" imgW="152400" imgH="165100" progId="Equation.3">
                  <p:embed/>
                  <p:pic>
                    <p:nvPicPr>
                      <p:cNvPr id="0" name="内容占位符 85299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849245" y="1917700"/>
                        <a:ext cx="342900" cy="36988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3001" name="矩形 853000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53002" name="对象 853001"/>
          <p:cNvGraphicFramePr/>
          <p:nvPr/>
        </p:nvGraphicFramePr>
        <p:xfrm>
          <a:off x="2660332" y="4229100"/>
          <a:ext cx="997268" cy="617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571500" imgH="393700" progId="Equation.3">
                  <p:embed/>
                </p:oleObj>
              </mc:Choice>
              <mc:Fallback>
                <p:oleObj name="" r:id="rId3" imgW="571500" imgH="393700" progId="Equation.3">
                  <p:embed/>
                  <p:pic>
                    <p:nvPicPr>
                      <p:cNvPr id="0" name="对象 85300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660332" y="4229100"/>
                        <a:ext cx="997268" cy="61721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019" name="文本占位符 854018"/>
          <p:cNvSpPr>
            <a:spLocks noGrp="1"/>
          </p:cNvSpPr>
          <p:nvPr>
            <p:ph type="body" sz="half" idx="1"/>
          </p:nvPr>
        </p:nvSpPr>
        <p:spPr>
          <a:xfrm>
            <a:off x="1992313" y="1125538"/>
            <a:ext cx="4038600" cy="4525962"/>
          </a:xfrm>
        </p:spPr>
        <p:txBody>
          <a:bodyPr/>
          <a:lstStyle/>
          <a:p>
            <a:pPr>
              <a:buClrTx/>
              <a:buSzTx/>
              <a:buFontTx/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解</a:t>
            </a:r>
            <a:r>
              <a:rPr lang="zh-CN" altLang="en-US" sz="2800" dirty="0"/>
              <a:t>：</a:t>
            </a:r>
            <a:r>
              <a:rPr lang="zh-CN" altLang="en-US" sz="2000" b="1" dirty="0">
                <a:ea typeface="黑体" panose="02010609060101010101" pitchFamily="49" charset="-122"/>
              </a:rPr>
              <a:t>泛定方程：</a:t>
            </a:r>
            <a:endParaRPr lang="zh-CN" altLang="en-US" sz="2000" b="1" dirty="0">
              <a:ea typeface="黑体" panose="02010609060101010101" pitchFamily="49" charset="-122"/>
            </a:endParaRPr>
          </a:p>
          <a:p>
            <a:pPr>
              <a:buClrTx/>
              <a:buSzTx/>
              <a:buFontTx/>
              <a:buNone/>
            </a:pPr>
            <a:endParaRPr lang="zh-CN" altLang="en-US" sz="2400" b="1" dirty="0">
              <a:ea typeface="黑体" panose="02010609060101010101" pitchFamily="49" charset="-122"/>
            </a:endParaRPr>
          </a:p>
          <a:p>
            <a:pPr>
              <a:buClrTx/>
              <a:buSzTx/>
              <a:buFontTx/>
              <a:buNone/>
            </a:pPr>
            <a:r>
              <a:rPr lang="zh-CN" altLang="en-US" sz="2000" b="1" dirty="0">
                <a:ea typeface="黑体" panose="02010609060101010101" pitchFamily="49" charset="-122"/>
              </a:rPr>
              <a:t>          初始条件：</a:t>
            </a:r>
            <a:endParaRPr lang="zh-CN" altLang="en-US" sz="2000" b="1" dirty="0">
              <a:ea typeface="黑体" panose="02010609060101010101" pitchFamily="49" charset="-122"/>
            </a:endParaRPr>
          </a:p>
          <a:p>
            <a:pPr>
              <a:buClrTx/>
              <a:buSzTx/>
              <a:buFontTx/>
              <a:buNone/>
            </a:pPr>
            <a:endParaRPr lang="zh-CN" altLang="en-US" sz="2400" b="1" dirty="0">
              <a:ea typeface="黑体" panose="02010609060101010101" pitchFamily="49" charset="-122"/>
            </a:endParaRPr>
          </a:p>
          <a:p>
            <a:pPr>
              <a:buClrTx/>
              <a:buSzTx/>
              <a:buFontTx/>
              <a:buNone/>
            </a:pPr>
            <a:r>
              <a:rPr lang="zh-CN" altLang="en-US" sz="2000" b="1" dirty="0">
                <a:ea typeface="黑体" panose="02010609060101010101" pitchFamily="49" charset="-122"/>
              </a:rPr>
              <a:t>          边界条件：</a:t>
            </a:r>
            <a:endParaRPr lang="zh-CN" altLang="en-US" sz="2000" b="1" dirty="0">
              <a:ea typeface="黑体" panose="02010609060101010101" pitchFamily="49" charset="-122"/>
            </a:endParaRPr>
          </a:p>
        </p:txBody>
      </p:sp>
      <p:graphicFrame>
        <p:nvGraphicFramePr>
          <p:cNvPr id="854020" name="对象 854019"/>
          <p:cNvGraphicFramePr/>
          <p:nvPr/>
        </p:nvGraphicFramePr>
        <p:xfrm>
          <a:off x="4224339" y="1052513"/>
          <a:ext cx="1584325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812165" imgH="419100" progId="Equation.3">
                  <p:embed/>
                </p:oleObj>
              </mc:Choice>
              <mc:Fallback>
                <p:oleObj name="" r:id="rId1" imgW="812165" imgH="419100" progId="Equation.3">
                  <p:embed/>
                  <p:pic>
                    <p:nvPicPr>
                      <p:cNvPr id="0" name="对象 85401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24339" y="1052513"/>
                        <a:ext cx="1584325" cy="8175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4021" name="对象 854020"/>
          <p:cNvGraphicFramePr/>
          <p:nvPr/>
        </p:nvGraphicFramePr>
        <p:xfrm>
          <a:off x="6096001" y="1196976"/>
          <a:ext cx="790575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673100" imgH="457200" progId="Equation.3">
                  <p:embed/>
                </p:oleObj>
              </mc:Choice>
              <mc:Fallback>
                <p:oleObj name="" r:id="rId3" imgW="673100" imgH="457200" progId="Equation.3">
                  <p:embed/>
                  <p:pic>
                    <p:nvPicPr>
                      <p:cNvPr id="0" name="对象 85402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6001" y="1196976"/>
                        <a:ext cx="790575" cy="5365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4026" name="矩形 854025"/>
          <p:cNvSpPr/>
          <p:nvPr/>
        </p:nvSpPr>
        <p:spPr>
          <a:xfrm>
            <a:off x="1524000" y="33575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54025" name="对象 854024"/>
          <p:cNvGraphicFramePr/>
          <p:nvPr/>
        </p:nvGraphicFramePr>
        <p:xfrm>
          <a:off x="4224338" y="1916114"/>
          <a:ext cx="2087562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1256665" imgH="393700" progId="Equation.3">
                  <p:embed/>
                </p:oleObj>
              </mc:Choice>
              <mc:Fallback>
                <p:oleObj name="" r:id="rId5" imgW="1256665" imgH="393700" progId="Equation.3">
                  <p:embed/>
                  <p:pic>
                    <p:nvPicPr>
                      <p:cNvPr id="0" name="对象 85402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24338" y="1916114"/>
                        <a:ext cx="2087562" cy="669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4031" name="矩形 854030"/>
          <p:cNvSpPr/>
          <p:nvPr/>
        </p:nvSpPr>
        <p:spPr>
          <a:xfrm>
            <a:off x="1524000" y="33575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54030" name="对象 854029"/>
          <p:cNvGraphicFramePr/>
          <p:nvPr/>
        </p:nvGraphicFramePr>
        <p:xfrm>
          <a:off x="4224339" y="2852738"/>
          <a:ext cx="1366837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824865" imgH="254000" progId="Equation.3">
                  <p:embed/>
                </p:oleObj>
              </mc:Choice>
              <mc:Fallback>
                <p:oleObj name="" r:id="rId7" imgW="824865" imgH="254000" progId="Equation.3">
                  <p:embed/>
                  <p:pic>
                    <p:nvPicPr>
                      <p:cNvPr id="0" name="对象 854029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24339" y="2852738"/>
                        <a:ext cx="1366837" cy="4302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4032" name="直接连接符 854031"/>
          <p:cNvSpPr/>
          <p:nvPr/>
        </p:nvSpPr>
        <p:spPr>
          <a:xfrm>
            <a:off x="7896225" y="2565400"/>
            <a:ext cx="23050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4033" name="直接连接符 854032"/>
          <p:cNvSpPr/>
          <p:nvPr/>
        </p:nvSpPr>
        <p:spPr>
          <a:xfrm flipV="1">
            <a:off x="7896225" y="1773238"/>
            <a:ext cx="0" cy="7921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4034" name="任意多边形 854033"/>
          <p:cNvSpPr/>
          <p:nvPr/>
        </p:nvSpPr>
        <p:spPr>
          <a:xfrm>
            <a:off x="8904288" y="2060576"/>
            <a:ext cx="1008062" cy="504825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4035" name="任意多边形 854034"/>
          <p:cNvSpPr/>
          <p:nvPr/>
        </p:nvSpPr>
        <p:spPr>
          <a:xfrm flipH="1">
            <a:off x="7896226" y="2060576"/>
            <a:ext cx="1008063" cy="504825"/>
          </a:xfrm>
          <a:custGeom>
            <a:avLst/>
            <a:gdLst>
              <a:gd name="txL" fmla="*/ 0 w 21600"/>
              <a:gd name="txT" fmla="*/ 0 h 21600"/>
              <a:gd name="txR" fmla="*/ 21600 w 21600"/>
              <a:gd name="txB" fmla="*/ 21600 h 21600"/>
            </a:gdLst>
            <a:ahLst/>
            <a:cxnLst>
              <a:cxn ang="270">
                <a:pos x="0" y="0"/>
              </a:cxn>
              <a:cxn ang="90">
                <a:pos x="21600" y="21600"/>
              </a:cxn>
              <a:cxn ang="90">
                <a:pos x="0" y="21600"/>
              </a:cxn>
            </a:cxnLst>
            <a:rect l="txL" t="txT" r="txR" b="txB"/>
            <a:pathLst>
              <a:path w="21600" h="21600" fill="none">
                <a:moveTo>
                  <a:pt x="0" y="0"/>
                </a:moveTo>
                <a:arcTo wR="21600" hR="21600" stAng="-5400000" swAng="5400000"/>
              </a:path>
              <a:path w="21600" h="21600" stroke="0">
                <a:moveTo>
                  <a:pt x="0" y="0"/>
                </a:moveTo>
                <a:arcTo wR="21600" hR="21600" stAng="-5400000" swAng="5400000"/>
                <a:lnTo>
                  <a:pt x="0" y="21600"/>
                </a:lnTo>
                <a:close/>
              </a:path>
            </a:pathLst>
          </a:custGeom>
          <a:noFill/>
          <a:ln w="254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4036" name="直接连接符 854035"/>
          <p:cNvSpPr/>
          <p:nvPr/>
        </p:nvSpPr>
        <p:spPr>
          <a:xfrm>
            <a:off x="6743700" y="2276475"/>
            <a:ext cx="6477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4037" name="文本框 854036"/>
          <p:cNvSpPr txBox="1"/>
          <p:nvPr/>
        </p:nvSpPr>
        <p:spPr>
          <a:xfrm>
            <a:off x="7751763" y="2492376"/>
            <a:ext cx="23749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0                             </a:t>
            </a:r>
            <a:r>
              <a:rPr lang="en-US" altLang="zh-CN" sz="2000" i="1">
                <a:latin typeface="Times New Roman" panose="02020603050405020304" pitchFamily="18" charset="0"/>
              </a:rPr>
              <a:t>L</a:t>
            </a:r>
            <a:endParaRPr lang="en-US" altLang="zh-CN" sz="2000" i="1">
              <a:latin typeface="Times New Roman" panose="02020603050405020304" pitchFamily="18" charset="0"/>
            </a:endParaRPr>
          </a:p>
        </p:txBody>
      </p:sp>
      <p:sp>
        <p:nvSpPr>
          <p:cNvPr id="854038" name="文本框 854037"/>
          <p:cNvSpPr txBox="1"/>
          <p:nvPr/>
        </p:nvSpPr>
        <p:spPr>
          <a:xfrm>
            <a:off x="10128250" y="2276475"/>
            <a:ext cx="395288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endParaRPr lang="en-US" altLang="zh-CN" sz="2400" i="1">
              <a:latin typeface="Times New Roman" panose="02020603050405020304" pitchFamily="18" charset="0"/>
            </a:endParaRPr>
          </a:p>
        </p:txBody>
      </p:sp>
      <p:sp>
        <p:nvSpPr>
          <p:cNvPr id="854039" name="直接连接符 854038"/>
          <p:cNvSpPr/>
          <p:nvPr/>
        </p:nvSpPr>
        <p:spPr>
          <a:xfrm>
            <a:off x="4800600" y="4292600"/>
            <a:ext cx="30241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4040" name="直接连接符 854039"/>
          <p:cNvSpPr/>
          <p:nvPr/>
        </p:nvSpPr>
        <p:spPr>
          <a:xfrm flipV="1">
            <a:off x="4800600" y="3500438"/>
            <a:ext cx="0" cy="79216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4041" name="文本框 854040"/>
          <p:cNvSpPr txBox="1"/>
          <p:nvPr/>
        </p:nvSpPr>
        <p:spPr>
          <a:xfrm>
            <a:off x="7751764" y="4003675"/>
            <a:ext cx="3952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i="1">
                <a:latin typeface="Times New Roman" panose="02020603050405020304" pitchFamily="18" charset="0"/>
              </a:rPr>
              <a:t>x</a:t>
            </a:r>
            <a:endParaRPr lang="en-US" altLang="zh-CN" sz="2400" i="1">
              <a:latin typeface="Times New Roman" panose="02020603050405020304" pitchFamily="18" charset="0"/>
            </a:endParaRPr>
          </a:p>
        </p:txBody>
      </p:sp>
      <p:sp>
        <p:nvSpPr>
          <p:cNvPr id="854042" name="文本框 854041"/>
          <p:cNvSpPr txBox="1"/>
          <p:nvPr/>
        </p:nvSpPr>
        <p:spPr>
          <a:xfrm>
            <a:off x="4727575" y="4219576"/>
            <a:ext cx="2374900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000">
                <a:latin typeface="Times New Roman" panose="02020603050405020304" pitchFamily="18" charset="0"/>
              </a:rPr>
              <a:t>0                             </a:t>
            </a:r>
            <a:r>
              <a:rPr lang="en-US" altLang="zh-CN" sz="2000" i="1">
                <a:latin typeface="Times New Roman" panose="02020603050405020304" pitchFamily="18" charset="0"/>
              </a:rPr>
              <a:t>L</a:t>
            </a:r>
            <a:endParaRPr lang="en-US" altLang="zh-CN" sz="2000" i="1">
              <a:latin typeface="Times New Roman" panose="02020603050405020304" pitchFamily="18" charset="0"/>
            </a:endParaRPr>
          </a:p>
        </p:txBody>
      </p:sp>
      <p:sp>
        <p:nvSpPr>
          <p:cNvPr id="854044" name="矩形 854043"/>
          <p:cNvSpPr/>
          <p:nvPr/>
        </p:nvSpPr>
        <p:spPr>
          <a:xfrm>
            <a:off x="4800601" y="3716338"/>
            <a:ext cx="2087563" cy="5762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4045" name="直接连接符 854044"/>
          <p:cNvSpPr/>
          <p:nvPr/>
        </p:nvSpPr>
        <p:spPr>
          <a:xfrm flipH="1">
            <a:off x="6888163" y="4003675"/>
            <a:ext cx="431800" cy="0"/>
          </a:xfrm>
          <a:prstGeom prst="line">
            <a:avLst/>
          </a:prstGeom>
          <a:ln w="25400" cap="flat" cmpd="sng">
            <a:solidFill>
              <a:srgbClr val="FF0000"/>
            </a:solidFill>
            <a:prstDash val="solid"/>
            <a:headEnd type="none" w="med" len="med"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4046" name="文本框 854045"/>
          <p:cNvSpPr txBox="1"/>
          <p:nvPr/>
        </p:nvSpPr>
        <p:spPr>
          <a:xfrm>
            <a:off x="6167439" y="3716338"/>
            <a:ext cx="7207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i="1">
                <a:latin typeface="Times New Roman" panose="02020603050405020304" pitchFamily="18" charset="0"/>
              </a:rPr>
              <a:t>q</a:t>
            </a:r>
            <a:endParaRPr lang="en-US" altLang="zh-CN" sz="2400" i="1">
              <a:latin typeface="Times New Roman" panose="02020603050405020304" pitchFamily="18" charset="0"/>
            </a:endParaRPr>
          </a:p>
        </p:txBody>
      </p:sp>
      <p:graphicFrame>
        <p:nvGraphicFramePr>
          <p:cNvPr id="854047" name="对象 854046"/>
          <p:cNvGraphicFramePr/>
          <p:nvPr/>
        </p:nvGraphicFramePr>
        <p:xfrm>
          <a:off x="7824788" y="4581526"/>
          <a:ext cx="336550" cy="57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228600" imgH="393700" progId="Equation.3">
                  <p:embed/>
                </p:oleObj>
              </mc:Choice>
              <mc:Fallback>
                <p:oleObj name="" r:id="rId9" imgW="228600" imgH="393700" progId="Equation.3">
                  <p:embed/>
                  <p:pic>
                    <p:nvPicPr>
                      <p:cNvPr id="0" name="对象 854046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824788" y="4581526"/>
                        <a:ext cx="336550" cy="5746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4048" name="直接连接符 854047"/>
          <p:cNvSpPr/>
          <p:nvPr/>
        </p:nvSpPr>
        <p:spPr>
          <a:xfrm>
            <a:off x="4800600" y="4795838"/>
            <a:ext cx="3022600" cy="0"/>
          </a:xfrm>
          <a:prstGeom prst="line">
            <a:avLst/>
          </a:prstGeom>
          <a:ln w="25400" cap="flat" cmpd="sng">
            <a:solidFill>
              <a:srgbClr val="0000FF"/>
            </a:solidFill>
            <a:prstDash val="solid"/>
            <a:headEnd type="none" w="lg" len="lg"/>
            <a:tailEnd type="stealth" w="lg" len="lg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54049" name="内容占位符 854048"/>
          <p:cNvGraphicFramePr>
            <a:graphicFrameLocks noGrp="1"/>
          </p:cNvGraphicFramePr>
          <p:nvPr>
            <p:ph sz="half" idx="2"/>
          </p:nvPr>
        </p:nvGraphicFramePr>
        <p:xfrm>
          <a:off x="6311901" y="4941889"/>
          <a:ext cx="1223963" cy="739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1" imgW="735965" imgH="444500" progId="Equation.3">
                  <p:embed/>
                </p:oleObj>
              </mc:Choice>
              <mc:Fallback>
                <p:oleObj name="" r:id="rId11" imgW="735965" imgH="444500" progId="Equation.3">
                  <p:embed/>
                  <p:pic>
                    <p:nvPicPr>
                      <p:cNvPr id="0" name="内容占位符 85404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311901" y="4941889"/>
                        <a:ext cx="1223963" cy="7397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4056" name="矩形 854055"/>
          <p:cNvSpPr/>
          <p:nvPr/>
        </p:nvSpPr>
        <p:spPr>
          <a:xfrm>
            <a:off x="1524000" y="33575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54055" name="对象 854054"/>
          <p:cNvGraphicFramePr/>
          <p:nvPr/>
        </p:nvGraphicFramePr>
        <p:xfrm>
          <a:off x="6167439" y="2708275"/>
          <a:ext cx="1081087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3" imgW="685800" imgH="444500" progId="Equation.3">
                  <p:embed/>
                </p:oleObj>
              </mc:Choice>
              <mc:Fallback>
                <p:oleObj name="" r:id="rId13" imgW="685800" imgH="444500" progId="Equation.3">
                  <p:embed/>
                  <p:pic>
                    <p:nvPicPr>
                      <p:cNvPr id="0" name="对象 854054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167439" y="2708275"/>
                        <a:ext cx="1081087" cy="7191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882" name="标题 762881"/>
          <p:cNvSpPr>
            <a:spLocks noGrp="1"/>
          </p:cNvSpPr>
          <p:nvPr>
            <p:ph type="title"/>
          </p:nvPr>
        </p:nvSpPr>
        <p:spPr>
          <a:xfrm>
            <a:off x="789305" y="254318"/>
            <a:ext cx="8642350" cy="1143000"/>
          </a:xfrm>
        </p:spPr>
        <p:txBody>
          <a:bodyPr anchor="ctr" anchorCtr="0"/>
          <a:lstStyle/>
          <a:p>
            <a:r>
              <a:rPr lang="zh-CN" altLang="en-US" sz="3600" b="1" dirty="0">
                <a:solidFill>
                  <a:srgbClr val="CC0000"/>
                </a:solidFill>
                <a:ea typeface="黑体" panose="02010609060101010101" pitchFamily="49" charset="-122"/>
              </a:rPr>
              <a:t>数理方程：</a:t>
            </a:r>
            <a:r>
              <a:rPr lang="zh-CN" altLang="en-US" sz="3600" b="1" dirty="0">
                <a:solidFill>
                  <a:srgbClr val="0000FF"/>
                </a:solidFill>
                <a:ea typeface="黑体" panose="02010609060101010101" pitchFamily="49" charset="-122"/>
              </a:rPr>
              <a:t>定解</a:t>
            </a:r>
            <a:r>
              <a:rPr lang="zh-CN" altLang="en-US" sz="36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</a:t>
            </a:r>
            <a:endParaRPr lang="zh-CN" altLang="en-US" sz="3600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62883" name="文本占位符 762882"/>
          <p:cNvSpPr>
            <a:spLocks noGrp="1"/>
          </p:cNvSpPr>
          <p:nvPr>
            <p:ph type="body" sz="half" idx="1"/>
          </p:nvPr>
        </p:nvSpPr>
        <p:spPr>
          <a:xfrm>
            <a:off x="2279650" y="1557338"/>
            <a:ext cx="7920038" cy="4895850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000" b="1" dirty="0">
                <a:latin typeface="黑体" panose="02010609060101010101" pitchFamily="49" charset="-122"/>
                <a:ea typeface="黑体" panose="02010609060101010101" pitchFamily="49" charset="-122"/>
              </a:rPr>
              <a:t>定解问题分为三类：</a:t>
            </a:r>
            <a:endParaRPr lang="zh-CN" altLang="en-US" sz="4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4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初值问题：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只有初始条件，没有边界条件的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定解问题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边值问题：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只有边界条件，没有初始条件的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定解问题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　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混合问题：</a:t>
            </a: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既有初始条件，又有边界条件的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          定解问题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　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en-US" sz="6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80000"/>
              </a:lnSpc>
              <a:buClrTx/>
              <a:buSzTx/>
              <a:buFontTx/>
              <a:buNone/>
            </a:pPr>
            <a:r>
              <a:rPr lang="zh-CN" altLang="en-US" sz="1800" b="1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endParaRPr lang="zh-CN" altLang="en-US" sz="1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930" name="标题 764929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b="1" dirty="0">
                <a:solidFill>
                  <a:srgbClr val="CC0000"/>
                </a:solidFill>
                <a:ea typeface="黑体" panose="02010609060101010101" pitchFamily="49" charset="-122"/>
              </a:rPr>
              <a:t>数理方程：</a:t>
            </a:r>
            <a:r>
              <a:rPr lang="zh-CN" altLang="en-US" b="1" dirty="0">
                <a:solidFill>
                  <a:srgbClr val="0000FF"/>
                </a:solidFill>
                <a:ea typeface="黑体" panose="02010609060101010101" pitchFamily="49" charset="-122"/>
              </a:rPr>
              <a:t>定解</a:t>
            </a:r>
            <a:r>
              <a:rPr lang="zh-CN" altLang="en-US" b="1" dirty="0">
                <a:solidFill>
                  <a:srgbClr val="0000FF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问题的适定性</a:t>
            </a:r>
            <a:endParaRPr lang="zh-CN" altLang="en-US" b="1" dirty="0">
              <a:solidFill>
                <a:srgbClr val="0000FF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64931" name="文本占位符 764930"/>
          <p:cNvSpPr>
            <a:spLocks noGrp="1"/>
          </p:cNvSpPr>
          <p:nvPr>
            <p:ph type="body" idx="1"/>
          </p:nvPr>
        </p:nvSpPr>
        <p:spPr>
          <a:xfrm>
            <a:off x="548640" y="1496695"/>
            <a:ext cx="11643360" cy="4497388"/>
          </a:xfrm>
        </p:spPr>
        <p:txBody>
          <a:bodyPr/>
          <a:lstStyle/>
          <a:p>
            <a:pPr>
              <a:lnSpc>
                <a:spcPct val="90000"/>
              </a:lnSpc>
              <a:buNone/>
            </a:pPr>
            <a:r>
              <a:rPr lang="en-US" altLang="zh-CN" sz="2800" dirty="0"/>
              <a:t>   </a:t>
            </a:r>
            <a:r>
              <a:rPr lang="en-US" altLang="zh-CN" dirty="0"/>
              <a:t> </a:t>
            </a:r>
            <a:r>
              <a:rPr lang="zh-CN" altLang="en-US" sz="2800" b="1" dirty="0">
                <a:ea typeface="黑体" panose="02010609060101010101" pitchFamily="49" charset="-122"/>
              </a:rPr>
              <a:t>定解问题作为一个理论模型，是否能准确无误地描述实际过程，需要对结果进一步检验，即考察解的“适定性”：</a:t>
            </a:r>
            <a:endParaRPr lang="zh-CN" altLang="en-US" sz="2800" b="1" dirty="0"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     </a:t>
            </a:r>
            <a:r>
              <a:rPr lang="zh-CN" altLang="en-US" sz="1000" b="1" dirty="0">
                <a:ea typeface="黑体" panose="02010609060101010101" pitchFamily="49" charset="-122"/>
              </a:rPr>
              <a:t>   </a:t>
            </a:r>
            <a:r>
              <a:rPr lang="en-US" altLang="zh-CN" sz="2200" b="1" dirty="0">
                <a:ea typeface="黑体" panose="02010609060101010101" pitchFamily="49" charset="-122"/>
              </a:rPr>
              <a:t>1. </a:t>
            </a:r>
            <a:r>
              <a:rPr lang="zh-CN" altLang="en-US" sz="2200" b="1" dirty="0">
                <a:solidFill>
                  <a:srgbClr val="CC0000"/>
                </a:solidFill>
                <a:ea typeface="黑体" panose="02010609060101010101" pitchFamily="49" charset="-122"/>
              </a:rPr>
              <a:t>存在性</a:t>
            </a:r>
            <a:r>
              <a:rPr lang="zh-CN" altLang="en-US" sz="2200" b="1" dirty="0">
                <a:ea typeface="黑体" panose="02010609060101010101" pitchFamily="49" charset="-122"/>
              </a:rPr>
              <a:t>：定解问题的解是否存在</a:t>
            </a:r>
            <a:endParaRPr lang="zh-CN" altLang="en-US" sz="2200" b="1" dirty="0"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200" b="1" dirty="0">
                <a:ea typeface="黑体" panose="02010609060101010101" pitchFamily="49" charset="-122"/>
              </a:rPr>
              <a:t>        </a:t>
            </a:r>
            <a:r>
              <a:rPr lang="en-US" altLang="zh-CN" sz="2200" b="1" dirty="0">
                <a:ea typeface="黑体" panose="02010609060101010101" pitchFamily="49" charset="-122"/>
              </a:rPr>
              <a:t>2. </a:t>
            </a:r>
            <a:r>
              <a:rPr lang="zh-CN" altLang="en-US" sz="2200" b="1" dirty="0">
                <a:solidFill>
                  <a:srgbClr val="CC0000"/>
                </a:solidFill>
                <a:ea typeface="黑体" panose="02010609060101010101" pitchFamily="49" charset="-122"/>
              </a:rPr>
              <a:t>唯一性</a:t>
            </a:r>
            <a:r>
              <a:rPr lang="zh-CN" altLang="en-US" sz="2200" b="1" dirty="0">
                <a:ea typeface="黑体" panose="02010609060101010101" pitchFamily="49" charset="-122"/>
              </a:rPr>
              <a:t>：实际问题的解往往是唯一的，但数学解可能不</a:t>
            </a:r>
            <a:endParaRPr lang="zh-CN" altLang="en-US" sz="2200" b="1" dirty="0"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200" b="1" dirty="0">
                <a:ea typeface="黑体" panose="02010609060101010101" pitchFamily="49" charset="-122"/>
              </a:rPr>
              <a:t>                          </a:t>
            </a:r>
            <a:r>
              <a:rPr lang="zh-CN" altLang="en-US" b="1" dirty="0">
                <a:ea typeface="黑体" panose="02010609060101010101" pitchFamily="49" charset="-122"/>
              </a:rPr>
              <a:t> </a:t>
            </a:r>
            <a:r>
              <a:rPr lang="zh-CN" altLang="en-US" sz="2200" b="1" dirty="0">
                <a:ea typeface="黑体" panose="02010609060101010101" pitchFamily="49" charset="-122"/>
              </a:rPr>
              <a:t>唯一，需要舍去没有实际意义的数学解</a:t>
            </a:r>
            <a:endParaRPr lang="zh-CN" altLang="en-US" sz="2200" b="1" dirty="0"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200" b="1" dirty="0">
                <a:ea typeface="黑体" panose="02010609060101010101" pitchFamily="49" charset="-122"/>
              </a:rPr>
              <a:t>        </a:t>
            </a:r>
            <a:r>
              <a:rPr lang="en-US" altLang="zh-CN" sz="2200" b="1" dirty="0">
                <a:ea typeface="黑体" panose="02010609060101010101" pitchFamily="49" charset="-122"/>
              </a:rPr>
              <a:t>3. </a:t>
            </a:r>
            <a:r>
              <a:rPr lang="zh-CN" altLang="en-US" sz="2200" b="1" dirty="0">
                <a:solidFill>
                  <a:srgbClr val="CC0000"/>
                </a:solidFill>
                <a:ea typeface="黑体" panose="02010609060101010101" pitchFamily="49" charset="-122"/>
              </a:rPr>
              <a:t>稳定性</a:t>
            </a:r>
            <a:r>
              <a:rPr lang="zh-CN" altLang="en-US" sz="2200" b="1" dirty="0">
                <a:ea typeface="黑体" panose="02010609060101010101" pitchFamily="49" charset="-122"/>
              </a:rPr>
              <a:t>：定解条件或驱动项的微小变化是否导致解的性</a:t>
            </a:r>
            <a:endParaRPr lang="zh-CN" altLang="en-US" sz="2200" b="1" dirty="0"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200" b="1" dirty="0">
                <a:ea typeface="黑体" panose="02010609060101010101" pitchFamily="49" charset="-122"/>
              </a:rPr>
              <a:t>                         </a:t>
            </a:r>
            <a:r>
              <a:rPr lang="zh-CN" altLang="en-US" sz="1400" b="1" dirty="0">
                <a:ea typeface="黑体" panose="02010609060101010101" pitchFamily="49" charset="-122"/>
              </a:rPr>
              <a:t>  </a:t>
            </a:r>
            <a:r>
              <a:rPr lang="zh-CN" altLang="en-US" sz="2200" b="1" dirty="0">
                <a:ea typeface="黑体" panose="02010609060101010101" pitchFamily="49" charset="-122"/>
              </a:rPr>
              <a:t>质的改变</a:t>
            </a:r>
            <a:endParaRPr lang="zh-CN" altLang="en-US" sz="2200" b="1" dirty="0">
              <a:ea typeface="黑体" panose="02010609060101010101" pitchFamily="49" charset="-122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sz="2800" b="1" dirty="0">
                <a:ea typeface="黑体" panose="02010609060101010101" pitchFamily="49" charset="-122"/>
              </a:rPr>
              <a:t>    </a:t>
            </a:r>
            <a:r>
              <a:rPr lang="zh-CN" altLang="en-US" sz="2800" b="1" dirty="0">
                <a:solidFill>
                  <a:srgbClr val="0000FF"/>
                </a:solidFill>
                <a:ea typeface="黑体" panose="02010609060101010101" pitchFamily="49" charset="-122"/>
              </a:rPr>
              <a:t>如果一个定解问题的解是存在的、唯一的、稳定的，则称这个定解问题是适定的。</a:t>
            </a:r>
            <a:endParaRPr lang="zh-CN" altLang="en-US" sz="2800" b="1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978" name="标题 766977"/>
          <p:cNvSpPr>
            <a:spLocks noGrp="1"/>
          </p:cNvSpPr>
          <p:nvPr>
            <p:ph type="title"/>
          </p:nvPr>
        </p:nvSpPr>
        <p:spPr>
          <a:xfrm>
            <a:off x="1992313" y="0"/>
            <a:ext cx="8229600" cy="1143000"/>
          </a:xfrm>
        </p:spPr>
        <p:txBody>
          <a:bodyPr anchor="ctr" anchorCtr="0"/>
          <a:lstStyle/>
          <a:p>
            <a:r>
              <a:rPr lang="zh-CN" altLang="en-US" sz="4800" dirty="0">
                <a:solidFill>
                  <a:srgbClr val="CC0000"/>
                </a:solidFill>
                <a:ea typeface="黑体" panose="02010609060101010101" pitchFamily="49" charset="-122"/>
              </a:rPr>
              <a:t>线性方程的</a:t>
            </a:r>
            <a:r>
              <a:rPr lang="zh-CN" altLang="en-US" sz="4800" dirty="0">
                <a:solidFill>
                  <a:srgbClr val="0000FF"/>
                </a:solidFill>
                <a:ea typeface="黑体" panose="02010609060101010101" pitchFamily="49" charset="-122"/>
              </a:rPr>
              <a:t>“算符形式”</a:t>
            </a:r>
            <a:endParaRPr lang="zh-CN" altLang="en-US" sz="4800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766979" name="内容占位符 766978"/>
          <p:cNvGraphicFramePr>
            <a:graphicFrameLocks noGrp="1"/>
          </p:cNvGraphicFramePr>
          <p:nvPr>
            <p:ph sz="half" idx="1"/>
          </p:nvPr>
        </p:nvGraphicFramePr>
        <p:xfrm>
          <a:off x="1919288" y="1557339"/>
          <a:ext cx="3613150" cy="431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752600" imgH="2095500" progId="Equation.3">
                  <p:embed/>
                </p:oleObj>
              </mc:Choice>
              <mc:Fallback>
                <p:oleObj name="" r:id="rId1" imgW="1752600" imgH="2095500" progId="Equation.3">
                  <p:embed/>
                  <p:pic>
                    <p:nvPicPr>
                      <p:cNvPr id="0" name="内容占位符 7669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19288" y="1557339"/>
                        <a:ext cx="3613150" cy="431958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6980" name="内容占位符 766979"/>
          <p:cNvGraphicFramePr>
            <a:graphicFrameLocks noGrp="1"/>
          </p:cNvGraphicFramePr>
          <p:nvPr>
            <p:ph sz="quarter" idx="2"/>
          </p:nvPr>
        </p:nvGraphicFramePr>
        <p:xfrm>
          <a:off x="6024564" y="3716339"/>
          <a:ext cx="2016125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014730" imgH="215900" progId="Equation.3">
                  <p:embed/>
                </p:oleObj>
              </mc:Choice>
              <mc:Fallback>
                <p:oleObj name="" r:id="rId3" imgW="1014730" imgH="215900" progId="Equation.3">
                  <p:embed/>
                  <p:pic>
                    <p:nvPicPr>
                      <p:cNvPr id="0" name="内容占位符 7669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24564" y="3716339"/>
                        <a:ext cx="2016125" cy="4286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6981" name="文本框 766980"/>
          <p:cNvSpPr txBox="1"/>
          <p:nvPr/>
        </p:nvSpPr>
        <p:spPr>
          <a:xfrm>
            <a:off x="1847851" y="981075"/>
            <a:ext cx="1800225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波动方程：</a:t>
            </a:r>
            <a:endParaRPr lang="zh-CN" altLang="en-US" sz="2400" dirty="0">
              <a:solidFill>
                <a:srgbClr val="0000FF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66982" name="文本框 766981"/>
          <p:cNvSpPr txBox="1"/>
          <p:nvPr/>
        </p:nvSpPr>
        <p:spPr>
          <a:xfrm>
            <a:off x="1919289" y="2997200"/>
            <a:ext cx="2808287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热传导方程：</a:t>
            </a:r>
            <a:endParaRPr lang="zh-CN" altLang="en-US" sz="2400" dirty="0">
              <a:solidFill>
                <a:srgbClr val="0000FF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66983" name="文本框 766982"/>
          <p:cNvSpPr txBox="1"/>
          <p:nvPr/>
        </p:nvSpPr>
        <p:spPr>
          <a:xfrm>
            <a:off x="1919288" y="4868863"/>
            <a:ext cx="316865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拉普拉斯方程：</a:t>
            </a:r>
            <a:endParaRPr lang="zh-CN" altLang="en-US" sz="2400" dirty="0">
              <a:solidFill>
                <a:srgbClr val="0000FF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66984" name="右大括号 766983"/>
          <p:cNvSpPr/>
          <p:nvPr/>
        </p:nvSpPr>
        <p:spPr>
          <a:xfrm>
            <a:off x="5664200" y="2060576"/>
            <a:ext cx="287338" cy="3673475"/>
          </a:xfrm>
          <a:prstGeom prst="rightBrace">
            <a:avLst>
              <a:gd name="adj1" fmla="val 106537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6985" name="文本框 766984"/>
          <p:cNvSpPr txBox="1"/>
          <p:nvPr/>
        </p:nvSpPr>
        <p:spPr>
          <a:xfrm>
            <a:off x="5951539" y="4292600"/>
            <a:ext cx="2232025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>
                <a:latin typeface="Times New Roman" panose="02020603050405020304" pitchFamily="18" charset="0"/>
              </a:rPr>
              <a:t>L</a:t>
            </a:r>
            <a:r>
              <a:rPr lang="en-US" altLang="zh-CN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dirty="0">
                <a:solidFill>
                  <a:srgbClr val="CC0000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算符</a:t>
            </a:r>
            <a:endParaRPr lang="zh-CN" altLang="en-US" dirty="0">
              <a:solidFill>
                <a:srgbClr val="CC0000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66986" name="右大括号 766985"/>
          <p:cNvSpPr/>
          <p:nvPr/>
        </p:nvSpPr>
        <p:spPr>
          <a:xfrm rot="10800000">
            <a:off x="8040689" y="2060576"/>
            <a:ext cx="287337" cy="3673475"/>
          </a:xfrm>
          <a:prstGeom prst="rightBrace">
            <a:avLst>
              <a:gd name="adj1" fmla="val 106537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66987" name="内容占位符 766986"/>
          <p:cNvGraphicFramePr>
            <a:graphicFrameLocks noGrp="1"/>
          </p:cNvGraphicFramePr>
          <p:nvPr>
            <p:ph sz="quarter" idx="3"/>
          </p:nvPr>
        </p:nvGraphicFramePr>
        <p:xfrm>
          <a:off x="8364538" y="1628775"/>
          <a:ext cx="2152650" cy="424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989965" imgH="1955165" progId="Equation.3">
                  <p:embed/>
                </p:oleObj>
              </mc:Choice>
              <mc:Fallback>
                <p:oleObj name="" r:id="rId5" imgW="989965" imgH="1955165" progId="Equation.3">
                  <p:embed/>
                  <p:pic>
                    <p:nvPicPr>
                      <p:cNvPr id="0" name="内容占位符 76698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64538" y="1628775"/>
                        <a:ext cx="2152650" cy="42481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6988" name="文本框 766987"/>
          <p:cNvSpPr txBox="1"/>
          <p:nvPr/>
        </p:nvSpPr>
        <p:spPr>
          <a:xfrm>
            <a:off x="8256588" y="1196975"/>
            <a:ext cx="1727200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波动方程：</a:t>
            </a:r>
            <a:endParaRPr lang="zh-CN" altLang="en-US" sz="2400" dirty="0">
              <a:solidFill>
                <a:srgbClr val="0000FF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66989" name="文本框 766988"/>
          <p:cNvSpPr txBox="1"/>
          <p:nvPr/>
        </p:nvSpPr>
        <p:spPr>
          <a:xfrm>
            <a:off x="8256588" y="3213100"/>
            <a:ext cx="230346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热传导方程：</a:t>
            </a:r>
            <a:endParaRPr lang="zh-CN" altLang="en-US" sz="2400" dirty="0">
              <a:solidFill>
                <a:srgbClr val="0000FF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66990" name="文本框 766989"/>
          <p:cNvSpPr txBox="1"/>
          <p:nvPr/>
        </p:nvSpPr>
        <p:spPr>
          <a:xfrm>
            <a:off x="8256588" y="5013325"/>
            <a:ext cx="2411412" cy="4572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400" dirty="0">
                <a:solidFill>
                  <a:srgbClr val="0000FF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拉普拉斯方程：</a:t>
            </a:r>
            <a:endParaRPr lang="zh-CN" altLang="en-US" sz="2400" dirty="0">
              <a:solidFill>
                <a:srgbClr val="0000FF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  <p:sp>
        <p:nvSpPr>
          <p:cNvPr id="766991" name="文本框 766990"/>
          <p:cNvSpPr txBox="1"/>
          <p:nvPr/>
        </p:nvSpPr>
        <p:spPr>
          <a:xfrm>
            <a:off x="6191251" y="2276476"/>
            <a:ext cx="1489075" cy="1336675"/>
          </a:xfrm>
          <a:prstGeom prst="rect">
            <a:avLst/>
          </a:prstGeom>
          <a:solidFill>
            <a:srgbClr val="FFCCFF"/>
          </a:solidFill>
          <a:ln w="25400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线性方程</a:t>
            </a:r>
            <a:r>
              <a:rPr lang="en-US" altLang="zh-CN" sz="2000">
                <a:latin typeface="黑体" panose="02010609060101010101" pitchFamily="49" charset="-122"/>
                <a:ea typeface="黑体" panose="02010609060101010101" pitchFamily="49" charset="-122"/>
              </a:rPr>
              <a:t>: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函数</a:t>
            </a:r>
            <a:r>
              <a:rPr lang="zh-CN" altLang="en-US" sz="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sz="2000" i="1"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en-US" altLang="zh-CN" sz="800" i="1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及它的各阶导数都是一次幂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026" name="标题 769025"/>
          <p:cNvSpPr txBox="1">
            <a:spLocks noGrp="1"/>
          </p:cNvSpPr>
          <p:nvPr>
            <p:ph type="title"/>
          </p:nvPr>
        </p:nvSpPr>
        <p:spPr>
          <a:xfrm>
            <a:off x="1992313" y="404813"/>
            <a:ext cx="8229600" cy="1143000"/>
          </a:xfrm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C0000"/>
                </a:solidFill>
                <a:ea typeface="黑体" panose="02010609060101010101" pitchFamily="49" charset="-122"/>
              </a:rPr>
              <a:t>线性算符</a:t>
            </a:r>
            <a:endParaRPr lang="zh-CN" altLang="en-US" b="1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769027" name="内容占位符 769026"/>
          <p:cNvGraphicFramePr>
            <a:graphicFrameLocks noGrp="1"/>
          </p:cNvGraphicFramePr>
          <p:nvPr>
            <p:ph sz="half" idx="1"/>
          </p:nvPr>
        </p:nvGraphicFramePr>
        <p:xfrm>
          <a:off x="4295775" y="2205038"/>
          <a:ext cx="2808288" cy="59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014730" imgH="215900" progId="Equation.3">
                  <p:embed/>
                </p:oleObj>
              </mc:Choice>
              <mc:Fallback>
                <p:oleObj name="" r:id="rId1" imgW="1014730" imgH="215900" progId="Equation.3">
                  <p:embed/>
                  <p:pic>
                    <p:nvPicPr>
                      <p:cNvPr id="0" name="内容占位符 7690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295775" y="2205038"/>
                        <a:ext cx="2808288" cy="5969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9028" name="文本框 769027"/>
          <p:cNvSpPr txBox="1"/>
          <p:nvPr/>
        </p:nvSpPr>
        <p:spPr>
          <a:xfrm>
            <a:off x="2424113" y="1484314"/>
            <a:ext cx="6985000" cy="4238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3200" dirty="0">
                <a:latin typeface="Arial" panose="020B0604020202020204" pitchFamily="34" charset="0"/>
                <a:ea typeface="黑体" panose="02010609060101010101" pitchFamily="49" charset="-122"/>
              </a:rPr>
              <a:t>线性方程</a:t>
            </a:r>
            <a:endParaRPr lang="zh-CN" altLang="en-US" sz="32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endParaRPr lang="zh-CN" altLang="en-US" sz="32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r>
              <a:rPr lang="zh-CN" altLang="en-US" sz="3200" dirty="0">
                <a:latin typeface="Arial" panose="020B0604020202020204" pitchFamily="34" charset="0"/>
                <a:ea typeface="黑体" panose="02010609060101010101" pitchFamily="49" charset="-122"/>
              </a:rPr>
              <a:t>的算符</a:t>
            </a:r>
            <a:r>
              <a:rPr lang="en-US" altLang="zh-CN" sz="3200">
                <a:latin typeface="Times New Roman" panose="02020603050405020304" pitchFamily="18" charset="0"/>
                <a:ea typeface="黑体" panose="02010609060101010101" pitchFamily="49" charset="-122"/>
              </a:rPr>
              <a:t>L</a:t>
            </a:r>
            <a:r>
              <a:rPr lang="zh-CN" altLang="en-US" sz="3200" dirty="0">
                <a:latin typeface="Arial" panose="020B0604020202020204" pitchFamily="34" charset="0"/>
                <a:ea typeface="黑体" panose="02010609060101010101" pitchFamily="49" charset="-122"/>
              </a:rPr>
              <a:t>称为线性算符。其基本特点：</a:t>
            </a:r>
            <a:endParaRPr lang="zh-CN" altLang="en-US" sz="32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endParaRPr lang="zh-CN" altLang="en-US" sz="3200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r>
              <a:rPr lang="zh-CN" altLang="en-US" sz="3200" dirty="0">
                <a:latin typeface="Arial" panose="020B0604020202020204" pitchFamily="34" charset="0"/>
                <a:ea typeface="黑体" panose="02010609060101010101" pitchFamily="49" charset="-122"/>
              </a:rPr>
              <a:t>线性算符：微分算符，积分算符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endParaRPr lang="en-US" altLang="zh-CN" sz="320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r>
              <a:rPr lang="zh-CN" altLang="en-US" sz="3200" dirty="0">
                <a:latin typeface="Arial" panose="020B0604020202020204" pitchFamily="34" charset="0"/>
                <a:ea typeface="黑体" panose="02010609060101010101" pitchFamily="49" charset="-122"/>
              </a:rPr>
              <a:t>非线性算符：                     </a:t>
            </a:r>
            <a:r>
              <a:rPr lang="en-US" altLang="zh-CN" sz="320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endParaRPr lang="en-US" altLang="zh-CN">
              <a:latin typeface="Arial" panose="020B0604020202020204" pitchFamily="34" charset="0"/>
            </a:endParaRPr>
          </a:p>
        </p:txBody>
      </p:sp>
      <p:graphicFrame>
        <p:nvGraphicFramePr>
          <p:cNvPr id="769029" name="内容占位符 769028"/>
          <p:cNvGraphicFramePr>
            <a:graphicFrameLocks noGrp="1"/>
          </p:cNvGraphicFramePr>
          <p:nvPr>
            <p:ph sz="half" idx="2"/>
          </p:nvPr>
        </p:nvGraphicFramePr>
        <p:xfrm>
          <a:off x="3575050" y="3716339"/>
          <a:ext cx="4895850" cy="530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1991360" imgH="215900" progId="Equation.3">
                  <p:embed/>
                </p:oleObj>
              </mc:Choice>
              <mc:Fallback>
                <p:oleObj name="" r:id="rId3" imgW="1991360" imgH="215900" progId="Equation.3">
                  <p:embed/>
                  <p:pic>
                    <p:nvPicPr>
                      <p:cNvPr id="0" name="内容占位符 76902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575050" y="3716339"/>
                        <a:ext cx="4895850" cy="5302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9030" name="矩形 769029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69031" name="对象 769030"/>
          <p:cNvGraphicFramePr/>
          <p:nvPr/>
        </p:nvGraphicFramePr>
        <p:xfrm>
          <a:off x="5087938" y="5157788"/>
          <a:ext cx="2087562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825500" imgH="254000" progId="Equation.3">
                  <p:embed/>
                </p:oleObj>
              </mc:Choice>
              <mc:Fallback>
                <p:oleObj name="" r:id="rId5" imgW="825500" imgH="254000" progId="Equation.3">
                  <p:embed/>
                  <p:pic>
                    <p:nvPicPr>
                      <p:cNvPr id="0" name="对象 76903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87938" y="5157788"/>
                        <a:ext cx="2087562" cy="6477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373"/>
          <p:cNvSpPr/>
          <p:nvPr/>
        </p:nvSpPr>
        <p:spPr>
          <a:xfrm>
            <a:off x="960398" y="397434"/>
            <a:ext cx="2954655" cy="646331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>
              <a:spcBef>
                <a:spcPct val="20000"/>
              </a:spcBef>
              <a:buClr>
                <a:schemeClr val="tx2"/>
              </a:buClr>
              <a:buSzPct val="80000"/>
            </a:pPr>
            <a:r>
              <a:rPr lang="zh-CN" altLang="en-US" sz="36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线性叠加原理</a:t>
            </a:r>
            <a:endParaRPr lang="zh-CN" altLang="en-US" sz="3600" dirty="0">
              <a:solidFill>
                <a:srgbClr val="FF0000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78850" name="Text Box 384"/>
          <p:cNvSpPr txBox="1"/>
          <p:nvPr/>
        </p:nvSpPr>
        <p:spPr>
          <a:xfrm>
            <a:off x="2208214" y="1341439"/>
            <a:ext cx="7705725" cy="43656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pPr marL="342900" indent="-342900">
              <a:spcBef>
                <a:spcPct val="50000"/>
              </a:spcBef>
            </a:pPr>
            <a:r>
              <a:rPr lang="zh-CN" altLang="en-US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</a:t>
            </a:r>
            <a:r>
              <a:rPr lang="en-US" altLang="zh-CN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  <a:r>
              <a:rPr lang="zh-CN" altLang="en-US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叠加原理</a:t>
            </a:r>
            <a:endParaRPr lang="zh-CN" altLang="en-US" sz="2800" dirty="0">
              <a:solidFill>
                <a:srgbClr val="FF21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spcBef>
                <a:spcPct val="50000"/>
              </a:spcBef>
              <a:buChar char="•"/>
            </a:pP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定义：几种不同原因综合产生的效果等于这些原因单独产生效果的累加。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spcBef>
                <a:spcPct val="50000"/>
              </a:spcBef>
              <a:buChar char="•"/>
            </a:pP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对象：</a:t>
            </a:r>
            <a:r>
              <a:rPr lang="zh-CN" altLang="en-US" sz="2800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线性微分方程</a:t>
            </a: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所描述的物理现象。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spcBef>
                <a:spcPct val="50000"/>
              </a:spcBef>
              <a:buChar char="•"/>
            </a:pP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意义：是线性偏微分方程及其重要的特征，是求解线性偏微分方程的出发点，对非线性偏微分方程的求解也十分重要。 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342900" indent="-342900">
              <a:spcBef>
                <a:spcPct val="50000"/>
              </a:spcBef>
            </a:pPr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8851" name="AutoShape 385"/>
          <p:cNvSpPr/>
          <p:nvPr/>
        </p:nvSpPr>
        <p:spPr>
          <a:xfrm>
            <a:off x="5735638" y="5516563"/>
            <a:ext cx="4932362" cy="1008062"/>
          </a:xfrm>
          <a:prstGeom prst="cloudCallout">
            <a:avLst>
              <a:gd name="adj1" fmla="val -25444"/>
              <a:gd name="adj2" fmla="val -107167"/>
            </a:avLst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r>
              <a:rPr lang="zh-CN" altLang="en-US" sz="2400" dirty="0">
                <a:solidFill>
                  <a:srgbClr val="FF2121"/>
                </a:solidFill>
                <a:latin typeface="Arial" panose="020B0604020202020204" pitchFamily="34" charset="0"/>
                <a:ea typeface="楷体_GB2312" pitchFamily="49" charset="-122"/>
              </a:rPr>
              <a:t>将复杂定解问题分解为若干个简单的定解问题</a:t>
            </a:r>
            <a:endParaRPr lang="zh-CN" altLang="en-US" sz="2400" dirty="0">
              <a:solidFill>
                <a:srgbClr val="FF2121"/>
              </a:solidFill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771084" name="文本框 771083"/>
          <p:cNvSpPr txBox="1"/>
          <p:nvPr/>
        </p:nvSpPr>
        <p:spPr>
          <a:xfrm>
            <a:off x="2063433" y="5735419"/>
            <a:ext cx="3087687" cy="707886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l">
              <a:spcBef>
                <a:spcPct val="50000"/>
              </a:spcBef>
            </a:pPr>
            <a:r>
              <a:rPr lang="zh-CN" altLang="en-US" sz="2000" dirty="0">
                <a:solidFill>
                  <a:srgbClr val="0000FF"/>
                </a:solidFill>
                <a:latin typeface="Verdana" panose="020B0604030504040204" pitchFamily="34" charset="0"/>
                <a:ea typeface="黑体" panose="02010609060101010101" pitchFamily="49" charset="-122"/>
              </a:rPr>
              <a:t>叠加原理为求解定解问题提供了有力的工具</a:t>
            </a:r>
            <a:endParaRPr lang="zh-CN" altLang="en-US" sz="2000" dirty="0">
              <a:solidFill>
                <a:srgbClr val="0000FF"/>
              </a:solidFill>
              <a:latin typeface="Verdana" panose="020B060403050404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3"/>
          <p:cNvSpPr/>
          <p:nvPr/>
        </p:nvSpPr>
        <p:spPr>
          <a:xfrm>
            <a:off x="1847851" y="333376"/>
            <a:ext cx="2524125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二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. 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微分算子：</a:t>
            </a:r>
            <a:endParaRPr lang="zh-CN" altLang="en-US" sz="2800" dirty="0">
              <a:solidFill>
                <a:schemeClr val="tx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79874" name="Object 4"/>
          <p:cNvGraphicFramePr>
            <a:graphicFrameLocks noChangeAspect="1"/>
          </p:cNvGraphicFramePr>
          <p:nvPr/>
        </p:nvGraphicFramePr>
        <p:xfrm>
          <a:off x="2711450" y="765175"/>
          <a:ext cx="7488238" cy="214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3187700" imgH="914400" progId="Equation.DSMT4">
                  <p:embed/>
                </p:oleObj>
              </mc:Choice>
              <mc:Fallback>
                <p:oleObj name="" r:id="rId1" imgW="3187700" imgH="914400" progId="Equation.DSMT4">
                  <p:embed/>
                  <p:pic>
                    <p:nvPicPr>
                      <p:cNvPr id="0" name="Object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11450" y="765175"/>
                        <a:ext cx="7488238" cy="2146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5" name="Rectangle 5"/>
          <p:cNvSpPr/>
          <p:nvPr/>
        </p:nvSpPr>
        <p:spPr>
          <a:xfrm>
            <a:off x="2279650" y="2924176"/>
            <a:ext cx="3398838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例：二阶偏微分方程</a:t>
            </a:r>
            <a:endParaRPr lang="zh-CN" altLang="en-US" sz="2800" dirty="0">
              <a:solidFill>
                <a:srgbClr val="0000CC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pSp>
        <p:nvGrpSpPr>
          <p:cNvPr id="79876" name="Group 8"/>
          <p:cNvGrpSpPr/>
          <p:nvPr/>
        </p:nvGrpSpPr>
        <p:grpSpPr>
          <a:xfrm>
            <a:off x="2424113" y="3644900"/>
            <a:ext cx="7561262" cy="2795588"/>
            <a:chOff x="476" y="890"/>
            <a:chExt cx="4763" cy="1761"/>
          </a:xfrm>
        </p:grpSpPr>
        <p:graphicFrame>
          <p:nvGraphicFramePr>
            <p:cNvPr id="79877" name="Object 9"/>
            <p:cNvGraphicFramePr>
              <a:graphicFrameLocks noChangeAspect="1"/>
            </p:cNvGraphicFramePr>
            <p:nvPr/>
          </p:nvGraphicFramePr>
          <p:xfrm>
            <a:off x="476" y="890"/>
            <a:ext cx="4763" cy="5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" name="" r:id="rId3" imgW="7848600" imgH="1016000" progId="Equation.3">
                    <p:embed/>
                  </p:oleObj>
                </mc:Choice>
                <mc:Fallback>
                  <p:oleObj name="" r:id="rId3" imgW="7848600" imgH="1016000" progId="Equation.3">
                    <p:embed/>
                    <p:pic>
                      <p:nvPicPr>
                        <p:cNvPr id="0" name="Object 9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76" y="890"/>
                          <a:ext cx="4763" cy="59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878" name="Rectangle 10"/>
            <p:cNvSpPr/>
            <p:nvPr/>
          </p:nvSpPr>
          <p:spPr>
            <a:xfrm>
              <a:off x="521" y="1616"/>
              <a:ext cx="124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anchor="ctr" anchorCtr="0">
              <a:spAutoFit/>
            </a:bodyPr>
            <a:lstStyle/>
            <a:p>
              <a:r>
                <a:rPr lang="zh-CN" altLang="en-US" sz="2800" dirty="0">
                  <a:solidFill>
                    <a:srgbClr val="0000CC"/>
                  </a:solidFill>
                  <a:latin typeface="华文中宋" panose="02010600040101010101" pitchFamily="2" charset="-122"/>
                  <a:ea typeface="黑体" panose="02010609060101010101" pitchFamily="49" charset="-122"/>
                </a:rPr>
                <a:t>可简写为：</a:t>
              </a:r>
              <a:endParaRPr lang="zh-CN" altLang="en-US" sz="2800" dirty="0">
                <a:solidFill>
                  <a:srgbClr val="0000CC"/>
                </a:solidFill>
                <a:latin typeface="华文中宋" panose="02010600040101010101" pitchFamily="2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79879" name="Object 11"/>
            <p:cNvGraphicFramePr>
              <a:graphicFrameLocks noChangeAspect="1"/>
            </p:cNvGraphicFramePr>
            <p:nvPr/>
          </p:nvGraphicFramePr>
          <p:xfrm>
            <a:off x="1610" y="1661"/>
            <a:ext cx="907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" name="" r:id="rId5" imgW="596900" imgH="203200" progId="Equation.3">
                    <p:embed/>
                  </p:oleObj>
                </mc:Choice>
                <mc:Fallback>
                  <p:oleObj name="" r:id="rId5" imgW="596900" imgH="203200" progId="Equation.3">
                    <p:embed/>
                    <p:pic>
                      <p:nvPicPr>
                        <p:cNvPr id="0" name="Object 11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610" y="1661"/>
                          <a:ext cx="907" cy="2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880" name="Text Box 12"/>
            <p:cNvSpPr txBox="1"/>
            <p:nvPr/>
          </p:nvSpPr>
          <p:spPr>
            <a:xfrm>
              <a:off x="476" y="2160"/>
              <a:ext cx="1860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00CC"/>
                  </a:solidFill>
                  <a:latin typeface="华文中宋" panose="02010600040101010101" pitchFamily="2" charset="-122"/>
                  <a:ea typeface="黑体" panose="02010609060101010101" pitchFamily="49" charset="-122"/>
                </a:rPr>
                <a:t>定解条件</a:t>
              </a:r>
              <a:endParaRPr lang="zh-CN" altLang="en-US" sz="2800" dirty="0">
                <a:solidFill>
                  <a:srgbClr val="0000CC"/>
                </a:solidFill>
                <a:latin typeface="华文中宋" panose="02010600040101010101" pitchFamily="2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79881" name="Object 13"/>
            <p:cNvGraphicFramePr>
              <a:graphicFrameLocks noChangeAspect="1"/>
            </p:cNvGraphicFramePr>
            <p:nvPr/>
          </p:nvGraphicFramePr>
          <p:xfrm>
            <a:off x="1655" y="1979"/>
            <a:ext cx="998" cy="6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" name="" r:id="rId7" imgW="660400" imgH="444500" progId="Equation.3">
                    <p:embed/>
                  </p:oleObj>
                </mc:Choice>
                <mc:Fallback>
                  <p:oleObj name="" r:id="rId7" imgW="660400" imgH="444500" progId="Equation.3">
                    <p:embed/>
                    <p:pic>
                      <p:nvPicPr>
                        <p:cNvPr id="0" name="Object 13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655" y="1979"/>
                          <a:ext cx="998" cy="67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9882" name="Text Box 14"/>
            <p:cNvSpPr txBox="1"/>
            <p:nvPr/>
          </p:nvSpPr>
          <p:spPr>
            <a:xfrm>
              <a:off x="2835" y="2115"/>
              <a:ext cx="140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solidFill>
                    <a:srgbClr val="0000CC"/>
                  </a:solidFill>
                  <a:latin typeface="华文中宋" panose="02010600040101010101" pitchFamily="2" charset="-122"/>
                  <a:ea typeface="黑体" panose="02010609060101010101" pitchFamily="49" charset="-122"/>
                </a:rPr>
                <a:t>可简写为：</a:t>
              </a:r>
              <a:endParaRPr lang="zh-CN" altLang="en-US" sz="2800" dirty="0">
                <a:solidFill>
                  <a:srgbClr val="0000CC"/>
                </a:solidFill>
                <a:latin typeface="华文中宋" panose="02010600040101010101" pitchFamily="2" charset="-122"/>
                <a:ea typeface="黑体" panose="02010609060101010101" pitchFamily="49" charset="-122"/>
              </a:endParaRPr>
            </a:p>
          </p:txBody>
        </p:sp>
        <p:graphicFrame>
          <p:nvGraphicFramePr>
            <p:cNvPr id="79883" name="Object 15"/>
            <p:cNvGraphicFramePr>
              <a:graphicFrameLocks noChangeAspect="1"/>
            </p:cNvGraphicFramePr>
            <p:nvPr/>
          </p:nvGraphicFramePr>
          <p:xfrm>
            <a:off x="3969" y="2115"/>
            <a:ext cx="907" cy="3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" name="" r:id="rId9" imgW="584200" imgH="203200" progId="Equation.3">
                    <p:embed/>
                  </p:oleObj>
                </mc:Choice>
                <mc:Fallback>
                  <p:oleObj name="" r:id="rId9" imgW="584200" imgH="203200" progId="Equation.3">
                    <p:embed/>
                    <p:pic>
                      <p:nvPicPr>
                        <p:cNvPr id="0" name="Object 15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3969" y="2115"/>
                          <a:ext cx="907" cy="31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2" name="Rectangle 4"/>
          <p:cNvSpPr/>
          <p:nvPr/>
        </p:nvSpPr>
        <p:spPr>
          <a:xfrm>
            <a:off x="2135188" y="692151"/>
            <a:ext cx="272256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三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. 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叠加定理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：</a:t>
            </a:r>
            <a:endParaRPr lang="zh-CN" altLang="en-US" sz="2800" dirty="0">
              <a:solidFill>
                <a:schemeClr val="tx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80898" name="Group 6"/>
          <p:cNvGrpSpPr>
            <a:grpSpLocks noChangeAspect="1"/>
          </p:cNvGrpSpPr>
          <p:nvPr/>
        </p:nvGrpSpPr>
        <p:grpSpPr>
          <a:xfrm>
            <a:off x="2351088" y="1412876"/>
            <a:ext cx="7562850" cy="1782763"/>
            <a:chOff x="521" y="890"/>
            <a:chExt cx="4764" cy="1123"/>
          </a:xfrm>
        </p:grpSpPr>
        <p:sp>
          <p:nvSpPr>
            <p:cNvPr id="80899" name="AutoShape 5"/>
            <p:cNvSpPr>
              <a:spLocks noChangeAspect="1" noTextEdit="1"/>
            </p:cNvSpPr>
            <p:nvPr/>
          </p:nvSpPr>
          <p:spPr>
            <a:xfrm>
              <a:off x="521" y="890"/>
              <a:ext cx="4764" cy="112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00" name="Rectangle 7"/>
            <p:cNvSpPr/>
            <p:nvPr/>
          </p:nvSpPr>
          <p:spPr>
            <a:xfrm>
              <a:off x="521" y="948"/>
              <a:ext cx="0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01" name="Rectangle 8"/>
            <p:cNvSpPr/>
            <p:nvPr/>
          </p:nvSpPr>
          <p:spPr>
            <a:xfrm>
              <a:off x="746" y="948"/>
              <a:ext cx="0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02" name="Rectangle 9"/>
            <p:cNvSpPr/>
            <p:nvPr/>
          </p:nvSpPr>
          <p:spPr>
            <a:xfrm>
              <a:off x="970" y="948"/>
              <a:ext cx="0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03" name="Rectangle 10"/>
            <p:cNvSpPr/>
            <p:nvPr/>
          </p:nvSpPr>
          <p:spPr>
            <a:xfrm>
              <a:off x="1474" y="948"/>
              <a:ext cx="0" cy="17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04" name="Rectangle 11"/>
            <p:cNvSpPr/>
            <p:nvPr/>
          </p:nvSpPr>
          <p:spPr>
            <a:xfrm>
              <a:off x="1616" y="948"/>
              <a:ext cx="7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endParaRPr lang="en-US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05" name="Rectangle 12"/>
            <p:cNvSpPr/>
            <p:nvPr/>
          </p:nvSpPr>
          <p:spPr>
            <a:xfrm>
              <a:off x="1728" y="948"/>
              <a:ext cx="224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若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80906" name="Group 15"/>
            <p:cNvGrpSpPr/>
            <p:nvPr/>
          </p:nvGrpSpPr>
          <p:grpSpPr>
            <a:xfrm>
              <a:off x="1962" y="953"/>
              <a:ext cx="167" cy="304"/>
              <a:chOff x="1962" y="953"/>
              <a:chExt cx="167" cy="304"/>
            </a:xfrm>
          </p:grpSpPr>
          <p:sp>
            <p:nvSpPr>
              <p:cNvPr id="80907" name="Rectangle 13"/>
              <p:cNvSpPr/>
              <p:nvPr/>
            </p:nvSpPr>
            <p:spPr>
              <a:xfrm>
                <a:off x="2087" y="1073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08" name="Rectangle 14"/>
              <p:cNvSpPr/>
              <p:nvPr/>
            </p:nvSpPr>
            <p:spPr>
              <a:xfrm>
                <a:off x="1962" y="953"/>
                <a:ext cx="11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0909" name="Rectangle 16"/>
            <p:cNvSpPr/>
            <p:nvPr/>
          </p:nvSpPr>
          <p:spPr>
            <a:xfrm>
              <a:off x="2148" y="948"/>
              <a:ext cx="67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满足线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0910" name="Rectangle 17"/>
            <p:cNvSpPr/>
            <p:nvPr/>
          </p:nvSpPr>
          <p:spPr>
            <a:xfrm>
              <a:off x="2822" y="948"/>
              <a:ext cx="67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性方程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0911" name="Rectangle 18"/>
            <p:cNvSpPr/>
            <p:nvPr/>
          </p:nvSpPr>
          <p:spPr>
            <a:xfrm>
              <a:off x="3493" y="948"/>
              <a:ext cx="7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endParaRPr lang="en-US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80912" name="Group 27"/>
            <p:cNvGrpSpPr/>
            <p:nvPr/>
          </p:nvGrpSpPr>
          <p:grpSpPr>
            <a:xfrm>
              <a:off x="2016" y="1302"/>
              <a:ext cx="895" cy="329"/>
              <a:chOff x="2016" y="1302"/>
              <a:chExt cx="895" cy="329"/>
            </a:xfrm>
          </p:grpSpPr>
          <p:sp>
            <p:nvSpPr>
              <p:cNvPr id="80913" name="Rectangle 19"/>
              <p:cNvSpPr/>
              <p:nvPr/>
            </p:nvSpPr>
            <p:spPr>
              <a:xfrm>
                <a:off x="2869" y="1447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14" name="Rectangle 20"/>
              <p:cNvSpPr/>
              <p:nvPr/>
            </p:nvSpPr>
            <p:spPr>
              <a:xfrm>
                <a:off x="2346" y="1447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15" name="Rectangle 21"/>
              <p:cNvSpPr/>
              <p:nvPr/>
            </p:nvSpPr>
            <p:spPr>
              <a:xfrm>
                <a:off x="2776" y="1327"/>
                <a:ext cx="6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f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16" name="Rectangle 22"/>
              <p:cNvSpPr/>
              <p:nvPr/>
            </p:nvSpPr>
            <p:spPr>
              <a:xfrm>
                <a:off x="2219" y="1327"/>
                <a:ext cx="11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17" name="Rectangle 23"/>
              <p:cNvSpPr/>
              <p:nvPr/>
            </p:nvSpPr>
            <p:spPr>
              <a:xfrm>
                <a:off x="2016" y="1327"/>
                <a:ext cx="126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L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18" name="Rectangle 24"/>
              <p:cNvSpPr/>
              <p:nvPr/>
            </p:nvSpPr>
            <p:spPr>
              <a:xfrm>
                <a:off x="2544" y="1302"/>
                <a:ext cx="124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=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19" name="Rectangle 25"/>
              <p:cNvSpPr/>
              <p:nvPr/>
            </p:nvSpPr>
            <p:spPr>
              <a:xfrm>
                <a:off x="2427" y="1324"/>
                <a:ext cx="76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]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20" name="Rectangle 26"/>
              <p:cNvSpPr/>
              <p:nvPr/>
            </p:nvSpPr>
            <p:spPr>
              <a:xfrm>
                <a:off x="2139" y="1324"/>
                <a:ext cx="76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[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0921" name="Rectangle 28"/>
            <p:cNvSpPr/>
            <p:nvPr/>
          </p:nvSpPr>
          <p:spPr>
            <a:xfrm>
              <a:off x="2938" y="1322"/>
              <a:ext cx="226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，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80922" name="Group 38"/>
            <p:cNvGrpSpPr/>
            <p:nvPr/>
          </p:nvGrpSpPr>
          <p:grpSpPr>
            <a:xfrm>
              <a:off x="3175" y="1265"/>
              <a:ext cx="1063" cy="328"/>
              <a:chOff x="3175" y="1265"/>
              <a:chExt cx="1063" cy="328"/>
            </a:xfrm>
          </p:grpSpPr>
          <p:sp>
            <p:nvSpPr>
              <p:cNvPr id="80923" name="Rectangle 29"/>
              <p:cNvSpPr/>
              <p:nvPr/>
            </p:nvSpPr>
            <p:spPr>
              <a:xfrm>
                <a:off x="4125" y="1322"/>
                <a:ext cx="11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24" name="Rectangle 30"/>
              <p:cNvSpPr/>
              <p:nvPr/>
            </p:nvSpPr>
            <p:spPr>
              <a:xfrm>
                <a:off x="3175" y="1322"/>
                <a:ext cx="6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25" name="Rectangle 31"/>
              <p:cNvSpPr/>
              <p:nvPr/>
            </p:nvSpPr>
            <p:spPr>
              <a:xfrm>
                <a:off x="4043" y="1319"/>
                <a:ext cx="57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26" name="Rectangle 32"/>
              <p:cNvSpPr/>
              <p:nvPr/>
            </p:nvSpPr>
            <p:spPr>
              <a:xfrm>
                <a:off x="3749" y="1319"/>
                <a:ext cx="57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27" name="Rectangle 33"/>
              <p:cNvSpPr/>
              <p:nvPr/>
            </p:nvSpPr>
            <p:spPr>
              <a:xfrm>
                <a:off x="3636" y="1319"/>
                <a:ext cx="11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2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28" name="Rectangle 34"/>
              <p:cNvSpPr/>
              <p:nvPr/>
            </p:nvSpPr>
            <p:spPr>
              <a:xfrm>
                <a:off x="3577" y="1319"/>
                <a:ext cx="57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,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29" name="Rectangle 35"/>
              <p:cNvSpPr/>
              <p:nvPr/>
            </p:nvSpPr>
            <p:spPr>
              <a:xfrm>
                <a:off x="3471" y="1319"/>
                <a:ext cx="11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30" name="Rectangle 36"/>
              <p:cNvSpPr/>
              <p:nvPr/>
            </p:nvSpPr>
            <p:spPr>
              <a:xfrm>
                <a:off x="3810" y="1265"/>
                <a:ext cx="226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MT Extra" panose="05050102010205020202" pitchFamily="18" charset="2"/>
                    <a:ea typeface="宋体" panose="02010600030101010101" pitchFamily="2" charset="-122"/>
                  </a:rPr>
                  <a:t>L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31" name="Rectangle 37"/>
              <p:cNvSpPr/>
              <p:nvPr/>
            </p:nvSpPr>
            <p:spPr>
              <a:xfrm>
                <a:off x="3302" y="1299"/>
                <a:ext cx="124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=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0932" name="Rectangle 39"/>
            <p:cNvSpPr/>
            <p:nvPr/>
          </p:nvSpPr>
          <p:spPr>
            <a:xfrm>
              <a:off x="4260" y="1322"/>
              <a:ext cx="7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endParaRPr lang="en-US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33" name="Rectangle 40"/>
            <p:cNvSpPr/>
            <p:nvPr/>
          </p:nvSpPr>
          <p:spPr>
            <a:xfrm>
              <a:off x="521" y="1697"/>
              <a:ext cx="1349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（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或定解条件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80934" name="Group 49"/>
            <p:cNvGrpSpPr/>
            <p:nvPr/>
          </p:nvGrpSpPr>
          <p:grpSpPr>
            <a:xfrm>
              <a:off x="1886" y="1677"/>
              <a:ext cx="914" cy="328"/>
              <a:chOff x="1886" y="1677"/>
              <a:chExt cx="914" cy="328"/>
            </a:xfrm>
          </p:grpSpPr>
          <p:sp>
            <p:nvSpPr>
              <p:cNvPr id="80935" name="Rectangle 41"/>
              <p:cNvSpPr/>
              <p:nvPr/>
            </p:nvSpPr>
            <p:spPr>
              <a:xfrm>
                <a:off x="2758" y="1821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36" name="Rectangle 42"/>
              <p:cNvSpPr/>
              <p:nvPr/>
            </p:nvSpPr>
            <p:spPr>
              <a:xfrm>
                <a:off x="2236" y="1821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37" name="Rectangle 43"/>
              <p:cNvSpPr/>
              <p:nvPr/>
            </p:nvSpPr>
            <p:spPr>
              <a:xfrm>
                <a:off x="2635" y="1702"/>
                <a:ext cx="11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g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38" name="Rectangle 44"/>
              <p:cNvSpPr/>
              <p:nvPr/>
            </p:nvSpPr>
            <p:spPr>
              <a:xfrm>
                <a:off x="2110" y="1702"/>
                <a:ext cx="11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39" name="Rectangle 45"/>
              <p:cNvSpPr/>
              <p:nvPr/>
            </p:nvSpPr>
            <p:spPr>
              <a:xfrm>
                <a:off x="1886" y="1702"/>
                <a:ext cx="138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40" name="Rectangle 46"/>
              <p:cNvSpPr/>
              <p:nvPr/>
            </p:nvSpPr>
            <p:spPr>
              <a:xfrm>
                <a:off x="2434" y="1677"/>
                <a:ext cx="124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=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41" name="Rectangle 47"/>
              <p:cNvSpPr/>
              <p:nvPr/>
            </p:nvSpPr>
            <p:spPr>
              <a:xfrm>
                <a:off x="2317" y="1699"/>
                <a:ext cx="76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]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42" name="Rectangle 48"/>
              <p:cNvSpPr/>
              <p:nvPr/>
            </p:nvSpPr>
            <p:spPr>
              <a:xfrm>
                <a:off x="2029" y="1699"/>
                <a:ext cx="76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[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0943" name="Rectangle 50"/>
            <p:cNvSpPr/>
            <p:nvPr/>
          </p:nvSpPr>
          <p:spPr>
            <a:xfrm>
              <a:off x="2825" y="1697"/>
              <a:ext cx="452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），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44" name="Rectangle 51"/>
            <p:cNvSpPr/>
            <p:nvPr/>
          </p:nvSpPr>
          <p:spPr>
            <a:xfrm>
              <a:off x="3162" y="1826"/>
              <a:ext cx="22" cy="10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100" dirty="0">
                  <a:solidFill>
                    <a:srgbClr val="00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 </a:t>
              </a:r>
              <a:endParaRPr lang="en-US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grpSp>
        <p:nvGrpSpPr>
          <p:cNvPr id="80945" name="Group 53"/>
          <p:cNvGrpSpPr>
            <a:grpSpLocks noChangeAspect="1"/>
          </p:cNvGrpSpPr>
          <p:nvPr/>
        </p:nvGrpSpPr>
        <p:grpSpPr>
          <a:xfrm>
            <a:off x="2279650" y="3213099"/>
            <a:ext cx="7747000" cy="2971800"/>
            <a:chOff x="476" y="2024"/>
            <a:chExt cx="4880" cy="1872"/>
          </a:xfrm>
        </p:grpSpPr>
        <p:sp>
          <p:nvSpPr>
            <p:cNvPr id="80946" name="AutoShape 52"/>
            <p:cNvSpPr>
              <a:spLocks noChangeAspect="1" noTextEdit="1"/>
            </p:cNvSpPr>
            <p:nvPr/>
          </p:nvSpPr>
          <p:spPr>
            <a:xfrm>
              <a:off x="476" y="2024"/>
              <a:ext cx="4764" cy="187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47" name="Rectangle 54"/>
            <p:cNvSpPr/>
            <p:nvPr/>
          </p:nvSpPr>
          <p:spPr>
            <a:xfrm>
              <a:off x="476" y="2191"/>
              <a:ext cx="22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则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80948" name="Group 66"/>
            <p:cNvGrpSpPr/>
            <p:nvPr/>
          </p:nvGrpSpPr>
          <p:grpSpPr>
            <a:xfrm>
              <a:off x="713" y="2066"/>
              <a:ext cx="932" cy="563"/>
              <a:chOff x="713" y="2066"/>
              <a:chExt cx="932" cy="563"/>
            </a:xfrm>
          </p:grpSpPr>
          <p:sp>
            <p:nvSpPr>
              <p:cNvPr id="80949" name="Rectangle 55"/>
              <p:cNvSpPr/>
              <p:nvPr/>
            </p:nvSpPr>
            <p:spPr>
              <a:xfrm>
                <a:off x="1107" y="2184"/>
                <a:ext cx="162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å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50" name="Rectangle 56"/>
              <p:cNvSpPr/>
              <p:nvPr/>
            </p:nvSpPr>
            <p:spPr>
              <a:xfrm>
                <a:off x="893" y="2170"/>
                <a:ext cx="124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=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51" name="Rectangle 57"/>
              <p:cNvSpPr/>
              <p:nvPr/>
            </p:nvSpPr>
            <p:spPr>
              <a:xfrm>
                <a:off x="1141" y="2429"/>
                <a:ext cx="84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=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52" name="Rectangle 58"/>
              <p:cNvSpPr/>
              <p:nvPr/>
            </p:nvSpPr>
            <p:spPr>
              <a:xfrm>
                <a:off x="1148" y="2066"/>
                <a:ext cx="77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53" name="Rectangle 59"/>
              <p:cNvSpPr/>
              <p:nvPr/>
            </p:nvSpPr>
            <p:spPr>
              <a:xfrm>
                <a:off x="1081" y="2445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54" name="Rectangle 60"/>
              <p:cNvSpPr/>
              <p:nvPr/>
            </p:nvSpPr>
            <p:spPr>
              <a:xfrm>
                <a:off x="1603" y="2314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55" name="Rectangle 61"/>
              <p:cNvSpPr/>
              <p:nvPr/>
            </p:nvSpPr>
            <p:spPr>
              <a:xfrm>
                <a:off x="1409" y="2314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56" name="Rectangle 62"/>
              <p:cNvSpPr/>
              <p:nvPr/>
            </p:nvSpPr>
            <p:spPr>
              <a:xfrm>
                <a:off x="1476" y="2194"/>
                <a:ext cx="11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57" name="Rectangle 63"/>
              <p:cNvSpPr/>
              <p:nvPr/>
            </p:nvSpPr>
            <p:spPr>
              <a:xfrm>
                <a:off x="1300" y="2194"/>
                <a:ext cx="100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58" name="Rectangle 64"/>
              <p:cNvSpPr/>
              <p:nvPr/>
            </p:nvSpPr>
            <p:spPr>
              <a:xfrm>
                <a:off x="713" y="2194"/>
                <a:ext cx="11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59" name="Rectangle 65"/>
              <p:cNvSpPr/>
              <p:nvPr/>
            </p:nvSpPr>
            <p:spPr>
              <a:xfrm>
                <a:off x="1229" y="2443"/>
                <a:ext cx="77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0960" name="Rectangle 67"/>
            <p:cNvSpPr/>
            <p:nvPr/>
          </p:nvSpPr>
          <p:spPr>
            <a:xfrm>
              <a:off x="1691" y="2191"/>
              <a:ext cx="900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满足方程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0961" name="Rectangle 68"/>
            <p:cNvSpPr/>
            <p:nvPr/>
          </p:nvSpPr>
          <p:spPr>
            <a:xfrm>
              <a:off x="2590" y="2191"/>
              <a:ext cx="218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  </a:t>
              </a:r>
              <a:endParaRPr lang="en-US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62" name="Rectangle 69"/>
            <p:cNvSpPr/>
            <p:nvPr/>
          </p:nvSpPr>
          <p:spPr>
            <a:xfrm>
              <a:off x="2924" y="2191"/>
              <a:ext cx="7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endParaRPr lang="en-US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80963" name="Group 84"/>
            <p:cNvGrpSpPr/>
            <p:nvPr/>
          </p:nvGrpSpPr>
          <p:grpSpPr>
            <a:xfrm>
              <a:off x="2242" y="2688"/>
              <a:ext cx="1209" cy="563"/>
              <a:chOff x="2242" y="2688"/>
              <a:chExt cx="1209" cy="563"/>
            </a:xfrm>
          </p:grpSpPr>
          <p:sp>
            <p:nvSpPr>
              <p:cNvPr id="80964" name="Rectangle 70"/>
              <p:cNvSpPr/>
              <p:nvPr/>
            </p:nvSpPr>
            <p:spPr>
              <a:xfrm>
                <a:off x="2902" y="2806"/>
                <a:ext cx="162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å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65" name="Rectangle 71"/>
              <p:cNvSpPr/>
              <p:nvPr/>
            </p:nvSpPr>
            <p:spPr>
              <a:xfrm>
                <a:off x="2688" y="2792"/>
                <a:ext cx="124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=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66" name="Rectangle 72"/>
              <p:cNvSpPr/>
              <p:nvPr/>
            </p:nvSpPr>
            <p:spPr>
              <a:xfrm>
                <a:off x="2935" y="3051"/>
                <a:ext cx="84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=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67" name="Rectangle 73"/>
              <p:cNvSpPr/>
              <p:nvPr/>
            </p:nvSpPr>
            <p:spPr>
              <a:xfrm>
                <a:off x="2942" y="2688"/>
                <a:ext cx="77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68" name="Rectangle 74"/>
              <p:cNvSpPr/>
              <p:nvPr/>
            </p:nvSpPr>
            <p:spPr>
              <a:xfrm>
                <a:off x="2876" y="3067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69" name="Rectangle 75"/>
              <p:cNvSpPr/>
              <p:nvPr/>
            </p:nvSpPr>
            <p:spPr>
              <a:xfrm>
                <a:off x="3409" y="2936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70" name="Rectangle 76"/>
              <p:cNvSpPr/>
              <p:nvPr/>
            </p:nvSpPr>
            <p:spPr>
              <a:xfrm>
                <a:off x="3204" y="2936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71" name="Rectangle 77"/>
              <p:cNvSpPr/>
              <p:nvPr/>
            </p:nvSpPr>
            <p:spPr>
              <a:xfrm>
                <a:off x="3317" y="2816"/>
                <a:ext cx="6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f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72" name="Rectangle 78"/>
              <p:cNvSpPr/>
              <p:nvPr/>
            </p:nvSpPr>
            <p:spPr>
              <a:xfrm>
                <a:off x="3095" y="2816"/>
                <a:ext cx="100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73" name="Rectangle 79"/>
              <p:cNvSpPr/>
              <p:nvPr/>
            </p:nvSpPr>
            <p:spPr>
              <a:xfrm>
                <a:off x="2445" y="2816"/>
                <a:ext cx="11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74" name="Rectangle 80"/>
              <p:cNvSpPr/>
              <p:nvPr/>
            </p:nvSpPr>
            <p:spPr>
              <a:xfrm>
                <a:off x="2242" y="2816"/>
                <a:ext cx="126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L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75" name="Rectangle 81"/>
              <p:cNvSpPr/>
              <p:nvPr/>
            </p:nvSpPr>
            <p:spPr>
              <a:xfrm>
                <a:off x="3024" y="3065"/>
                <a:ext cx="77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76" name="Rectangle 82"/>
              <p:cNvSpPr/>
              <p:nvPr/>
            </p:nvSpPr>
            <p:spPr>
              <a:xfrm>
                <a:off x="2571" y="2813"/>
                <a:ext cx="76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]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77" name="Rectangle 83"/>
              <p:cNvSpPr/>
              <p:nvPr/>
            </p:nvSpPr>
            <p:spPr>
              <a:xfrm>
                <a:off x="2364" y="2813"/>
                <a:ext cx="76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[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0978" name="Rectangle 85"/>
            <p:cNvSpPr/>
            <p:nvPr/>
          </p:nvSpPr>
          <p:spPr>
            <a:xfrm>
              <a:off x="3497" y="2814"/>
              <a:ext cx="7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endParaRPr lang="en-US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79" name="Rectangle 86"/>
            <p:cNvSpPr/>
            <p:nvPr/>
          </p:nvSpPr>
          <p:spPr>
            <a:xfrm>
              <a:off x="476" y="3438"/>
              <a:ext cx="1349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（</a:t>
              </a:r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或定解条件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80980" name="Group 101"/>
            <p:cNvGrpSpPr/>
            <p:nvPr/>
          </p:nvGrpSpPr>
          <p:grpSpPr>
            <a:xfrm>
              <a:off x="1841" y="3313"/>
              <a:ext cx="1220" cy="563"/>
              <a:chOff x="1841" y="3313"/>
              <a:chExt cx="1220" cy="563"/>
            </a:xfrm>
          </p:grpSpPr>
          <p:sp>
            <p:nvSpPr>
              <p:cNvPr id="80981" name="Rectangle 87"/>
              <p:cNvSpPr/>
              <p:nvPr/>
            </p:nvSpPr>
            <p:spPr>
              <a:xfrm>
                <a:off x="2510" y="3431"/>
                <a:ext cx="162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å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82" name="Rectangle 88"/>
              <p:cNvSpPr/>
              <p:nvPr/>
            </p:nvSpPr>
            <p:spPr>
              <a:xfrm>
                <a:off x="2301" y="3417"/>
                <a:ext cx="124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=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83" name="Rectangle 89"/>
              <p:cNvSpPr/>
              <p:nvPr/>
            </p:nvSpPr>
            <p:spPr>
              <a:xfrm>
                <a:off x="2543" y="3676"/>
                <a:ext cx="84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dirty="0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=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84" name="Rectangle 90"/>
              <p:cNvSpPr/>
              <p:nvPr/>
            </p:nvSpPr>
            <p:spPr>
              <a:xfrm>
                <a:off x="2550" y="3313"/>
                <a:ext cx="77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n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85" name="Rectangle 91"/>
              <p:cNvSpPr/>
              <p:nvPr/>
            </p:nvSpPr>
            <p:spPr>
              <a:xfrm>
                <a:off x="2482" y="3692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86" name="Rectangle 92"/>
              <p:cNvSpPr/>
              <p:nvPr/>
            </p:nvSpPr>
            <p:spPr>
              <a:xfrm>
                <a:off x="3019" y="3561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87" name="Rectangle 93"/>
              <p:cNvSpPr/>
              <p:nvPr/>
            </p:nvSpPr>
            <p:spPr>
              <a:xfrm>
                <a:off x="2813" y="3561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88" name="Rectangle 94"/>
              <p:cNvSpPr/>
              <p:nvPr/>
            </p:nvSpPr>
            <p:spPr>
              <a:xfrm>
                <a:off x="2895" y="3441"/>
                <a:ext cx="11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g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89" name="Rectangle 95"/>
              <p:cNvSpPr/>
              <p:nvPr/>
            </p:nvSpPr>
            <p:spPr>
              <a:xfrm>
                <a:off x="2704" y="3441"/>
                <a:ext cx="100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90" name="Rectangle 96"/>
              <p:cNvSpPr/>
              <p:nvPr/>
            </p:nvSpPr>
            <p:spPr>
              <a:xfrm>
                <a:off x="2065" y="3441"/>
                <a:ext cx="113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u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91" name="Rectangle 97"/>
              <p:cNvSpPr/>
              <p:nvPr/>
            </p:nvSpPr>
            <p:spPr>
              <a:xfrm>
                <a:off x="1841" y="3441"/>
                <a:ext cx="138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B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92" name="Rectangle 98"/>
              <p:cNvSpPr/>
              <p:nvPr/>
            </p:nvSpPr>
            <p:spPr>
              <a:xfrm>
                <a:off x="2631" y="3690"/>
                <a:ext cx="77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1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93" name="Rectangle 99"/>
              <p:cNvSpPr/>
              <p:nvPr/>
            </p:nvSpPr>
            <p:spPr>
              <a:xfrm>
                <a:off x="2191" y="3438"/>
                <a:ext cx="76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]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0994" name="Rectangle 100"/>
              <p:cNvSpPr/>
              <p:nvPr/>
            </p:nvSpPr>
            <p:spPr>
              <a:xfrm>
                <a:off x="1984" y="3438"/>
                <a:ext cx="76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[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0995" name="Rectangle 102"/>
            <p:cNvSpPr/>
            <p:nvPr/>
          </p:nvSpPr>
          <p:spPr>
            <a:xfrm>
              <a:off x="3109" y="3438"/>
              <a:ext cx="226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）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96" name="Rectangle 103"/>
            <p:cNvSpPr/>
            <p:nvPr/>
          </p:nvSpPr>
          <p:spPr>
            <a:xfrm>
              <a:off x="3221" y="3438"/>
              <a:ext cx="226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，</a:t>
              </a:r>
              <a:endParaRPr lang="zh-CN" altLang="en-US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0997" name="Rectangle 104"/>
            <p:cNvSpPr/>
            <p:nvPr/>
          </p:nvSpPr>
          <p:spPr>
            <a:xfrm>
              <a:off x="3376" y="3438"/>
              <a:ext cx="450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其中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80998" name="Group 107"/>
            <p:cNvGrpSpPr/>
            <p:nvPr/>
          </p:nvGrpSpPr>
          <p:grpSpPr>
            <a:xfrm>
              <a:off x="3832" y="3443"/>
              <a:ext cx="149" cy="304"/>
              <a:chOff x="3832" y="3443"/>
              <a:chExt cx="149" cy="304"/>
            </a:xfrm>
          </p:grpSpPr>
          <p:sp>
            <p:nvSpPr>
              <p:cNvPr id="80999" name="Rectangle 105"/>
              <p:cNvSpPr/>
              <p:nvPr/>
            </p:nvSpPr>
            <p:spPr>
              <a:xfrm>
                <a:off x="3939" y="3563"/>
                <a:ext cx="42" cy="18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19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i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81000" name="Rectangle 106"/>
              <p:cNvSpPr/>
              <p:nvPr/>
            </p:nvSpPr>
            <p:spPr>
              <a:xfrm>
                <a:off x="3832" y="3443"/>
                <a:ext cx="100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800" i="1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rPr>
                  <a:t>c</a:t>
                </a:r>
                <a:endParaRPr lang="en-US" altLang="zh-CN" dirty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81001" name="Rectangle 108"/>
            <p:cNvSpPr/>
            <p:nvPr/>
          </p:nvSpPr>
          <p:spPr>
            <a:xfrm>
              <a:off x="4007" y="3438"/>
              <a:ext cx="1349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为任意常数。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1002" name="Rectangle 109"/>
            <p:cNvSpPr/>
            <p:nvPr/>
          </p:nvSpPr>
          <p:spPr>
            <a:xfrm>
              <a:off x="5240" y="3438"/>
              <a:ext cx="7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endParaRPr lang="en-US" altLang="zh-CN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81003" name="AutoShape 112"/>
          <p:cNvSpPr/>
          <p:nvPr/>
        </p:nvSpPr>
        <p:spPr>
          <a:xfrm>
            <a:off x="1847851" y="4365625"/>
            <a:ext cx="1800225" cy="863600"/>
          </a:xfrm>
          <a:prstGeom prst="cloudCallout">
            <a:avLst>
              <a:gd name="adj1" fmla="val 65875"/>
              <a:gd name="adj2" fmla="val -92829"/>
            </a:avLst>
          </a:prstGeom>
          <a:solidFill>
            <a:srgbClr val="FFFF00"/>
          </a:solidFill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/>
          <a:lstStyle/>
          <a:p>
            <a:pPr algn="ctr"/>
            <a:r>
              <a:rPr lang="zh-CN" altLang="en-US" sz="2000" dirty="0">
                <a:latin typeface="Arial" panose="020B0604020202020204" pitchFamily="34" charset="0"/>
                <a:ea typeface="方正毡笔黑简体" pitchFamily="65" charset="-122"/>
              </a:rPr>
              <a:t>线性组合</a:t>
            </a:r>
            <a:endParaRPr lang="zh-CN" altLang="en-US" sz="2000" dirty="0">
              <a:latin typeface="Arial" panose="020B0604020202020204" pitchFamily="34" charset="0"/>
              <a:ea typeface="方正毡笔黑简体" pitchFamily="65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0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05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2"/>
          <p:cNvSpPr/>
          <p:nvPr/>
        </p:nvSpPr>
        <p:spPr>
          <a:xfrm>
            <a:off x="2208214" y="765176"/>
            <a:ext cx="4865687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例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. 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热传导方程的叠加定理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1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：</a:t>
            </a:r>
            <a:endParaRPr lang="zh-CN" altLang="en-US" sz="2800" dirty="0">
              <a:solidFill>
                <a:schemeClr val="tx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aphicFrame>
        <p:nvGraphicFramePr>
          <p:cNvPr id="161900" name="Object 108"/>
          <p:cNvGraphicFramePr>
            <a:graphicFrameLocks noChangeAspect="1"/>
          </p:cNvGraphicFramePr>
          <p:nvPr/>
        </p:nvGraphicFramePr>
        <p:xfrm>
          <a:off x="2566989" y="1484314"/>
          <a:ext cx="8607425" cy="3773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6793230" imgH="2989580" progId="Word.Document.8">
                  <p:embed/>
                </p:oleObj>
              </mc:Choice>
              <mc:Fallback>
                <p:oleObj name="" r:id="rId1" imgW="6793230" imgH="2989580" progId="Word.Document.8">
                  <p:embed/>
                  <p:pic>
                    <p:nvPicPr>
                      <p:cNvPr id="0" name="Object 1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66989" y="1484314"/>
                        <a:ext cx="8607425" cy="37734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1902" name="Rectangle 110"/>
          <p:cNvSpPr/>
          <p:nvPr/>
        </p:nvSpPr>
        <p:spPr>
          <a:xfrm>
            <a:off x="2424113" y="5084763"/>
            <a:ext cx="7200900" cy="946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lstStyle/>
          <a:p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即：如果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u</a:t>
            </a:r>
            <a:r>
              <a:rPr lang="en-US" altLang="zh-CN" sz="2800" i="1" baseline="-250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k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x,t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是方程的解，则它的无限线性组合仍然是方程的解。</a:t>
            </a:r>
            <a:endParaRPr lang="zh-CN" altLang="en-US" sz="2800" dirty="0">
              <a:solidFill>
                <a:schemeClr val="tx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1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0"/>
                                        <p:tgtEl>
                                          <p:spTgt spid="161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1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794" grpId="0"/>
      <p:bldP spid="16190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/>
          <p:nvPr/>
        </p:nvSpPr>
        <p:spPr>
          <a:xfrm>
            <a:off x="2208213" y="765176"/>
            <a:ext cx="2722562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三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. 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叠加定理</a:t>
            </a:r>
            <a:r>
              <a:rPr lang="en-US" altLang="zh-CN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2</a:t>
            </a:r>
            <a:r>
              <a:rPr lang="zh-CN" altLang="en-US" sz="2800" dirty="0">
                <a:solidFill>
                  <a:schemeClr val="tx2"/>
                </a:solidFill>
                <a:latin typeface="Arial" panose="020B0604020202020204" pitchFamily="34" charset="0"/>
                <a:ea typeface="黑体" panose="02010609060101010101" pitchFamily="49" charset="-122"/>
              </a:rPr>
              <a:t>：</a:t>
            </a:r>
            <a:endParaRPr lang="zh-CN" altLang="en-US" sz="2800" dirty="0">
              <a:solidFill>
                <a:schemeClr val="tx2"/>
              </a:solidFill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grpSp>
        <p:nvGrpSpPr>
          <p:cNvPr id="82946" name="Group 108"/>
          <p:cNvGrpSpPr/>
          <p:nvPr/>
        </p:nvGrpSpPr>
        <p:grpSpPr>
          <a:xfrm>
            <a:off x="1919289" y="1268413"/>
            <a:ext cx="8570914" cy="3084512"/>
            <a:chOff x="0" y="0"/>
            <a:chExt cx="5399" cy="1943"/>
          </a:xfrm>
        </p:grpSpPr>
        <p:sp>
          <p:nvSpPr>
            <p:cNvPr id="82947" name="AutoShape 109"/>
            <p:cNvSpPr>
              <a:spLocks noChangeAspect="1" noTextEdit="1"/>
            </p:cNvSpPr>
            <p:nvPr/>
          </p:nvSpPr>
          <p:spPr>
            <a:xfrm>
              <a:off x="0" y="0"/>
              <a:ext cx="4944" cy="194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/>
            <a:lstStyle/>
            <a:p>
              <a:endParaRPr lang="zh-CN" altLang="en-US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948" name="Rectangle 110"/>
            <p:cNvSpPr/>
            <p:nvPr/>
          </p:nvSpPr>
          <p:spPr>
            <a:xfrm>
              <a:off x="0" y="138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2949" name="Rectangle 111"/>
            <p:cNvSpPr/>
            <p:nvPr/>
          </p:nvSpPr>
          <p:spPr>
            <a:xfrm>
              <a:off x="918" y="138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2950" name="Rectangle 112"/>
            <p:cNvSpPr/>
            <p:nvPr/>
          </p:nvSpPr>
          <p:spPr>
            <a:xfrm>
              <a:off x="1055" y="138"/>
              <a:ext cx="70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2951" name="Rectangle 113"/>
            <p:cNvSpPr/>
            <p:nvPr/>
          </p:nvSpPr>
          <p:spPr>
            <a:xfrm>
              <a:off x="1163" y="138"/>
              <a:ext cx="224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若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grpSp>
          <p:nvGrpSpPr>
            <p:cNvPr id="82952" name="Group 114"/>
            <p:cNvGrpSpPr/>
            <p:nvPr/>
          </p:nvGrpSpPr>
          <p:grpSpPr>
            <a:xfrm>
              <a:off x="1388" y="129"/>
              <a:ext cx="174" cy="316"/>
              <a:chOff x="0" y="0"/>
              <a:chExt cx="174" cy="316"/>
            </a:xfrm>
          </p:grpSpPr>
          <p:sp>
            <p:nvSpPr>
              <p:cNvPr id="82953" name="Rectangle 115"/>
              <p:cNvSpPr/>
              <p:nvPr/>
            </p:nvSpPr>
            <p:spPr>
              <a:xfrm>
                <a:off x="130" y="124"/>
                <a:ext cx="44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i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54" name="Rectangle 116"/>
              <p:cNvSpPr/>
              <p:nvPr/>
            </p:nvSpPr>
            <p:spPr>
              <a:xfrm>
                <a:off x="0" y="0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u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82955" name="Rectangle 117"/>
            <p:cNvSpPr/>
            <p:nvPr/>
          </p:nvSpPr>
          <p:spPr>
            <a:xfrm>
              <a:off x="1581" y="138"/>
              <a:ext cx="112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满足线性方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2956" name="Rectangle 118"/>
            <p:cNvSpPr/>
            <p:nvPr/>
          </p:nvSpPr>
          <p:spPr>
            <a:xfrm>
              <a:off x="2660" y="138"/>
              <a:ext cx="22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800" dirty="0">
                  <a:solidFill>
                    <a:srgbClr val="0000CC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程</a:t>
              </a:r>
              <a:endParaRPr lang="zh-CN" altLang="en-US" sz="2800" dirty="0">
                <a:solidFill>
                  <a:srgbClr val="0000CC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82957" name="Rectangle 119"/>
            <p:cNvSpPr/>
            <p:nvPr/>
          </p:nvSpPr>
          <p:spPr>
            <a:xfrm>
              <a:off x="2876" y="138"/>
              <a:ext cx="70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pSp>
          <p:nvGrpSpPr>
            <p:cNvPr id="82958" name="Group 120"/>
            <p:cNvGrpSpPr/>
            <p:nvPr/>
          </p:nvGrpSpPr>
          <p:grpSpPr>
            <a:xfrm>
              <a:off x="1444" y="554"/>
              <a:ext cx="929" cy="342"/>
              <a:chOff x="0" y="0"/>
              <a:chExt cx="929" cy="342"/>
            </a:xfrm>
          </p:grpSpPr>
          <p:sp>
            <p:nvSpPr>
              <p:cNvPr id="82959" name="Rectangle 121"/>
              <p:cNvSpPr/>
              <p:nvPr/>
            </p:nvSpPr>
            <p:spPr>
              <a:xfrm>
                <a:off x="885" y="150"/>
                <a:ext cx="44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i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60" name="Rectangle 122"/>
              <p:cNvSpPr/>
              <p:nvPr/>
            </p:nvSpPr>
            <p:spPr>
              <a:xfrm>
                <a:off x="342" y="150"/>
                <a:ext cx="44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i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61" name="Rectangle 123"/>
              <p:cNvSpPr/>
              <p:nvPr/>
            </p:nvSpPr>
            <p:spPr>
              <a:xfrm>
                <a:off x="789" y="25"/>
                <a:ext cx="65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f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62" name="Rectangle 124"/>
              <p:cNvSpPr/>
              <p:nvPr/>
            </p:nvSpPr>
            <p:spPr>
              <a:xfrm>
                <a:off x="211" y="25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u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63" name="Rectangle 125"/>
              <p:cNvSpPr/>
              <p:nvPr/>
            </p:nvSpPr>
            <p:spPr>
              <a:xfrm>
                <a:off x="0" y="25"/>
                <a:ext cx="130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L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64" name="Rectangle 126"/>
              <p:cNvSpPr/>
              <p:nvPr/>
            </p:nvSpPr>
            <p:spPr>
              <a:xfrm>
                <a:off x="548" y="0"/>
                <a:ext cx="12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dirty="0">
                    <a:latin typeface="Symbol" panose="05050102010706020507" pitchFamily="18" charset="2"/>
                    <a:ea typeface="华文中宋" panose="02010600040101010101" pitchFamily="2" charset="-122"/>
                  </a:rPr>
                  <a:t>=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65" name="Rectangle 127"/>
              <p:cNvSpPr/>
              <p:nvPr/>
            </p:nvSpPr>
            <p:spPr>
              <a:xfrm>
                <a:off x="427" y="22"/>
                <a:ext cx="7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]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66" name="Rectangle 128"/>
              <p:cNvSpPr/>
              <p:nvPr/>
            </p:nvSpPr>
            <p:spPr>
              <a:xfrm>
                <a:off x="127" y="22"/>
                <a:ext cx="7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[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82967" name="Rectangle 129"/>
            <p:cNvSpPr/>
            <p:nvPr/>
          </p:nvSpPr>
          <p:spPr>
            <a:xfrm>
              <a:off x="2400" y="589"/>
              <a:ext cx="218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，</a:t>
              </a:r>
              <a:endPara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pSp>
          <p:nvGrpSpPr>
            <p:cNvPr id="82968" name="Group 130"/>
            <p:cNvGrpSpPr/>
            <p:nvPr/>
          </p:nvGrpSpPr>
          <p:grpSpPr>
            <a:xfrm>
              <a:off x="2628" y="514"/>
              <a:ext cx="951" cy="341"/>
              <a:chOff x="0" y="0"/>
              <a:chExt cx="951" cy="341"/>
            </a:xfrm>
          </p:grpSpPr>
          <p:sp>
            <p:nvSpPr>
              <p:cNvPr id="82969" name="Rectangle 131"/>
              <p:cNvSpPr/>
              <p:nvPr/>
            </p:nvSpPr>
            <p:spPr>
              <a:xfrm>
                <a:off x="664" y="0"/>
                <a:ext cx="0" cy="27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endParaRPr lang="zh-CN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70" name="Rectangle 132"/>
              <p:cNvSpPr/>
              <p:nvPr/>
            </p:nvSpPr>
            <p:spPr>
              <a:xfrm>
                <a:off x="600" y="57"/>
                <a:ext cx="351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, …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71" name="Rectangle 133"/>
              <p:cNvSpPr/>
              <p:nvPr/>
            </p:nvSpPr>
            <p:spPr>
              <a:xfrm>
                <a:off x="483" y="57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2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72" name="Rectangle 134"/>
              <p:cNvSpPr/>
              <p:nvPr/>
            </p:nvSpPr>
            <p:spPr>
              <a:xfrm>
                <a:off x="421" y="57"/>
                <a:ext cx="59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,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73" name="Rectangle 135"/>
              <p:cNvSpPr/>
              <p:nvPr/>
            </p:nvSpPr>
            <p:spPr>
              <a:xfrm>
                <a:off x="312" y="57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74" name="Rectangle 136"/>
              <p:cNvSpPr/>
              <p:nvPr/>
            </p:nvSpPr>
            <p:spPr>
              <a:xfrm>
                <a:off x="134" y="35"/>
                <a:ext cx="12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dirty="0">
                    <a:latin typeface="Symbol" panose="05050102010706020507" pitchFamily="18" charset="2"/>
                    <a:ea typeface="华文中宋" panose="02010600040101010101" pitchFamily="2" charset="-122"/>
                  </a:rPr>
                  <a:t>=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75" name="Rectangle 137"/>
              <p:cNvSpPr/>
              <p:nvPr/>
            </p:nvSpPr>
            <p:spPr>
              <a:xfrm>
                <a:off x="0" y="60"/>
                <a:ext cx="65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i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82976" name="Rectangle 138"/>
            <p:cNvSpPr/>
            <p:nvPr/>
          </p:nvSpPr>
          <p:spPr>
            <a:xfrm>
              <a:off x="3521" y="589"/>
              <a:ext cx="70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2977" name="Rectangle 139"/>
            <p:cNvSpPr/>
            <p:nvPr/>
          </p:nvSpPr>
          <p:spPr>
            <a:xfrm>
              <a:off x="0" y="1094"/>
              <a:ext cx="1309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（或定解条件</a:t>
              </a:r>
              <a:endPara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pSp>
          <p:nvGrpSpPr>
            <p:cNvPr id="82978" name="Group 140"/>
            <p:cNvGrpSpPr/>
            <p:nvPr/>
          </p:nvGrpSpPr>
          <p:grpSpPr>
            <a:xfrm>
              <a:off x="1315" y="1059"/>
              <a:ext cx="949" cy="342"/>
              <a:chOff x="0" y="0"/>
              <a:chExt cx="949" cy="342"/>
            </a:xfrm>
          </p:grpSpPr>
          <p:sp>
            <p:nvSpPr>
              <p:cNvPr id="82979" name="Rectangle 141"/>
              <p:cNvSpPr/>
              <p:nvPr/>
            </p:nvSpPr>
            <p:spPr>
              <a:xfrm>
                <a:off x="905" y="150"/>
                <a:ext cx="44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i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80" name="Rectangle 142"/>
              <p:cNvSpPr/>
              <p:nvPr/>
            </p:nvSpPr>
            <p:spPr>
              <a:xfrm>
                <a:off x="363" y="150"/>
                <a:ext cx="44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i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81" name="Rectangle 143"/>
              <p:cNvSpPr/>
              <p:nvPr/>
            </p:nvSpPr>
            <p:spPr>
              <a:xfrm>
                <a:off x="777" y="25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g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82" name="Rectangle 144"/>
              <p:cNvSpPr/>
              <p:nvPr/>
            </p:nvSpPr>
            <p:spPr>
              <a:xfrm>
                <a:off x="232" y="25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u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83" name="Rectangle 145"/>
              <p:cNvSpPr/>
              <p:nvPr/>
            </p:nvSpPr>
            <p:spPr>
              <a:xfrm>
                <a:off x="0" y="25"/>
                <a:ext cx="143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B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84" name="Rectangle 146"/>
              <p:cNvSpPr/>
              <p:nvPr/>
            </p:nvSpPr>
            <p:spPr>
              <a:xfrm>
                <a:off x="569" y="0"/>
                <a:ext cx="12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dirty="0">
                    <a:latin typeface="Symbol" panose="05050102010706020507" pitchFamily="18" charset="2"/>
                    <a:ea typeface="华文中宋" panose="02010600040101010101" pitchFamily="2" charset="-122"/>
                  </a:rPr>
                  <a:t>=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85" name="Rectangle 147"/>
              <p:cNvSpPr/>
              <p:nvPr/>
            </p:nvSpPr>
            <p:spPr>
              <a:xfrm>
                <a:off x="448" y="22"/>
                <a:ext cx="7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]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86" name="Rectangle 148"/>
              <p:cNvSpPr/>
              <p:nvPr/>
            </p:nvSpPr>
            <p:spPr>
              <a:xfrm>
                <a:off x="148" y="22"/>
                <a:ext cx="78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[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82987" name="Rectangle 149"/>
            <p:cNvSpPr/>
            <p:nvPr/>
          </p:nvSpPr>
          <p:spPr>
            <a:xfrm>
              <a:off x="2290" y="1094"/>
              <a:ext cx="1230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, </a:t>
              </a:r>
              <a:r>
                <a:rPr lang="zh-CN" altLang="en-US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若函数级数</a:t>
              </a:r>
              <a:endPara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grpSp>
          <p:nvGrpSpPr>
            <p:cNvPr id="82988" name="Group 150"/>
            <p:cNvGrpSpPr/>
            <p:nvPr/>
          </p:nvGrpSpPr>
          <p:grpSpPr>
            <a:xfrm>
              <a:off x="3670" y="934"/>
              <a:ext cx="587" cy="601"/>
              <a:chOff x="0" y="0"/>
              <a:chExt cx="587" cy="601"/>
            </a:xfrm>
          </p:grpSpPr>
          <p:sp>
            <p:nvSpPr>
              <p:cNvPr id="82989" name="Rectangle 151"/>
              <p:cNvSpPr/>
              <p:nvPr/>
            </p:nvSpPr>
            <p:spPr>
              <a:xfrm>
                <a:off x="28" y="138"/>
                <a:ext cx="16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dirty="0">
                    <a:latin typeface="Symbol" panose="05050102010706020507" pitchFamily="18" charset="2"/>
                    <a:ea typeface="华文中宋" panose="02010600040101010101" pitchFamily="2" charset="-122"/>
                  </a:rPr>
                  <a:t>å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90" name="Rectangle 152"/>
              <p:cNvSpPr/>
              <p:nvPr/>
            </p:nvSpPr>
            <p:spPr>
              <a:xfrm>
                <a:off x="53" y="0"/>
                <a:ext cx="114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dirty="0">
                    <a:latin typeface="Symbol" panose="05050102010706020507" pitchFamily="18" charset="2"/>
                    <a:ea typeface="华文中宋" panose="02010600040101010101" pitchFamily="2" charset="-122"/>
                  </a:rPr>
                  <a:t>¥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91" name="Rectangle 153"/>
              <p:cNvSpPr/>
              <p:nvPr/>
            </p:nvSpPr>
            <p:spPr>
              <a:xfrm>
                <a:off x="62" y="393"/>
                <a:ext cx="88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dirty="0">
                    <a:latin typeface="Symbol" panose="05050102010706020507" pitchFamily="18" charset="2"/>
                    <a:ea typeface="华文中宋" panose="02010600040101010101" pitchFamily="2" charset="-122"/>
                  </a:rPr>
                  <a:t>=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92" name="Rectangle 154"/>
              <p:cNvSpPr/>
              <p:nvPr/>
            </p:nvSpPr>
            <p:spPr>
              <a:xfrm>
                <a:off x="154" y="408"/>
                <a:ext cx="80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1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93" name="Rectangle 155"/>
              <p:cNvSpPr/>
              <p:nvPr/>
            </p:nvSpPr>
            <p:spPr>
              <a:xfrm>
                <a:off x="0" y="409"/>
                <a:ext cx="44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i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94" name="Rectangle 156"/>
              <p:cNvSpPr/>
              <p:nvPr/>
            </p:nvSpPr>
            <p:spPr>
              <a:xfrm>
                <a:off x="543" y="273"/>
                <a:ext cx="44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i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95" name="Rectangle 157"/>
              <p:cNvSpPr/>
              <p:nvPr/>
            </p:nvSpPr>
            <p:spPr>
              <a:xfrm>
                <a:off x="342" y="273"/>
                <a:ext cx="44" cy="19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0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i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96" name="Rectangle 158"/>
              <p:cNvSpPr/>
              <p:nvPr/>
            </p:nvSpPr>
            <p:spPr>
              <a:xfrm>
                <a:off x="411" y="148"/>
                <a:ext cx="117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u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2997" name="Rectangle 159"/>
              <p:cNvSpPr/>
              <p:nvPr/>
            </p:nvSpPr>
            <p:spPr>
              <a:xfrm>
                <a:off x="228" y="148"/>
                <a:ext cx="104" cy="28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r>
                  <a:rPr lang="en-US" altLang="zh-CN" sz="2900" i="1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c</a:t>
                </a:r>
                <a:endParaRPr lang="en-US" altLang="zh-CN" sz="28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82998" name="Rectangle 160"/>
            <p:cNvSpPr/>
            <p:nvPr/>
          </p:nvSpPr>
          <p:spPr>
            <a:xfrm>
              <a:off x="4304" y="1094"/>
              <a:ext cx="218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在</a:t>
              </a:r>
              <a:endPara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2999" name="Rectangle 161"/>
            <p:cNvSpPr/>
            <p:nvPr/>
          </p:nvSpPr>
          <p:spPr>
            <a:xfrm>
              <a:off x="4529" y="1059"/>
              <a:ext cx="180" cy="28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900" dirty="0">
                  <a:latin typeface="Symbol" panose="05050102010706020507" pitchFamily="18" charset="2"/>
                  <a:ea typeface="华文中宋" panose="02010600040101010101" pitchFamily="2" charset="-122"/>
                </a:rPr>
                <a:t>W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00" name="Rectangle 162"/>
            <p:cNvSpPr/>
            <p:nvPr/>
          </p:nvSpPr>
          <p:spPr>
            <a:xfrm>
              <a:off x="4726" y="1094"/>
              <a:ext cx="218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内</a:t>
              </a:r>
              <a:endPara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01" name="Rectangle 163"/>
            <p:cNvSpPr/>
            <p:nvPr/>
          </p:nvSpPr>
          <p:spPr>
            <a:xfrm>
              <a:off x="0" y="1626"/>
              <a:ext cx="1400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zh-CN" altLang="en-US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收敛，并且</a:t>
              </a:r>
              <a:r>
                <a:rPr lang="en-US" altLang="zh-CN" sz="27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L,B</a:t>
              </a:r>
              <a:endParaRPr lang="en-US" altLang="zh-CN" sz="2800" i="1" dirty="0"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  <p:sp>
          <p:nvSpPr>
            <p:cNvPr id="83002" name="Rectangle 164"/>
            <p:cNvSpPr/>
            <p:nvPr/>
          </p:nvSpPr>
          <p:spPr>
            <a:xfrm>
              <a:off x="1215" y="1613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03" name="Rectangle 165"/>
            <p:cNvSpPr/>
            <p:nvPr/>
          </p:nvSpPr>
          <p:spPr>
            <a:xfrm>
              <a:off x="1309" y="1626"/>
              <a:ext cx="4090" cy="2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 </a:t>
              </a:r>
              <a:r>
                <a:rPr lang="zh-CN" altLang="en-US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可逐项作用</a:t>
              </a:r>
              <a:r>
                <a:rPr lang="en-US" altLang="zh-CN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, </a:t>
              </a:r>
              <a:r>
                <a:rPr lang="zh-CN" altLang="en-US" sz="2700" dirty="0">
                  <a:latin typeface="华文中宋" panose="02010600040101010101" pitchFamily="2" charset="-122"/>
                  <a:ea typeface="华文中宋" panose="02010600040101010101" pitchFamily="2" charset="-122"/>
                </a:rPr>
                <a:t>则和函数               满足方程</a:t>
              </a:r>
              <a:endPara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04" name="Rectangle 166"/>
            <p:cNvSpPr/>
            <p:nvPr/>
          </p:nvSpPr>
          <p:spPr>
            <a:xfrm>
              <a:off x="3188" y="1612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05" name="Rectangle 167"/>
            <p:cNvSpPr/>
            <p:nvPr/>
          </p:nvSpPr>
          <p:spPr>
            <a:xfrm>
              <a:off x="3324" y="1626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06" name="Rectangle 168"/>
            <p:cNvSpPr/>
            <p:nvPr/>
          </p:nvSpPr>
          <p:spPr>
            <a:xfrm>
              <a:off x="4944" y="1745"/>
              <a:ext cx="22" cy="10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 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graphicFrame>
        <p:nvGraphicFramePr>
          <p:cNvPr id="83007" name="Object 169"/>
          <p:cNvGraphicFramePr>
            <a:graphicFrameLocks noChangeAspect="1"/>
          </p:cNvGraphicFramePr>
          <p:nvPr/>
        </p:nvGraphicFramePr>
        <p:xfrm>
          <a:off x="7391400" y="3644901"/>
          <a:ext cx="1512888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711200" imgH="431800" progId="Equation.DSMT4">
                  <p:embed/>
                </p:oleObj>
              </mc:Choice>
              <mc:Fallback>
                <p:oleObj name="" r:id="rId1" imgW="711200" imgH="431800" progId="Equation.DSMT4">
                  <p:embed/>
                  <p:pic>
                    <p:nvPicPr>
                      <p:cNvPr id="0" name="Object 16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391400" y="3644901"/>
                        <a:ext cx="1512888" cy="919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008" name="AutoShape 171"/>
          <p:cNvSpPr>
            <a:spLocks noChangeAspect="1" noTextEdit="1"/>
          </p:cNvSpPr>
          <p:nvPr/>
        </p:nvSpPr>
        <p:spPr>
          <a:xfrm>
            <a:off x="2135188" y="3213101"/>
            <a:ext cx="7562850" cy="30702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83009" name="Rectangle 172"/>
          <p:cNvSpPr/>
          <p:nvPr/>
        </p:nvSpPr>
        <p:spPr>
          <a:xfrm>
            <a:off x="1919289" y="3579814"/>
            <a:ext cx="65" cy="43088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endParaRPr lang="zh-CN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83010" name="Group 173"/>
          <p:cNvGrpSpPr/>
          <p:nvPr/>
        </p:nvGrpSpPr>
        <p:grpSpPr>
          <a:xfrm>
            <a:off x="3360739" y="3354388"/>
            <a:ext cx="1412875" cy="1058862"/>
            <a:chOff x="0" y="0"/>
            <a:chExt cx="890" cy="667"/>
          </a:xfrm>
        </p:grpSpPr>
        <p:sp>
          <p:nvSpPr>
            <p:cNvPr id="83011" name="Rectangle 174"/>
            <p:cNvSpPr/>
            <p:nvPr/>
          </p:nvSpPr>
          <p:spPr>
            <a:xfrm>
              <a:off x="395" y="134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12" name="Rectangle 175"/>
            <p:cNvSpPr/>
            <p:nvPr/>
          </p:nvSpPr>
          <p:spPr>
            <a:xfrm>
              <a:off x="180" y="120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13" name="Rectangle 176"/>
            <p:cNvSpPr/>
            <p:nvPr/>
          </p:nvSpPr>
          <p:spPr>
            <a:xfrm>
              <a:off x="419" y="0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14" name="Rectangle 177"/>
            <p:cNvSpPr/>
            <p:nvPr/>
          </p:nvSpPr>
          <p:spPr>
            <a:xfrm>
              <a:off x="428" y="379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15" name="Rectangle 178"/>
            <p:cNvSpPr/>
            <p:nvPr/>
          </p:nvSpPr>
          <p:spPr>
            <a:xfrm>
              <a:off x="516" y="394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16" name="Rectangle 179"/>
            <p:cNvSpPr/>
            <p:nvPr/>
          </p:nvSpPr>
          <p:spPr>
            <a:xfrm>
              <a:off x="368" y="396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17" name="Rectangle 180"/>
            <p:cNvSpPr/>
            <p:nvPr/>
          </p:nvSpPr>
          <p:spPr>
            <a:xfrm>
              <a:off x="890" y="265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18" name="Rectangle 181"/>
            <p:cNvSpPr/>
            <p:nvPr/>
          </p:nvSpPr>
          <p:spPr>
            <a:xfrm>
              <a:off x="696" y="265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19" name="Rectangle 182"/>
            <p:cNvSpPr/>
            <p:nvPr/>
          </p:nvSpPr>
          <p:spPr>
            <a:xfrm>
              <a:off x="763" y="144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20" name="Rectangle 183"/>
            <p:cNvSpPr/>
            <p:nvPr/>
          </p:nvSpPr>
          <p:spPr>
            <a:xfrm>
              <a:off x="587" y="144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21" name="Rectangle 184"/>
            <p:cNvSpPr/>
            <p:nvPr/>
          </p:nvSpPr>
          <p:spPr>
            <a:xfrm>
              <a:off x="0" y="144"/>
              <a:ext cx="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endParaRPr lang="zh-CN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83022" name="Rectangle 185"/>
          <p:cNvSpPr/>
          <p:nvPr/>
        </p:nvSpPr>
        <p:spPr>
          <a:xfrm>
            <a:off x="4914901" y="3579814"/>
            <a:ext cx="65" cy="43088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endParaRPr lang="zh-CN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3023" name="Rectangle 186"/>
          <p:cNvSpPr/>
          <p:nvPr/>
        </p:nvSpPr>
        <p:spPr>
          <a:xfrm>
            <a:off x="6340475" y="3579814"/>
            <a:ext cx="114300" cy="4270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en-US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83024" name="Group 187"/>
          <p:cNvGrpSpPr/>
          <p:nvPr/>
        </p:nvGrpSpPr>
        <p:grpSpPr>
          <a:xfrm>
            <a:off x="4722814" y="4340225"/>
            <a:ext cx="1919287" cy="920750"/>
            <a:chOff x="0" y="0"/>
            <a:chExt cx="1209" cy="580"/>
          </a:xfrm>
        </p:grpSpPr>
        <p:sp>
          <p:nvSpPr>
            <p:cNvPr id="83025" name="Rectangle 188"/>
            <p:cNvSpPr/>
            <p:nvPr/>
          </p:nvSpPr>
          <p:spPr>
            <a:xfrm>
              <a:off x="660" y="135"/>
              <a:ext cx="160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latin typeface="Symbol" panose="05050102010706020507" pitchFamily="18" charset="2"/>
                  <a:ea typeface="华文中宋" panose="02010600040101010101" pitchFamily="2" charset="-122"/>
                </a:rPr>
                <a:t>å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26" name="Rectangle 189"/>
            <p:cNvSpPr/>
            <p:nvPr/>
          </p:nvSpPr>
          <p:spPr>
            <a:xfrm>
              <a:off x="446" y="121"/>
              <a:ext cx="124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latin typeface="Symbol" panose="05050102010706020507" pitchFamily="18" charset="2"/>
                  <a:ea typeface="华文中宋" panose="02010600040101010101" pitchFamily="2" charset="-122"/>
                </a:rPr>
                <a:t>=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27" name="Rectangle 190"/>
            <p:cNvSpPr/>
            <p:nvPr/>
          </p:nvSpPr>
          <p:spPr>
            <a:xfrm>
              <a:off x="685" y="0"/>
              <a:ext cx="109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dirty="0">
                  <a:latin typeface="Symbol" panose="05050102010706020507" pitchFamily="18" charset="2"/>
                  <a:ea typeface="华文中宋" panose="02010600040101010101" pitchFamily="2" charset="-122"/>
                </a:rPr>
                <a:t>¥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28" name="Rectangle 191"/>
            <p:cNvSpPr/>
            <p:nvPr/>
          </p:nvSpPr>
          <p:spPr>
            <a:xfrm>
              <a:off x="693" y="379"/>
              <a:ext cx="84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dirty="0">
                  <a:latin typeface="Symbol" panose="05050102010706020507" pitchFamily="18" charset="2"/>
                  <a:ea typeface="华文中宋" panose="02010600040101010101" pitchFamily="2" charset="-122"/>
                </a:rPr>
                <a:t>=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29" name="Rectangle 192"/>
            <p:cNvSpPr/>
            <p:nvPr/>
          </p:nvSpPr>
          <p:spPr>
            <a:xfrm>
              <a:off x="782" y="394"/>
              <a:ext cx="77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1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30" name="Rectangle 193"/>
            <p:cNvSpPr/>
            <p:nvPr/>
          </p:nvSpPr>
          <p:spPr>
            <a:xfrm>
              <a:off x="329" y="141"/>
              <a:ext cx="76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]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31" name="Rectangle 194"/>
            <p:cNvSpPr/>
            <p:nvPr/>
          </p:nvSpPr>
          <p:spPr>
            <a:xfrm>
              <a:off x="122" y="141"/>
              <a:ext cx="76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[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32" name="Rectangle 195"/>
            <p:cNvSpPr/>
            <p:nvPr/>
          </p:nvSpPr>
          <p:spPr>
            <a:xfrm>
              <a:off x="634" y="396"/>
              <a:ext cx="4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33" name="Rectangle 196"/>
            <p:cNvSpPr/>
            <p:nvPr/>
          </p:nvSpPr>
          <p:spPr>
            <a:xfrm>
              <a:off x="1167" y="265"/>
              <a:ext cx="4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34" name="Rectangle 197"/>
            <p:cNvSpPr/>
            <p:nvPr/>
          </p:nvSpPr>
          <p:spPr>
            <a:xfrm>
              <a:off x="962" y="265"/>
              <a:ext cx="4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35" name="Rectangle 198"/>
            <p:cNvSpPr/>
            <p:nvPr/>
          </p:nvSpPr>
          <p:spPr>
            <a:xfrm>
              <a:off x="1075" y="144"/>
              <a:ext cx="6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f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36" name="Rectangle 199"/>
            <p:cNvSpPr/>
            <p:nvPr/>
          </p:nvSpPr>
          <p:spPr>
            <a:xfrm>
              <a:off x="853" y="144"/>
              <a:ext cx="100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c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37" name="Rectangle 200"/>
            <p:cNvSpPr/>
            <p:nvPr/>
          </p:nvSpPr>
          <p:spPr>
            <a:xfrm>
              <a:off x="203" y="144"/>
              <a:ext cx="11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u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38" name="Rectangle 201"/>
            <p:cNvSpPr/>
            <p:nvPr/>
          </p:nvSpPr>
          <p:spPr>
            <a:xfrm>
              <a:off x="0" y="144"/>
              <a:ext cx="126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L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83039" name="Rectangle 202"/>
          <p:cNvSpPr/>
          <p:nvPr/>
        </p:nvSpPr>
        <p:spPr>
          <a:xfrm>
            <a:off x="6715125" y="4567239"/>
            <a:ext cx="114300" cy="427037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endParaRPr lang="en-US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3040" name="Rectangle 203"/>
          <p:cNvSpPr/>
          <p:nvPr/>
        </p:nvSpPr>
        <p:spPr>
          <a:xfrm>
            <a:off x="1919288" y="5559425"/>
            <a:ext cx="2133600" cy="427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（或定解条件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pSp>
        <p:nvGrpSpPr>
          <p:cNvPr id="83041" name="Group 204"/>
          <p:cNvGrpSpPr/>
          <p:nvPr/>
        </p:nvGrpSpPr>
        <p:grpSpPr>
          <a:xfrm>
            <a:off x="4086225" y="5334001"/>
            <a:ext cx="1936750" cy="919163"/>
            <a:chOff x="0" y="0"/>
            <a:chExt cx="1220" cy="579"/>
          </a:xfrm>
        </p:grpSpPr>
        <p:sp>
          <p:nvSpPr>
            <p:cNvPr id="83042" name="Rectangle 205"/>
            <p:cNvSpPr/>
            <p:nvPr/>
          </p:nvSpPr>
          <p:spPr>
            <a:xfrm>
              <a:off x="669" y="134"/>
              <a:ext cx="160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latin typeface="Symbol" panose="05050102010706020507" pitchFamily="18" charset="2"/>
                  <a:ea typeface="华文中宋" panose="02010600040101010101" pitchFamily="2" charset="-122"/>
                </a:rPr>
                <a:t>å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43" name="Rectangle 206"/>
            <p:cNvSpPr/>
            <p:nvPr/>
          </p:nvSpPr>
          <p:spPr>
            <a:xfrm>
              <a:off x="460" y="120"/>
              <a:ext cx="123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latin typeface="Symbol" panose="05050102010706020507" pitchFamily="18" charset="2"/>
                  <a:ea typeface="华文中宋" panose="02010600040101010101" pitchFamily="2" charset="-122"/>
                </a:rPr>
                <a:t>=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44" name="Rectangle 207"/>
            <p:cNvSpPr/>
            <p:nvPr/>
          </p:nvSpPr>
          <p:spPr>
            <a:xfrm>
              <a:off x="693" y="0"/>
              <a:ext cx="109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dirty="0">
                  <a:latin typeface="Symbol" panose="05050102010706020507" pitchFamily="18" charset="2"/>
                  <a:ea typeface="华文中宋" panose="02010600040101010101" pitchFamily="2" charset="-122"/>
                </a:rPr>
                <a:t>¥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45" name="Rectangle 208"/>
            <p:cNvSpPr/>
            <p:nvPr/>
          </p:nvSpPr>
          <p:spPr>
            <a:xfrm>
              <a:off x="702" y="379"/>
              <a:ext cx="84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dirty="0">
                  <a:latin typeface="Symbol" panose="05050102010706020507" pitchFamily="18" charset="2"/>
                  <a:ea typeface="华文中宋" panose="02010600040101010101" pitchFamily="2" charset="-122"/>
                </a:rPr>
                <a:t>=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46" name="Rectangle 209"/>
            <p:cNvSpPr/>
            <p:nvPr/>
          </p:nvSpPr>
          <p:spPr>
            <a:xfrm>
              <a:off x="790" y="393"/>
              <a:ext cx="77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1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47" name="Rectangle 210"/>
            <p:cNvSpPr/>
            <p:nvPr/>
          </p:nvSpPr>
          <p:spPr>
            <a:xfrm>
              <a:off x="350" y="141"/>
              <a:ext cx="7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]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48" name="Rectangle 211"/>
            <p:cNvSpPr/>
            <p:nvPr/>
          </p:nvSpPr>
          <p:spPr>
            <a:xfrm>
              <a:off x="143" y="141"/>
              <a:ext cx="75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[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49" name="Rectangle 212"/>
            <p:cNvSpPr/>
            <p:nvPr/>
          </p:nvSpPr>
          <p:spPr>
            <a:xfrm>
              <a:off x="641" y="395"/>
              <a:ext cx="4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50" name="Rectangle 213"/>
            <p:cNvSpPr/>
            <p:nvPr/>
          </p:nvSpPr>
          <p:spPr>
            <a:xfrm>
              <a:off x="1178" y="264"/>
              <a:ext cx="4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51" name="Rectangle 214"/>
            <p:cNvSpPr/>
            <p:nvPr/>
          </p:nvSpPr>
          <p:spPr>
            <a:xfrm>
              <a:off x="972" y="264"/>
              <a:ext cx="42" cy="18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19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i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52" name="Rectangle 215"/>
            <p:cNvSpPr/>
            <p:nvPr/>
          </p:nvSpPr>
          <p:spPr>
            <a:xfrm>
              <a:off x="1054" y="144"/>
              <a:ext cx="112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g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53" name="Rectangle 216"/>
            <p:cNvSpPr/>
            <p:nvPr/>
          </p:nvSpPr>
          <p:spPr>
            <a:xfrm>
              <a:off x="863" y="144"/>
              <a:ext cx="99" cy="269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c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54" name="Rectangle 217"/>
            <p:cNvSpPr/>
            <p:nvPr/>
          </p:nvSpPr>
          <p:spPr>
            <a:xfrm>
              <a:off x="224" y="144"/>
              <a:ext cx="113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u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83055" name="Rectangle 218"/>
            <p:cNvSpPr/>
            <p:nvPr/>
          </p:nvSpPr>
          <p:spPr>
            <a:xfrm>
              <a:off x="0" y="144"/>
              <a:ext cx="138" cy="2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en-US" altLang="zh-CN" sz="2800" i="1" dirty="0">
                  <a:latin typeface="Times New Roman" panose="02020603050405020304" pitchFamily="18" charset="0"/>
                  <a:ea typeface="华文中宋" panose="02010600040101010101" pitchFamily="2" charset="-122"/>
                </a:rPr>
                <a:t>B</a:t>
              </a:r>
              <a:endParaRPr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83056" name="Rectangle 219"/>
          <p:cNvSpPr/>
          <p:nvPr/>
        </p:nvSpPr>
        <p:spPr>
          <a:xfrm>
            <a:off x="6099175" y="5559425"/>
            <a:ext cx="711200" cy="427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）。</a:t>
            </a:r>
            <a:endParaRPr lang="zh-CN" altLang="en-US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83057" name="Rectangle 220"/>
          <p:cNvSpPr/>
          <p:nvPr/>
        </p:nvSpPr>
        <p:spPr>
          <a:xfrm>
            <a:off x="6634163" y="5764213"/>
            <a:ext cx="31750" cy="1524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t" anchorCtr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endParaRPr lang="en-US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2"/>
          <p:cNvSpPr/>
          <p:nvPr/>
        </p:nvSpPr>
        <p:spPr>
          <a:xfrm>
            <a:off x="1992314" y="765176"/>
            <a:ext cx="6480175" cy="5191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>
            <a:spAutoFit/>
          </a:bodyPr>
          <a:lstStyle/>
          <a:p>
            <a:r>
              <a:rPr lang="zh-CN" altLang="en-US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例  非齐次波动方程的</a:t>
            </a:r>
            <a:r>
              <a:rPr lang="en-US" altLang="zh-CN" sz="2800" dirty="0">
                <a:solidFill>
                  <a:srgbClr val="FF212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Cauchy</a:t>
            </a:r>
            <a:r>
              <a:rPr lang="zh-CN" altLang="en-US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问题</a:t>
            </a:r>
            <a:endParaRPr lang="zh-CN" altLang="en-US" sz="2800" dirty="0">
              <a:solidFill>
                <a:srgbClr val="FF21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31075" name="Object 3"/>
          <p:cNvGraphicFramePr>
            <a:graphicFrameLocks noChangeAspect="1"/>
          </p:cNvGraphicFramePr>
          <p:nvPr/>
        </p:nvGraphicFramePr>
        <p:xfrm>
          <a:off x="2782889" y="1341438"/>
          <a:ext cx="7488237" cy="1338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2997200" imgH="533400" progId="Equation.DSMT4">
                  <p:embed/>
                </p:oleObj>
              </mc:Choice>
              <mc:Fallback>
                <p:oleObj name="" r:id="rId1" imgW="2997200" imgH="533400" progId="Equation.DSMT4">
                  <p:embed/>
                  <p:pic>
                    <p:nvPicPr>
                      <p:cNvPr id="0" name="Object 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82889" y="1341438"/>
                        <a:ext cx="7488237" cy="133826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76" name="Rectangle 4"/>
          <p:cNvSpPr/>
          <p:nvPr/>
        </p:nvSpPr>
        <p:spPr>
          <a:xfrm>
            <a:off x="2711450" y="2781301"/>
            <a:ext cx="6083300" cy="5191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的解等于问题</a:t>
            </a:r>
            <a:r>
              <a:rPr lang="en-US" altLang="zh-CN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(I)</a:t>
            </a:r>
            <a:r>
              <a:rPr lang="zh-CN" altLang="en-US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和问题</a:t>
            </a:r>
            <a:r>
              <a:rPr lang="en-US" altLang="zh-CN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(II)</a:t>
            </a:r>
            <a:r>
              <a:rPr lang="zh-CN" altLang="en-US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的解之和</a:t>
            </a:r>
            <a:endParaRPr lang="zh-CN" altLang="en-US" sz="2800" dirty="0">
              <a:solidFill>
                <a:srgbClr val="FF21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graphicFrame>
        <p:nvGraphicFramePr>
          <p:cNvPr id="131077" name="Object 5"/>
          <p:cNvGraphicFramePr>
            <a:graphicFrameLocks noChangeAspect="1"/>
          </p:cNvGraphicFramePr>
          <p:nvPr/>
        </p:nvGraphicFramePr>
        <p:xfrm>
          <a:off x="2566988" y="3517901"/>
          <a:ext cx="6850062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6842125" imgH="1129665" progId="Equation.3">
                  <p:embed/>
                </p:oleObj>
              </mc:Choice>
              <mc:Fallback>
                <p:oleObj name="" r:id="rId3" imgW="6842125" imgH="1129665" progId="Equation.3">
                  <p:embed/>
                  <p:pic>
                    <p:nvPicPr>
                      <p:cNvPr id="0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66988" y="3517901"/>
                        <a:ext cx="6850062" cy="1133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1078" name="Object 6"/>
          <p:cNvGraphicFramePr>
            <a:graphicFrameLocks noChangeAspect="1"/>
          </p:cNvGraphicFramePr>
          <p:nvPr/>
        </p:nvGraphicFramePr>
        <p:xfrm>
          <a:off x="2495550" y="5030789"/>
          <a:ext cx="7810500" cy="1133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7807325" imgH="1129665" progId="Equation.3">
                  <p:embed/>
                </p:oleObj>
              </mc:Choice>
              <mc:Fallback>
                <p:oleObj name="" r:id="rId5" imgW="7807325" imgH="1129665" progId="Equation.3">
                  <p:embed/>
                  <p:pic>
                    <p:nvPicPr>
                      <p:cNvPr id="0" name="Object 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95550" y="5030789"/>
                        <a:ext cx="7810500" cy="11334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079" name="Rectangle 7"/>
          <p:cNvSpPr/>
          <p:nvPr/>
        </p:nvSpPr>
        <p:spPr>
          <a:xfrm>
            <a:off x="6888164" y="5876926"/>
            <a:ext cx="3405187" cy="519113"/>
          </a:xfrm>
          <a:prstGeom prst="rect">
            <a:avLst/>
          </a:prstGeom>
          <a:solidFill>
            <a:srgbClr val="FFFF00"/>
          </a:solidFill>
          <a:ln w="9525">
            <a:noFill/>
          </a:ln>
        </p:spPr>
        <p:txBody>
          <a:bodyPr wrap="none" anchor="ctr" anchorCtr="0">
            <a:spAutoFit/>
          </a:bodyPr>
          <a:lstStyle/>
          <a:p>
            <a:r>
              <a:rPr lang="zh-CN" altLang="en-US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注：书</a:t>
            </a:r>
            <a:r>
              <a:rPr lang="en-US" altLang="zh-CN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P23</a:t>
            </a:r>
            <a:r>
              <a:rPr lang="zh-CN" altLang="en-US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：例</a:t>
            </a:r>
            <a:r>
              <a:rPr lang="en-US" altLang="zh-CN" sz="2800" dirty="0">
                <a:solidFill>
                  <a:srgbClr val="FF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1.5.1</a:t>
            </a:r>
            <a:endParaRPr lang="en-US" altLang="zh-CN" sz="2800" dirty="0">
              <a:solidFill>
                <a:srgbClr val="FF212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1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1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122" name="标题 773121"/>
          <p:cNvSpPr>
            <a:spLocks noGrp="1"/>
          </p:cNvSpPr>
          <p:nvPr>
            <p:ph type="title"/>
          </p:nvPr>
        </p:nvSpPr>
        <p:spPr/>
        <p:txBody>
          <a:bodyPr anchor="ctr" anchorCtr="0"/>
          <a:lstStyle/>
          <a:p>
            <a:r>
              <a:rPr lang="zh-CN" altLang="en-US" sz="3200" b="1" dirty="0">
                <a:solidFill>
                  <a:srgbClr val="CC0000"/>
                </a:solidFill>
                <a:ea typeface="黑体" panose="02010609060101010101" pitchFamily="49" charset="-122"/>
              </a:rPr>
              <a:t>叠加原理</a:t>
            </a:r>
            <a:r>
              <a:rPr lang="en-US" altLang="zh-CN" sz="3200" b="1" dirty="0">
                <a:solidFill>
                  <a:srgbClr val="CC0000"/>
                </a:solidFill>
                <a:ea typeface="黑体" panose="02010609060101010101" pitchFamily="49" charset="-122"/>
              </a:rPr>
              <a:t>: </a:t>
            </a:r>
            <a:r>
              <a:rPr lang="zh-CN" altLang="en-US" sz="3200" b="1" dirty="0">
                <a:solidFill>
                  <a:srgbClr val="0000FF"/>
                </a:solidFill>
                <a:ea typeface="黑体" panose="02010609060101010101" pitchFamily="49" charset="-122"/>
              </a:rPr>
              <a:t>一个例子</a:t>
            </a:r>
            <a:endParaRPr lang="zh-CN" altLang="en-US" sz="3200" b="1" dirty="0">
              <a:solidFill>
                <a:srgbClr val="0000FF"/>
              </a:solidFill>
              <a:ea typeface="黑体" panose="02010609060101010101" pitchFamily="49" charset="-122"/>
            </a:endParaRPr>
          </a:p>
        </p:txBody>
      </p:sp>
      <p:sp>
        <p:nvSpPr>
          <p:cNvPr id="773123" name="文本占位符 773122"/>
          <p:cNvSpPr>
            <a:spLocks noGrp="1"/>
          </p:cNvSpPr>
          <p:nvPr>
            <p:ph type="body" sz="half" idx="1"/>
          </p:nvPr>
        </p:nvSpPr>
        <p:spPr>
          <a:xfrm>
            <a:off x="2279651" y="1412875"/>
            <a:ext cx="6696075" cy="4713288"/>
          </a:xfrm>
        </p:spPr>
        <p:txBody>
          <a:bodyPr/>
          <a:lstStyle/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对于线性偏微分方程 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它的一个特解为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lnSpc>
                <a:spcPct val="100000"/>
              </a:lnSpc>
              <a:buClrTx/>
              <a:buSzTx/>
              <a:buFontTx/>
              <a:buNone/>
            </a:pPr>
            <a:r>
              <a:rPr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故由叠加原理，原方程有一般解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773124" name="矩形 773123"/>
          <p:cNvSpPr/>
          <p:nvPr/>
        </p:nvSpPr>
        <p:spPr>
          <a:xfrm>
            <a:off x="152400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3125" name="矩形 773124"/>
          <p:cNvSpPr/>
          <p:nvPr/>
        </p:nvSpPr>
        <p:spPr>
          <a:xfrm>
            <a:off x="1524000" y="3200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73126" name="矩形 773125"/>
          <p:cNvSpPr/>
          <p:nvPr/>
        </p:nvSpPr>
        <p:spPr>
          <a:xfrm>
            <a:off x="1524000" y="323373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73127" name="对象 773126"/>
          <p:cNvGraphicFramePr/>
          <p:nvPr/>
        </p:nvGraphicFramePr>
        <p:xfrm>
          <a:off x="3619500" y="3624262"/>
          <a:ext cx="401637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853565" imgH="393700" progId="Equation.3">
                  <p:embed/>
                </p:oleObj>
              </mc:Choice>
              <mc:Fallback>
                <p:oleObj name="" r:id="rId1" imgW="1853565" imgH="393700" progId="Equation.3">
                  <p:embed/>
                  <p:pic>
                    <p:nvPicPr>
                      <p:cNvPr id="0" name="对象 77312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19500" y="3624262"/>
                        <a:ext cx="4016375" cy="8477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3128" name="内容占位符 773127"/>
          <p:cNvGraphicFramePr>
            <a:graphicFrameLocks noGrp="1"/>
          </p:cNvGraphicFramePr>
          <p:nvPr>
            <p:ph sz="half" idx="2"/>
          </p:nvPr>
        </p:nvGraphicFramePr>
        <p:xfrm>
          <a:off x="3071814" y="1989139"/>
          <a:ext cx="6264275" cy="866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3302000" imgH="457200" progId="Equation.3">
                  <p:embed/>
                </p:oleObj>
              </mc:Choice>
              <mc:Fallback>
                <p:oleObj name="" r:id="rId3" imgW="3302000" imgH="457200" progId="Equation.3">
                  <p:embed/>
                  <p:pic>
                    <p:nvPicPr>
                      <p:cNvPr id="0" name="内容占位符 77312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1814" y="1989139"/>
                        <a:ext cx="6264275" cy="86677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3129" name="矩形 773128"/>
          <p:cNvSpPr/>
          <p:nvPr/>
        </p:nvSpPr>
        <p:spPr>
          <a:xfrm>
            <a:off x="1524000" y="3214688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773130" name="对象 773129"/>
          <p:cNvGraphicFramePr/>
          <p:nvPr/>
        </p:nvGraphicFramePr>
        <p:xfrm>
          <a:off x="3371850" y="5229225"/>
          <a:ext cx="5106988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2627630" imgH="431800" progId="Equation.3">
                  <p:embed/>
                </p:oleObj>
              </mc:Choice>
              <mc:Fallback>
                <p:oleObj name="" r:id="rId5" imgW="2627630" imgH="431800" progId="Equation.3">
                  <p:embed/>
                  <p:pic>
                    <p:nvPicPr>
                      <p:cNvPr id="0" name="对象 77312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371850" y="5229225"/>
                        <a:ext cx="5106988" cy="8318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138" name="标题 859137"/>
          <p:cNvSpPr>
            <a:spLocks noGrp="1"/>
          </p:cNvSpPr>
          <p:nvPr>
            <p:ph type="title" sz="quarter"/>
          </p:nvPr>
        </p:nvSpPr>
        <p:spPr>
          <a:xfrm>
            <a:off x="669925" y="1214755"/>
            <a:ext cx="10852150" cy="442912"/>
          </a:xfrm>
        </p:spPr>
        <p:txBody>
          <a:bodyPr anchor="ctr" anchorCtr="0"/>
          <a:lstStyle/>
          <a:p>
            <a:r>
              <a:rPr lang="zh-CN" altLang="en-US" sz="4000" dirty="0">
                <a:solidFill>
                  <a:srgbClr val="CC0000"/>
                </a:solidFill>
                <a:ea typeface="黑体" panose="02010609060101010101" pitchFamily="49" charset="-122"/>
              </a:rPr>
              <a:t>二阶线性偏微分方程</a:t>
            </a:r>
            <a:r>
              <a:rPr lang="en-US" altLang="zh-CN" sz="4000" dirty="0">
                <a:solidFill>
                  <a:srgbClr val="CC0000"/>
                </a:solidFill>
                <a:ea typeface="黑体" panose="02010609060101010101" pitchFamily="49" charset="-122"/>
              </a:rPr>
              <a:t>: </a:t>
            </a:r>
            <a:r>
              <a:rPr lang="zh-CN" altLang="en-US" sz="4000" dirty="0">
                <a:solidFill>
                  <a:schemeClr val="hlink"/>
                </a:solidFill>
                <a:ea typeface="黑体" panose="02010609060101010101" pitchFamily="49" charset="-122"/>
              </a:rPr>
              <a:t>通式和分类</a:t>
            </a:r>
            <a:endParaRPr lang="zh-CN" altLang="en-US" sz="4000" dirty="0">
              <a:solidFill>
                <a:schemeClr val="hlink"/>
              </a:solidFill>
              <a:ea typeface="黑体" panose="02010609060101010101" pitchFamily="49" charset="-122"/>
            </a:endParaRPr>
          </a:p>
        </p:txBody>
      </p:sp>
      <p:graphicFrame>
        <p:nvGraphicFramePr>
          <p:cNvPr id="859139" name="内容占位符 859138"/>
          <p:cNvGraphicFramePr>
            <a:graphicFrameLocks noGrp="1"/>
          </p:cNvGraphicFramePr>
          <p:nvPr>
            <p:ph sz="quarter" idx="1"/>
          </p:nvPr>
        </p:nvGraphicFramePr>
        <p:xfrm>
          <a:off x="7218045" y="3886201"/>
          <a:ext cx="2592388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1384300" imgH="419100" progId="Equation.3">
                  <p:embed/>
                </p:oleObj>
              </mc:Choice>
              <mc:Fallback>
                <p:oleObj name="" r:id="rId1" imgW="1384300" imgH="419100" progId="Equation.3">
                  <p:embed/>
                  <p:pic>
                    <p:nvPicPr>
                      <p:cNvPr id="0" name="内容占位符 85913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218045" y="3886201"/>
                        <a:ext cx="2592388" cy="78581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9140" name="内容占位符 859139"/>
          <p:cNvGraphicFramePr>
            <a:graphicFrameLocks noGrp="1"/>
          </p:cNvGraphicFramePr>
          <p:nvPr>
            <p:ph sz="quarter" idx="2"/>
          </p:nvPr>
        </p:nvGraphicFramePr>
        <p:xfrm>
          <a:off x="4409758" y="4822825"/>
          <a:ext cx="792162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3" imgW="367665" imgH="177800" progId="Equation.3">
                  <p:embed/>
                </p:oleObj>
              </mc:Choice>
              <mc:Fallback>
                <p:oleObj name="" r:id="rId3" imgW="367665" imgH="177800" progId="Equation.3">
                  <p:embed/>
                  <p:pic>
                    <p:nvPicPr>
                      <p:cNvPr id="0" name="内容占位符 85913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09758" y="4822825"/>
                        <a:ext cx="792162" cy="3825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9141" name="内容占位符 859140"/>
          <p:cNvGraphicFramePr>
            <a:graphicFrameLocks noGrp="1"/>
          </p:cNvGraphicFramePr>
          <p:nvPr>
            <p:ph sz="quarter" idx="3"/>
          </p:nvPr>
        </p:nvGraphicFramePr>
        <p:xfrm>
          <a:off x="4409758" y="5686425"/>
          <a:ext cx="792162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" name="" r:id="rId5" imgW="367665" imgH="177800" progId="Equation.3">
                  <p:embed/>
                </p:oleObj>
              </mc:Choice>
              <mc:Fallback>
                <p:oleObj name="" r:id="rId5" imgW="367665" imgH="177800" progId="Equation.3">
                  <p:embed/>
                  <p:pic>
                    <p:nvPicPr>
                      <p:cNvPr id="0" name="内容占位符 85914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09758" y="5686425"/>
                        <a:ext cx="792162" cy="382588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9142" name="矩形 859141"/>
          <p:cNvSpPr/>
          <p:nvPr/>
        </p:nvSpPr>
        <p:spPr>
          <a:xfrm>
            <a:off x="1493520" y="37719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9143" name="矩形 859142"/>
          <p:cNvSpPr/>
          <p:nvPr/>
        </p:nvSpPr>
        <p:spPr>
          <a:xfrm>
            <a:off x="1493520" y="34544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59144" name="对象 859143"/>
          <p:cNvGraphicFramePr/>
          <p:nvPr/>
        </p:nvGraphicFramePr>
        <p:xfrm>
          <a:off x="2896870" y="1798639"/>
          <a:ext cx="6192838" cy="814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" name="" r:id="rId7" imgW="3364230" imgH="444500" progId="Equation.3">
                  <p:embed/>
                </p:oleObj>
              </mc:Choice>
              <mc:Fallback>
                <p:oleObj name="" r:id="rId7" imgW="3364230" imgH="444500" progId="Equation.3">
                  <p:embed/>
                  <p:pic>
                    <p:nvPicPr>
                      <p:cNvPr id="0" name="对象 859143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96870" y="1798639"/>
                        <a:ext cx="6192838" cy="8143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9145" name="矩形 859144"/>
          <p:cNvSpPr/>
          <p:nvPr/>
        </p:nvSpPr>
        <p:spPr>
          <a:xfrm>
            <a:off x="1524000" y="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59146" name="对象 859145"/>
          <p:cNvGraphicFramePr/>
          <p:nvPr/>
        </p:nvGraphicFramePr>
        <p:xfrm>
          <a:off x="1888809" y="4894263"/>
          <a:ext cx="2016125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9" imgW="850265" imgH="203200" progId="Equation.3">
                  <p:embed/>
                </p:oleObj>
              </mc:Choice>
              <mc:Fallback>
                <p:oleObj name="" r:id="rId9" imgW="850265" imgH="203200" progId="Equation.3">
                  <p:embed/>
                  <p:pic>
                    <p:nvPicPr>
                      <p:cNvPr id="0" name="对象 859145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888809" y="4894263"/>
                        <a:ext cx="2016125" cy="4762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9147" name="文本框 859146"/>
          <p:cNvSpPr txBox="1"/>
          <p:nvPr/>
        </p:nvSpPr>
        <p:spPr>
          <a:xfrm>
            <a:off x="4266883" y="3765551"/>
            <a:ext cx="2952750" cy="27098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dirty="0">
                <a:latin typeface="Verdana" panose="020B0604030504040204" pitchFamily="34" charset="0"/>
              </a:rPr>
              <a:t>      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（双曲型） 如</a:t>
            </a:r>
            <a:r>
              <a:rPr lang="zh-CN" altLang="en-US" sz="240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一维波动方程</a:t>
            </a:r>
            <a:endParaRPr lang="zh-CN" altLang="en-US" sz="2400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 （抛物线型） 如</a:t>
            </a:r>
            <a:r>
              <a:rPr lang="zh-CN" altLang="en-US" sz="240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一维热传导方程</a:t>
            </a:r>
            <a:endParaRPr lang="zh-CN" altLang="en-US" sz="2400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>
              <a:spcBef>
                <a:spcPct val="50000"/>
              </a:spcBef>
            </a:pP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      （椭圆型）</a:t>
            </a:r>
            <a:r>
              <a:rPr lang="zh-CN" altLang="en-US" sz="240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400" dirty="0">
                <a:latin typeface="黑体" panose="02010609060101010101" pitchFamily="49" charset="-122"/>
                <a:ea typeface="黑体" panose="02010609060101010101" pitchFamily="49" charset="-122"/>
              </a:rPr>
              <a:t>如</a:t>
            </a:r>
            <a:r>
              <a:rPr lang="zh-CN" altLang="en-US" sz="2400" dirty="0">
                <a:solidFill>
                  <a:schemeClr val="hlink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二维拉氏方程</a:t>
            </a:r>
            <a:endParaRPr lang="zh-CN" altLang="en-US" sz="2400" dirty="0">
              <a:solidFill>
                <a:schemeClr val="hlink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59148" name="矩形 859147"/>
          <p:cNvSpPr/>
          <p:nvPr/>
        </p:nvSpPr>
        <p:spPr>
          <a:xfrm>
            <a:off x="1888808" y="3886200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59149" name="对象 859148"/>
          <p:cNvGraphicFramePr/>
          <p:nvPr/>
        </p:nvGraphicFramePr>
        <p:xfrm>
          <a:off x="4338320" y="3836989"/>
          <a:ext cx="788988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11" imgW="367665" imgH="177800" progId="Equation.3">
                  <p:embed/>
                </p:oleObj>
              </mc:Choice>
              <mc:Fallback>
                <p:oleObj name="" r:id="rId11" imgW="367665" imgH="177800" progId="Equation.3">
                  <p:embed/>
                  <p:pic>
                    <p:nvPicPr>
                      <p:cNvPr id="0" name="对象 859148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338320" y="3836989"/>
                        <a:ext cx="788988" cy="3841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9150" name="文本框 859149"/>
          <p:cNvSpPr txBox="1"/>
          <p:nvPr/>
        </p:nvSpPr>
        <p:spPr>
          <a:xfrm>
            <a:off x="5273359" y="4749800"/>
            <a:ext cx="790575" cy="36933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dirty="0">
                <a:latin typeface="Verdana" panose="020B0604030504040204" pitchFamily="34" charset="0"/>
              </a:rPr>
              <a:t>         </a:t>
            </a:r>
            <a:endParaRPr lang="en-US" altLang="zh-CN" dirty="0">
              <a:latin typeface="Verdana" panose="020B0604030504040204" pitchFamily="34" charset="0"/>
            </a:endParaRPr>
          </a:p>
        </p:txBody>
      </p:sp>
      <p:graphicFrame>
        <p:nvGraphicFramePr>
          <p:cNvPr id="859151" name="对象 859150"/>
          <p:cNvGraphicFramePr/>
          <p:nvPr/>
        </p:nvGraphicFramePr>
        <p:xfrm>
          <a:off x="7218046" y="4773613"/>
          <a:ext cx="2473325" cy="785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13" imgW="1320165" imgH="419100" progId="Equation.3">
                  <p:embed/>
                </p:oleObj>
              </mc:Choice>
              <mc:Fallback>
                <p:oleObj name="" r:id="rId13" imgW="1320165" imgH="419100" progId="Equation.3">
                  <p:embed/>
                  <p:pic>
                    <p:nvPicPr>
                      <p:cNvPr id="0" name="对象 85915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218046" y="4773613"/>
                        <a:ext cx="2473325" cy="7858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9152" name="对象 859151"/>
          <p:cNvGraphicFramePr/>
          <p:nvPr/>
        </p:nvGraphicFramePr>
        <p:xfrm>
          <a:off x="7218045" y="5708650"/>
          <a:ext cx="1665288" cy="83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15" imgW="888365" imgH="444500" progId="Equation.3">
                  <p:embed/>
                </p:oleObj>
              </mc:Choice>
              <mc:Fallback>
                <p:oleObj name="" r:id="rId15" imgW="888365" imgH="444500" progId="Equation.3">
                  <p:embed/>
                  <p:pic>
                    <p:nvPicPr>
                      <p:cNvPr id="0" name="对象 85915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7218045" y="5708650"/>
                        <a:ext cx="1665288" cy="833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9153" name="直接连接符 859152"/>
          <p:cNvSpPr/>
          <p:nvPr/>
        </p:nvSpPr>
        <p:spPr>
          <a:xfrm>
            <a:off x="4409759" y="4749800"/>
            <a:ext cx="5329237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9154" name="直接连接符 859153"/>
          <p:cNvSpPr/>
          <p:nvPr/>
        </p:nvSpPr>
        <p:spPr>
          <a:xfrm>
            <a:off x="4409759" y="5614988"/>
            <a:ext cx="5329237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59155" name="内容占位符 859154"/>
          <p:cNvGraphicFramePr>
            <a:graphicFrameLocks noGrp="1"/>
          </p:cNvGraphicFramePr>
          <p:nvPr>
            <p:ph sz="quarter" idx="4"/>
          </p:nvPr>
        </p:nvGraphicFramePr>
        <p:xfrm>
          <a:off x="2104709" y="2733675"/>
          <a:ext cx="5184775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17" imgW="3009900" imgH="457200" progId="Equation.3">
                  <p:embed/>
                </p:oleObj>
              </mc:Choice>
              <mc:Fallback>
                <p:oleObj name="" r:id="rId17" imgW="3009900" imgH="457200" progId="Equation.3">
                  <p:embed/>
                  <p:pic>
                    <p:nvPicPr>
                      <p:cNvPr id="0" name="内容占位符 859154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104709" y="2733675"/>
                        <a:ext cx="5184775" cy="7874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9156" name="对象 859155"/>
          <p:cNvGraphicFramePr/>
          <p:nvPr/>
        </p:nvGraphicFramePr>
        <p:xfrm>
          <a:off x="7794309" y="2860676"/>
          <a:ext cx="2232025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19" imgW="824865" imgH="203200" progId="Equation.3">
                  <p:embed/>
                </p:oleObj>
              </mc:Choice>
              <mc:Fallback>
                <p:oleObj name="" r:id="rId19" imgW="824865" imgH="203200" progId="Equation.3">
                  <p:embed/>
                  <p:pic>
                    <p:nvPicPr>
                      <p:cNvPr id="0" name="对象 859155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7794309" y="2860676"/>
                        <a:ext cx="2232025" cy="5492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9157" name="左大括号 859156"/>
          <p:cNvSpPr/>
          <p:nvPr/>
        </p:nvSpPr>
        <p:spPr>
          <a:xfrm>
            <a:off x="3977959" y="4030663"/>
            <a:ext cx="287337" cy="2305050"/>
          </a:xfrm>
          <a:prstGeom prst="leftBrace">
            <a:avLst>
              <a:gd name="adj1" fmla="val 66850"/>
              <a:gd name="adj2" fmla="val 50000"/>
            </a:avLst>
          </a:prstGeom>
          <a:noFill/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59158" name="直接连接符 859157"/>
          <p:cNvSpPr/>
          <p:nvPr/>
        </p:nvSpPr>
        <p:spPr>
          <a:xfrm>
            <a:off x="4409759" y="6550025"/>
            <a:ext cx="5329237" cy="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标题 1"/>
          <p:cNvSpPr txBox="1"/>
          <p:nvPr/>
        </p:nvSpPr>
        <p:spPr bwMode="auto">
          <a:xfrm>
            <a:off x="490346" y="73402"/>
            <a:ext cx="10852237" cy="6720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1600" tIns="38100" rIns="76200" bIns="38100" numCol="1" anchor="t" anchorCtr="0" compatLnSpc="1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 kern="1200" spc="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9pPr>
          </a:lstStyle>
          <a:p>
            <a:r>
              <a:rPr lang="zh-CN" altLang="en-US" sz="4400" dirty="0"/>
              <a:t>课后</a:t>
            </a:r>
            <a:r>
              <a:rPr lang="zh-CN" altLang="en-US" sz="4400" dirty="0">
                <a:solidFill>
                  <a:srgbClr val="FF0000"/>
                </a:solidFill>
              </a:rPr>
              <a:t>预习</a:t>
            </a:r>
            <a:endParaRPr lang="zh-CN" altLang="en-US" sz="4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669925" y="778192"/>
            <a:ext cx="10852150" cy="4444047"/>
          </a:xfrm>
        </p:spPr>
        <p:txBody>
          <a:bodyPr/>
          <a:lstStyle/>
          <a:p>
            <a:r>
              <a:rPr lang="zh-CN" altLang="en-US" sz="3600" dirty="0"/>
              <a:t>完成</a:t>
            </a:r>
            <a:r>
              <a:rPr lang="zh-CN" altLang="en-US" sz="3600" dirty="0">
                <a:solidFill>
                  <a:srgbClr val="FF0000"/>
                </a:solidFill>
              </a:rPr>
              <a:t>课后作业</a:t>
            </a:r>
            <a:r>
              <a:rPr lang="zh-CN" altLang="en-US" sz="3600" dirty="0"/>
              <a:t>：</a:t>
            </a:r>
            <a:br>
              <a:rPr lang="en-US" altLang="zh-CN" sz="3600" dirty="0"/>
            </a:br>
            <a:br>
              <a:rPr lang="en-US" altLang="zh-CN" sz="3600" dirty="0"/>
            </a:br>
            <a:br>
              <a:rPr lang="en-US" altLang="zh-CN" sz="3600" dirty="0"/>
            </a:br>
            <a:br>
              <a:rPr lang="en-US" altLang="zh-CN" sz="3600" dirty="0"/>
            </a:br>
            <a:br>
              <a:rPr lang="en-US" altLang="zh-CN" sz="3600" dirty="0"/>
            </a:br>
            <a:r>
              <a:rPr lang="zh-CN" altLang="en-US" sz="2800" dirty="0"/>
              <a:t>第一章作业（见学习通，课后发布）</a:t>
            </a:r>
            <a:endParaRPr lang="zh-CN" altLang="en-US" sz="36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79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96579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TAG_VERSION" val="1.0"/>
  <p:tag name="KSO_WM_BEAUTIFY_FLAG" val="#wm#"/>
  <p:tag name="KSO_WM_COMBINE_RELATE_SLIDE_ID" val="custom925310_1"/>
  <p:tag name="KSO_WM_TEMPLATE_CATEGORY" val="custom"/>
  <p:tag name="KSO_WM_TEMPLATE_INDEX" val="20196579"/>
  <p:tag name="KSO_WM_TEMPLATE_SUBCATEGORY" val="0"/>
  <p:tag name="KSO_WM_TEMPLATE_THUMBS_INDEX" val="1"/>
</p:tagLst>
</file>

<file path=ppt/tags/tag71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4.xml><?xml version="1.0" encoding="utf-8"?>
<p:tagLst xmlns:p="http://schemas.openxmlformats.org/presentationml/2006/main">
  <p:tag name="KSO_WPP_MARK_KEY" val="fa891ce3-655c-4d00-add9-2849e16b941a"/>
  <p:tag name="COMMONDATA" val="eyJoZGlkIjoiY2YyZjYwNzZkOTRlODhkYjczZjVjNjg3YTAxMjY4NDkifQ=="/>
</p:tagLst>
</file>

<file path=ppt/theme/theme1.xml><?xml version="1.0" encoding="utf-8"?>
<a:theme xmlns:a="http://schemas.openxmlformats.org/drawingml/2006/main" name="1_Office 主题​​">
  <a:themeElements>
    <a:clrScheme name="自定义 4">
      <a:dk1>
        <a:srgbClr val="000000"/>
      </a:dk1>
      <a:lt1>
        <a:srgbClr val="FFFFFF"/>
      </a:lt1>
      <a:dk2>
        <a:srgbClr val="364048"/>
      </a:dk2>
      <a:lt2>
        <a:srgbClr val="8F7046"/>
      </a:lt2>
      <a:accent1>
        <a:srgbClr val="8F7046"/>
      </a:accent1>
      <a:accent2>
        <a:srgbClr val="C8AF92"/>
      </a:accent2>
      <a:accent3>
        <a:srgbClr val="C6BCB2"/>
      </a:accent3>
      <a:accent4>
        <a:srgbClr val="D7C9BC"/>
      </a:accent4>
      <a:accent5>
        <a:srgbClr val="364148"/>
      </a:accent5>
      <a:accent6>
        <a:srgbClr val="907046"/>
      </a:accent6>
      <a:hlink>
        <a:srgbClr val="D7C9BC"/>
      </a:hlink>
      <a:folHlink>
        <a:srgbClr val="BFBFBF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4856</Words>
  <Application>WPS 演示</Application>
  <PresentationFormat>宽屏</PresentationFormat>
  <Paragraphs>802</Paragraphs>
  <Slides>47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122</vt:i4>
      </vt:variant>
      <vt:variant>
        <vt:lpstr>幻灯片标题</vt:lpstr>
      </vt:variant>
      <vt:variant>
        <vt:i4>47</vt:i4>
      </vt:variant>
    </vt:vector>
  </HeadingPairs>
  <TitlesOfParts>
    <vt:vector size="185" baseType="lpstr">
      <vt:lpstr>Arial</vt:lpstr>
      <vt:lpstr>宋体</vt:lpstr>
      <vt:lpstr>Wingdings</vt:lpstr>
      <vt:lpstr>微软雅黑</vt:lpstr>
      <vt:lpstr>黑体</vt:lpstr>
      <vt:lpstr>Times New Roman</vt:lpstr>
      <vt:lpstr>Verdana</vt:lpstr>
      <vt:lpstr>楷体_GB2312</vt:lpstr>
      <vt:lpstr>新宋体</vt:lpstr>
      <vt:lpstr>Arial Unicode MS</vt:lpstr>
      <vt:lpstr>等线</vt:lpstr>
      <vt:lpstr>华文中宋</vt:lpstr>
      <vt:lpstr>Symbol</vt:lpstr>
      <vt:lpstr>MT Extra</vt:lpstr>
      <vt:lpstr>方正毡笔黑简体</vt:lpstr>
      <vt:lpstr>1_Office 主题​​</vt:lpstr>
      <vt:lpstr>Equation.3</vt:lpstr>
      <vt:lpstr>Equation.DSMT4</vt:lpstr>
      <vt:lpstr>Equation.DSMT4</vt:lpstr>
      <vt:lpstr>Equation.3</vt:lpstr>
      <vt:lpstr>Equation.3</vt:lpstr>
      <vt:lpstr>Equation.3</vt:lpstr>
      <vt:lpstr>Equation.3</vt:lpstr>
      <vt:lpstr>Word.Document.8</vt:lpstr>
      <vt:lpstr>Equation.DSMT4</vt:lpstr>
      <vt:lpstr>Equation.DSMT4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Equation.DSMT4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数学物理方法</vt:lpstr>
      <vt:lpstr>数学物理方法:核心</vt:lpstr>
      <vt:lpstr>建立数理方程的方法</vt:lpstr>
      <vt:lpstr>数理方程：泛定方程</vt:lpstr>
      <vt:lpstr>数学物理方程：完整表述</vt:lpstr>
      <vt:lpstr>定解问题及其适定性</vt:lpstr>
      <vt:lpstr>一. 初始条件</vt:lpstr>
      <vt:lpstr>PowerPoint 演示文稿</vt:lpstr>
      <vt:lpstr>PowerPoint 演示文稿</vt:lpstr>
      <vt:lpstr>二. 边界条件</vt:lpstr>
      <vt:lpstr>PowerPoint 演示文稿</vt:lpstr>
      <vt:lpstr>PowerPoint 演示文稿</vt:lpstr>
      <vt:lpstr>二. 边界条件</vt:lpstr>
      <vt:lpstr>3.三类边界条件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三.定解问题的提法</vt:lpstr>
      <vt:lpstr>PowerPoint 演示文稿</vt:lpstr>
      <vt:lpstr>PowerPoint 演示文稿</vt:lpstr>
      <vt:lpstr>PowerPoint 演示文稿</vt:lpstr>
      <vt:lpstr>PowerPoint 演示文稿</vt:lpstr>
      <vt:lpstr>总结：定解条件</vt:lpstr>
      <vt:lpstr>数理方程：初始条件</vt:lpstr>
      <vt:lpstr>数理方程：边界条件</vt:lpstr>
      <vt:lpstr>数理方程：边界条件</vt:lpstr>
      <vt:lpstr>数理方程：定解问题</vt:lpstr>
      <vt:lpstr>   </vt:lpstr>
      <vt:lpstr>PowerPoint 演示文稿</vt:lpstr>
      <vt:lpstr>数理方程：定解问题</vt:lpstr>
      <vt:lpstr>数理方程：定解问题的适定性</vt:lpstr>
      <vt:lpstr>线性方程的“算符形式”</vt:lpstr>
      <vt:lpstr>线性算符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叠加原理: 一个例子</vt:lpstr>
      <vt:lpstr>二阶线性偏微分方程: 通式和分类</vt:lpstr>
      <vt:lpstr>完成课后作业：     第一章作业（见学习通，课后发布）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Ning</cp:lastModifiedBy>
  <cp:revision>405</cp:revision>
  <dcterms:created xsi:type="dcterms:W3CDTF">2019-06-19T02:08:00Z</dcterms:created>
  <dcterms:modified xsi:type="dcterms:W3CDTF">2025-09-15T06:59:13Z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3335048BAB39438DAA6C8DD49D9BFD31_13</vt:lpwstr>
  </property>
</Properties>
</file>