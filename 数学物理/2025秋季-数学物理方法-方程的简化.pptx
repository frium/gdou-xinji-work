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09" r:id="rId3"/>
    <p:sldId id="696" r:id="rId4"/>
    <p:sldId id="349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710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" y="110"/>
      </p:cViewPr>
      <p:guideLst>
        <p:guide orient="horz" pos="2131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74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7.wmf"/><Relationship Id="rId2" Type="http://schemas.openxmlformats.org/officeDocument/2006/relationships/image" Target="../media/image10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.e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1.wmf"/><Relationship Id="rId5" Type="http://schemas.openxmlformats.org/officeDocument/2006/relationships/image" Target="../media/image52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62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image" Target="../media/image80.wmf"/><Relationship Id="rId7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0.wmf"/><Relationship Id="rId8" Type="http://schemas.openxmlformats.org/officeDocument/2006/relationships/image" Target="../media/image89.wmf"/><Relationship Id="rId7" Type="http://schemas.openxmlformats.org/officeDocument/2006/relationships/image" Target="../media/image88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2" Type="http://schemas.openxmlformats.org/officeDocument/2006/relationships/image" Target="../media/image93.wmf"/><Relationship Id="rId11" Type="http://schemas.openxmlformats.org/officeDocument/2006/relationships/image" Target="../media/image92.wmf"/><Relationship Id="rId10" Type="http://schemas.openxmlformats.org/officeDocument/2006/relationships/image" Target="../media/image91.wmf"/><Relationship Id="rId1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0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BB4D1-3636-4DC6-BA37-41C7B9A525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E650-E025-4D49-915D-EE9E1D39EB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49570" name="幻灯片图像占位符 7495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9571" name="文本占位符 7495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5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6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5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7.e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4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mf"/><Relationship Id="rId8" Type="http://schemas.openxmlformats.org/officeDocument/2006/relationships/oleObject" Target="../embeddings/oleObject23.bin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25.bin"/><Relationship Id="rId10" Type="http://schemas.openxmlformats.org/officeDocument/2006/relationships/oleObject" Target="../embeddings/oleObject24.bin"/><Relationship Id="rId1" Type="http://schemas.openxmlformats.org/officeDocument/2006/relationships/oleObject" Target="../embeddings/oleObject1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7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6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1.wmf"/><Relationship Id="rId19" Type="http://schemas.openxmlformats.org/officeDocument/2006/relationships/vmlDrawing" Target="../drawings/vmlDrawing8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40.png"/><Relationship Id="rId16" Type="http://schemas.microsoft.com/office/2007/relationships/hdphoto" Target="../media/image39.wdp"/><Relationship Id="rId15" Type="http://schemas.openxmlformats.org/officeDocument/2006/relationships/image" Target="../media/image38.png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9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1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5.wmf"/><Relationship Id="rId1" Type="http://schemas.openxmlformats.org/officeDocument/2006/relationships/oleObject" Target="../embeddings/oleObject4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8.bin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4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6.wmf"/><Relationship Id="rId17" Type="http://schemas.openxmlformats.org/officeDocument/2006/relationships/oleObject" Target="../embeddings/oleObject55.bin"/><Relationship Id="rId16" Type="http://schemas.openxmlformats.org/officeDocument/2006/relationships/image" Target="../media/image55.wmf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7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5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2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68.bin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6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67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6.bin"/><Relationship Id="rId20" Type="http://schemas.openxmlformats.org/officeDocument/2006/relationships/vmlDrawing" Target="../drawings/vmlDrawing14.vml"/><Relationship Id="rId2" Type="http://schemas.openxmlformats.org/officeDocument/2006/relationships/image" Target="../media/image7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81.wmf"/><Relationship Id="rId17" Type="http://schemas.openxmlformats.org/officeDocument/2006/relationships/oleObject" Target="../embeddings/oleObject83.bin"/><Relationship Id="rId16" Type="http://schemas.openxmlformats.org/officeDocument/2006/relationships/image" Target="../media/image80.wmf"/><Relationship Id="rId15" Type="http://schemas.openxmlformats.org/officeDocument/2006/relationships/oleObject" Target="../embeddings/oleObject82.bin"/><Relationship Id="rId14" Type="http://schemas.openxmlformats.org/officeDocument/2006/relationships/image" Target="../media/image79.wmf"/><Relationship Id="rId13" Type="http://schemas.openxmlformats.org/officeDocument/2006/relationships/oleObject" Target="../embeddings/oleObject81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80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85.bin"/><Relationship Id="rId26" Type="http://schemas.openxmlformats.org/officeDocument/2006/relationships/vmlDrawing" Target="../drawings/vmlDrawing15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93.wmf"/><Relationship Id="rId23" Type="http://schemas.openxmlformats.org/officeDocument/2006/relationships/oleObject" Target="../embeddings/oleObject95.bin"/><Relationship Id="rId22" Type="http://schemas.openxmlformats.org/officeDocument/2006/relationships/image" Target="../media/image92.wmf"/><Relationship Id="rId21" Type="http://schemas.openxmlformats.org/officeDocument/2006/relationships/oleObject" Target="../embeddings/oleObject94.bin"/><Relationship Id="rId20" Type="http://schemas.openxmlformats.org/officeDocument/2006/relationships/image" Target="../media/image91.wmf"/><Relationship Id="rId2" Type="http://schemas.openxmlformats.org/officeDocument/2006/relationships/image" Target="../media/image82.wmf"/><Relationship Id="rId19" Type="http://schemas.openxmlformats.org/officeDocument/2006/relationships/oleObject" Target="../embeddings/oleObject93.bin"/><Relationship Id="rId18" Type="http://schemas.openxmlformats.org/officeDocument/2006/relationships/image" Target="../media/image90.wmf"/><Relationship Id="rId17" Type="http://schemas.openxmlformats.org/officeDocument/2006/relationships/oleObject" Target="../embeddings/oleObject92.bin"/><Relationship Id="rId16" Type="http://schemas.openxmlformats.org/officeDocument/2006/relationships/image" Target="../media/image89.wmf"/><Relationship Id="rId15" Type="http://schemas.openxmlformats.org/officeDocument/2006/relationships/oleObject" Target="../embeddings/oleObject91.bin"/><Relationship Id="rId14" Type="http://schemas.openxmlformats.org/officeDocument/2006/relationships/image" Target="../media/image88.wmf"/><Relationship Id="rId13" Type="http://schemas.openxmlformats.org/officeDocument/2006/relationships/oleObject" Target="../embeddings/oleObject90.bin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89.bin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8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4.wmf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0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9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4.bin"/><Relationship Id="rId20" Type="http://schemas.openxmlformats.org/officeDocument/2006/relationships/vmlDrawing" Target="../drawings/vmlDrawing17.vml"/><Relationship Id="rId2" Type="http://schemas.openxmlformats.org/officeDocument/2006/relationships/image" Target="../media/image101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111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110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3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713548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 dirty="0"/>
              <a:t>数学物理方法</a:t>
            </a:r>
            <a:endParaRPr lang="zh-CN" altLang="zh-CN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669886" y="2728908"/>
            <a:ext cx="7200900" cy="16755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海洋与气象学院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71" y="4542503"/>
            <a:ext cx="1983657" cy="19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标题 748545"/>
          <p:cNvSpPr>
            <a:spLocks noGrp="1"/>
          </p:cNvSpPr>
          <p:nvPr>
            <p:ph type="title" sz="quarter"/>
          </p:nvPr>
        </p:nvSpPr>
        <p:spPr>
          <a:xfrm>
            <a:off x="2067070" y="1205057"/>
            <a:ext cx="8229600" cy="1143000"/>
          </a:xfrm>
        </p:spPr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ea typeface="黑体" panose="02010609060101010101" pitchFamily="49" charset="-122"/>
              </a:rPr>
              <a:t>数学物理方程：</a:t>
            </a:r>
            <a:r>
              <a:rPr lang="zh-CN" altLang="en-US" sz="4800" dirty="0">
                <a:solidFill>
                  <a:srgbClr val="0000FF"/>
                </a:solidFill>
                <a:ea typeface="黑体" panose="02010609060101010101" pitchFamily="49" charset="-122"/>
              </a:rPr>
              <a:t>完整表述</a:t>
            </a:r>
            <a:endParaRPr lang="zh-CN" altLang="en-US" sz="4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48547" name="文本框 748546"/>
          <p:cNvSpPr txBox="1"/>
          <p:nvPr/>
        </p:nvSpPr>
        <p:spPr>
          <a:xfrm>
            <a:off x="3795858" y="2860821"/>
            <a:ext cx="5402263" cy="2369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泛定方程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定解条件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8549" name="文本框 748548"/>
          <p:cNvSpPr txBox="1"/>
          <p:nvPr/>
        </p:nvSpPr>
        <p:spPr>
          <a:xfrm>
            <a:off x="6243783" y="3364058"/>
            <a:ext cx="25193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定解问题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48550" name="右大括号 748549"/>
          <p:cNvSpPr/>
          <p:nvPr/>
        </p:nvSpPr>
        <p:spPr>
          <a:xfrm>
            <a:off x="6027882" y="3221183"/>
            <a:ext cx="431800" cy="1008063"/>
          </a:xfrm>
          <a:prstGeom prst="rightBrace">
            <a:avLst>
              <a:gd name="adj1" fmla="val 1945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二阶线性偏微分方程分类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3910" name="Object 6"/>
          <p:cNvGraphicFramePr>
            <a:graphicFrameLocks noChangeAspect="1"/>
          </p:cNvGraphicFramePr>
          <p:nvPr/>
        </p:nvGraphicFramePr>
        <p:xfrm>
          <a:off x="7251383" y="2781300"/>
          <a:ext cx="352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165100" progId="Equation.3">
                  <p:embed/>
                </p:oleObj>
              </mc:Choice>
              <mc:Fallback>
                <p:oleObj name="" r:id="rId1" imgW="165100" imgH="1651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51383" y="2781300"/>
                        <a:ext cx="3524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3" name="Group 17"/>
          <p:cNvGrpSpPr/>
          <p:nvPr/>
        </p:nvGrpSpPr>
        <p:grpSpPr>
          <a:xfrm>
            <a:off x="2185988" y="1484313"/>
            <a:ext cx="8013700" cy="5146675"/>
            <a:chOff x="417" y="935"/>
            <a:chExt cx="5048" cy="3242"/>
          </a:xfrm>
        </p:grpSpPr>
        <p:sp>
          <p:nvSpPr>
            <p:cNvPr id="15364" name="Text Box 3"/>
            <p:cNvSpPr txBox="1"/>
            <p:nvPr/>
          </p:nvSpPr>
          <p:spPr>
            <a:xfrm>
              <a:off x="903" y="935"/>
              <a:ext cx="15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一般形式及分类判别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5365" name="Object 4"/>
            <p:cNvGraphicFramePr>
              <a:graphicFrameLocks noChangeAspect="1"/>
            </p:cNvGraphicFramePr>
            <p:nvPr/>
          </p:nvGraphicFramePr>
          <p:xfrm>
            <a:off x="417" y="1279"/>
            <a:ext cx="4994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52800" imgH="266700" progId="Equation.DSMT4">
                    <p:embed/>
                  </p:oleObj>
                </mc:Choice>
                <mc:Fallback>
                  <p:oleObj name="" r:id="rId3" imgW="3352800" imgH="2667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7" y="1279"/>
                          <a:ext cx="4994" cy="399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5"/>
            <p:cNvGraphicFramePr>
              <a:graphicFrameLocks noChangeAspect="1"/>
            </p:cNvGraphicFramePr>
            <p:nvPr/>
          </p:nvGraphicFramePr>
          <p:xfrm>
            <a:off x="1046" y="1707"/>
            <a:ext cx="17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358265" imgH="215900" progId="Equation.3">
                    <p:embed/>
                  </p:oleObj>
                </mc:Choice>
                <mc:Fallback>
                  <p:oleObj name="" r:id="rId5" imgW="1358265" imgH="2159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6" y="1707"/>
                          <a:ext cx="178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7" name="Rectangle 7"/>
            <p:cNvSpPr/>
            <p:nvPr/>
          </p:nvSpPr>
          <p:spPr>
            <a:xfrm>
              <a:off x="499" y="1753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68" name="Rectangle 8"/>
            <p:cNvSpPr/>
            <p:nvPr/>
          </p:nvSpPr>
          <p:spPr>
            <a:xfrm>
              <a:off x="2789" y="1754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都是区域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69" name="Rectangle 9"/>
            <p:cNvSpPr/>
            <p:nvPr/>
          </p:nvSpPr>
          <p:spPr>
            <a:xfrm>
              <a:off x="3923" y="1754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上的实函数，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0" name="Rectangle 10"/>
            <p:cNvSpPr/>
            <p:nvPr/>
          </p:nvSpPr>
          <p:spPr>
            <a:xfrm>
              <a:off x="521" y="2119"/>
              <a:ext cx="1843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并假定它们是连续可微的。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二阶主部为：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5371" name="Object 11"/>
            <p:cNvGraphicFramePr>
              <a:graphicFrameLocks noChangeAspect="1"/>
            </p:cNvGraphicFramePr>
            <p:nvPr/>
          </p:nvGraphicFramePr>
          <p:xfrm>
            <a:off x="2245" y="2341"/>
            <a:ext cx="2495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473200" imgH="241300" progId="Equation.DSMT4">
                    <p:embed/>
                  </p:oleObj>
                </mc:Choice>
                <mc:Fallback>
                  <p:oleObj name="" r:id="rId7" imgW="1473200" imgH="241300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45" y="2341"/>
                          <a:ext cx="2495" cy="410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65881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2"/>
            <p:cNvGraphicFramePr>
              <a:graphicFrameLocks noChangeAspect="1"/>
            </p:cNvGraphicFramePr>
            <p:nvPr/>
          </p:nvGraphicFramePr>
          <p:xfrm>
            <a:off x="1875" y="2886"/>
            <a:ext cx="2555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00200" imgH="698500" progId="Equation.DSMT4">
                    <p:embed/>
                  </p:oleObj>
                </mc:Choice>
                <mc:Fallback>
                  <p:oleObj name="" r:id="rId9" imgW="1600200" imgH="6985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875" y="2886"/>
                          <a:ext cx="2555" cy="11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Text Box 13"/>
            <p:cNvSpPr txBox="1"/>
            <p:nvPr/>
          </p:nvSpPr>
          <p:spPr>
            <a:xfrm>
              <a:off x="521" y="2840"/>
              <a:ext cx="204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判别式及分类：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4" name="AutoShape 14"/>
            <p:cNvSpPr/>
            <p:nvPr/>
          </p:nvSpPr>
          <p:spPr>
            <a:xfrm>
              <a:off x="4516" y="2768"/>
              <a:ext cx="949" cy="384"/>
            </a:xfrm>
            <a:prstGeom prst="borderCallout1">
              <a:avLst>
                <a:gd name="adj1" fmla="val 18750"/>
                <a:gd name="adj2" fmla="val -5060"/>
                <a:gd name="adj3" fmla="val 71093"/>
                <a:gd name="adj4" fmla="val -47736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双曲型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375" name="AutoShape 15"/>
            <p:cNvSpPr/>
            <p:nvPr/>
          </p:nvSpPr>
          <p:spPr>
            <a:xfrm>
              <a:off x="4513" y="3267"/>
              <a:ext cx="952" cy="384"/>
            </a:xfrm>
            <a:prstGeom prst="borderCallout1">
              <a:avLst>
                <a:gd name="adj1" fmla="val 18750"/>
                <a:gd name="adj2" fmla="val -5042"/>
                <a:gd name="adj3" fmla="val 42449"/>
                <a:gd name="adj4" fmla="val -44431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抛物型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5376" name="AutoShape 16"/>
            <p:cNvSpPr/>
            <p:nvPr/>
          </p:nvSpPr>
          <p:spPr>
            <a:xfrm>
              <a:off x="4558" y="3793"/>
              <a:ext cx="893" cy="384"/>
            </a:xfrm>
            <a:prstGeom prst="borderCallout1">
              <a:avLst>
                <a:gd name="adj1" fmla="val 18750"/>
                <a:gd name="adj2" fmla="val -5375"/>
                <a:gd name="adj3" fmla="val 5731"/>
                <a:gd name="adj4" fmla="val -53861"/>
              </a:avLst>
            </a:prstGeom>
            <a:solidFill>
              <a:srgbClr val="00FFFF">
                <a:alpha val="34117"/>
              </a:srgbClr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oval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椭圆型</a:t>
              </a:r>
              <a:endParaRPr lang="zh-CN" altLang="en-US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7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方程简化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7462" name="Object 6"/>
          <p:cNvGraphicFramePr>
            <a:graphicFrameLocks noChangeAspect="1"/>
          </p:cNvGraphicFramePr>
          <p:nvPr/>
        </p:nvGraphicFramePr>
        <p:xfrm>
          <a:off x="6832283" y="2774950"/>
          <a:ext cx="2936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165100" progId="Equation.3">
                  <p:embed/>
                </p:oleObj>
              </mc:Choice>
              <mc:Fallback>
                <p:oleObj name="" r:id="rId1" imgW="165100" imgH="1651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32283" y="2774950"/>
                        <a:ext cx="293687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1" name="Group 18"/>
          <p:cNvGrpSpPr/>
          <p:nvPr/>
        </p:nvGrpSpPr>
        <p:grpSpPr>
          <a:xfrm>
            <a:off x="1639888" y="1474788"/>
            <a:ext cx="8128000" cy="4919662"/>
            <a:chOff x="209" y="935"/>
            <a:chExt cx="5120" cy="3099"/>
          </a:xfrm>
        </p:grpSpPr>
        <p:sp>
          <p:nvSpPr>
            <p:cNvPr id="17412" name="Text Box 3"/>
            <p:cNvSpPr txBox="1"/>
            <p:nvPr/>
          </p:nvSpPr>
          <p:spPr>
            <a:xfrm>
              <a:off x="476" y="935"/>
              <a:ext cx="306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线性二阶偏微分方程的一般形式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(2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个自变量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13" name="Object 4"/>
            <p:cNvGraphicFramePr>
              <a:graphicFrameLocks noChangeAspect="1"/>
            </p:cNvGraphicFramePr>
            <p:nvPr/>
          </p:nvGraphicFramePr>
          <p:xfrm>
            <a:off x="209" y="1279"/>
            <a:ext cx="4956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3327400" imgH="266700" progId="Equation.DSMT4">
                    <p:embed/>
                  </p:oleObj>
                </mc:Choice>
                <mc:Fallback>
                  <p:oleObj name="" r:id="rId3" imgW="3327400" imgH="2667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9" y="1279"/>
                          <a:ext cx="4956" cy="399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58823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5"/>
            <p:cNvGraphicFramePr>
              <a:graphicFrameLocks noChangeAspect="1"/>
            </p:cNvGraphicFramePr>
            <p:nvPr/>
          </p:nvGraphicFramePr>
          <p:xfrm>
            <a:off x="1111" y="1752"/>
            <a:ext cx="172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358265" imgH="215900" progId="Equation.3">
                    <p:embed/>
                  </p:oleObj>
                </mc:Choice>
                <mc:Fallback>
                  <p:oleObj name="" r:id="rId5" imgW="1358265" imgH="2159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1" y="1752"/>
                          <a:ext cx="1728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Rectangle 7"/>
            <p:cNvSpPr/>
            <p:nvPr/>
          </p:nvSpPr>
          <p:spPr>
            <a:xfrm>
              <a:off x="499" y="1752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6" name="Rectangle 8"/>
            <p:cNvSpPr/>
            <p:nvPr/>
          </p:nvSpPr>
          <p:spPr>
            <a:xfrm>
              <a:off x="2789" y="1753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都是区域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7" name="Rectangle 9"/>
            <p:cNvSpPr/>
            <p:nvPr/>
          </p:nvSpPr>
          <p:spPr>
            <a:xfrm>
              <a:off x="3665" y="1749"/>
              <a:ext cx="97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上的实函数，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8" name="Rectangle 10"/>
            <p:cNvSpPr/>
            <p:nvPr/>
          </p:nvSpPr>
          <p:spPr>
            <a:xfrm>
              <a:off x="431" y="2116"/>
              <a:ext cx="184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并假定它们是连续可微的。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9" name="Rectangle 11"/>
            <p:cNvSpPr/>
            <p:nvPr/>
          </p:nvSpPr>
          <p:spPr>
            <a:xfrm>
              <a:off x="431" y="2568"/>
              <a:ext cx="489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个自变量：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0" name="Object 12"/>
            <p:cNvGraphicFramePr>
              <a:graphicFrameLocks noChangeAspect="1"/>
            </p:cNvGraphicFramePr>
            <p:nvPr/>
          </p:nvGraphicFramePr>
          <p:xfrm>
            <a:off x="1202" y="2976"/>
            <a:ext cx="335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476500" imgH="469900" progId="Equation.DSMT4">
                    <p:embed/>
                  </p:oleObj>
                </mc:Choice>
                <mc:Fallback>
                  <p:oleObj name="" r:id="rId7" imgW="2476500" imgH="469900" progId="Equation.DSMT4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2" y="2976"/>
                          <a:ext cx="3356" cy="638"/>
                        </a:xfrm>
                        <a:prstGeom prst="rect">
                          <a:avLst/>
                        </a:prstGeom>
                        <a:solidFill>
                          <a:srgbClr val="00CCFF">
                            <a:alpha val="58823"/>
                          </a:srgbClr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1" name="Rectangle 13"/>
            <p:cNvSpPr/>
            <p:nvPr/>
          </p:nvSpPr>
          <p:spPr>
            <a:xfrm>
              <a:off x="657" y="3735"/>
              <a:ext cx="59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 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2" name="Object 14"/>
            <p:cNvGraphicFramePr>
              <a:graphicFrameLocks noChangeAspect="1"/>
            </p:cNvGraphicFramePr>
            <p:nvPr/>
          </p:nvGraphicFramePr>
          <p:xfrm>
            <a:off x="1247" y="3657"/>
            <a:ext cx="1043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660400" imgH="241300" progId="Equation.3">
                    <p:embed/>
                  </p:oleObj>
                </mc:Choice>
                <mc:Fallback>
                  <p:oleObj name="" r:id="rId9" imgW="660400" imgH="2413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47" y="3657"/>
                          <a:ext cx="1043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Rectangle 15"/>
            <p:cNvSpPr/>
            <p:nvPr/>
          </p:nvSpPr>
          <p:spPr>
            <a:xfrm>
              <a:off x="2498" y="3519"/>
              <a:ext cx="867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是自变量</a:t>
              </a:r>
              <a:r>
                <a:rPr lang="zh-CN" altLang="en-US" sz="4400" b="0" dirty="0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 </a:t>
              </a:r>
              <a:endParaRPr lang="zh-CN" altLang="en-US" sz="4400" b="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7424" name="Object 16"/>
            <p:cNvGraphicFramePr>
              <a:graphicFrameLocks noChangeAspect="1"/>
            </p:cNvGraphicFramePr>
            <p:nvPr/>
          </p:nvGraphicFramePr>
          <p:xfrm>
            <a:off x="3334" y="3612"/>
            <a:ext cx="1203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761365" imgH="228600" progId="Equation.3">
                    <p:embed/>
                  </p:oleObj>
                </mc:Choice>
                <mc:Fallback>
                  <p:oleObj name="" r:id="rId11" imgW="761365" imgH="2286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34" y="3612"/>
                          <a:ext cx="1203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Rectangle 17"/>
            <p:cNvSpPr/>
            <p:nvPr/>
          </p:nvSpPr>
          <p:spPr>
            <a:xfrm>
              <a:off x="4558" y="3690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的函数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77092" y="2069525"/>
            <a:ext cx="1251642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变量替换与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方程转型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434" name="Rectangle 3"/>
          <p:cNvSpPr/>
          <p:nvPr/>
        </p:nvSpPr>
        <p:spPr>
          <a:xfrm>
            <a:off x="2351088" y="1416844"/>
            <a:ext cx="5040312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304800"/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(1)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变量代换：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8435" name="Group 4"/>
          <p:cNvGrpSpPr/>
          <p:nvPr/>
        </p:nvGrpSpPr>
        <p:grpSpPr>
          <a:xfrm>
            <a:off x="5102225" y="1341438"/>
            <a:ext cx="4175125" cy="557212"/>
            <a:chOff x="922" y="2832"/>
            <a:chExt cx="2543" cy="295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922" y="2841"/>
            <a:ext cx="103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85800" imgH="190500" progId="Equation.DSMT4">
                    <p:embed/>
                  </p:oleObj>
                </mc:Choice>
                <mc:Fallback>
                  <p:oleObj name="" r:id="rId1" imgW="685800" imgH="1905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22" y="2841"/>
                          <a:ext cx="1036" cy="28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37" name="Object 6"/>
            <p:cNvGraphicFramePr>
              <a:graphicFrameLocks noChangeAspect="1"/>
            </p:cNvGraphicFramePr>
            <p:nvPr/>
          </p:nvGraphicFramePr>
          <p:xfrm>
            <a:off x="2440" y="2832"/>
            <a:ext cx="102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36600" imgH="203200" progId="Equation.DSMT4">
                    <p:embed/>
                  </p:oleObj>
                </mc:Choice>
                <mc:Fallback>
                  <p:oleObj name="" r:id="rId3" imgW="736600" imgH="203200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0" y="2832"/>
                          <a:ext cx="1025" cy="27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8" name="Rectangle 7"/>
          <p:cNvSpPr/>
          <p:nvPr/>
        </p:nvSpPr>
        <p:spPr>
          <a:xfrm>
            <a:off x="2709863" y="2239169"/>
            <a:ext cx="1833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一般式转为：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8439" name="Object 8"/>
          <p:cNvGraphicFramePr>
            <a:graphicFrameLocks noChangeAspect="1"/>
          </p:cNvGraphicFramePr>
          <p:nvPr/>
        </p:nvGraphicFramePr>
        <p:xfrm>
          <a:off x="2279650" y="2781300"/>
          <a:ext cx="79787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835400" imgH="266700" progId="Equation.DSMT4">
                  <p:embed/>
                </p:oleObj>
              </mc:Choice>
              <mc:Fallback>
                <p:oleObj name="" r:id="rId5" imgW="3835400" imgH="2667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650" y="2781300"/>
                        <a:ext cx="7978775" cy="56832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9"/>
          <p:cNvSpPr/>
          <p:nvPr/>
        </p:nvSpPr>
        <p:spPr>
          <a:xfrm>
            <a:off x="2638425" y="4225132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系数为：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8441" name="Object 10"/>
          <p:cNvGraphicFramePr>
            <a:graphicFrameLocks noChangeAspect="1"/>
          </p:cNvGraphicFramePr>
          <p:nvPr/>
        </p:nvGraphicFramePr>
        <p:xfrm>
          <a:off x="4295775" y="3549650"/>
          <a:ext cx="5472113" cy="309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4114800" imgH="2286000" progId="Equation.DSMT4">
                  <p:embed/>
                </p:oleObj>
              </mc:Choice>
              <mc:Fallback>
                <p:oleObj name="" r:id="rId7" imgW="4114800" imgH="22860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E2C5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95775" y="3549650"/>
                        <a:ext cx="5472113" cy="3094038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AutoShape 12"/>
          <p:cNvSpPr/>
          <p:nvPr/>
        </p:nvSpPr>
        <p:spPr>
          <a:xfrm>
            <a:off x="6311900" y="0"/>
            <a:ext cx="4356100" cy="1196975"/>
          </a:xfrm>
          <a:prstGeom prst="cloudCallout">
            <a:avLst>
              <a:gd name="adj1" fmla="val -86991"/>
              <a:gd name="adj2" fmla="val 662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1800" dirty="0">
                <a:solidFill>
                  <a:srgbClr val="0000CC"/>
                </a:solidFill>
                <a:latin typeface="Arial" panose="020B0604020202020204" pitchFamily="34" charset="0"/>
                <a:ea typeface="方正毡笔黑简体" pitchFamily="65" charset="-122"/>
              </a:rPr>
              <a:t>变量替换是研究偏微分方程的有效手段，适当的变换，可简化方程、易求解。</a:t>
            </a:r>
            <a:endParaRPr lang="zh-CN" altLang="en-US" sz="1800" dirty="0">
              <a:solidFill>
                <a:srgbClr val="0000CC"/>
              </a:solidFill>
              <a:latin typeface="Arial" panose="020B0604020202020204" pitchFamily="34" charset="0"/>
              <a:ea typeface="方正毡笔黑简体" pitchFamily="65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728" y="2880796"/>
            <a:ext cx="1371021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2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注：变量替换必须为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非奇异变换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9458" name="Group 4"/>
          <p:cNvGrpSpPr/>
          <p:nvPr/>
        </p:nvGrpSpPr>
        <p:grpSpPr>
          <a:xfrm>
            <a:off x="3935413" y="1628775"/>
            <a:ext cx="4103687" cy="557213"/>
            <a:chOff x="922" y="2832"/>
            <a:chExt cx="2543" cy="295"/>
          </a:xfrm>
        </p:grpSpPr>
        <p:graphicFrame>
          <p:nvGraphicFramePr>
            <p:cNvPr id="19459" name="Object 5"/>
            <p:cNvGraphicFramePr>
              <a:graphicFrameLocks noChangeAspect="1"/>
            </p:cNvGraphicFramePr>
            <p:nvPr/>
          </p:nvGraphicFramePr>
          <p:xfrm>
            <a:off x="922" y="2841"/>
            <a:ext cx="1036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685800" imgH="190500" progId="Equation.DSMT4">
                    <p:embed/>
                  </p:oleObj>
                </mc:Choice>
                <mc:Fallback>
                  <p:oleObj name="" r:id="rId1" imgW="685800" imgH="190500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22" y="2841"/>
                          <a:ext cx="1036" cy="28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0" name="Object 6"/>
            <p:cNvGraphicFramePr>
              <a:graphicFrameLocks noChangeAspect="1"/>
            </p:cNvGraphicFramePr>
            <p:nvPr/>
          </p:nvGraphicFramePr>
          <p:xfrm>
            <a:off x="2440" y="2832"/>
            <a:ext cx="102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36600" imgH="203200" progId="Equation.DSMT4">
                    <p:embed/>
                  </p:oleObj>
                </mc:Choice>
                <mc:Fallback>
                  <p:oleObj name="" r:id="rId3" imgW="736600" imgH="203200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40" y="2832"/>
                          <a:ext cx="1025" cy="27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1" name="Rectangle 7"/>
          <p:cNvSpPr/>
          <p:nvPr/>
        </p:nvSpPr>
        <p:spPr>
          <a:xfrm>
            <a:off x="2208213" y="2983866"/>
            <a:ext cx="7848600" cy="4235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非奇异变换：雅克比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(Jacobi)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行列式在点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不等于零，即：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9462" name="Object 10"/>
          <p:cNvGraphicFramePr>
            <a:graphicFrameLocks noChangeAspect="1"/>
          </p:cNvGraphicFramePr>
          <p:nvPr/>
        </p:nvGraphicFramePr>
        <p:xfrm>
          <a:off x="3000375" y="4005263"/>
          <a:ext cx="669607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911600" imgH="711200" progId="Equation.DSMT4">
                  <p:embed/>
                </p:oleObj>
              </mc:Choice>
              <mc:Fallback>
                <p:oleObj name="" r:id="rId5" imgW="3911600" imgH="7112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E2C5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0375" y="4005263"/>
                        <a:ext cx="6696075" cy="1336675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117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2"/>
          <p:cNvSpPr/>
          <p:nvPr/>
        </p:nvSpPr>
        <p:spPr>
          <a:xfrm>
            <a:off x="2424113" y="5607209"/>
            <a:ext cx="7848600" cy="4235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则：在点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附近变换是可逆的。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 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方程简化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0482" name="Group 38"/>
          <p:cNvGrpSpPr/>
          <p:nvPr/>
        </p:nvGrpSpPr>
        <p:grpSpPr>
          <a:xfrm>
            <a:off x="2279650" y="4221163"/>
            <a:ext cx="6840538" cy="584199"/>
            <a:chOff x="476" y="2659"/>
            <a:chExt cx="4309" cy="368"/>
          </a:xfrm>
        </p:grpSpPr>
        <p:sp>
          <p:nvSpPr>
            <p:cNvPr id="20483" name="Text Box 31"/>
            <p:cNvSpPr txBox="1"/>
            <p:nvPr/>
          </p:nvSpPr>
          <p:spPr>
            <a:xfrm>
              <a:off x="476" y="2659"/>
              <a:ext cx="4309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4. 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求特解</a:t>
              </a:r>
              <a:endParaRPr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84" name="Object 32"/>
            <p:cNvGraphicFramePr>
              <a:graphicFrameLocks noChangeAspect="1"/>
            </p:cNvGraphicFramePr>
            <p:nvPr/>
          </p:nvGraphicFramePr>
          <p:xfrm>
            <a:off x="1610" y="2659"/>
            <a:ext cx="21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27000" imgH="203200" progId="Equation.DSMT4">
                    <p:embed/>
                  </p:oleObj>
                </mc:Choice>
                <mc:Fallback>
                  <p:oleObj name="" r:id="rId1" imgW="127000" imgH="2032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10" y="2659"/>
                          <a:ext cx="210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33"/>
            <p:cNvGraphicFramePr>
              <a:graphicFrameLocks noChangeAspect="1"/>
            </p:cNvGraphicFramePr>
            <p:nvPr/>
          </p:nvGraphicFramePr>
          <p:xfrm>
            <a:off x="1837" y="2704"/>
            <a:ext cx="2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7000" imgH="165100" progId="Equation.3">
                    <p:embed/>
                  </p:oleObj>
                </mc:Choice>
                <mc:Fallback>
                  <p:oleObj name="" r:id="rId3" imgW="127000" imgH="1651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7" y="2704"/>
                          <a:ext cx="2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6" name="Group 37"/>
          <p:cNvGrpSpPr/>
          <p:nvPr/>
        </p:nvGrpSpPr>
        <p:grpSpPr>
          <a:xfrm>
            <a:off x="2613025" y="1517650"/>
            <a:ext cx="7920038" cy="4551363"/>
            <a:chOff x="567" y="819"/>
            <a:chExt cx="4989" cy="2867"/>
          </a:xfrm>
        </p:grpSpPr>
        <p:sp>
          <p:nvSpPr>
            <p:cNvPr id="20487" name="Rectangle 19"/>
            <p:cNvSpPr/>
            <p:nvPr/>
          </p:nvSpPr>
          <p:spPr>
            <a:xfrm>
              <a:off x="567" y="845"/>
              <a:ext cx="317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indent="304800"/>
              <a:r>
                <a:rPr lang="zh-CN" altLang="en-US" sz="2800" i="1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构造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一阶偏微分方程：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488" name="Rectangle 23"/>
            <p:cNvSpPr/>
            <p:nvPr/>
          </p:nvSpPr>
          <p:spPr>
            <a:xfrm>
              <a:off x="793" y="1346"/>
              <a:ext cx="1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求一个特解      ，则：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0489" name="Rectangle 25"/>
            <p:cNvSpPr/>
            <p:nvPr/>
          </p:nvSpPr>
          <p:spPr>
            <a:xfrm>
              <a:off x="793" y="2299"/>
              <a:ext cx="195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再求另一个特解    ，则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i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22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= </a:t>
              </a:r>
              <a:r>
                <a:rPr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0490" name="Object 27"/>
            <p:cNvGraphicFramePr>
              <a:graphicFrameLocks noChangeAspect="1"/>
            </p:cNvGraphicFramePr>
            <p:nvPr/>
          </p:nvGraphicFramePr>
          <p:xfrm>
            <a:off x="2912" y="819"/>
            <a:ext cx="257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980565" imgH="292100" progId="Equation.DSMT4">
                    <p:embed/>
                  </p:oleObj>
                </mc:Choice>
                <mc:Fallback>
                  <p:oleObj name="" r:id="rId5" imgW="1980565" imgH="2921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12" y="819"/>
                          <a:ext cx="2571" cy="384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Object 28"/>
            <p:cNvGraphicFramePr>
              <a:graphicFrameLocks noChangeAspect="1"/>
            </p:cNvGraphicFramePr>
            <p:nvPr/>
          </p:nvGraphicFramePr>
          <p:xfrm>
            <a:off x="1578" y="1298"/>
            <a:ext cx="21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27000" imgH="203200" progId="Equation.DSMT4">
                    <p:embed/>
                  </p:oleObj>
                </mc:Choice>
                <mc:Fallback>
                  <p:oleObj name="" r:id="rId7" imgW="127000" imgH="203200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78" y="1298"/>
                          <a:ext cx="210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29"/>
            <p:cNvGraphicFramePr>
              <a:graphicFrameLocks noChangeAspect="1"/>
            </p:cNvGraphicFramePr>
            <p:nvPr/>
          </p:nvGraphicFramePr>
          <p:xfrm>
            <a:off x="1020" y="1706"/>
            <a:ext cx="4083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8" imgW="2781300" imgH="254000" progId="Equation.DSMT4">
                    <p:embed/>
                  </p:oleObj>
                </mc:Choice>
                <mc:Fallback>
                  <p:oleObj name="" r:id="rId8" imgW="2781300" imgH="254000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20" y="1706"/>
                          <a:ext cx="4083" cy="378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30"/>
            <p:cNvGraphicFramePr>
              <a:graphicFrameLocks noChangeAspect="1"/>
            </p:cNvGraphicFramePr>
            <p:nvPr/>
          </p:nvGraphicFramePr>
          <p:xfrm>
            <a:off x="1842" y="2243"/>
            <a:ext cx="2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0" imgW="127000" imgH="165100" progId="Equation.3">
                    <p:embed/>
                  </p:oleObj>
                </mc:Choice>
                <mc:Fallback>
                  <p:oleObj name="" r:id="rId10" imgW="127000" imgH="1651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2" y="2243"/>
                          <a:ext cx="2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ct 34"/>
            <p:cNvGraphicFramePr>
              <a:graphicFrameLocks noChangeAspect="1"/>
            </p:cNvGraphicFramePr>
            <p:nvPr/>
          </p:nvGraphicFramePr>
          <p:xfrm>
            <a:off x="1020" y="2941"/>
            <a:ext cx="3213" cy="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1" imgW="2297430" imgH="533400" progId="Equation.DSMT4">
                    <p:embed/>
                  </p:oleObj>
                </mc:Choice>
                <mc:Fallback>
                  <p:oleObj name="" r:id="rId11" imgW="2297430" imgH="5334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0" y="2941"/>
                          <a:ext cx="3213" cy="745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5" name="AutoShape 35"/>
            <p:cNvSpPr/>
            <p:nvPr/>
          </p:nvSpPr>
          <p:spPr>
            <a:xfrm>
              <a:off x="3334" y="2478"/>
              <a:ext cx="2222" cy="635"/>
            </a:xfrm>
            <a:prstGeom prst="cloudCallout">
              <a:avLst>
                <a:gd name="adj1" fmla="val -9181"/>
                <a:gd name="adj2" fmla="val 123069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sz="2400" dirty="0">
                  <a:latin typeface="Arial" panose="020B0604020202020204" pitchFamily="34" charset="0"/>
                  <a:ea typeface="仿宋_GB2312" pitchFamily="49" charset="-122"/>
                </a:rPr>
                <a:t>偏微分方程转为常微分方程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0621817" y="1558925"/>
            <a:ext cx="1339273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3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/>
          <p:cNvSpPr txBox="1"/>
          <p:nvPr/>
        </p:nvSpPr>
        <p:spPr>
          <a:xfrm>
            <a:off x="2063750" y="549275"/>
            <a:ext cx="6840538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5.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将偏微分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方程转化为常微分方程</a:t>
            </a:r>
            <a:endParaRPr lang="zh-CN" altLang="en-US" sz="32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1506" name="组合 5"/>
          <p:cNvGrpSpPr/>
          <p:nvPr/>
        </p:nvGrpSpPr>
        <p:grpSpPr>
          <a:xfrm>
            <a:off x="2495550" y="1412875"/>
            <a:ext cx="6178550" cy="5002213"/>
            <a:chOff x="755576" y="1322387"/>
            <a:chExt cx="6178277" cy="5002214"/>
          </a:xfrm>
        </p:grpSpPr>
        <p:grpSp>
          <p:nvGrpSpPr>
            <p:cNvPr id="21507" name="Group 37"/>
            <p:cNvGrpSpPr/>
            <p:nvPr/>
          </p:nvGrpSpPr>
          <p:grpSpPr>
            <a:xfrm>
              <a:off x="2123728" y="1322387"/>
              <a:ext cx="4810125" cy="5002214"/>
              <a:chOff x="959" y="665"/>
              <a:chExt cx="3030" cy="3151"/>
            </a:xfrm>
          </p:grpSpPr>
          <p:graphicFrame>
            <p:nvGraphicFramePr>
              <p:cNvPr id="21508" name="Object 34"/>
              <p:cNvGraphicFramePr>
                <a:graphicFrameLocks noChangeAspect="1"/>
              </p:cNvGraphicFramePr>
              <p:nvPr/>
            </p:nvGraphicFramePr>
            <p:xfrm>
              <a:off x="959" y="665"/>
              <a:ext cx="2883" cy="6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1" imgW="2297430" imgH="533400" progId="Equation.DSMT4">
                      <p:embed/>
                    </p:oleObj>
                  </mc:Choice>
                  <mc:Fallback>
                    <p:oleObj name="" r:id="rId1" imgW="2297430" imgH="533400" progId="Equation.DSMT4">
                      <p:embed/>
                      <p:pic>
                        <p:nvPicPr>
                          <p:cNvPr id="0" name="图片 3138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959" y="665"/>
                            <a:ext cx="2883" cy="668"/>
                          </a:xfrm>
                          <a:prstGeom prst="rect">
                            <a:avLst/>
                          </a:prstGeom>
                          <a:solidFill>
                            <a:srgbClr val="FFFF00">
                              <a:alpha val="81175"/>
                            </a:srgbClr>
                          </a:solidFill>
                          <a:ln w="38100">
                            <a:noFill/>
                            <a:miter/>
                          </a:ln>
                          <a:effectLst>
                            <a:outerShdw dist="107763" dir="2699999" algn="ctr" rotWithShape="0">
                              <a:srgbClr val="808080">
                                <a:alpha val="50000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9" name="Object 36"/>
              <p:cNvGraphicFramePr>
                <a:graphicFrameLocks noChangeAspect="1"/>
              </p:cNvGraphicFramePr>
              <p:nvPr/>
            </p:nvGraphicFramePr>
            <p:xfrm>
              <a:off x="985" y="3245"/>
              <a:ext cx="300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2056765" imgH="393700" progId="Equation.DSMT4">
                      <p:embed/>
                    </p:oleObj>
                  </mc:Choice>
                  <mc:Fallback>
                    <p:oleObj name="" r:id="rId3" imgW="2056765" imgH="393700" progId="Equation.DSMT4">
                      <p:embed/>
                      <p:pic>
                        <p:nvPicPr>
                          <p:cNvPr id="0" name="图片 313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85" y="3245"/>
                            <a:ext cx="3004" cy="571"/>
                          </a:xfrm>
                          <a:prstGeom prst="rect">
                            <a:avLst/>
                          </a:prstGeom>
                          <a:solidFill>
                            <a:srgbClr val="FFFF00">
                              <a:alpha val="81175"/>
                            </a:srgbClr>
                          </a:solidFill>
                          <a:ln w="38100">
                            <a:noFill/>
                            <a:miter/>
                          </a:ln>
                          <a:effectLst>
                            <a:outerShdw dist="107763" dir="2699999" algn="ctr" rotWithShape="0">
                              <a:srgbClr val="808080">
                                <a:alpha val="50000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10" name="Object 36"/>
            <p:cNvGraphicFramePr>
              <a:graphicFrameLocks noChangeAspect="1"/>
            </p:cNvGraphicFramePr>
            <p:nvPr/>
          </p:nvGraphicFramePr>
          <p:xfrm>
            <a:off x="2165003" y="2555081"/>
            <a:ext cx="4678362" cy="2690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2019300" imgH="1168400" progId="Equation.DSMT4">
                    <p:embed/>
                  </p:oleObj>
                </mc:Choice>
                <mc:Fallback>
                  <p:oleObj name="" r:id="rId5" imgW="2019300" imgH="11684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5003" y="2555081"/>
                          <a:ext cx="4678362" cy="2690812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1175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1" name="左弧形箭头 4"/>
            <p:cNvSpPr/>
            <p:nvPr/>
          </p:nvSpPr>
          <p:spPr>
            <a:xfrm>
              <a:off x="755576" y="1992275"/>
              <a:ext cx="1255836" cy="3816424"/>
            </a:xfrm>
            <a:prstGeom prst="curvedRightArrow">
              <a:avLst>
                <a:gd name="adj1" fmla="val 24986"/>
                <a:gd name="adj2" fmla="val 50002"/>
                <a:gd name="adj3" fmla="val 25000"/>
              </a:avLst>
            </a:prstGeom>
            <a:solidFill>
              <a:srgbClr val="0066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036050" y="5606798"/>
            <a:ext cx="1320799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方程</a:t>
            </a:r>
            <a:r>
              <a:rPr lang="en-US" altLang="zh-CN" sz="3200" dirty="0">
                <a:solidFill>
                  <a:srgbClr val="FF0000"/>
                </a:solidFill>
              </a:rPr>
              <a:t>4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2"/>
          <p:cNvSpPr txBox="1"/>
          <p:nvPr/>
        </p:nvSpPr>
        <p:spPr>
          <a:xfrm>
            <a:off x="2135188" y="692150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. 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特征方程与特征曲线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Text Box 3"/>
          <p:cNvSpPr txBox="1"/>
          <p:nvPr/>
        </p:nvSpPr>
        <p:spPr>
          <a:xfrm>
            <a:off x="2782888" y="1773238"/>
            <a:ext cx="232886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1" name="Object 11"/>
          <p:cNvGraphicFramePr>
            <a:graphicFrameLocks noChangeAspect="1"/>
          </p:cNvGraphicFramePr>
          <p:nvPr/>
        </p:nvGraphicFramePr>
        <p:xfrm>
          <a:off x="5159375" y="1484313"/>
          <a:ext cx="48561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94865" imgH="444500" progId="Equation.DSMT4">
                  <p:embed/>
                </p:oleObj>
              </mc:Choice>
              <mc:Fallback>
                <p:oleObj name="" r:id="rId1" imgW="2094865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9375" y="1484313"/>
                        <a:ext cx="4856163" cy="102235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12"/>
          <p:cNvSpPr txBox="1"/>
          <p:nvPr/>
        </p:nvSpPr>
        <p:spPr>
          <a:xfrm>
            <a:off x="2782888" y="3141663"/>
            <a:ext cx="12573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3" name="Object 13"/>
          <p:cNvGraphicFramePr>
            <a:graphicFrameLocks noChangeAspect="1"/>
          </p:cNvGraphicFramePr>
          <p:nvPr/>
        </p:nvGraphicFramePr>
        <p:xfrm>
          <a:off x="5159375" y="2636838"/>
          <a:ext cx="399415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39900" imgH="571500" progId="Equation.DSMT4">
                  <p:embed/>
                </p:oleObj>
              </mc:Choice>
              <mc:Fallback>
                <p:oleObj name="" r:id="rId3" imgW="1739900" imgH="5715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9375" y="2636838"/>
                        <a:ext cx="3994150" cy="13081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4"/>
          <p:cNvSpPr txBox="1"/>
          <p:nvPr/>
        </p:nvSpPr>
        <p:spPr>
          <a:xfrm>
            <a:off x="2855913" y="4581525"/>
            <a:ext cx="23288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特征曲线：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5" name="Object 15"/>
          <p:cNvGraphicFramePr>
            <a:graphicFrameLocks noChangeAspect="1"/>
          </p:cNvGraphicFramePr>
          <p:nvPr/>
        </p:nvGraphicFramePr>
        <p:xfrm>
          <a:off x="5434013" y="4260850"/>
          <a:ext cx="21161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50265" imgH="241300" progId="Equation.DSMT4">
                  <p:embed/>
                </p:oleObj>
              </mc:Choice>
              <mc:Fallback>
                <p:oleObj name="" r:id="rId5" imgW="850265" imgH="2413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4013" y="4260850"/>
                        <a:ext cx="2116137" cy="608013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6"/>
          <p:cNvGraphicFramePr>
            <a:graphicFrameLocks noChangeAspect="1"/>
          </p:cNvGraphicFramePr>
          <p:nvPr/>
        </p:nvGraphicFramePr>
        <p:xfrm>
          <a:off x="5437188" y="5053013"/>
          <a:ext cx="21097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862965" imgH="241300" progId="Equation.DSMT4">
                  <p:embed/>
                </p:oleObj>
              </mc:Choice>
              <mc:Fallback>
                <p:oleObj name="" r:id="rId7" imgW="862965" imgH="2413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37188" y="5053013"/>
                        <a:ext cx="2109787" cy="601662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2"/>
          <p:cNvSpPr txBox="1"/>
          <p:nvPr/>
        </p:nvSpPr>
        <p:spPr>
          <a:xfrm>
            <a:off x="1919288" y="333375"/>
            <a:ext cx="72723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2.1.1</a:t>
            </a:r>
            <a:r>
              <a:rPr lang="en-US" altLang="zh-CN" sz="3200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判断偏微分方程类型并化简：</a:t>
            </a:r>
            <a:endParaRPr lang="zh-CN" altLang="en-US" sz="3200" dirty="0">
              <a:solidFill>
                <a:srgbClr val="FF212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3792538" y="981075"/>
          <a:ext cx="482441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63700" imgH="241300" progId="Equation.DSMT4">
                  <p:embed/>
                </p:oleObj>
              </mc:Choice>
              <mc:Fallback>
                <p:oleObj name="" r:id="rId1" imgW="1663700" imgH="2413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2538" y="981075"/>
                        <a:ext cx="4824412" cy="696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3792538" y="1700213"/>
          <a:ext cx="4770437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63700" imgH="228600" progId="Equation.DSMT4">
                  <p:embed/>
                </p:oleObj>
              </mc:Choice>
              <mc:Fallback>
                <p:oleObj name="" r:id="rId3" imgW="1663700" imgH="2286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2538" y="1700213"/>
                        <a:ext cx="4770437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5"/>
          <p:cNvSpPr txBox="1"/>
          <p:nvPr/>
        </p:nvSpPr>
        <p:spPr>
          <a:xfrm>
            <a:off x="2063750" y="1668463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5087938" y="4652963"/>
          <a:ext cx="43418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638300" imgH="228600" progId="Equation.DSMT4">
                  <p:embed/>
                </p:oleObj>
              </mc:Choice>
              <mc:Fallback>
                <p:oleObj name="" r:id="rId5" imgW="1638300" imgH="2286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938" y="4652963"/>
                        <a:ext cx="4341812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9"/>
          <p:cNvGraphicFramePr>
            <a:graphicFrameLocks noChangeAspect="1"/>
          </p:cNvGraphicFramePr>
          <p:nvPr/>
        </p:nvGraphicFramePr>
        <p:xfrm>
          <a:off x="5448300" y="2781300"/>
          <a:ext cx="32670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256665" imgH="406400" progId="Equation.DSMT4">
                  <p:embed/>
                </p:oleObj>
              </mc:Choice>
              <mc:Fallback>
                <p:oleObj name="" r:id="rId7" imgW="1256665" imgH="4064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8300" y="2781300"/>
                        <a:ext cx="3267075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10"/>
          <p:cNvSpPr txBox="1"/>
          <p:nvPr/>
        </p:nvSpPr>
        <p:spPr>
          <a:xfrm>
            <a:off x="3000375" y="3081338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1" name="Object 12"/>
          <p:cNvGraphicFramePr>
            <a:graphicFrameLocks noChangeAspect="1"/>
          </p:cNvGraphicFramePr>
          <p:nvPr/>
        </p:nvGraphicFramePr>
        <p:xfrm>
          <a:off x="5808663" y="3716338"/>
          <a:ext cx="30099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193165" imgH="406400" progId="Equation.DSMT4">
                  <p:embed/>
                </p:oleObj>
              </mc:Choice>
              <mc:Fallback>
                <p:oleObj name="" r:id="rId9" imgW="1193165" imgH="4064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8663" y="3716338"/>
                        <a:ext cx="3009900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Text Box 13"/>
          <p:cNvSpPr txBox="1"/>
          <p:nvPr/>
        </p:nvSpPr>
        <p:spPr>
          <a:xfrm>
            <a:off x="3000375" y="3933825"/>
            <a:ext cx="1783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特征方程的解：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63" name="Text Box 14"/>
          <p:cNvSpPr txBox="1"/>
          <p:nvPr/>
        </p:nvSpPr>
        <p:spPr>
          <a:xfrm>
            <a:off x="3000375" y="4652963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特征线：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4" name="Object 16"/>
          <p:cNvGraphicFramePr>
            <a:graphicFrameLocks noChangeAspect="1"/>
          </p:cNvGraphicFramePr>
          <p:nvPr/>
        </p:nvGraphicFramePr>
        <p:xfrm>
          <a:off x="5016500" y="5229225"/>
          <a:ext cx="39782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536065" imgH="203200" progId="Equation.DSMT4">
                  <p:embed/>
                </p:oleObj>
              </mc:Choice>
              <mc:Fallback>
                <p:oleObj name="" r:id="rId11" imgW="1536065" imgH="2032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16500" y="5229225"/>
                        <a:ext cx="39782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17"/>
          <p:cNvSpPr txBox="1"/>
          <p:nvPr/>
        </p:nvSpPr>
        <p:spPr>
          <a:xfrm>
            <a:off x="3071813" y="5229225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令：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566" name="Object 19"/>
          <p:cNvGraphicFramePr>
            <a:graphicFrameLocks noChangeAspect="1"/>
          </p:cNvGraphicFramePr>
          <p:nvPr/>
        </p:nvGraphicFramePr>
        <p:xfrm>
          <a:off x="3055938" y="2349500"/>
          <a:ext cx="38893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485900" imgH="241300" progId="Equation.DSMT4">
                  <p:embed/>
                </p:oleObj>
              </mc:Choice>
              <mc:Fallback>
                <p:oleObj name="" r:id="rId13" imgW="1485900" imgH="2413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5938" y="2349500"/>
                        <a:ext cx="388937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20"/>
          <p:cNvSpPr txBox="1"/>
          <p:nvPr/>
        </p:nvSpPr>
        <p:spPr>
          <a:xfrm>
            <a:off x="7751763" y="2349500"/>
            <a:ext cx="1325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双曲型方程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57215" y="5695950"/>
            <a:ext cx="3952348" cy="1077913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10" name="箭头: 虚尾 3"/>
          <p:cNvSpPr/>
          <p:nvPr/>
        </p:nvSpPr>
        <p:spPr>
          <a:xfrm>
            <a:off x="3463636" y="6132945"/>
            <a:ext cx="1097280" cy="368300"/>
          </a:xfrm>
          <a:prstGeom prst="strip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02541" y="5788025"/>
            <a:ext cx="2009775" cy="809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箭头: 右 8"/>
          <p:cNvSpPr/>
          <p:nvPr/>
        </p:nvSpPr>
        <p:spPr>
          <a:xfrm>
            <a:off x="8715375" y="6192837"/>
            <a:ext cx="362268" cy="139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/>
      <p:bldP spid="23560" grpId="1"/>
      <p:bldP spid="23562" grpId="0"/>
      <p:bldP spid="23562" grpId="1"/>
      <p:bldP spid="23563" grpId="0"/>
      <p:bldP spid="23563" grpId="1"/>
      <p:bldP spid="23565" grpId="0"/>
      <p:bldP spid="23565" grpId="1"/>
      <p:bldP spid="23567" grpId="0"/>
      <p:bldP spid="2356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17"/>
          <p:cNvGrpSpPr/>
          <p:nvPr/>
        </p:nvGrpSpPr>
        <p:grpSpPr>
          <a:xfrm>
            <a:off x="1919288" y="476250"/>
            <a:ext cx="8215312" cy="3500438"/>
            <a:chOff x="249" y="300"/>
            <a:chExt cx="5175" cy="2205"/>
          </a:xfrm>
        </p:grpSpPr>
        <p:sp>
          <p:nvSpPr>
            <p:cNvPr id="24578" name="Text Box 2"/>
            <p:cNvSpPr txBox="1"/>
            <p:nvPr/>
          </p:nvSpPr>
          <p:spPr>
            <a:xfrm>
              <a:off x="249" y="300"/>
              <a:ext cx="4581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2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2.1.3</a:t>
              </a:r>
              <a:r>
                <a:rPr lang="en-US" altLang="zh-CN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设常数</a:t>
              </a:r>
              <a:r>
                <a:rPr lang="en-US" altLang="zh-CN" sz="32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A,B,C</a:t>
              </a:r>
              <a:r>
                <a:rPr lang="zh-CN" altLang="en-US" sz="32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满足</a:t>
              </a:r>
              <a:endParaRPr lang="zh-CN" altLang="en-US" sz="32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79" name="Object 3"/>
            <p:cNvGraphicFramePr>
              <a:graphicFrameLocks noChangeAspect="1"/>
            </p:cNvGraphicFramePr>
            <p:nvPr/>
          </p:nvGraphicFramePr>
          <p:xfrm>
            <a:off x="3334" y="300"/>
            <a:ext cx="164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901065" imgH="203200" progId="Equation.DSMT4">
                    <p:embed/>
                  </p:oleObj>
                </mc:Choice>
                <mc:Fallback>
                  <p:oleObj name="" r:id="rId1" imgW="901065" imgH="203200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34" y="300"/>
                          <a:ext cx="1648" cy="3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0" name="Object 4"/>
            <p:cNvGraphicFramePr>
              <a:graphicFrameLocks noChangeAspect="1"/>
            </p:cNvGraphicFramePr>
            <p:nvPr/>
          </p:nvGraphicFramePr>
          <p:xfrm>
            <a:off x="1842" y="1094"/>
            <a:ext cx="217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206500" imgH="203200" progId="Equation.DSMT4">
                    <p:embed/>
                  </p:oleObj>
                </mc:Choice>
                <mc:Fallback>
                  <p:oleObj name="" r:id="rId3" imgW="1206500" imgH="2032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2" y="1094"/>
                          <a:ext cx="2179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1" name="Text Box 5"/>
            <p:cNvSpPr txBox="1"/>
            <p:nvPr/>
          </p:nvSpPr>
          <p:spPr>
            <a:xfrm>
              <a:off x="975" y="722"/>
              <a:ext cx="367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</a:t>
              </a:r>
              <a:r>
                <a:rPr lang="en-US" altLang="zh-CN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  <a:r>
                <a:rPr lang="zh-CN" altLang="en-US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、</a:t>
              </a:r>
              <a:r>
                <a:rPr lang="en-US" altLang="zh-CN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</a:t>
              </a:r>
              <a:r>
                <a:rPr lang="en-US" altLang="zh-CN" baseline="-250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是如下方程的两个根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82" name="Object 10"/>
            <p:cNvGraphicFramePr>
              <a:graphicFrameLocks noChangeAspect="1"/>
            </p:cNvGraphicFramePr>
            <p:nvPr/>
          </p:nvGraphicFramePr>
          <p:xfrm>
            <a:off x="1791" y="2115"/>
            <a:ext cx="317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854200" imgH="228600" progId="Equation.DSMT4">
                    <p:embed/>
                  </p:oleObj>
                </mc:Choice>
                <mc:Fallback>
                  <p:oleObj name="" r:id="rId5" imgW="1854200" imgH="228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91" y="2115"/>
                          <a:ext cx="3176" cy="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3" name="Text Box 11"/>
            <p:cNvSpPr txBox="1"/>
            <p:nvPr/>
          </p:nvSpPr>
          <p:spPr>
            <a:xfrm>
              <a:off x="385" y="2160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的通解为：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84" name="Object 15"/>
            <p:cNvGraphicFramePr>
              <a:graphicFrameLocks noChangeAspect="1"/>
            </p:cNvGraphicFramePr>
            <p:nvPr/>
          </p:nvGraphicFramePr>
          <p:xfrm>
            <a:off x="3016" y="1616"/>
            <a:ext cx="240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459865" imgH="241300" progId="Equation.DSMT4">
                    <p:embed/>
                  </p:oleObj>
                </mc:Choice>
                <mc:Fallback>
                  <p:oleObj name="" r:id="rId7" imgW="1459865" imgH="2413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16" y="1616"/>
                          <a:ext cx="2408" cy="3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5" name="Text Box 16"/>
            <p:cNvSpPr txBox="1"/>
            <p:nvPr/>
          </p:nvSpPr>
          <p:spPr>
            <a:xfrm>
              <a:off x="295" y="1616"/>
              <a:ext cx="16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证明二阶线性偏微分方程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1507" name="Group 19"/>
          <p:cNvGrpSpPr/>
          <p:nvPr/>
        </p:nvGrpSpPr>
        <p:grpSpPr>
          <a:xfrm>
            <a:off x="2135188" y="4149725"/>
            <a:ext cx="6426200" cy="2327275"/>
            <a:chOff x="385" y="2614"/>
            <a:chExt cx="4048" cy="1466"/>
          </a:xfrm>
        </p:grpSpPr>
        <p:graphicFrame>
          <p:nvGraphicFramePr>
            <p:cNvPr id="24587" name="Object 6"/>
            <p:cNvGraphicFramePr>
              <a:graphicFrameLocks noChangeAspect="1"/>
            </p:cNvGraphicFramePr>
            <p:nvPr/>
          </p:nvGraphicFramePr>
          <p:xfrm>
            <a:off x="1613" y="2614"/>
            <a:ext cx="282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89100" imgH="228600" progId="Equation.DSMT4">
                    <p:embed/>
                  </p:oleObj>
                </mc:Choice>
                <mc:Fallback>
                  <p:oleObj name="" r:id="rId9" imgW="1689100" imgH="2286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3" y="2614"/>
                          <a:ext cx="2820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7"/>
            <p:cNvGraphicFramePr>
              <a:graphicFrameLocks noChangeAspect="1"/>
            </p:cNvGraphicFramePr>
            <p:nvPr/>
          </p:nvGraphicFramePr>
          <p:xfrm>
            <a:off x="2290" y="3657"/>
            <a:ext cx="87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495300" imgH="241300" progId="Equation.DSMT4">
                    <p:embed/>
                  </p:oleObj>
                </mc:Choice>
                <mc:Fallback>
                  <p:oleObj name="" r:id="rId11" imgW="495300" imgH="2413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90" y="3657"/>
                          <a:ext cx="872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Text Box 12"/>
            <p:cNvSpPr txBox="1"/>
            <p:nvPr/>
          </p:nvSpPr>
          <p:spPr>
            <a:xfrm>
              <a:off x="385" y="2614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证明：设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24590" name="Object 13"/>
            <p:cNvGraphicFramePr>
              <a:graphicFrameLocks noChangeAspect="1"/>
            </p:cNvGraphicFramePr>
            <p:nvPr/>
          </p:nvGraphicFramePr>
          <p:xfrm>
            <a:off x="1981" y="2947"/>
            <a:ext cx="2217" cy="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1358265" imgH="406400" progId="Equation.DSMT4">
                    <p:embed/>
                  </p:oleObj>
                </mc:Choice>
                <mc:Fallback>
                  <p:oleObj name="" r:id="rId13" imgW="1358265" imgH="4064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81" y="2947"/>
                          <a:ext cx="2217" cy="6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Text Box 14"/>
            <p:cNvSpPr txBox="1"/>
            <p:nvPr/>
          </p:nvSpPr>
          <p:spPr>
            <a:xfrm>
              <a:off x="1020" y="3067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则：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4592" name="AutoShape 18"/>
            <p:cNvSpPr/>
            <p:nvPr/>
          </p:nvSpPr>
          <p:spPr>
            <a:xfrm>
              <a:off x="1066" y="3748"/>
              <a:ext cx="816" cy="27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9900"/>
            </a:solidFill>
            <a:ln w="9525">
              <a:noFill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9" name="标题 748545"/>
          <p:cNvSpPr txBox="1"/>
          <p:nvPr/>
        </p:nvSpPr>
        <p:spPr bwMode="auto">
          <a:xfrm>
            <a:off x="10751128" y="240145"/>
            <a:ext cx="1228435" cy="5703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101600" tIns="38100" rIns="76200" bIns="3810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r"/>
            <a:r>
              <a:rPr lang="zh-CN" altLang="en-US" sz="3600" dirty="0">
                <a:solidFill>
                  <a:srgbClr val="FF0000"/>
                </a:solidFill>
                <a:ea typeface="黑体" panose="02010609060101010101" pitchFamily="49" charset="-122"/>
              </a:rPr>
              <a:t>复习</a:t>
            </a:r>
            <a:endParaRPr lang="zh-CN" altLang="en-US" sz="36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2"/>
          <p:cNvSpPr txBox="1"/>
          <p:nvPr/>
        </p:nvSpPr>
        <p:spPr>
          <a:xfrm>
            <a:off x="1919288" y="549275"/>
            <a:ext cx="6913562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4   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三类方程的简化形式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5602" name="Group 30"/>
          <p:cNvGrpSpPr/>
          <p:nvPr/>
        </p:nvGrpSpPr>
        <p:grpSpPr>
          <a:xfrm>
            <a:off x="2495550" y="1916113"/>
            <a:ext cx="5734050" cy="504825"/>
            <a:chOff x="884" y="935"/>
            <a:chExt cx="3612" cy="318"/>
          </a:xfrm>
        </p:grpSpPr>
        <p:sp>
          <p:nvSpPr>
            <p:cNvPr id="25603" name="Rectangle 13"/>
            <p:cNvSpPr/>
            <p:nvPr/>
          </p:nvSpPr>
          <p:spPr>
            <a:xfrm>
              <a:off x="884" y="982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 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5604" name="Object 14"/>
            <p:cNvGraphicFramePr>
              <a:graphicFrameLocks noChangeAspect="1"/>
            </p:cNvGraphicFramePr>
            <p:nvPr/>
          </p:nvGraphicFramePr>
          <p:xfrm>
            <a:off x="1292" y="935"/>
            <a:ext cx="1361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927100" imgH="228600" progId="Equation.3">
                    <p:embed/>
                  </p:oleObj>
                </mc:Choice>
                <mc:Fallback>
                  <p:oleObj name="" r:id="rId1" imgW="927100" imgH="2286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2" y="935"/>
                          <a:ext cx="1361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5" name="Rectangle 15"/>
            <p:cNvSpPr/>
            <p:nvPr/>
          </p:nvSpPr>
          <p:spPr>
            <a:xfrm>
              <a:off x="2653" y="982"/>
              <a:ext cx="184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时，给出一族实的特征曲线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5606" name="Group 31"/>
          <p:cNvGrpSpPr/>
          <p:nvPr/>
        </p:nvGrpSpPr>
        <p:grpSpPr>
          <a:xfrm>
            <a:off x="3863975" y="2563813"/>
            <a:ext cx="3687763" cy="500062"/>
            <a:chOff x="1429" y="1344"/>
            <a:chExt cx="2323" cy="315"/>
          </a:xfrm>
        </p:grpSpPr>
        <p:graphicFrame>
          <p:nvGraphicFramePr>
            <p:cNvPr id="25607" name="Object 17"/>
            <p:cNvGraphicFramePr>
              <a:graphicFrameLocks noChangeAspect="1"/>
            </p:cNvGraphicFramePr>
            <p:nvPr/>
          </p:nvGraphicFramePr>
          <p:xfrm>
            <a:off x="1429" y="1344"/>
            <a:ext cx="104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23900" imgH="215900" progId="Equation.3">
                    <p:embed/>
                  </p:oleObj>
                </mc:Choice>
                <mc:Fallback>
                  <p:oleObj name="" r:id="rId3" imgW="723900" imgH="2159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9" y="1344"/>
                          <a:ext cx="1043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8" name="Object 18"/>
            <p:cNvGraphicFramePr>
              <a:graphicFrameLocks noChangeAspect="1"/>
            </p:cNvGraphicFramePr>
            <p:nvPr/>
          </p:nvGraphicFramePr>
          <p:xfrm>
            <a:off x="2744" y="1344"/>
            <a:ext cx="10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735965" imgH="215900" progId="Equation.3">
                    <p:embed/>
                  </p:oleObj>
                </mc:Choice>
                <mc:Fallback>
                  <p:oleObj name="" r:id="rId5" imgW="735965" imgH="2159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44" y="1344"/>
                          <a:ext cx="10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9" name="Group 32"/>
          <p:cNvGrpSpPr/>
          <p:nvPr/>
        </p:nvGrpSpPr>
        <p:grpSpPr>
          <a:xfrm>
            <a:off x="2566988" y="3140075"/>
            <a:ext cx="6726237" cy="520700"/>
            <a:chOff x="884" y="1706"/>
            <a:chExt cx="4237" cy="328"/>
          </a:xfrm>
        </p:grpSpPr>
        <p:sp>
          <p:nvSpPr>
            <p:cNvPr id="25610" name="Rectangle 19"/>
            <p:cNvSpPr/>
            <p:nvPr/>
          </p:nvSpPr>
          <p:spPr>
            <a:xfrm>
              <a:off x="884" y="1754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取 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5611" name="Object 20"/>
            <p:cNvGraphicFramePr>
              <a:graphicFrameLocks noChangeAspect="1"/>
            </p:cNvGraphicFramePr>
            <p:nvPr/>
          </p:nvGraphicFramePr>
          <p:xfrm>
            <a:off x="1429" y="1752"/>
            <a:ext cx="100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711200" imgH="203200" progId="Equation.3">
                    <p:embed/>
                  </p:oleObj>
                </mc:Choice>
                <mc:Fallback>
                  <p:oleObj name="" r:id="rId7" imgW="711200" imgH="2032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29" y="1752"/>
                          <a:ext cx="100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21"/>
            <p:cNvGraphicFramePr>
              <a:graphicFrameLocks noChangeAspect="1"/>
            </p:cNvGraphicFramePr>
            <p:nvPr/>
          </p:nvGraphicFramePr>
          <p:xfrm>
            <a:off x="2562" y="1752"/>
            <a:ext cx="96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711200" imgH="203200" progId="Equation.3">
                    <p:embed/>
                  </p:oleObj>
                </mc:Choice>
                <mc:Fallback>
                  <p:oleObj name="" r:id="rId9" imgW="711200" imgH="2032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62" y="1752"/>
                          <a:ext cx="960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Rectangle 22"/>
            <p:cNvSpPr/>
            <p:nvPr/>
          </p:nvSpPr>
          <p:spPr>
            <a:xfrm>
              <a:off x="3606" y="1754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5614" name="Object 23"/>
            <p:cNvGraphicFramePr>
              <a:graphicFrameLocks noChangeAspect="1"/>
            </p:cNvGraphicFramePr>
            <p:nvPr/>
          </p:nvGraphicFramePr>
          <p:xfrm>
            <a:off x="3969" y="1706"/>
            <a:ext cx="115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850265" imgH="215900" progId="Equation.3">
                    <p:embed/>
                  </p:oleObj>
                </mc:Choice>
                <mc:Fallback>
                  <p:oleObj name="" r:id="rId11" imgW="850265" imgH="2159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69" y="1706"/>
                          <a:ext cx="1152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15" name="Rectangle 24"/>
          <p:cNvSpPr/>
          <p:nvPr/>
        </p:nvSpPr>
        <p:spPr>
          <a:xfrm>
            <a:off x="2568575" y="4007644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方程变为</a:t>
            </a:r>
            <a:endParaRPr lang="zh-CN" altLang="en-US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616" name="Object 25"/>
          <p:cNvGraphicFramePr>
            <a:graphicFrameLocks noChangeAspect="1"/>
          </p:cNvGraphicFramePr>
          <p:nvPr/>
        </p:nvGraphicFramePr>
        <p:xfrm>
          <a:off x="4224338" y="3730625"/>
          <a:ext cx="52562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2603500" imgH="495300" progId="Equation.DSMT4">
                  <p:embed/>
                </p:oleObj>
              </mc:Choice>
              <mc:Fallback>
                <p:oleObj name="" r:id="rId13" imgW="2603500" imgH="4953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4338" y="3730625"/>
                        <a:ext cx="5256212" cy="952500"/>
                      </a:xfrm>
                      <a:prstGeom prst="rect">
                        <a:avLst/>
                      </a:prstGeom>
                      <a:solidFill>
                        <a:srgbClr val="FF66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7" name="Group 33"/>
          <p:cNvGrpSpPr/>
          <p:nvPr/>
        </p:nvGrpSpPr>
        <p:grpSpPr>
          <a:xfrm>
            <a:off x="2566988" y="4722812"/>
            <a:ext cx="6607175" cy="603251"/>
            <a:chOff x="657" y="2658"/>
            <a:chExt cx="4162" cy="380"/>
          </a:xfrm>
        </p:grpSpPr>
        <p:sp>
          <p:nvSpPr>
            <p:cNvPr id="25618" name="Rectangle 26"/>
            <p:cNvSpPr/>
            <p:nvPr/>
          </p:nvSpPr>
          <p:spPr>
            <a:xfrm>
              <a:off x="657" y="2752"/>
              <a:ext cx="6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若再作 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5619" name="Object 27"/>
            <p:cNvGraphicFramePr>
              <a:graphicFrameLocks noChangeAspect="1"/>
            </p:cNvGraphicFramePr>
            <p:nvPr/>
          </p:nvGraphicFramePr>
          <p:xfrm>
            <a:off x="1519" y="2750"/>
            <a:ext cx="17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1307465" imgH="203200" progId="Equation.3">
                    <p:embed/>
                  </p:oleObj>
                </mc:Choice>
                <mc:Fallback>
                  <p:oleObj name="" r:id="rId15" imgW="1307465" imgH="203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519" y="2750"/>
                          <a:ext cx="177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Rectangle 28"/>
            <p:cNvSpPr/>
            <p:nvPr/>
          </p:nvSpPr>
          <p:spPr>
            <a:xfrm>
              <a:off x="3424" y="2658"/>
              <a:ext cx="139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则上述方程变为：</a:t>
              </a:r>
              <a:r>
                <a:rPr lang="zh-CN" altLang="en-US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黑体" panose="02010609060101010101" pitchFamily="49" charset="-122"/>
                </a:rPr>
                <a:t> 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5621" name="Object 29"/>
          <p:cNvGraphicFramePr>
            <a:graphicFrameLocks noChangeAspect="1"/>
          </p:cNvGraphicFramePr>
          <p:nvPr/>
        </p:nvGraphicFramePr>
        <p:xfrm>
          <a:off x="1919288" y="5445125"/>
          <a:ext cx="84709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4051300" imgH="495300" progId="Equation.DSMT4">
                  <p:embed/>
                </p:oleObj>
              </mc:Choice>
              <mc:Fallback>
                <p:oleObj name="" r:id="rId17" imgW="4051300" imgH="495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9288" y="5445125"/>
                        <a:ext cx="8470900" cy="1031875"/>
                      </a:xfrm>
                      <a:prstGeom prst="rect">
                        <a:avLst/>
                      </a:prstGeom>
                      <a:solidFill>
                        <a:srgbClr val="FF66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36"/>
          <p:cNvSpPr txBox="1"/>
          <p:nvPr/>
        </p:nvSpPr>
        <p:spPr>
          <a:xfrm>
            <a:off x="2279650" y="1196975"/>
            <a:ext cx="34559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双曲方程型方程：</a:t>
            </a:r>
            <a:endParaRPr lang="zh-CN" altLang="en-US" sz="32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5" name="Group 37"/>
          <p:cNvGrpSpPr/>
          <p:nvPr/>
        </p:nvGrpSpPr>
        <p:grpSpPr>
          <a:xfrm>
            <a:off x="2053590" y="1642744"/>
            <a:ext cx="7583488" cy="4383089"/>
            <a:chOff x="432" y="850"/>
            <a:chExt cx="4777" cy="2761"/>
          </a:xfrm>
        </p:grpSpPr>
        <p:sp>
          <p:nvSpPr>
            <p:cNvPr id="26626" name="Rectangle 24"/>
            <p:cNvSpPr/>
            <p:nvPr/>
          </p:nvSpPr>
          <p:spPr>
            <a:xfrm>
              <a:off x="612" y="850"/>
              <a:ext cx="467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zh-CN" altLang="en-US" sz="4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40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6627" name="Object 25"/>
            <p:cNvGraphicFramePr>
              <a:graphicFrameLocks noChangeAspect="1"/>
            </p:cNvGraphicFramePr>
            <p:nvPr/>
          </p:nvGraphicFramePr>
          <p:xfrm>
            <a:off x="975" y="890"/>
            <a:ext cx="1451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965200" imgH="228600" progId="Equation.3">
                    <p:embed/>
                  </p:oleObj>
                </mc:Choice>
                <mc:Fallback>
                  <p:oleObj name="" r:id="rId1" imgW="965200" imgH="228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75" y="890"/>
                          <a:ext cx="1451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28" name="Rectangle 26"/>
            <p:cNvSpPr/>
            <p:nvPr/>
          </p:nvSpPr>
          <p:spPr>
            <a:xfrm>
              <a:off x="2472" y="909"/>
              <a:ext cx="15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时，只有一个解 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6629" name="Object 27"/>
            <p:cNvGraphicFramePr>
              <a:graphicFrameLocks noChangeAspect="1"/>
            </p:cNvGraphicFramePr>
            <p:nvPr/>
          </p:nvGraphicFramePr>
          <p:xfrm>
            <a:off x="2200" y="1253"/>
            <a:ext cx="862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596900" imgH="444500" progId="Equation.DSMT4">
                    <p:embed/>
                  </p:oleObj>
                </mc:Choice>
                <mc:Fallback>
                  <p:oleObj name="" r:id="rId3" imgW="596900" imgH="4445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0" y="1253"/>
                          <a:ext cx="862" cy="642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0" name="Rectangle 28"/>
            <p:cNvSpPr/>
            <p:nvPr/>
          </p:nvSpPr>
          <p:spPr>
            <a:xfrm>
              <a:off x="432" y="1874"/>
              <a:ext cx="2771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它只能给出一个实的特征线，</a:t>
              </a:r>
              <a:r>
                <a:rPr lang="zh-CN" altLang="en-US" sz="4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40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6631" name="Object 29"/>
            <p:cNvGraphicFramePr>
              <a:graphicFrameLocks noChangeAspect="1"/>
            </p:cNvGraphicFramePr>
            <p:nvPr/>
          </p:nvGraphicFramePr>
          <p:xfrm>
            <a:off x="3111" y="1954"/>
            <a:ext cx="1210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685800" imgH="203200" progId="Equation.3">
                    <p:embed/>
                  </p:oleObj>
                </mc:Choice>
                <mc:Fallback>
                  <p:oleObj name="" r:id="rId5" imgW="685800" imgH="2032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11" y="1954"/>
                          <a:ext cx="1210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2" name="Rectangle 30"/>
            <p:cNvSpPr/>
            <p:nvPr/>
          </p:nvSpPr>
          <p:spPr>
            <a:xfrm>
              <a:off x="4422" y="1952"/>
              <a:ext cx="78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。取与 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6633" name="Object 31"/>
            <p:cNvGraphicFramePr>
              <a:graphicFrameLocks noChangeAspect="1"/>
            </p:cNvGraphicFramePr>
            <p:nvPr/>
          </p:nvGraphicFramePr>
          <p:xfrm>
            <a:off x="476" y="2432"/>
            <a:ext cx="72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457200" imgH="203200" progId="Equation.3">
                    <p:embed/>
                  </p:oleObj>
                </mc:Choice>
                <mc:Fallback>
                  <p:oleObj name="" r:id="rId7" imgW="457200" imgH="2032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6" y="2432"/>
                          <a:ext cx="720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4" name="Rectangle 32"/>
            <p:cNvSpPr/>
            <p:nvPr/>
          </p:nvSpPr>
          <p:spPr>
            <a:xfrm>
              <a:off x="1202" y="2406"/>
              <a:ext cx="11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函数无关的 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6635" name="Object 33"/>
            <p:cNvGraphicFramePr>
              <a:graphicFrameLocks noChangeAspect="1"/>
            </p:cNvGraphicFramePr>
            <p:nvPr/>
          </p:nvGraphicFramePr>
          <p:xfrm>
            <a:off x="2257" y="2375"/>
            <a:ext cx="112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711200" imgH="203200" progId="Equation.3">
                    <p:embed/>
                  </p:oleObj>
                </mc:Choice>
                <mc:Fallback>
                  <p:oleObj name="" r:id="rId9" imgW="711200" imgH="2032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57" y="2375"/>
                          <a:ext cx="1128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6" name="Rectangle 34"/>
            <p:cNvSpPr/>
            <p:nvPr/>
          </p:nvSpPr>
          <p:spPr>
            <a:xfrm>
              <a:off x="3334" y="2406"/>
              <a:ext cx="18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作为另一个新的变量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637" name="Rectangle 35"/>
            <p:cNvSpPr/>
            <p:nvPr/>
          </p:nvSpPr>
          <p:spPr>
            <a:xfrm>
              <a:off x="476" y="2814"/>
              <a:ext cx="78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则有： </a:t>
              </a:r>
              <a:endPara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6638" name="Object 36"/>
            <p:cNvGraphicFramePr>
              <a:graphicFrameLocks noChangeAspect="1"/>
            </p:cNvGraphicFramePr>
            <p:nvPr/>
          </p:nvGraphicFramePr>
          <p:xfrm>
            <a:off x="1247" y="2931"/>
            <a:ext cx="3493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2197100" imgH="431800" progId="Equation.3">
                    <p:embed/>
                  </p:oleObj>
                </mc:Choice>
                <mc:Fallback>
                  <p:oleObj name="" r:id="rId11" imgW="2197100" imgH="4318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47" y="2931"/>
                          <a:ext cx="3493" cy="680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9" name="Text Box 38"/>
          <p:cNvSpPr txBox="1"/>
          <p:nvPr/>
        </p:nvSpPr>
        <p:spPr>
          <a:xfrm>
            <a:off x="2208213" y="692150"/>
            <a:ext cx="34559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抛物型方程：</a:t>
            </a:r>
            <a:endParaRPr lang="zh-CN" altLang="en-US" sz="32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Group 34"/>
          <p:cNvGrpSpPr/>
          <p:nvPr/>
        </p:nvGrpSpPr>
        <p:grpSpPr>
          <a:xfrm>
            <a:off x="2208213" y="1484313"/>
            <a:ext cx="5132388" cy="465138"/>
            <a:chOff x="431" y="935"/>
            <a:chExt cx="3233" cy="293"/>
          </a:xfrm>
        </p:grpSpPr>
        <p:sp>
          <p:nvSpPr>
            <p:cNvPr id="27650" name="Rectangle 20"/>
            <p:cNvSpPr/>
            <p:nvPr/>
          </p:nvSpPr>
          <p:spPr>
            <a:xfrm>
              <a:off x="431" y="938"/>
              <a:ext cx="2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51" name="Object 21"/>
            <p:cNvGraphicFramePr>
              <a:graphicFrameLocks noChangeAspect="1"/>
            </p:cNvGraphicFramePr>
            <p:nvPr/>
          </p:nvGraphicFramePr>
          <p:xfrm>
            <a:off x="839" y="935"/>
            <a:ext cx="118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927100" imgH="228600" progId="Equation.3">
                    <p:embed/>
                  </p:oleObj>
                </mc:Choice>
                <mc:Fallback>
                  <p:oleObj name="" r:id="rId1" imgW="927100" imgH="2286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9" y="935"/>
                          <a:ext cx="1180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2" name="Rectangle 22"/>
            <p:cNvSpPr/>
            <p:nvPr/>
          </p:nvSpPr>
          <p:spPr>
            <a:xfrm>
              <a:off x="2109" y="938"/>
              <a:ext cx="15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时，给出一族复特征线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653" name="Group 35"/>
          <p:cNvGrpSpPr/>
          <p:nvPr/>
        </p:nvGrpSpPr>
        <p:grpSpPr>
          <a:xfrm>
            <a:off x="3575050" y="1989138"/>
            <a:ext cx="3986213" cy="519112"/>
            <a:chOff x="1292" y="1253"/>
            <a:chExt cx="2511" cy="327"/>
          </a:xfrm>
        </p:grpSpPr>
        <p:graphicFrame>
          <p:nvGraphicFramePr>
            <p:cNvPr id="27654" name="Object 23"/>
            <p:cNvGraphicFramePr>
              <a:graphicFrameLocks noChangeAspect="1"/>
            </p:cNvGraphicFramePr>
            <p:nvPr/>
          </p:nvGraphicFramePr>
          <p:xfrm>
            <a:off x="1292" y="1298"/>
            <a:ext cx="100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11200" imgH="203200" progId="Equation.3">
                    <p:embed/>
                  </p:oleObj>
                </mc:Choice>
                <mc:Fallback>
                  <p:oleObj name="" r:id="rId3" imgW="711200" imgH="2032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" y="1298"/>
                          <a:ext cx="100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25"/>
            <p:cNvGraphicFramePr>
              <a:graphicFrameLocks noChangeAspect="1"/>
            </p:cNvGraphicFramePr>
            <p:nvPr/>
          </p:nvGraphicFramePr>
          <p:xfrm>
            <a:off x="2699" y="1253"/>
            <a:ext cx="110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711200" imgH="203200" progId="Equation.3">
                    <p:embed/>
                  </p:oleObj>
                </mc:Choice>
                <mc:Fallback>
                  <p:oleObj name="" r:id="rId5" imgW="711200" imgH="2032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9" y="1253"/>
                          <a:ext cx="1104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6" name="Group 36"/>
          <p:cNvGrpSpPr/>
          <p:nvPr/>
        </p:nvGrpSpPr>
        <p:grpSpPr>
          <a:xfrm>
            <a:off x="2351088" y="2708276"/>
            <a:ext cx="6985000" cy="458788"/>
            <a:chOff x="521" y="1706"/>
            <a:chExt cx="4400" cy="289"/>
          </a:xfrm>
        </p:grpSpPr>
        <p:sp>
          <p:nvSpPr>
            <p:cNvPr id="27657" name="Rectangle 26"/>
            <p:cNvSpPr/>
            <p:nvPr/>
          </p:nvSpPr>
          <p:spPr>
            <a:xfrm>
              <a:off x="521" y="1709"/>
              <a:ext cx="105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在该变换下： 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7658" name="Object 27"/>
            <p:cNvGraphicFramePr>
              <a:graphicFrameLocks noChangeAspect="1"/>
            </p:cNvGraphicFramePr>
            <p:nvPr/>
          </p:nvGraphicFramePr>
          <p:xfrm>
            <a:off x="1973" y="1706"/>
            <a:ext cx="129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977265" imgH="215900" progId="Equation.3">
                    <p:embed/>
                  </p:oleObj>
                </mc:Choice>
                <mc:Fallback>
                  <p:oleObj name="" r:id="rId7" imgW="977265" imgH="2159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3" y="1706"/>
                          <a:ext cx="1296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9" name="Rectangle 28"/>
            <p:cNvSpPr/>
            <p:nvPr/>
          </p:nvSpPr>
          <p:spPr>
            <a:xfrm>
              <a:off x="3379" y="1709"/>
              <a:ext cx="1542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且方程化为：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7660" name="Object 29"/>
          <p:cNvGraphicFramePr>
            <a:graphicFrameLocks noChangeAspect="1"/>
          </p:cNvGraphicFramePr>
          <p:nvPr/>
        </p:nvGraphicFramePr>
        <p:xfrm>
          <a:off x="2495550" y="3213100"/>
          <a:ext cx="47529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260600" imgH="431800" progId="Equation.3">
                  <p:embed/>
                </p:oleObj>
              </mc:Choice>
              <mc:Fallback>
                <p:oleObj name="" r:id="rId9" imgW="2260600" imgH="431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5550" y="3213100"/>
                        <a:ext cx="4752975" cy="90170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1" name="Group 37"/>
          <p:cNvGrpSpPr/>
          <p:nvPr/>
        </p:nvGrpSpPr>
        <p:grpSpPr>
          <a:xfrm>
            <a:off x="2927350" y="4081463"/>
            <a:ext cx="5332413" cy="530225"/>
            <a:chOff x="884" y="2571"/>
            <a:chExt cx="3359" cy="334"/>
          </a:xfrm>
        </p:grpSpPr>
        <p:sp>
          <p:nvSpPr>
            <p:cNvPr id="27662" name="Rectangle 30"/>
            <p:cNvSpPr/>
            <p:nvPr/>
          </p:nvSpPr>
          <p:spPr>
            <a:xfrm>
              <a:off x="884" y="2662"/>
              <a:ext cx="3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令 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7663" name="Object 31"/>
            <p:cNvGraphicFramePr>
              <a:graphicFrameLocks noChangeAspect="1"/>
            </p:cNvGraphicFramePr>
            <p:nvPr/>
          </p:nvGraphicFramePr>
          <p:xfrm>
            <a:off x="1429" y="2614"/>
            <a:ext cx="1995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371600" imgH="203200" progId="Equation.3">
                    <p:embed/>
                  </p:oleObj>
                </mc:Choice>
                <mc:Fallback>
                  <p:oleObj name="" r:id="rId11" imgW="1371600" imgH="2032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29" y="2614"/>
                          <a:ext cx="1995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4" name="Rectangle 32"/>
            <p:cNvSpPr/>
            <p:nvPr/>
          </p:nvSpPr>
          <p:spPr>
            <a:xfrm>
              <a:off x="3696" y="2571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则有：</a:t>
              </a:r>
              <a:endParaRPr lang="zh-CN" altLang="en-US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7665" name="Object 33"/>
          <p:cNvGraphicFramePr>
            <a:graphicFrameLocks noChangeAspect="1"/>
          </p:cNvGraphicFramePr>
          <p:nvPr/>
        </p:nvGraphicFramePr>
        <p:xfrm>
          <a:off x="2279650" y="4724400"/>
          <a:ext cx="79200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3543300" imgH="431800" progId="Equation.3">
                  <p:embed/>
                </p:oleObj>
              </mc:Choice>
              <mc:Fallback>
                <p:oleObj name="" r:id="rId13" imgW="3543300" imgH="431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79650" y="4724400"/>
                        <a:ext cx="7920038" cy="958850"/>
                      </a:xfrm>
                      <a:prstGeom prst="rect">
                        <a:avLst/>
                      </a:prstGeom>
                      <a:solidFill>
                        <a:srgbClr val="FFFF00">
                          <a:alpha val="85097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Text Box 38"/>
          <p:cNvSpPr txBox="1"/>
          <p:nvPr/>
        </p:nvSpPr>
        <p:spPr>
          <a:xfrm>
            <a:off x="2135188" y="549275"/>
            <a:ext cx="34559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椭圆型方程：</a:t>
            </a:r>
            <a:endParaRPr lang="zh-CN" altLang="en-US" sz="32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/>
          <p:cNvSpPr txBox="1"/>
          <p:nvPr/>
        </p:nvSpPr>
        <p:spPr>
          <a:xfrm>
            <a:off x="2208213" y="620713"/>
            <a:ext cx="68405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小结：三种方程的标准型式：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674" name="Group 27"/>
          <p:cNvGrpSpPr/>
          <p:nvPr/>
        </p:nvGrpSpPr>
        <p:grpSpPr>
          <a:xfrm>
            <a:off x="2424113" y="1465263"/>
            <a:ext cx="6551612" cy="4294187"/>
            <a:chOff x="567" y="923"/>
            <a:chExt cx="4127" cy="2705"/>
          </a:xfrm>
        </p:grpSpPr>
        <p:graphicFrame>
          <p:nvGraphicFramePr>
            <p:cNvPr id="28675" name="Object 20"/>
            <p:cNvGraphicFramePr>
              <a:graphicFrameLocks noChangeAspect="1"/>
            </p:cNvGraphicFramePr>
            <p:nvPr/>
          </p:nvGraphicFramePr>
          <p:xfrm>
            <a:off x="577" y="923"/>
            <a:ext cx="254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587500" imgH="241300" progId="Equation.DSMT4">
                    <p:embed/>
                  </p:oleObj>
                </mc:Choice>
                <mc:Fallback>
                  <p:oleObj name="" r:id="rId1" imgW="1587500" imgH="241300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77" y="923"/>
                          <a:ext cx="2543" cy="386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6" name="Object 21"/>
            <p:cNvGraphicFramePr>
              <a:graphicFrameLocks noChangeAspect="1"/>
            </p:cNvGraphicFramePr>
            <p:nvPr/>
          </p:nvGraphicFramePr>
          <p:xfrm>
            <a:off x="1292" y="1389"/>
            <a:ext cx="320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981200" imgH="241300" progId="Equation.DSMT4">
                    <p:embed/>
                  </p:oleObj>
                </mc:Choice>
                <mc:Fallback>
                  <p:oleObj name="" r:id="rId3" imgW="1981200" imgH="241300" progId="Equation.DSMT4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" y="1389"/>
                          <a:ext cx="3205" cy="389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Object 22"/>
            <p:cNvGraphicFramePr>
              <a:graphicFrameLocks noChangeAspect="1"/>
            </p:cNvGraphicFramePr>
            <p:nvPr/>
          </p:nvGraphicFramePr>
          <p:xfrm>
            <a:off x="567" y="1828"/>
            <a:ext cx="263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1651000" imgH="241300" progId="Equation.DSMT4">
                    <p:embed/>
                  </p:oleObj>
                </mc:Choice>
                <mc:Fallback>
                  <p:oleObj name="" r:id="rId5" imgW="1651000" imgH="241300" progId="Equation.DSMT4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7" y="1828"/>
                          <a:ext cx="2631" cy="383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23"/>
            <p:cNvGraphicFramePr>
              <a:graphicFrameLocks noChangeAspect="1"/>
            </p:cNvGraphicFramePr>
            <p:nvPr/>
          </p:nvGraphicFramePr>
          <p:xfrm>
            <a:off x="1292" y="2251"/>
            <a:ext cx="2824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1651000" imgH="241300" progId="Equation.DSMT4">
                    <p:embed/>
                  </p:oleObj>
                </mc:Choice>
                <mc:Fallback>
                  <p:oleObj name="" r:id="rId7" imgW="1651000" imgH="241300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2" y="2251"/>
                          <a:ext cx="2824" cy="413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24"/>
            <p:cNvGraphicFramePr>
              <a:graphicFrameLocks noChangeAspect="1"/>
            </p:cNvGraphicFramePr>
            <p:nvPr/>
          </p:nvGraphicFramePr>
          <p:xfrm>
            <a:off x="567" y="2750"/>
            <a:ext cx="2721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612900" imgH="241300" progId="Equation.DSMT4">
                    <p:embed/>
                  </p:oleObj>
                </mc:Choice>
                <mc:Fallback>
                  <p:oleObj name="" r:id="rId9" imgW="1612900" imgH="241300" progId="Equation.DSMT4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7" y="2750"/>
                          <a:ext cx="2721" cy="405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" name="Object 25"/>
            <p:cNvGraphicFramePr>
              <a:graphicFrameLocks noChangeAspect="1"/>
            </p:cNvGraphicFramePr>
            <p:nvPr/>
          </p:nvGraphicFramePr>
          <p:xfrm>
            <a:off x="1292" y="3218"/>
            <a:ext cx="3402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993900" imgH="241300" progId="Equation.DSMT4">
                    <p:embed/>
                  </p:oleObj>
                </mc:Choice>
                <mc:Fallback>
                  <p:oleObj name="" r:id="rId11" imgW="1993900" imgH="241300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2" y="3218"/>
                          <a:ext cx="3402" cy="410"/>
                        </a:xfrm>
                        <a:prstGeom prst="rect">
                          <a:avLst/>
                        </a:prstGeom>
                        <a:solidFill>
                          <a:srgbClr val="FFFF00">
                            <a:alpha val="85097"/>
                          </a:srgbClr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8"/>
          <p:cNvSpPr/>
          <p:nvPr/>
        </p:nvSpPr>
        <p:spPr>
          <a:xfrm>
            <a:off x="1992313" y="618649"/>
            <a:ext cx="52628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  <a:r>
              <a:rPr lang="en-US" altLang="zh-CN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：分类并标准化方程：</a:t>
            </a:r>
            <a:endParaRPr lang="zh-CN" altLang="en-US" sz="32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9698" name="Object 19"/>
          <p:cNvGraphicFramePr>
            <a:graphicFrameLocks noChangeAspect="1"/>
          </p:cNvGraphicFramePr>
          <p:nvPr/>
        </p:nvGraphicFramePr>
        <p:xfrm>
          <a:off x="4151313" y="1268413"/>
          <a:ext cx="42497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75765" imgH="254000" progId="Equation.DSMT4">
                  <p:embed/>
                </p:oleObj>
              </mc:Choice>
              <mc:Fallback>
                <p:oleObj name="" r:id="rId1" imgW="1675765" imgH="2540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4151313" y="1268413"/>
                        <a:ext cx="4249737" cy="635000"/>
                      </a:xfrm>
                      <a:prstGeom prst="rect">
                        <a:avLst/>
                      </a:prstGeom>
                      <a:solidFill>
                        <a:srgbClr val="FF0000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Rectangle 21"/>
          <p:cNvSpPr/>
          <p:nvPr/>
        </p:nvSpPr>
        <p:spPr>
          <a:xfrm>
            <a:off x="1774825" y="2204879"/>
            <a:ext cx="170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解：该方程的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00" name="Object 22"/>
          <p:cNvGraphicFramePr>
            <a:graphicFrameLocks noChangeAspect="1"/>
          </p:cNvGraphicFramePr>
          <p:nvPr/>
        </p:nvGraphicFramePr>
        <p:xfrm>
          <a:off x="4079875" y="2205038"/>
          <a:ext cx="280828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447800" imgH="228600" progId="Equation.3">
                  <p:embed/>
                </p:oleObj>
              </mc:Choice>
              <mc:Fallback>
                <p:oleObj name="" r:id="rId3" imgW="1447800" imgH="2286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4079875" y="2205038"/>
                        <a:ext cx="2808288" cy="436562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Rectangle 23"/>
          <p:cNvSpPr/>
          <p:nvPr/>
        </p:nvSpPr>
        <p:spPr>
          <a:xfrm>
            <a:off x="6911975" y="2133600"/>
            <a:ext cx="272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故该方程是抛物型的。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702" name="Rectangle 24"/>
          <p:cNvSpPr/>
          <p:nvPr/>
        </p:nvSpPr>
        <p:spPr>
          <a:xfrm>
            <a:off x="2495550" y="2912904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特征方程：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03" name="Object 25"/>
          <p:cNvGraphicFramePr>
            <a:graphicFrameLocks noChangeAspect="1"/>
          </p:cNvGraphicFramePr>
          <p:nvPr/>
        </p:nvGraphicFramePr>
        <p:xfrm>
          <a:off x="4295775" y="2781300"/>
          <a:ext cx="35290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01800" imgH="393700" progId="Equation.3">
                  <p:embed/>
                </p:oleObj>
              </mc:Choice>
              <mc:Fallback>
                <p:oleObj name="" r:id="rId5" imgW="1701800" imgH="3937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6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4295775" y="2781300"/>
                        <a:ext cx="3529013" cy="809625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26"/>
          <p:cNvGraphicFramePr>
            <a:graphicFrameLocks noChangeAspect="1"/>
          </p:cNvGraphicFramePr>
          <p:nvPr/>
        </p:nvGraphicFramePr>
        <p:xfrm>
          <a:off x="4295775" y="3716338"/>
          <a:ext cx="151288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85800" imgH="406400" progId="Equation.DSMT4">
                  <p:embed/>
                </p:oleObj>
              </mc:Choice>
              <mc:Fallback>
                <p:oleObj name="" r:id="rId7" imgW="685800" imgH="4064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8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4295775" y="3716338"/>
                        <a:ext cx="1512888" cy="896937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Rectangle 27"/>
          <p:cNvSpPr/>
          <p:nvPr/>
        </p:nvSpPr>
        <p:spPr>
          <a:xfrm>
            <a:off x="2351405" y="4654392"/>
            <a:ext cx="373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从而得到方程的一族特征线为：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06" name="Object 28"/>
          <p:cNvGraphicFramePr>
            <a:graphicFrameLocks noChangeAspect="1"/>
          </p:cNvGraphicFramePr>
          <p:nvPr/>
        </p:nvGraphicFramePr>
        <p:xfrm>
          <a:off x="6169025" y="3705225"/>
          <a:ext cx="14049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36600" imgH="431800" progId="Equation.DSMT4">
                  <p:embed/>
                </p:oleObj>
              </mc:Choice>
              <mc:Fallback>
                <p:oleObj name="" r:id="rId9" imgW="736600" imgH="4318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0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6169025" y="3705225"/>
                        <a:ext cx="1404938" cy="825500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29"/>
          <p:cNvGraphicFramePr>
            <a:graphicFrameLocks noChangeAspect="1"/>
          </p:cNvGraphicFramePr>
          <p:nvPr/>
        </p:nvGraphicFramePr>
        <p:xfrm>
          <a:off x="7953375" y="3875088"/>
          <a:ext cx="218916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965200" imgH="203200" progId="Equation.DSMT4">
                  <p:embed/>
                </p:oleObj>
              </mc:Choice>
              <mc:Fallback>
                <p:oleObj name="" r:id="rId11" imgW="965200" imgH="2032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2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7953375" y="3875088"/>
                        <a:ext cx="2189163" cy="461962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30"/>
          <p:cNvGraphicFramePr>
            <a:graphicFrameLocks noChangeAspect="1"/>
          </p:cNvGraphicFramePr>
          <p:nvPr/>
        </p:nvGraphicFramePr>
        <p:xfrm>
          <a:off x="6518910" y="4688840"/>
          <a:ext cx="1368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571500" imgH="203200" progId="Equation.3">
                  <p:embed/>
                </p:oleObj>
              </mc:Choice>
              <mc:Fallback>
                <p:oleObj name="" r:id="rId13" imgW="571500" imgH="2032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4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6518910" y="4688840"/>
                        <a:ext cx="1368425" cy="487363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Rectangle 31"/>
          <p:cNvSpPr/>
          <p:nvPr/>
        </p:nvSpPr>
        <p:spPr>
          <a:xfrm>
            <a:off x="2351088" y="5229225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自变量代换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10" name="Object 32"/>
          <p:cNvGraphicFramePr>
            <a:graphicFrameLocks noChangeAspect="1"/>
          </p:cNvGraphicFramePr>
          <p:nvPr/>
        </p:nvGraphicFramePr>
        <p:xfrm>
          <a:off x="3948430" y="5093653"/>
          <a:ext cx="14747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786765" imgH="393700" progId="Equation.3">
                  <p:embed/>
                </p:oleObj>
              </mc:Choice>
              <mc:Fallback>
                <p:oleObj name="" r:id="rId15" imgW="786765" imgH="3937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6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3948430" y="5093653"/>
                        <a:ext cx="1474788" cy="730250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Rectangle 33"/>
          <p:cNvSpPr/>
          <p:nvPr/>
        </p:nvSpPr>
        <p:spPr>
          <a:xfrm>
            <a:off x="5567680" y="5176203"/>
            <a:ext cx="60064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en-US" altLang="zh-CN" sz="2400" dirty="0">
                <a:solidFill>
                  <a:srgbClr val="FF2121"/>
                </a:solidFill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lang="zh-CN" altLang="en-US" sz="2400" dirty="0">
                <a:solidFill>
                  <a:srgbClr val="FF2121"/>
                </a:solidFill>
                <a:latin typeface="宋体" panose="02010600030101010101" pitchFamily="2" charset="-122"/>
                <a:ea typeface="楷体_GB2312" pitchFamily="49" charset="-122"/>
              </a:rPr>
              <a:t>由于</a:t>
            </a:r>
            <a:r>
              <a:rPr lang="el-GR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ξ</a:t>
            </a:r>
            <a:r>
              <a:rPr lang="zh-CN" altLang="en-US" sz="2400" dirty="0">
                <a:solidFill>
                  <a:srgbClr val="FF2121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l-GR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η</a:t>
            </a:r>
            <a:r>
              <a:rPr lang="zh-CN" altLang="en-US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必须函数无关</a:t>
            </a:r>
            <a:r>
              <a:rPr lang="en-US" altLang="zh-CN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l-GR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η</a:t>
            </a:r>
            <a:r>
              <a:rPr lang="zh-CN" altLang="en-US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宜取最简单的函数形式</a:t>
            </a:r>
            <a:r>
              <a:rPr lang="en-US" altLang="zh-CN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lang="el-GR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η</a:t>
            </a:r>
            <a:r>
              <a:rPr lang="en-US" altLang="zh-CN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i="1" dirty="0">
                <a:solidFill>
                  <a:srgbClr val="FF2121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l-GR" altLang="zh-CN" sz="2400" i="1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η</a:t>
            </a:r>
            <a:r>
              <a:rPr lang="en-US" altLang="zh-CN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i="1" dirty="0">
                <a:solidFill>
                  <a:srgbClr val="FF2121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400" dirty="0">
                <a:solidFill>
                  <a:srgbClr val="FF212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dirty="0">
              <a:solidFill>
                <a:srgbClr val="FF212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12" name="Rectangle 34"/>
          <p:cNvSpPr/>
          <p:nvPr/>
        </p:nvSpPr>
        <p:spPr>
          <a:xfrm>
            <a:off x="2351088" y="6160770"/>
            <a:ext cx="3484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原方程化简后的标准形式为：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713" name="Object 35"/>
          <p:cNvGraphicFramePr>
            <a:graphicFrameLocks noChangeAspect="1"/>
          </p:cNvGraphicFramePr>
          <p:nvPr/>
        </p:nvGraphicFramePr>
        <p:xfrm>
          <a:off x="5959793" y="6142990"/>
          <a:ext cx="12954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495300" imgH="241300" progId="Equation.3">
                  <p:embed/>
                </p:oleObj>
              </mc:Choice>
              <mc:Fallback>
                <p:oleObj name="" r:id="rId17" imgW="495300" imgH="2413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8">
                        <a:biLevel thresh="50000"/>
                        <a:grayscl/>
                        <a:lum bright="70001" contrast="-70000"/>
                      </a:blip>
                      <a:stretch>
                        <a:fillRect/>
                      </a:stretch>
                    </p:blipFill>
                    <p:spPr>
                      <a:xfrm>
                        <a:off x="5959793" y="6142990"/>
                        <a:ext cx="1295400" cy="623888"/>
                      </a:xfrm>
                      <a:prstGeom prst="rect">
                        <a:avLst/>
                      </a:prstGeom>
                      <a:solidFill>
                        <a:srgbClr val="0000FF">
                          <a:alpha val="76862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36"/>
          <p:cNvSpPr txBox="1"/>
          <p:nvPr/>
        </p:nvSpPr>
        <p:spPr>
          <a:xfrm>
            <a:off x="2495550" y="3716338"/>
            <a:ext cx="145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特征的解：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/>
          <p:cNvSpPr txBox="1"/>
          <p:nvPr/>
        </p:nvSpPr>
        <p:spPr>
          <a:xfrm>
            <a:off x="1847850" y="620713"/>
            <a:ext cx="8135938" cy="3683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判断方程类型并化简</a:t>
            </a: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参见书</a:t>
            </a:r>
            <a:r>
              <a:rPr lang="en-US" altLang="zh-CN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P32,</a:t>
            </a: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例</a:t>
            </a:r>
            <a:r>
              <a:rPr lang="en-US" altLang="zh-CN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2.1.1</a:t>
            </a:r>
            <a:r>
              <a:rPr lang="zh-CN" altLang="en-US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722" name="Object 18"/>
          <p:cNvGraphicFramePr>
            <a:graphicFrameLocks noChangeAspect="1"/>
          </p:cNvGraphicFramePr>
          <p:nvPr/>
        </p:nvGraphicFramePr>
        <p:xfrm>
          <a:off x="3000375" y="1268413"/>
          <a:ext cx="55626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032000" imgH="241300" progId="Equation.DSMT4">
                  <p:embed/>
                </p:oleObj>
              </mc:Choice>
              <mc:Fallback>
                <p:oleObj name="" r:id="rId1" imgW="2032000" imgH="2413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0375" y="1268413"/>
                        <a:ext cx="5562600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Rectangle 19"/>
          <p:cNvSpPr/>
          <p:nvPr/>
        </p:nvSpPr>
        <p:spPr>
          <a:xfrm>
            <a:off x="1919288" y="2058512"/>
            <a:ext cx="10718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解：∵</a:t>
            </a:r>
            <a:r>
              <a: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32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0724" name="Group 39"/>
          <p:cNvGrpSpPr/>
          <p:nvPr/>
        </p:nvGrpSpPr>
        <p:grpSpPr>
          <a:xfrm>
            <a:off x="3432175" y="2133600"/>
            <a:ext cx="3735388" cy="523875"/>
            <a:chOff x="1202" y="1344"/>
            <a:chExt cx="2353" cy="330"/>
          </a:xfrm>
        </p:grpSpPr>
        <p:graphicFrame>
          <p:nvGraphicFramePr>
            <p:cNvPr id="30725" name="Object 20"/>
            <p:cNvGraphicFramePr>
              <a:graphicFrameLocks noChangeAspect="1"/>
            </p:cNvGraphicFramePr>
            <p:nvPr/>
          </p:nvGraphicFramePr>
          <p:xfrm>
            <a:off x="1202" y="1344"/>
            <a:ext cx="57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431800" imgH="215900" progId="Equation.3">
                    <p:embed/>
                  </p:oleObj>
                </mc:Choice>
                <mc:Fallback>
                  <p:oleObj name="" r:id="rId3" imgW="431800" imgH="2159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2" y="1344"/>
                          <a:ext cx="576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21"/>
            <p:cNvGraphicFramePr>
              <a:graphicFrameLocks noChangeAspect="1"/>
            </p:cNvGraphicFramePr>
            <p:nvPr/>
          </p:nvGraphicFramePr>
          <p:xfrm>
            <a:off x="1927" y="1344"/>
            <a:ext cx="816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545465" imgH="215900" progId="Equation.3">
                    <p:embed/>
                  </p:oleObj>
                </mc:Choice>
                <mc:Fallback>
                  <p:oleObj name="" r:id="rId5" imgW="545465" imgH="2159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7" y="1344"/>
                          <a:ext cx="816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7" name="Object 22"/>
            <p:cNvGraphicFramePr>
              <a:graphicFrameLocks noChangeAspect="1"/>
            </p:cNvGraphicFramePr>
            <p:nvPr/>
          </p:nvGraphicFramePr>
          <p:xfrm>
            <a:off x="2835" y="1344"/>
            <a:ext cx="72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558800" imgH="215900" progId="Equation.3">
                    <p:embed/>
                  </p:oleObj>
                </mc:Choice>
                <mc:Fallback>
                  <p:oleObj name="" r:id="rId7" imgW="558800" imgH="2159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35" y="1344"/>
                          <a:ext cx="720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28" name="Group 40"/>
          <p:cNvGrpSpPr/>
          <p:nvPr/>
        </p:nvGrpSpPr>
        <p:grpSpPr>
          <a:xfrm>
            <a:off x="7175500" y="2060575"/>
            <a:ext cx="3011488" cy="474663"/>
            <a:chOff x="3560" y="1298"/>
            <a:chExt cx="1897" cy="299"/>
          </a:xfrm>
        </p:grpSpPr>
        <p:sp>
          <p:nvSpPr>
            <p:cNvPr id="30729" name="Rectangle 23"/>
            <p:cNvSpPr/>
            <p:nvPr/>
          </p:nvSpPr>
          <p:spPr>
            <a:xfrm>
              <a:off x="3560" y="1365"/>
              <a:ext cx="29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故</a:t>
              </a:r>
              <a:r>
                <a:rPr lang="zh-CN" altLang="en-US" sz="1800" b="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endPara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30" name="Object 24"/>
            <p:cNvGraphicFramePr>
              <a:graphicFrameLocks noChangeAspect="1"/>
            </p:cNvGraphicFramePr>
            <p:nvPr/>
          </p:nvGraphicFramePr>
          <p:xfrm>
            <a:off x="3969" y="1298"/>
            <a:ext cx="148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1155700" imgH="228600" progId="Equation.3">
                    <p:embed/>
                  </p:oleObj>
                </mc:Choice>
                <mc:Fallback>
                  <p:oleObj name="" r:id="rId9" imgW="1155700" imgH="2286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69" y="1298"/>
                          <a:ext cx="1488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25"/>
          <p:cNvSpPr/>
          <p:nvPr/>
        </p:nvSpPr>
        <p:spPr>
          <a:xfrm>
            <a:off x="2762250" y="2848769"/>
            <a:ext cx="4526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故该方程为双曲型偏微分方程，其特征方程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0732" name="Object 26"/>
          <p:cNvGraphicFramePr>
            <a:graphicFrameLocks noChangeAspect="1"/>
          </p:cNvGraphicFramePr>
          <p:nvPr/>
        </p:nvGraphicFramePr>
        <p:xfrm>
          <a:off x="2927350" y="3644900"/>
          <a:ext cx="30241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269365" imgH="393700" progId="Equation.3">
                  <p:embed/>
                </p:oleObj>
              </mc:Choice>
              <mc:Fallback>
                <p:oleObj name="" r:id="rId11" imgW="1269365" imgH="3937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27350" y="3644900"/>
                        <a:ext cx="3024188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3" name="Group 42"/>
          <p:cNvGrpSpPr/>
          <p:nvPr/>
        </p:nvGrpSpPr>
        <p:grpSpPr>
          <a:xfrm>
            <a:off x="2927350" y="4795838"/>
            <a:ext cx="5184775" cy="617538"/>
            <a:chOff x="884" y="3021"/>
            <a:chExt cx="3266" cy="389"/>
          </a:xfrm>
        </p:grpSpPr>
        <p:sp>
          <p:nvSpPr>
            <p:cNvPr id="30734" name="Rectangle 30"/>
            <p:cNvSpPr/>
            <p:nvPr/>
          </p:nvSpPr>
          <p:spPr>
            <a:xfrm>
              <a:off x="884" y="3021"/>
              <a:ext cx="53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故有</a:t>
              </a:r>
              <a:r>
                <a:rPr lang="zh-CN" altLang="en-US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30735" name="Object 31"/>
            <p:cNvGraphicFramePr>
              <a:graphicFrameLocks noChangeAspect="1"/>
            </p:cNvGraphicFramePr>
            <p:nvPr/>
          </p:nvGraphicFramePr>
          <p:xfrm>
            <a:off x="1429" y="3067"/>
            <a:ext cx="113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723900" imgH="215900" progId="Equation.3">
                    <p:embed/>
                  </p:oleObj>
                </mc:Choice>
                <mc:Fallback>
                  <p:oleObj name="" r:id="rId13" imgW="723900" imgH="2159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29" y="3067"/>
                          <a:ext cx="1133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6" name="Rectangle 32"/>
            <p:cNvSpPr/>
            <p:nvPr/>
          </p:nvSpPr>
          <p:spPr>
            <a:xfrm>
              <a:off x="2608" y="3021"/>
              <a:ext cx="38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或</a:t>
              </a:r>
              <a:r>
                <a:rPr lang="zh-CN" altLang="en-US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30737" name="Object 33"/>
            <p:cNvGraphicFramePr>
              <a:graphicFrameLocks noChangeAspect="1"/>
            </p:cNvGraphicFramePr>
            <p:nvPr/>
          </p:nvGraphicFramePr>
          <p:xfrm>
            <a:off x="3061" y="3022"/>
            <a:ext cx="1089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673100" imgH="215900" progId="Equation.3">
                    <p:embed/>
                  </p:oleObj>
                </mc:Choice>
                <mc:Fallback>
                  <p:oleObj name="" r:id="rId15" imgW="673100" imgH="2159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061" y="3022"/>
                          <a:ext cx="1089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8" name="Group 43"/>
          <p:cNvGrpSpPr/>
          <p:nvPr/>
        </p:nvGrpSpPr>
        <p:grpSpPr>
          <a:xfrm>
            <a:off x="2927350" y="5661026"/>
            <a:ext cx="5884863" cy="490538"/>
            <a:chOff x="884" y="3566"/>
            <a:chExt cx="3707" cy="309"/>
          </a:xfrm>
        </p:grpSpPr>
        <p:sp>
          <p:nvSpPr>
            <p:cNvPr id="30739" name="Rectangle 34"/>
            <p:cNvSpPr/>
            <p:nvPr/>
          </p:nvSpPr>
          <p:spPr>
            <a:xfrm>
              <a:off x="884" y="3614"/>
              <a:ext cx="73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取新变量 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30740" name="Object 35"/>
            <p:cNvGraphicFramePr>
              <a:graphicFrameLocks noChangeAspect="1"/>
            </p:cNvGraphicFramePr>
            <p:nvPr/>
          </p:nvGraphicFramePr>
          <p:xfrm>
            <a:off x="1973" y="3566"/>
            <a:ext cx="104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7" imgW="673100" imgH="203200" progId="Equation.3">
                    <p:embed/>
                  </p:oleObj>
                </mc:Choice>
                <mc:Fallback>
                  <p:oleObj name="" r:id="rId17" imgW="673100" imgH="2032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973" y="3566"/>
                          <a:ext cx="1043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36"/>
            <p:cNvGraphicFramePr>
              <a:graphicFrameLocks noChangeAspect="1"/>
            </p:cNvGraphicFramePr>
            <p:nvPr/>
          </p:nvGraphicFramePr>
          <p:xfrm>
            <a:off x="3152" y="3566"/>
            <a:ext cx="108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9" imgW="698500" imgH="177800" progId="Equation.3">
                    <p:embed/>
                  </p:oleObj>
                </mc:Choice>
                <mc:Fallback>
                  <p:oleObj name="" r:id="rId19" imgW="698500" imgH="1778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152" y="3566"/>
                          <a:ext cx="1089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Rectangle 37"/>
            <p:cNvSpPr/>
            <p:nvPr/>
          </p:nvSpPr>
          <p:spPr>
            <a:xfrm>
              <a:off x="4332" y="356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则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0743" name="Group 41"/>
          <p:cNvGrpSpPr/>
          <p:nvPr/>
        </p:nvGrpSpPr>
        <p:grpSpPr>
          <a:xfrm>
            <a:off x="6096000" y="3640138"/>
            <a:ext cx="3529013" cy="917575"/>
            <a:chOff x="2880" y="2293"/>
            <a:chExt cx="2223" cy="578"/>
          </a:xfrm>
        </p:grpSpPr>
        <p:graphicFrame>
          <p:nvGraphicFramePr>
            <p:cNvPr id="30744" name="Object 27"/>
            <p:cNvGraphicFramePr>
              <a:graphicFrameLocks noChangeAspect="1"/>
            </p:cNvGraphicFramePr>
            <p:nvPr/>
          </p:nvGraphicFramePr>
          <p:xfrm>
            <a:off x="3424" y="2296"/>
            <a:ext cx="725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21" imgW="533400" imgH="393700" progId="Equation.3">
                    <p:embed/>
                  </p:oleObj>
                </mc:Choice>
                <mc:Fallback>
                  <p:oleObj name="" r:id="rId21" imgW="533400" imgH="3937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424" y="2296"/>
                          <a:ext cx="725" cy="5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28"/>
            <p:cNvGraphicFramePr>
              <a:graphicFrameLocks noChangeAspect="1"/>
            </p:cNvGraphicFramePr>
            <p:nvPr/>
          </p:nvGraphicFramePr>
          <p:xfrm>
            <a:off x="4468" y="2293"/>
            <a:ext cx="635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23" imgW="431800" imgH="393700" progId="Equation.3">
                    <p:embed/>
                  </p:oleObj>
                </mc:Choice>
                <mc:Fallback>
                  <p:oleObj name="" r:id="rId23" imgW="431800" imgH="3937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468" y="2293"/>
                          <a:ext cx="635" cy="5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6" name="Rectangle 29"/>
            <p:cNvSpPr/>
            <p:nvPr/>
          </p:nvSpPr>
          <p:spPr>
            <a:xfrm>
              <a:off x="4150" y="2340"/>
              <a:ext cx="38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或</a:t>
              </a:r>
              <a:r>
                <a:rPr lang="zh-CN" altLang="en-US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47" name="Rectangle 38"/>
            <p:cNvSpPr/>
            <p:nvPr/>
          </p:nvSpPr>
          <p:spPr>
            <a:xfrm>
              <a:off x="2880" y="2454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解为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2"/>
          <p:cNvSpPr txBox="1"/>
          <p:nvPr/>
        </p:nvSpPr>
        <p:spPr>
          <a:xfrm>
            <a:off x="1812925" y="392113"/>
            <a:ext cx="6840538" cy="3683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2(</a:t>
            </a:r>
            <a:r>
              <a:rPr lang="zh-CN" altLang="en-US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续</a:t>
            </a:r>
            <a:r>
              <a:rPr lang="en-US" altLang="zh-CN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 </a:t>
            </a:r>
            <a:endParaRPr lang="en-US" altLang="zh-CN" dirty="0">
              <a:solidFill>
                <a:srgbClr val="FF212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746" name="Group 27"/>
          <p:cNvGrpSpPr/>
          <p:nvPr/>
        </p:nvGrpSpPr>
        <p:grpSpPr>
          <a:xfrm>
            <a:off x="3144838" y="781050"/>
            <a:ext cx="4783137" cy="976313"/>
            <a:chOff x="1021" y="492"/>
            <a:chExt cx="3013" cy="615"/>
          </a:xfrm>
        </p:grpSpPr>
        <p:graphicFrame>
          <p:nvGraphicFramePr>
            <p:cNvPr id="31747" name="Object 18"/>
            <p:cNvGraphicFramePr>
              <a:graphicFrameLocks noChangeAspect="1"/>
            </p:cNvGraphicFramePr>
            <p:nvPr/>
          </p:nvGraphicFramePr>
          <p:xfrm>
            <a:off x="1021" y="492"/>
            <a:ext cx="139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016000" imgH="431800" progId="Equation.DSMT4">
                    <p:embed/>
                  </p:oleObj>
                </mc:Choice>
                <mc:Fallback>
                  <p:oleObj name="" r:id="rId1" imgW="1016000" imgH="431800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1" y="492"/>
                          <a:ext cx="1391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8" name="Rectangle 19"/>
            <p:cNvSpPr/>
            <p:nvPr/>
          </p:nvSpPr>
          <p:spPr>
            <a:xfrm>
              <a:off x="2460" y="596"/>
              <a:ext cx="49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 </a:t>
              </a:r>
              <a:endParaRPr lang="zh-CN" altLang="en-US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31749" name="Object 20"/>
            <p:cNvGraphicFramePr>
              <a:graphicFrameLocks noChangeAspect="1"/>
            </p:cNvGraphicFramePr>
            <p:nvPr/>
          </p:nvGraphicFramePr>
          <p:xfrm>
            <a:off x="2709" y="492"/>
            <a:ext cx="1325" cy="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927100" imgH="431800" progId="Equation.DSMT4">
                    <p:embed/>
                  </p:oleObj>
                </mc:Choice>
                <mc:Fallback>
                  <p:oleObj name="" r:id="rId3" imgW="927100" imgH="431800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09" y="492"/>
                          <a:ext cx="1325" cy="6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0" name="Object 21"/>
          <p:cNvGraphicFramePr>
            <a:graphicFrameLocks noChangeAspect="1"/>
          </p:cNvGraphicFramePr>
          <p:nvPr/>
        </p:nvGraphicFramePr>
        <p:xfrm>
          <a:off x="3255963" y="1857375"/>
          <a:ext cx="38068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790700" imgH="444500" progId="Equation.DSMT4">
                  <p:embed/>
                </p:oleObj>
              </mc:Choice>
              <mc:Fallback>
                <p:oleObj name="" r:id="rId5" imgW="1790700" imgH="4445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5963" y="1857375"/>
                        <a:ext cx="3806825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22"/>
          <p:cNvGraphicFramePr>
            <a:graphicFrameLocks noChangeAspect="1"/>
          </p:cNvGraphicFramePr>
          <p:nvPr/>
        </p:nvGraphicFramePr>
        <p:xfrm>
          <a:off x="3241675" y="3009900"/>
          <a:ext cx="35480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714500" imgH="444500" progId="Equation.DSMT4">
                  <p:embed/>
                </p:oleObj>
              </mc:Choice>
              <mc:Fallback>
                <p:oleObj name="" r:id="rId7" imgW="1714500" imgH="4445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41675" y="3009900"/>
                        <a:ext cx="3548063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23"/>
          <p:cNvSpPr/>
          <p:nvPr/>
        </p:nvSpPr>
        <p:spPr>
          <a:xfrm>
            <a:off x="3216275" y="4296569"/>
            <a:ext cx="1783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代入原方程得：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1753" name="Object 24"/>
          <p:cNvGraphicFramePr>
            <a:graphicFrameLocks noChangeAspect="1"/>
          </p:cNvGraphicFramePr>
          <p:nvPr/>
        </p:nvGraphicFramePr>
        <p:xfrm>
          <a:off x="5835650" y="4005263"/>
          <a:ext cx="39068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1815465" imgH="444500" progId="Equation.DSMT4">
                  <p:embed/>
                </p:oleObj>
              </mc:Choice>
              <mc:Fallback>
                <p:oleObj name="" r:id="rId9" imgW="1815465" imgH="4445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35650" y="4005263"/>
                        <a:ext cx="3906838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25"/>
          <p:cNvSpPr/>
          <p:nvPr/>
        </p:nvSpPr>
        <p:spPr>
          <a:xfrm>
            <a:off x="3216275" y="5304632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即：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1755" name="Object 26"/>
          <p:cNvGraphicFramePr>
            <a:graphicFrameLocks noChangeAspect="1"/>
          </p:cNvGraphicFramePr>
          <p:nvPr/>
        </p:nvGraphicFramePr>
        <p:xfrm>
          <a:off x="4167188" y="4956175"/>
          <a:ext cx="28956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333500" imgH="444500" progId="Equation.DSMT4">
                  <p:embed/>
                </p:oleObj>
              </mc:Choice>
              <mc:Fallback>
                <p:oleObj name="" r:id="rId11" imgW="1333500" imgH="4445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67188" y="4956175"/>
                        <a:ext cx="289560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37"/>
          <p:cNvGraphicFramePr>
            <a:graphicFrameLocks noChangeAspect="1"/>
          </p:cNvGraphicFramePr>
          <p:nvPr/>
        </p:nvGraphicFramePr>
        <p:xfrm>
          <a:off x="4249738" y="5921375"/>
          <a:ext cx="6119812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3200400" imgH="457200" progId="Equation.DSMT4">
                  <p:embed/>
                </p:oleObj>
              </mc:Choice>
              <mc:Fallback>
                <p:oleObj name="" r:id="rId13" imgW="3200400" imgH="457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49738" y="5921375"/>
                        <a:ext cx="6119812" cy="8747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/>
          <p:nvPr/>
        </p:nvSpPr>
        <p:spPr>
          <a:xfrm>
            <a:off x="1919288" y="333375"/>
            <a:ext cx="7272337" cy="58356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dirty="0">
                <a:solidFill>
                  <a:srgbClr val="FF212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32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判断偏微分方程的类型并化简：</a:t>
            </a:r>
            <a:endParaRPr lang="zh-CN" altLang="en-US" sz="3200" dirty="0">
              <a:solidFill>
                <a:srgbClr val="FF212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2770" name="Object 18"/>
          <p:cNvGraphicFramePr>
            <a:graphicFrameLocks noChangeAspect="1"/>
          </p:cNvGraphicFramePr>
          <p:nvPr/>
        </p:nvGraphicFramePr>
        <p:xfrm>
          <a:off x="3273425" y="1025525"/>
          <a:ext cx="60626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603500" imgH="254000" progId="Equation.DSMT4">
                  <p:embed/>
                </p:oleObj>
              </mc:Choice>
              <mc:Fallback>
                <p:oleObj name="" r:id="rId1" imgW="2603500" imgH="2540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3425" y="1025525"/>
                        <a:ext cx="6062663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19"/>
          <p:cNvGraphicFramePr>
            <a:graphicFrameLocks noChangeAspect="1"/>
          </p:cNvGraphicFramePr>
          <p:nvPr/>
        </p:nvGraphicFramePr>
        <p:xfrm>
          <a:off x="3157538" y="1685925"/>
          <a:ext cx="61071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628900" imgH="241300" progId="Equation.DSMT4">
                  <p:embed/>
                </p:oleObj>
              </mc:Choice>
              <mc:Fallback>
                <p:oleObj name="" r:id="rId3" imgW="2628900" imgH="2413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7538" y="1685925"/>
                        <a:ext cx="6107112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21"/>
          <p:cNvSpPr txBox="1"/>
          <p:nvPr/>
        </p:nvSpPr>
        <p:spPr>
          <a:xfrm>
            <a:off x="2063750" y="1668463"/>
            <a:ext cx="6400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32773" name="Object 24"/>
          <p:cNvGraphicFramePr>
            <a:graphicFrameLocks noChangeAspect="1"/>
          </p:cNvGraphicFramePr>
          <p:nvPr/>
        </p:nvGraphicFramePr>
        <p:xfrm>
          <a:off x="4440238" y="4652963"/>
          <a:ext cx="5864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565400" imgH="228600" progId="Equation.DSMT4">
                  <p:embed/>
                </p:oleObj>
              </mc:Choice>
              <mc:Fallback>
                <p:oleObj name="" r:id="rId5" imgW="2565400" imgH="2286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0238" y="4652963"/>
                        <a:ext cx="586422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26"/>
          <p:cNvGraphicFramePr>
            <a:graphicFrameLocks noChangeAspect="1"/>
          </p:cNvGraphicFramePr>
          <p:nvPr/>
        </p:nvGraphicFramePr>
        <p:xfrm>
          <a:off x="3648075" y="5661025"/>
          <a:ext cx="34559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1511300" imgH="406400" progId="Equation.DSMT4">
                  <p:embed/>
                </p:oleObj>
              </mc:Choice>
              <mc:Fallback>
                <p:oleObj name="" r:id="rId7" imgW="1511300" imgH="4064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8075" y="5661025"/>
                        <a:ext cx="3455988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5" name="Group 35"/>
          <p:cNvGrpSpPr/>
          <p:nvPr/>
        </p:nvGrpSpPr>
        <p:grpSpPr>
          <a:xfrm>
            <a:off x="3000375" y="2909888"/>
            <a:ext cx="6710363" cy="927100"/>
            <a:chOff x="930" y="1833"/>
            <a:chExt cx="4227" cy="584"/>
          </a:xfrm>
        </p:grpSpPr>
        <p:graphicFrame>
          <p:nvGraphicFramePr>
            <p:cNvPr id="32776" name="Object 22"/>
            <p:cNvGraphicFramePr>
              <a:graphicFrameLocks noChangeAspect="1"/>
            </p:cNvGraphicFramePr>
            <p:nvPr/>
          </p:nvGraphicFramePr>
          <p:xfrm>
            <a:off x="2009" y="1833"/>
            <a:ext cx="3148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2197100" imgH="406400" progId="Equation.DSMT4">
                    <p:embed/>
                  </p:oleObj>
                </mc:Choice>
                <mc:Fallback>
                  <p:oleObj name="" r:id="rId9" imgW="2197100" imgH="406400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09" y="1833"/>
                          <a:ext cx="3148" cy="5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7" name="Text Box 28"/>
            <p:cNvSpPr txBox="1"/>
            <p:nvPr/>
          </p:nvSpPr>
          <p:spPr>
            <a:xfrm>
              <a:off x="930" y="1933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特征方程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2778" name="Group 34"/>
          <p:cNvGrpSpPr/>
          <p:nvPr/>
        </p:nvGrpSpPr>
        <p:grpSpPr>
          <a:xfrm>
            <a:off x="3000375" y="3776663"/>
            <a:ext cx="7367588" cy="871537"/>
            <a:chOff x="930" y="2379"/>
            <a:chExt cx="4641" cy="549"/>
          </a:xfrm>
        </p:grpSpPr>
        <p:graphicFrame>
          <p:nvGraphicFramePr>
            <p:cNvPr id="32779" name="Object 23"/>
            <p:cNvGraphicFramePr>
              <a:graphicFrameLocks noChangeAspect="1"/>
            </p:cNvGraphicFramePr>
            <p:nvPr/>
          </p:nvGraphicFramePr>
          <p:xfrm>
            <a:off x="2548" y="2379"/>
            <a:ext cx="3023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2233930" imgH="406400" progId="Equation.DSMT4">
                    <p:embed/>
                  </p:oleObj>
                </mc:Choice>
                <mc:Fallback>
                  <p:oleObj name="" r:id="rId11" imgW="2233930" imgH="406400" progId="Equation.DSMT4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48" y="2379"/>
                          <a:ext cx="3023" cy="5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0" name="Text Box 29"/>
            <p:cNvSpPr txBox="1"/>
            <p:nvPr/>
          </p:nvSpPr>
          <p:spPr>
            <a:xfrm>
              <a:off x="930" y="2478"/>
              <a:ext cx="112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特征方程的解：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2781" name="Text Box 30"/>
          <p:cNvSpPr txBox="1"/>
          <p:nvPr/>
        </p:nvSpPr>
        <p:spPr>
          <a:xfrm>
            <a:off x="3000375" y="4652963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特征线：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32782" name="Group 33"/>
          <p:cNvGrpSpPr/>
          <p:nvPr/>
        </p:nvGrpSpPr>
        <p:grpSpPr>
          <a:xfrm>
            <a:off x="3071813" y="5229225"/>
            <a:ext cx="7011987" cy="477838"/>
            <a:chOff x="975" y="3294"/>
            <a:chExt cx="4417" cy="301"/>
          </a:xfrm>
        </p:grpSpPr>
        <p:graphicFrame>
          <p:nvGraphicFramePr>
            <p:cNvPr id="32783" name="Object 25"/>
            <p:cNvGraphicFramePr>
              <a:graphicFrameLocks noChangeAspect="1"/>
            </p:cNvGraphicFramePr>
            <p:nvPr/>
          </p:nvGraphicFramePr>
          <p:xfrm>
            <a:off x="1746" y="3294"/>
            <a:ext cx="364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3" imgW="2463800" imgH="203200" progId="Equation.DSMT4">
                    <p:embed/>
                  </p:oleObj>
                </mc:Choice>
                <mc:Fallback>
                  <p:oleObj name="" r:id="rId13" imgW="2463800" imgH="2032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46" y="3294"/>
                          <a:ext cx="3646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4" name="Text Box 31"/>
            <p:cNvSpPr txBox="1"/>
            <p:nvPr/>
          </p:nvSpPr>
          <p:spPr>
            <a:xfrm>
              <a:off x="975" y="3294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令：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2785" name="Group 36"/>
          <p:cNvGrpSpPr/>
          <p:nvPr/>
        </p:nvGrpSpPr>
        <p:grpSpPr>
          <a:xfrm>
            <a:off x="3022600" y="2349500"/>
            <a:ext cx="6054725" cy="485775"/>
            <a:chOff x="944" y="1480"/>
            <a:chExt cx="3814" cy="306"/>
          </a:xfrm>
        </p:grpSpPr>
        <p:graphicFrame>
          <p:nvGraphicFramePr>
            <p:cNvPr id="32786" name="Object 20"/>
            <p:cNvGraphicFramePr>
              <a:graphicFrameLocks noChangeAspect="1"/>
            </p:cNvGraphicFramePr>
            <p:nvPr/>
          </p:nvGraphicFramePr>
          <p:xfrm>
            <a:off x="944" y="1480"/>
            <a:ext cx="278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5" imgW="1841500" imgH="203200" progId="Equation.DSMT4">
                    <p:embed/>
                  </p:oleObj>
                </mc:Choice>
                <mc:Fallback>
                  <p:oleObj name="" r:id="rId15" imgW="1841500" imgH="2032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44" y="1480"/>
                          <a:ext cx="2784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7" name="Text Box 32"/>
            <p:cNvSpPr txBox="1"/>
            <p:nvPr/>
          </p:nvSpPr>
          <p:spPr>
            <a:xfrm>
              <a:off x="3923" y="1480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双曲型方程</a:t>
              </a:r>
              <a:endParaRPr lang="zh-CN" altLang="en-US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32788" name="Object 37"/>
          <p:cNvGraphicFramePr>
            <a:graphicFrameLocks noChangeAspect="1"/>
          </p:cNvGraphicFramePr>
          <p:nvPr/>
        </p:nvGraphicFramePr>
        <p:xfrm>
          <a:off x="7535863" y="5876925"/>
          <a:ext cx="273526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1167765" imgH="203200" progId="Equation.3">
                  <p:embed/>
                </p:oleObj>
              </mc:Choice>
              <mc:Fallback>
                <p:oleObj name="" r:id="rId17" imgW="1167765" imgH="2032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35863" y="5876925"/>
                        <a:ext cx="2735262" cy="4746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/>
          </p:cNvSpPr>
          <p:nvPr>
            <p:ph type="title"/>
          </p:nvPr>
        </p:nvSpPr>
        <p:spPr>
          <a:xfrm>
            <a:off x="2927350" y="333375"/>
            <a:ext cx="5761038" cy="7826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第二章： 复习思考题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4" name="Rectangle 3"/>
          <p:cNvSpPr>
            <a:spLocks noGrp="1" noRot="1"/>
          </p:cNvSpPr>
          <p:nvPr>
            <p:ph idx="1"/>
          </p:nvPr>
        </p:nvSpPr>
        <p:spPr>
          <a:xfrm>
            <a:off x="2351088" y="1412875"/>
            <a:ext cx="7632700" cy="45370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一．</a:t>
            </a:r>
            <a:r>
              <a:rPr lang="zh-CN" altLang="en-US" sz="2400" b="1" dirty="0">
                <a:solidFill>
                  <a:srgbClr val="0000FF"/>
                </a:solidFill>
              </a:rPr>
              <a:t>写出二阶常系数线性齐次微分方程的特征方程与特征根。</a:t>
            </a:r>
            <a:endParaRPr lang="zh-CN" altLang="en-US" sz="24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二</a:t>
            </a:r>
            <a:r>
              <a:rPr lang="en-US" altLang="zh-CN" sz="2400" b="1" dirty="0">
                <a:solidFill>
                  <a:srgbClr val="0000FF"/>
                </a:solidFill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</a:rPr>
              <a:t>简述二阶常系数线性齐次微分方程的求解步骤。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三</a:t>
            </a:r>
            <a:r>
              <a:rPr lang="en-US" altLang="zh-CN" sz="2400" b="1" dirty="0">
                <a:solidFill>
                  <a:srgbClr val="0000FF"/>
                </a:solidFill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</a:rPr>
              <a:t>写出二阶线性偏微分方程的辨别式及其分类原则。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四</a:t>
            </a:r>
            <a:r>
              <a:rPr lang="en-US" altLang="zh-CN" sz="2400" b="1" dirty="0">
                <a:solidFill>
                  <a:srgbClr val="0000FF"/>
                </a:solidFill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</a:rPr>
              <a:t>解释何谓自变量非奇异变换。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五</a:t>
            </a:r>
            <a:r>
              <a:rPr lang="en-US" altLang="zh-CN" sz="2400" b="1" dirty="0">
                <a:solidFill>
                  <a:srgbClr val="0000FF"/>
                </a:solidFill>
              </a:rPr>
              <a:t>. </a:t>
            </a:r>
            <a:r>
              <a:rPr lang="zh-CN" altLang="en-US" sz="2400" b="1" dirty="0">
                <a:solidFill>
                  <a:srgbClr val="0000FF"/>
                </a:solidFill>
              </a:rPr>
              <a:t>简述二阶线性偏微分方程简化的基本步骤。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课后作业</a:t>
            </a:r>
            <a:r>
              <a:rPr lang="en-US" altLang="zh-CN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  <a:r>
              <a:rPr lang="zh-CN" alt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：二阶线性偏微分方程的分类与标准型</a:t>
            </a:r>
            <a:br>
              <a:rPr lang="en-US" altLang="zh-CN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zh-CN" alt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（学习通已上传）</a:t>
            </a:r>
            <a:endParaRPr lang="zh-CN" alt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483360"/>
            <a:ext cx="10957560" cy="48539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PP_MARK_KEY" val="fa891ce3-655c-4d00-add9-2849e16b941a"/>
  <p:tag name="COMMONDATA" val="eyJoZGlkIjoiMWEzNzI4NzY2MzhmZGUwYWVmODY1N2RmOTVkOTljMWM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WPS 演示</Application>
  <PresentationFormat>宽屏</PresentationFormat>
  <Paragraphs>268</Paragraphs>
  <Slides>21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111</vt:i4>
      </vt:variant>
      <vt:variant>
        <vt:lpstr>幻灯片标题</vt:lpstr>
      </vt:variant>
      <vt:variant>
        <vt:i4>21</vt:i4>
      </vt:variant>
    </vt:vector>
  </HeadingPairs>
  <TitlesOfParts>
    <vt:vector size="148" baseType="lpstr">
      <vt:lpstr>Arial</vt:lpstr>
      <vt:lpstr>宋体</vt:lpstr>
      <vt:lpstr>Wingdings</vt:lpstr>
      <vt:lpstr>微软雅黑</vt:lpstr>
      <vt:lpstr>黑体</vt:lpstr>
      <vt:lpstr>Verdana</vt:lpstr>
      <vt:lpstr>Times New Roman</vt:lpstr>
      <vt:lpstr>方正毡笔黑简体</vt:lpstr>
      <vt:lpstr>仿宋_GB2312</vt:lpstr>
      <vt:lpstr>仿宋</vt:lpstr>
      <vt:lpstr>Arial Unicode MS</vt:lpstr>
      <vt:lpstr>等线</vt:lpstr>
      <vt:lpstr>楷体_GB2312</vt:lpstr>
      <vt:lpstr>新宋体</vt:lpstr>
      <vt:lpstr>华文中宋</vt:lpstr>
      <vt:lpstr>1_Office 主题​​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数学物理方法</vt:lpstr>
      <vt:lpstr>数学物理方程：完整表述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第二章： 复习思考题</vt:lpstr>
      <vt:lpstr>课后作业2：二阶线性偏微分方程的分类与标准型 （学习通已上传）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300</cp:revision>
  <dcterms:created xsi:type="dcterms:W3CDTF">2019-06-19T02:08:00Z</dcterms:created>
  <dcterms:modified xsi:type="dcterms:W3CDTF">2025-09-28T01:21:51Z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1393EC13978E4C668BFA3C43285F240C_13</vt:lpwstr>
  </property>
</Properties>
</file>