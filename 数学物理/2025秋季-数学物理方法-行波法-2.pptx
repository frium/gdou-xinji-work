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700" r:id="rId4"/>
    <p:sldId id="701" r:id="rId6"/>
    <p:sldId id="702" r:id="rId7"/>
    <p:sldId id="719" r:id="rId8"/>
    <p:sldId id="720" r:id="rId9"/>
    <p:sldId id="703" r:id="rId10"/>
    <p:sldId id="704" r:id="rId11"/>
    <p:sldId id="705" r:id="rId12"/>
    <p:sldId id="706" r:id="rId13"/>
    <p:sldId id="721" r:id="rId14"/>
    <p:sldId id="707" r:id="rId15"/>
    <p:sldId id="708" r:id="rId16"/>
    <p:sldId id="709" r:id="rId17"/>
    <p:sldId id="710" r:id="rId18"/>
    <p:sldId id="711" r:id="rId19"/>
    <p:sldId id="370" r:id="rId20"/>
    <p:sldId id="712" r:id="rId21"/>
    <p:sldId id="714" r:id="rId22"/>
    <p:sldId id="713" r:id="rId23"/>
    <p:sldId id="715" r:id="rId24"/>
    <p:sldId id="716" r:id="rId25"/>
    <p:sldId id="717" r:id="rId26"/>
    <p:sldId id="718" r:id="rId27"/>
    <p:sldId id="271" r:id="rId28"/>
    <p:sldId id="348" r:id="rId29"/>
    <p:sldId id="361" r:id="rId30"/>
    <p:sldId id="362" r:id="rId31"/>
    <p:sldId id="363" r:id="rId32"/>
    <p:sldId id="364" r:id="rId33"/>
    <p:sldId id="722" r:id="rId34"/>
    <p:sldId id="723" r:id="rId35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744" y="77"/>
      </p:cViewPr>
      <p:guideLst>
        <p:guide orient="horz" pos="2131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tags" Target="tags/tag74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0" Type="http://schemas.openxmlformats.org/officeDocument/2006/relationships/image" Target="../media/image29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7" Type="http://schemas.openxmlformats.org/officeDocument/2006/relationships/image" Target="../media/image48.wmf"/><Relationship Id="rId6" Type="http://schemas.openxmlformats.org/officeDocument/2006/relationships/image" Target="../media/image41.wmf"/><Relationship Id="rId5" Type="http://schemas.openxmlformats.org/officeDocument/2006/relationships/image" Target="../media/image43.wmf"/><Relationship Id="rId4" Type="http://schemas.openxmlformats.org/officeDocument/2006/relationships/image" Target="../media/image39.wmf"/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64.wmf"/><Relationship Id="rId4" Type="http://schemas.openxmlformats.org/officeDocument/2006/relationships/image" Target="../media/image63.wmf"/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7.vml.rels><?xml version="1.0" encoding="UTF-8" standalone="yes"?>
<Relationships xmlns="http://schemas.openxmlformats.org/package/2006/relationships"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88.wmf"/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2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8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2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993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26214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21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2641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41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9605963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4900613" y="752475"/>
            <a:ext cx="2390775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2495600" y="1826578"/>
            <a:ext cx="7200800" cy="949878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2495600" y="2826092"/>
            <a:ext cx="72008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038475" y="2284413"/>
            <a:ext cx="6115050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1850" y="3373606"/>
            <a:ext cx="10515600" cy="1061467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2207568" y="4527773"/>
            <a:ext cx="7776864" cy="106146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FCB4D56-782D-442B-9B32-0BC325ED746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D269E1A-4DF9-4A6A-B519-38EBE42E33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9605963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726808" y="2313806"/>
            <a:ext cx="6738385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416EC6-90A0-4FF7-BF22-87F915FB23B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400" noProof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400" noProof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400" noProof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400" noProof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20" Type="http://schemas.openxmlformats.org/officeDocument/2006/relationships/vmlDrawing" Target="../drawings/vmlDrawing2.vml"/><Relationship Id="rId2" Type="http://schemas.openxmlformats.org/officeDocument/2006/relationships/image" Target="../media/image5.wmf"/><Relationship Id="rId19" Type="http://schemas.openxmlformats.org/officeDocument/2006/relationships/slideLayout" Target="../slideLayouts/slideLayout13.xml"/><Relationship Id="rId18" Type="http://schemas.openxmlformats.org/officeDocument/2006/relationships/image" Target="../media/image13.wmf"/><Relationship Id="rId17" Type="http://schemas.openxmlformats.org/officeDocument/2006/relationships/oleObject" Target="../embeddings/oleObject10.bin"/><Relationship Id="rId16" Type="http://schemas.openxmlformats.org/officeDocument/2006/relationships/image" Target="../media/image12.wmf"/><Relationship Id="rId15" Type="http://schemas.openxmlformats.org/officeDocument/2006/relationships/oleObject" Target="../embeddings/oleObject9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7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4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9.w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18.wmf"/><Relationship Id="rId1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8.bin"/><Relationship Id="rId26" Type="http://schemas.openxmlformats.org/officeDocument/2006/relationships/vmlDrawing" Target="../drawings/vmlDrawing4.vml"/><Relationship Id="rId25" Type="http://schemas.openxmlformats.org/officeDocument/2006/relationships/slideLayout" Target="../slideLayouts/slideLayout7.xml"/><Relationship Id="rId24" Type="http://schemas.openxmlformats.org/officeDocument/2006/relationships/oleObject" Target="../embeddings/oleObject30.bin"/><Relationship Id="rId23" Type="http://schemas.openxmlformats.org/officeDocument/2006/relationships/image" Target="../media/image29.wmf"/><Relationship Id="rId22" Type="http://schemas.openxmlformats.org/officeDocument/2006/relationships/oleObject" Target="../embeddings/oleObject29.bin"/><Relationship Id="rId21" Type="http://schemas.openxmlformats.org/officeDocument/2006/relationships/image" Target="../media/image28.wmf"/><Relationship Id="rId20" Type="http://schemas.openxmlformats.org/officeDocument/2006/relationships/oleObject" Target="../embeddings/oleObject28.bin"/><Relationship Id="rId2" Type="http://schemas.openxmlformats.org/officeDocument/2006/relationships/image" Target="../media/image20.wmf"/><Relationship Id="rId19" Type="http://schemas.openxmlformats.org/officeDocument/2006/relationships/image" Target="../media/image27.wmf"/><Relationship Id="rId18" Type="http://schemas.openxmlformats.org/officeDocument/2006/relationships/oleObject" Target="../embeddings/oleObject27.bin"/><Relationship Id="rId17" Type="http://schemas.openxmlformats.org/officeDocument/2006/relationships/oleObject" Target="../embeddings/oleObject26.bin"/><Relationship Id="rId16" Type="http://schemas.openxmlformats.org/officeDocument/2006/relationships/oleObject" Target="../embeddings/oleObject25.bin"/><Relationship Id="rId15" Type="http://schemas.openxmlformats.org/officeDocument/2006/relationships/oleObject" Target="../embeddings/oleObject24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0.wmf"/><Relationship Id="rId1" Type="http://schemas.openxmlformats.org/officeDocument/2006/relationships/oleObject" Target="../embeddings/oleObject3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1.wmf"/><Relationship Id="rId19" Type="http://schemas.openxmlformats.org/officeDocument/2006/relationships/vmlDrawing" Target="../drawings/vmlDrawing6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38.wmf"/><Relationship Id="rId16" Type="http://schemas.openxmlformats.org/officeDocument/2006/relationships/oleObject" Target="../embeddings/oleObject40.bin"/><Relationship Id="rId15" Type="http://schemas.openxmlformats.org/officeDocument/2006/relationships/oleObject" Target="../embeddings/oleObject39.bin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38.bin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37.bin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32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image" Target="../media/image42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39.wmf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4.wmf"/><Relationship Id="rId11" Type="http://schemas.openxmlformats.org/officeDocument/2006/relationships/oleObject" Target="../embeddings/oleObject46.bin"/><Relationship Id="rId10" Type="http://schemas.openxmlformats.org/officeDocument/2006/relationships/image" Target="../media/image43.wmf"/><Relationship Id="rId1" Type="http://schemas.openxmlformats.org/officeDocument/2006/relationships/oleObject" Target="../embeddings/oleObject4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oleObject" Target="../embeddings/oleObject51.bin"/><Relationship Id="rId7" Type="http://schemas.openxmlformats.org/officeDocument/2006/relationships/image" Target="../media/image47.wmf"/><Relationship Id="rId6" Type="http://schemas.openxmlformats.org/officeDocument/2006/relationships/oleObject" Target="../embeddings/oleObject50.bin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5.wmf"/><Relationship Id="rId19" Type="http://schemas.openxmlformats.org/officeDocument/2006/relationships/vmlDrawing" Target="../drawings/vmlDrawing8.v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49.wmf"/><Relationship Id="rId16" Type="http://schemas.openxmlformats.org/officeDocument/2006/relationships/oleObject" Target="../embeddings/oleObject55.bin"/><Relationship Id="rId15" Type="http://schemas.openxmlformats.org/officeDocument/2006/relationships/image" Target="../media/image48.wmf"/><Relationship Id="rId14" Type="http://schemas.openxmlformats.org/officeDocument/2006/relationships/oleObject" Target="../embeddings/oleObject54.bin"/><Relationship Id="rId13" Type="http://schemas.openxmlformats.org/officeDocument/2006/relationships/image" Target="../media/image41.wmf"/><Relationship Id="rId12" Type="http://schemas.openxmlformats.org/officeDocument/2006/relationships/oleObject" Target="../embeddings/oleObject53.bin"/><Relationship Id="rId11" Type="http://schemas.openxmlformats.org/officeDocument/2006/relationships/image" Target="../media/image43.wmf"/><Relationship Id="rId10" Type="http://schemas.openxmlformats.org/officeDocument/2006/relationships/oleObject" Target="../embeddings/oleObject52.bin"/><Relationship Id="rId1" Type="http://schemas.openxmlformats.org/officeDocument/2006/relationships/oleObject" Target="../embeddings/oleObject4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56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53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59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8.emf"/><Relationship Id="rId1" Type="http://schemas.openxmlformats.org/officeDocument/2006/relationships/oleObject" Target="../embeddings/oleObject64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9.wmf"/><Relationship Id="rId1" Type="http://schemas.openxmlformats.org/officeDocument/2006/relationships/oleObject" Target="../embeddings/oleObject65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63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62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61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60.wmf"/><Relationship Id="rId12" Type="http://schemas.openxmlformats.org/officeDocument/2006/relationships/vmlDrawing" Target="../drawings/vmlDrawing1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4.wmf"/><Relationship Id="rId1" Type="http://schemas.openxmlformats.org/officeDocument/2006/relationships/oleObject" Target="../embeddings/oleObject6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65.wmf"/><Relationship Id="rId1" Type="http://schemas.openxmlformats.org/officeDocument/2006/relationships/oleObject" Target="../embeddings/oleObject71.bin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9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68.wmf"/><Relationship Id="rId1" Type="http://schemas.openxmlformats.org/officeDocument/2006/relationships/oleObject" Target="../embeddings/oleObject74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5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74.wmf"/><Relationship Id="rId1" Type="http://schemas.openxmlformats.org/officeDocument/2006/relationships/oleObject" Target="../embeddings/oleObject76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2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81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76.wmf"/><Relationship Id="rId14" Type="http://schemas.openxmlformats.org/officeDocument/2006/relationships/vmlDrawing" Target="../drawings/vmlDrawing17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81.wmf"/><Relationship Id="rId11" Type="http://schemas.openxmlformats.org/officeDocument/2006/relationships/oleObject" Target="../embeddings/oleObject83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78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3.w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82.wmf"/><Relationship Id="rId1" Type="http://schemas.openxmlformats.org/officeDocument/2006/relationships/oleObject" Target="../embeddings/oleObject84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8.w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86.wmf"/><Relationship Id="rId3" Type="http://schemas.openxmlformats.org/officeDocument/2006/relationships/oleObject" Target="../embeddings/oleObject88.bin"/><Relationship Id="rId2" Type="http://schemas.openxmlformats.org/officeDocument/2006/relationships/image" Target="../media/image85.wmf"/><Relationship Id="rId10" Type="http://schemas.openxmlformats.org/officeDocument/2006/relationships/vmlDrawing" Target="../drawings/vmlDrawing19.vml"/><Relationship Id="rId1" Type="http://schemas.openxmlformats.org/officeDocument/2006/relationships/oleObject" Target="../embeddings/oleObject8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89.wmf"/><Relationship Id="rId1" Type="http://schemas.openxmlformats.org/officeDocument/2006/relationships/oleObject" Target="../embeddings/oleObject91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8.bin"/><Relationship Id="rId8" Type="http://schemas.openxmlformats.org/officeDocument/2006/relationships/image" Target="../media/image95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92.wmf"/><Relationship Id="rId12" Type="http://schemas.openxmlformats.org/officeDocument/2006/relationships/vmlDrawing" Target="../drawings/vmlDrawing2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6.wmf"/><Relationship Id="rId1" Type="http://schemas.openxmlformats.org/officeDocument/2006/relationships/oleObject" Target="../embeddings/oleObject94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0.wmf"/><Relationship Id="rId7" Type="http://schemas.openxmlformats.org/officeDocument/2006/relationships/oleObject" Target="../embeddings/oleObject102.bin"/><Relationship Id="rId6" Type="http://schemas.openxmlformats.org/officeDocument/2006/relationships/image" Target="../media/image99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98.w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97.w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99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7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106.bin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104.bin"/><Relationship Id="rId2" Type="http://schemas.openxmlformats.org/officeDocument/2006/relationships/image" Target="../media/image101.wmf"/><Relationship Id="rId16" Type="http://schemas.openxmlformats.org/officeDocument/2006/relationships/vmlDrawing" Target="../drawings/vmlDrawing23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07.wmf"/><Relationship Id="rId13" Type="http://schemas.openxmlformats.org/officeDocument/2006/relationships/oleObject" Target="../embeddings/oleObject109.bin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108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103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4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113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76.wmf"/><Relationship Id="rId12" Type="http://schemas.openxmlformats.org/officeDocument/2006/relationships/vmlDrawing" Target="../drawings/vmlDrawing2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08.wmf"/><Relationship Id="rId1" Type="http://schemas.openxmlformats.org/officeDocument/2006/relationships/oleObject" Target="../embeddings/oleObject110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18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16.bin"/><Relationship Id="rId2" Type="http://schemas.openxmlformats.org/officeDocument/2006/relationships/image" Target="../media/image109.wmf"/><Relationship Id="rId10" Type="http://schemas.openxmlformats.org/officeDocument/2006/relationships/vmlDrawing" Target="../drawings/vmlDrawing25.vml"/><Relationship Id="rId1" Type="http://schemas.openxmlformats.org/officeDocument/2006/relationships/oleObject" Target="../embeddings/oleObject11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495600" y="1679893"/>
            <a:ext cx="7200800" cy="949878"/>
          </a:xfrm>
        </p:spPr>
        <p:txBody>
          <a:bodyPr>
            <a:noAutofit/>
          </a:bodyPr>
          <a:lstStyle/>
          <a:p>
            <a:r>
              <a:rPr lang="zh-CN" altLang="zh-CN" sz="5400"/>
              <a:t>数学物理方法</a:t>
            </a:r>
            <a:endParaRPr lang="zh-CN" altLang="zh-CN" sz="5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719705" y="3571875"/>
            <a:ext cx="7200900" cy="1356995"/>
          </a:xfrm>
        </p:spPr>
        <p:txBody>
          <a:bodyPr>
            <a:normAutofit/>
          </a:bodyPr>
          <a:lstStyle/>
          <a:p>
            <a:pPr>
              <a:lnSpc>
                <a:spcPct val="60000"/>
              </a:lnSpc>
            </a:pPr>
            <a:r>
              <a:rPr lang="zh-CN" altLang="en-US" dirty="0"/>
              <a:t>任课教师：曹宁</a:t>
            </a:r>
            <a:r>
              <a:rPr lang="en-US" altLang="zh-CN" dirty="0"/>
              <a:t> </a:t>
            </a:r>
            <a:endParaRPr lang="en-US" altLang="zh-CN" dirty="0"/>
          </a:p>
          <a:p>
            <a:pPr>
              <a:lnSpc>
                <a:spcPct val="60000"/>
              </a:lnSpc>
            </a:pPr>
            <a:r>
              <a:rPr lang="en-US" altLang="zh-CN" dirty="0"/>
              <a:t>Email: ncao@gdou.edu.cn</a:t>
            </a:r>
            <a:endParaRPr lang="zh-CN" altLang="en-US" dirty="0"/>
          </a:p>
          <a:p>
            <a:pPr>
              <a:lnSpc>
                <a:spcPct val="60000"/>
              </a:lnSpc>
            </a:pPr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zh-CN" altLang="en-US" dirty="0"/>
              <a:t>秋季学期</a:t>
            </a:r>
            <a:endParaRPr lang="zh-CN" altLang="en-US" dirty="0"/>
          </a:p>
        </p:txBody>
      </p:sp>
      <p:pic>
        <p:nvPicPr>
          <p:cNvPr id="5" name="图片 4" descr="校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67410"/>
            <a:ext cx="2248535" cy="490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65120" y="2756535"/>
            <a:ext cx="6407785" cy="52322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eaLnBrk="1" hangingPunct="1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第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章 波动方程的初值问题与行波法</a:t>
            </a:r>
            <a:endParaRPr lang="zh-CN" alt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/>
          </p:cNvSpPr>
          <p:nvPr>
            <p:ph type="title"/>
          </p:nvPr>
        </p:nvSpPr>
        <p:spPr>
          <a:xfrm>
            <a:off x="2247900" y="114301"/>
            <a:ext cx="7772400" cy="676275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行波法解题要领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1895476" y="1323976"/>
            <a:ext cx="8486775" cy="5210175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行波法的提法来自于研究行进波。其解题要领为：</a:t>
            </a:r>
            <a:endParaRPr lang="zh-CN" altLang="en-US" sz="26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6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）引入特征变换，把方程化为变量可积的形式，从而得到方程的通解；</a:t>
            </a:r>
            <a:endParaRPr lang="zh-CN" altLang="en-US" sz="26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6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）使用定解条件确定通解中的任意函数（对于常微分方程为常数），从而得到其特解。</a:t>
            </a:r>
            <a:endParaRPr lang="zh-CN" altLang="en-US" sz="26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6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600" b="1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注意：由于偏微分方程求解较难，大部分偏微分方程的通解均不易获得，使用定解条件确定其任意函数或常数也绝非易事，故行波法也有其较大的局限性。但是对于研究波动问题，行波法自有其独特的优点</a:t>
            </a:r>
            <a:r>
              <a:rPr lang="en-US" altLang="zh-CN" sz="2600" b="1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600" b="1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实际上我们主要只使用它研究波动问题</a:t>
            </a:r>
            <a:r>
              <a:rPr lang="en-US" altLang="zh-CN" sz="2600" b="1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600" b="1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。因此行波法是求解数学物理方程的基本的和主要的方法之一。</a:t>
            </a:r>
            <a:br>
              <a:rPr lang="zh-CN" altLang="en-US" sz="2600" b="1" dirty="0"/>
            </a:br>
            <a:endParaRPr lang="zh-CN" altLang="en-US" sz="2600" b="1" dirty="0"/>
          </a:p>
        </p:txBody>
      </p:sp>
      <p:sp>
        <p:nvSpPr>
          <p:cNvPr id="77828" name="Rectangle 4"/>
          <p:cNvSpPr/>
          <p:nvPr/>
        </p:nvSpPr>
        <p:spPr>
          <a:xfrm>
            <a:off x="2376488" y="176214"/>
            <a:ext cx="7772400" cy="7270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endParaRPr lang="zh-CN" altLang="zh-CN" sz="4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829" name="Line 5"/>
          <p:cNvSpPr/>
          <p:nvPr/>
        </p:nvSpPr>
        <p:spPr>
          <a:xfrm>
            <a:off x="1847851" y="938213"/>
            <a:ext cx="8207375" cy="0"/>
          </a:xfrm>
          <a:prstGeom prst="line">
            <a:avLst/>
          </a:prstGeom>
          <a:ln w="57150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60" name="文本框 249859"/>
          <p:cNvSpPr txBox="1"/>
          <p:nvPr/>
        </p:nvSpPr>
        <p:spPr>
          <a:xfrm>
            <a:off x="1539009" y="329224"/>
            <a:ext cx="40513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行波法复习小结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49861" name="矩形 249860"/>
          <p:cNvSpPr/>
          <p:nvPr/>
        </p:nvSpPr>
        <p:spPr>
          <a:xfrm>
            <a:off x="1765734" y="1209169"/>
            <a:ext cx="6005512" cy="580736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、一维无界弦自由振动的初值问题 </a:t>
            </a:r>
            <a:endParaRPr lang="zh-CN" altLang="en-US" sz="24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249862" name="对象 249861"/>
          <p:cNvGraphicFramePr/>
          <p:nvPr/>
        </p:nvGraphicFramePr>
        <p:xfrm>
          <a:off x="2259446" y="1811482"/>
          <a:ext cx="3913188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1840865" imgH="761365" progId="Equation.DSMT4">
                  <p:embed/>
                </p:oleObj>
              </mc:Choice>
              <mc:Fallback>
                <p:oleObj name="" r:id="rId1" imgW="1840865" imgH="761365" progId="Equation.DSMT4">
                  <p:embed/>
                  <p:pic>
                    <p:nvPicPr>
                      <p:cNvPr id="0" name="对象 24986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59446" y="1811482"/>
                        <a:ext cx="3913188" cy="161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3" name="Text Box 6"/>
          <p:cNvSpPr txBox="1"/>
          <p:nvPr/>
        </p:nvSpPr>
        <p:spPr>
          <a:xfrm>
            <a:off x="1780022" y="3373581"/>
            <a:ext cx="8340725" cy="262097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、行波法解波动方程的基本思想与关键步骤：</a:t>
            </a:r>
            <a:endParaRPr lang="zh-CN" altLang="en-US" sz="24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基本思想：</a:t>
            </a: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先求出偏微分方程的通解，然后用定解条件确 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                       定特解。</a:t>
            </a:r>
            <a:endParaRPr lang="zh-CN" altLang="en-US" sz="24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Arial" panose="020B0604020202020204" pitchFamily="34" charset="0"/>
                <a:ea typeface="仿宋_GB2312" pitchFamily="49" charset="-122"/>
              </a:rPr>
              <a:t>    </a:t>
            </a:r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关键步骤：</a:t>
            </a: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通过变量变换，将波动方程化为便于积分的齐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     次二阶偏微分方程。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1" grpId="0"/>
      <p:bldP spid="2498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1909" name="Object 16"/>
          <p:cNvGraphicFramePr/>
          <p:nvPr/>
        </p:nvGraphicFramePr>
        <p:xfrm>
          <a:off x="3894139" y="449264"/>
          <a:ext cx="136683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557530" imgH="177800" progId="Equation.DSMT4">
                  <p:embed/>
                </p:oleObj>
              </mc:Choice>
              <mc:Fallback>
                <p:oleObj name="" r:id="rId1" imgW="557530" imgH="177800" progId="Equation.DSMT4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94139" y="449264"/>
                        <a:ext cx="1366837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0" name="Object 17"/>
          <p:cNvGraphicFramePr/>
          <p:nvPr/>
        </p:nvGraphicFramePr>
        <p:xfrm>
          <a:off x="5559425" y="439739"/>
          <a:ext cx="15128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558165" imgH="165100" progId="Equation.DSMT4">
                  <p:embed/>
                </p:oleObj>
              </mc:Choice>
              <mc:Fallback>
                <p:oleObj name="" r:id="rId3" imgW="558165" imgH="165100" progId="Equation.DSMT4">
                  <p:embed/>
                  <p:pic>
                    <p:nvPicPr>
                      <p:cNvPr id="0" name="Object 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59425" y="439739"/>
                        <a:ext cx="1512888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1" name="Object 3"/>
          <p:cNvGraphicFramePr>
            <a:graphicFrameLocks noGrp="1"/>
          </p:cNvGraphicFramePr>
          <p:nvPr>
            <p:ph sz="half" idx="1"/>
          </p:nvPr>
        </p:nvGraphicFramePr>
        <p:xfrm>
          <a:off x="7372351" y="1035050"/>
          <a:ext cx="1992313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1053465" imgH="444500" progId="Equation.DSMT4">
                  <p:embed/>
                </p:oleObj>
              </mc:Choice>
              <mc:Fallback>
                <p:oleObj name="" r:id="rId5" imgW="1053465" imgH="4445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72351" y="1035050"/>
                        <a:ext cx="1992313" cy="8397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4" name="Object 15"/>
          <p:cNvGraphicFramePr>
            <a:graphicFrameLocks noGrp="1"/>
          </p:cNvGraphicFramePr>
          <p:nvPr>
            <p:ph sz="quarter" idx="2"/>
          </p:nvPr>
        </p:nvGraphicFramePr>
        <p:xfrm>
          <a:off x="4108451" y="4845050"/>
          <a:ext cx="63357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2653030" imgH="393700" progId="Equation.DSMT4">
                  <p:embed/>
                </p:oleObj>
              </mc:Choice>
              <mc:Fallback>
                <p:oleObj name="" r:id="rId7" imgW="2653030" imgH="393700" progId="Equation.DSMT4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08451" y="4845050"/>
                        <a:ext cx="6335713" cy="939800"/>
                      </a:xfrm>
                      <a:prstGeom prst="rect">
                        <a:avLst/>
                      </a:prstGeom>
                      <a:solidFill>
                        <a:srgbClr val="CCFF66"/>
                      </a:solidFill>
                      <a:ln w="12700">
                        <a:solidFill>
                          <a:schemeClr val="tx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3" name="Object 12"/>
          <p:cNvGraphicFramePr/>
          <p:nvPr/>
        </p:nvGraphicFramePr>
        <p:xfrm>
          <a:off x="4305301" y="2033588"/>
          <a:ext cx="26273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939165" imgH="190500" progId="Equation.DSMT4">
                  <p:embed/>
                </p:oleObj>
              </mc:Choice>
              <mc:Fallback>
                <p:oleObj name="" r:id="rId9" imgW="939165" imgH="1905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05301" y="2033588"/>
                        <a:ext cx="2627313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4" name="Object 14"/>
          <p:cNvGraphicFramePr/>
          <p:nvPr/>
        </p:nvGraphicFramePr>
        <p:xfrm>
          <a:off x="4271964" y="2981325"/>
          <a:ext cx="47339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1650365" imgH="190500" progId="Equation.DSMT4">
                  <p:embed/>
                </p:oleObj>
              </mc:Choice>
              <mc:Fallback>
                <p:oleObj name="" r:id="rId11" imgW="1650365" imgH="1905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71964" y="2981325"/>
                        <a:ext cx="4733925" cy="546100"/>
                      </a:xfrm>
                      <a:prstGeom prst="rect">
                        <a:avLst/>
                      </a:prstGeom>
                      <a:solidFill>
                        <a:srgbClr val="CCFF6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15" name="AutoShape 14"/>
          <p:cNvSpPr/>
          <p:nvPr/>
        </p:nvSpPr>
        <p:spPr>
          <a:xfrm flipH="1">
            <a:off x="3284539" y="2232026"/>
            <a:ext cx="714375" cy="142875"/>
          </a:xfrm>
          <a:prstGeom prst="leftArrow">
            <a:avLst>
              <a:gd name="adj1" fmla="val 50000"/>
              <a:gd name="adj2" fmla="val 113333"/>
            </a:avLst>
          </a:prstGeom>
          <a:solidFill>
            <a:srgbClr val="CC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1916" name="AutoShape 14"/>
          <p:cNvSpPr/>
          <p:nvPr/>
        </p:nvSpPr>
        <p:spPr>
          <a:xfrm flipH="1">
            <a:off x="3271839" y="3184526"/>
            <a:ext cx="714375" cy="142875"/>
          </a:xfrm>
          <a:prstGeom prst="leftArrow">
            <a:avLst>
              <a:gd name="adj1" fmla="val 50000"/>
              <a:gd name="adj2" fmla="val 113333"/>
            </a:avLst>
          </a:prstGeom>
          <a:solidFill>
            <a:srgbClr val="CC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51923" name="组合 251922"/>
          <p:cNvGrpSpPr/>
          <p:nvPr/>
        </p:nvGrpSpPr>
        <p:grpSpPr>
          <a:xfrm>
            <a:off x="1755775" y="417513"/>
            <a:ext cx="1638300" cy="457200"/>
            <a:chOff x="234" y="103"/>
            <a:chExt cx="1032" cy="288"/>
          </a:xfrm>
        </p:grpSpPr>
        <p:sp>
          <p:nvSpPr>
            <p:cNvPr id="251908" name="Text Box 11"/>
            <p:cNvSpPr txBox="1"/>
            <p:nvPr/>
          </p:nvSpPr>
          <p:spPr>
            <a:xfrm>
              <a:off x="324" y="103"/>
              <a:ext cx="8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Arial" panose="020B0604020202020204" pitchFamily="34" charset="0"/>
                  <a:ea typeface="仿宋_GB2312" pitchFamily="49" charset="-122"/>
                </a:rPr>
                <a:t>变量代换</a:t>
              </a:r>
              <a:endParaRPr lang="zh-CN" altLang="en-US" sz="240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51920" name="流程图: 过程 251919"/>
            <p:cNvSpPr/>
            <p:nvPr/>
          </p:nvSpPr>
          <p:spPr>
            <a:xfrm>
              <a:off x="234" y="140"/>
              <a:ext cx="1032" cy="226"/>
            </a:xfrm>
            <a:prstGeom prst="flowChartProcess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1922" name="组合 251921"/>
          <p:cNvGrpSpPr/>
          <p:nvPr/>
        </p:nvGrpSpPr>
        <p:grpSpPr>
          <a:xfrm>
            <a:off x="1968500" y="2984500"/>
            <a:ext cx="1117600" cy="457200"/>
            <a:chOff x="4776" y="1568"/>
            <a:chExt cx="704" cy="288"/>
          </a:xfrm>
        </p:grpSpPr>
        <p:sp>
          <p:nvSpPr>
            <p:cNvPr id="251917" name="文本框 251916"/>
            <p:cNvSpPr txBox="1"/>
            <p:nvPr/>
          </p:nvSpPr>
          <p:spPr>
            <a:xfrm>
              <a:off x="4840" y="1568"/>
              <a:ext cx="6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  <a:ea typeface="仿宋_GB2312" pitchFamily="49" charset="-122"/>
                </a:rPr>
                <a:t>通解</a:t>
              </a:r>
              <a:endParaRPr lang="zh-CN" altLang="en-US" sz="240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51921" name="流程图: 过程 251920"/>
            <p:cNvSpPr/>
            <p:nvPr/>
          </p:nvSpPr>
          <p:spPr>
            <a:xfrm>
              <a:off x="4776" y="1612"/>
              <a:ext cx="704" cy="226"/>
            </a:xfrm>
            <a:prstGeom prst="flowChartProcess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1924" name="文本框 251923"/>
          <p:cNvSpPr txBox="1"/>
          <p:nvPr/>
        </p:nvSpPr>
        <p:spPr>
          <a:xfrm>
            <a:off x="3048000" y="3987800"/>
            <a:ext cx="26289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代入初始条件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graphicFrame>
        <p:nvGraphicFramePr>
          <p:cNvPr id="251925" name="Object 6"/>
          <p:cNvGraphicFramePr/>
          <p:nvPr/>
        </p:nvGraphicFramePr>
        <p:xfrm>
          <a:off x="5256214" y="3992564"/>
          <a:ext cx="151288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685165" imgH="215900" progId="Equation.DSMT4">
                  <p:embed/>
                </p:oleObj>
              </mc:Choice>
              <mc:Fallback>
                <p:oleObj name="" r:id="rId13" imgW="685165" imgH="2159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56214" y="3992564"/>
                        <a:ext cx="1512887" cy="47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6" name="Object 8"/>
          <p:cNvGraphicFramePr/>
          <p:nvPr/>
        </p:nvGraphicFramePr>
        <p:xfrm>
          <a:off x="6985000" y="3987801"/>
          <a:ext cx="16764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5" imgW="735330" imgH="215900" progId="Equation.DSMT4">
                  <p:embed/>
                </p:oleObj>
              </mc:Choice>
              <mc:Fallback>
                <p:oleObj name="" r:id="rId15" imgW="735330" imgH="2159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85000" y="3987801"/>
                        <a:ext cx="167640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1927" name="组合 251926"/>
          <p:cNvGrpSpPr/>
          <p:nvPr/>
        </p:nvGrpSpPr>
        <p:grpSpPr>
          <a:xfrm>
            <a:off x="1981200" y="5080000"/>
            <a:ext cx="1117600" cy="457200"/>
            <a:chOff x="4776" y="1568"/>
            <a:chExt cx="704" cy="288"/>
          </a:xfrm>
        </p:grpSpPr>
        <p:sp>
          <p:nvSpPr>
            <p:cNvPr id="251928" name="文本框 251927"/>
            <p:cNvSpPr txBox="1"/>
            <p:nvPr/>
          </p:nvSpPr>
          <p:spPr>
            <a:xfrm>
              <a:off x="4840" y="1568"/>
              <a:ext cx="6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  <a:ea typeface="仿宋_GB2312" pitchFamily="49" charset="-122"/>
                </a:rPr>
                <a:t>特解</a:t>
              </a:r>
              <a:endParaRPr lang="zh-CN" altLang="en-US" sz="240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51929" name="流程图: 过程 251928"/>
            <p:cNvSpPr/>
            <p:nvPr/>
          </p:nvSpPr>
          <p:spPr>
            <a:xfrm>
              <a:off x="4776" y="1612"/>
              <a:ext cx="704" cy="226"/>
            </a:xfrm>
            <a:prstGeom prst="flowChartProcess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1930" name="AutoShape 14"/>
          <p:cNvSpPr/>
          <p:nvPr/>
        </p:nvSpPr>
        <p:spPr>
          <a:xfrm flipH="1">
            <a:off x="3284539" y="5254626"/>
            <a:ext cx="714375" cy="142875"/>
          </a:xfrm>
          <a:prstGeom prst="leftArrow">
            <a:avLst>
              <a:gd name="adj1" fmla="val 50000"/>
              <a:gd name="adj2" fmla="val 113333"/>
            </a:avLst>
          </a:prstGeom>
          <a:solidFill>
            <a:srgbClr val="CC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1937" name="矩形 251936"/>
          <p:cNvSpPr/>
          <p:nvPr/>
        </p:nvSpPr>
        <p:spPr>
          <a:xfrm>
            <a:off x="5997576" y="5875338"/>
            <a:ext cx="1627369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达朗贝尔公式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51938" name="内容占位符 251937"/>
          <p:cNvGraphicFramePr>
            <a:graphicFrameLocks noGrp="1"/>
          </p:cNvGraphicFramePr>
          <p:nvPr>
            <p:ph sz="quarter" idx="3"/>
          </p:nvPr>
        </p:nvGraphicFramePr>
        <p:xfrm>
          <a:off x="2063750" y="1092201"/>
          <a:ext cx="4173538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7" imgW="2069465" imgH="431800" progId="Equation.DSMT4">
                  <p:embed/>
                </p:oleObj>
              </mc:Choice>
              <mc:Fallback>
                <p:oleObj name="" r:id="rId17" imgW="2069465" imgH="431800" progId="Equation.DSMT4">
                  <p:embed/>
                  <p:pic>
                    <p:nvPicPr>
                      <p:cNvPr id="0" name="内容占位符 25193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63750" y="1092201"/>
                        <a:ext cx="4173538" cy="8366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41" name="AutoShape 14"/>
          <p:cNvSpPr/>
          <p:nvPr/>
        </p:nvSpPr>
        <p:spPr>
          <a:xfrm flipH="1">
            <a:off x="6434139" y="1406526"/>
            <a:ext cx="714375" cy="142875"/>
          </a:xfrm>
          <a:prstGeom prst="leftArrow">
            <a:avLst>
              <a:gd name="adj1" fmla="val 50000"/>
              <a:gd name="adj2" fmla="val 113333"/>
            </a:avLst>
          </a:prstGeom>
          <a:solidFill>
            <a:srgbClr val="CC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5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5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5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5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5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5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5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15" grpId="0" bldLvl="0" animBg="1"/>
      <p:bldP spid="251916" grpId="0" bldLvl="0" animBg="1"/>
      <p:bldP spid="251924" grpId="0"/>
      <p:bldP spid="251930" grpId="0" bldLvl="0" animBg="1"/>
      <p:bldP spid="251937" grpId="0"/>
      <p:bldP spid="251941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/>
          <p:nvPr/>
        </p:nvSpPr>
        <p:spPr>
          <a:xfrm>
            <a:off x="910273" y="542290"/>
            <a:ext cx="5905500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d’Alembert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公式物理意义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2291" name="Object 3"/>
          <p:cNvGraphicFramePr/>
          <p:nvPr/>
        </p:nvGraphicFramePr>
        <p:xfrm>
          <a:off x="3719513" y="1557338"/>
          <a:ext cx="46783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032000" imgH="254000" progId="Equation.DSMT4">
                  <p:embed/>
                </p:oleObj>
              </mc:Choice>
              <mc:Fallback>
                <p:oleObj name="" r:id="rId1" imgW="2032000" imgH="2540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19513" y="1557338"/>
                        <a:ext cx="4678362" cy="576262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5"/>
          <p:cNvSpPr/>
          <p:nvPr/>
        </p:nvSpPr>
        <p:spPr>
          <a:xfrm>
            <a:off x="2262189" y="2430464"/>
            <a:ext cx="8010525" cy="1800225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考虑               若     的图形已经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给定，那么，随着时间 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的推移，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的图形以速度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 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轴正方向平行移动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故称齐次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波动方程形如             的解为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右行波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604" name="Object 6"/>
          <p:cNvGraphicFramePr>
            <a:graphicFrameLocks noChangeAspect="1"/>
          </p:cNvGraphicFramePr>
          <p:nvPr/>
        </p:nvGraphicFramePr>
        <p:xfrm>
          <a:off x="3648076" y="2420939"/>
          <a:ext cx="24479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298700" imgH="495300" progId="Equation.DSMT4">
                  <p:embed/>
                </p:oleObj>
              </mc:Choice>
              <mc:Fallback>
                <p:oleObj name="" r:id="rId3" imgW="2298700" imgH="4953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8076" y="2420939"/>
                        <a:ext cx="2447925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7"/>
          <p:cNvGraphicFramePr>
            <a:graphicFrameLocks noChangeAspect="1"/>
          </p:cNvGraphicFramePr>
          <p:nvPr/>
        </p:nvGraphicFramePr>
        <p:xfrm>
          <a:off x="6527800" y="2565400"/>
          <a:ext cx="6746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774065" imgH="393700" progId="Equation.DSMT4">
                  <p:embed/>
                </p:oleObj>
              </mc:Choice>
              <mc:Fallback>
                <p:oleObj name="" r:id="rId5" imgW="774065" imgH="3937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7800" y="2565400"/>
                        <a:ext cx="674688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8"/>
          <p:cNvGraphicFramePr>
            <a:graphicFrameLocks noChangeAspect="1"/>
          </p:cNvGraphicFramePr>
          <p:nvPr/>
        </p:nvGraphicFramePr>
        <p:xfrm>
          <a:off x="7724775" y="2922588"/>
          <a:ext cx="1900238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2171700" imgH="495300" progId="Equation.DSMT4">
                  <p:embed/>
                </p:oleObj>
              </mc:Choice>
              <mc:Fallback>
                <p:oleObj name="" r:id="rId7" imgW="2171700" imgH="4953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24775" y="2922588"/>
                        <a:ext cx="1900238" cy="423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9"/>
          <p:cNvGraphicFramePr>
            <a:graphicFrameLocks noChangeAspect="1"/>
          </p:cNvGraphicFramePr>
          <p:nvPr/>
        </p:nvGraphicFramePr>
        <p:xfrm>
          <a:off x="4625975" y="3816350"/>
          <a:ext cx="19748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2171700" imgH="495300" progId="Equation.DSMT4">
                  <p:embed/>
                </p:oleObj>
              </mc:Choice>
              <mc:Fallback>
                <p:oleObj name="" r:id="rId9" imgW="2171700" imgH="4953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25975" y="3816350"/>
                        <a:ext cx="1974850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Rectangle 11"/>
          <p:cNvSpPr/>
          <p:nvPr/>
        </p:nvSpPr>
        <p:spPr>
          <a:xfrm>
            <a:off x="2279651" y="4652964"/>
            <a:ext cx="7777163" cy="1373187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2,            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表示一个以速度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轴负 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方向传播的行波，且传播过程中，波形也不变化。 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左行波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5609" name="Object 12"/>
          <p:cNvGraphicFramePr>
            <a:graphicFrameLocks noChangeAspect="1"/>
          </p:cNvGraphicFramePr>
          <p:nvPr/>
        </p:nvGraphicFramePr>
        <p:xfrm>
          <a:off x="2782889" y="4652964"/>
          <a:ext cx="216058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2184400" imgH="495300" progId="Equation.DSMT4">
                  <p:embed/>
                </p:oleObj>
              </mc:Choice>
              <mc:Fallback>
                <p:oleObj name="" r:id="rId11" imgW="2184400" imgH="4953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82889" y="4652964"/>
                        <a:ext cx="2160587" cy="47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5" name="Object 4"/>
          <p:cNvGraphicFramePr>
            <a:graphicFrameLocks noChangeAspect="1"/>
          </p:cNvGraphicFramePr>
          <p:nvPr/>
        </p:nvGraphicFramePr>
        <p:xfrm>
          <a:off x="8458201" y="2819400"/>
          <a:ext cx="3413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27000" imgH="139700" progId="Equation.3">
                  <p:embed/>
                </p:oleObj>
              </mc:Choice>
              <mc:Fallback>
                <p:oleObj name="" r:id="rId1" imgW="127000" imgH="1397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458201" y="2819400"/>
                        <a:ext cx="341313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7011" name="Group 35"/>
          <p:cNvGrpSpPr/>
          <p:nvPr/>
        </p:nvGrpSpPr>
        <p:grpSpPr>
          <a:xfrm>
            <a:off x="2279650" y="1201738"/>
            <a:ext cx="6483350" cy="1968500"/>
            <a:chOff x="476" y="757"/>
            <a:chExt cx="4084" cy="1240"/>
          </a:xfrm>
        </p:grpSpPr>
        <p:sp>
          <p:nvSpPr>
            <p:cNvPr id="26627" name="Line 2"/>
            <p:cNvSpPr/>
            <p:nvPr/>
          </p:nvSpPr>
          <p:spPr>
            <a:xfrm>
              <a:off x="1104" y="1728"/>
              <a:ext cx="3456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8" name="Freeform 3"/>
            <p:cNvSpPr/>
            <p:nvPr/>
          </p:nvSpPr>
          <p:spPr>
            <a:xfrm>
              <a:off x="1200" y="1152"/>
              <a:ext cx="1344" cy="576"/>
            </a:xfrm>
            <a:custGeom>
              <a:avLst/>
              <a:gdLst/>
              <a:ahLst/>
              <a:cxnLst>
                <a:cxn ang="0">
                  <a:pos x="0" y="143"/>
                </a:cxn>
                <a:cxn ang="0">
                  <a:pos x="144" y="118"/>
                </a:cxn>
                <a:cxn ang="0">
                  <a:pos x="336" y="42"/>
                </a:cxn>
                <a:cxn ang="0">
                  <a:pos x="672" y="0"/>
                </a:cxn>
                <a:cxn ang="0">
                  <a:pos x="1008" y="42"/>
                </a:cxn>
                <a:cxn ang="0">
                  <a:pos x="1200" y="118"/>
                </a:cxn>
                <a:cxn ang="0">
                  <a:pos x="1344" y="143"/>
                </a:cxn>
              </a:cxnLst>
              <a:rect l="0" t="0" r="0" b="0"/>
              <a:pathLst>
                <a:path w="1344" h="816">
                  <a:moveTo>
                    <a:pt x="0" y="816"/>
                  </a:moveTo>
                  <a:cubicBezTo>
                    <a:pt x="44" y="792"/>
                    <a:pt x="88" y="768"/>
                    <a:pt x="144" y="672"/>
                  </a:cubicBezTo>
                  <a:cubicBezTo>
                    <a:pt x="200" y="576"/>
                    <a:pt x="248" y="352"/>
                    <a:pt x="336" y="240"/>
                  </a:cubicBezTo>
                  <a:cubicBezTo>
                    <a:pt x="424" y="128"/>
                    <a:pt x="560" y="0"/>
                    <a:pt x="672" y="0"/>
                  </a:cubicBezTo>
                  <a:cubicBezTo>
                    <a:pt x="784" y="0"/>
                    <a:pt x="920" y="128"/>
                    <a:pt x="1008" y="240"/>
                  </a:cubicBezTo>
                  <a:cubicBezTo>
                    <a:pt x="1096" y="352"/>
                    <a:pt x="1144" y="576"/>
                    <a:pt x="1200" y="672"/>
                  </a:cubicBezTo>
                  <a:cubicBezTo>
                    <a:pt x="1256" y="768"/>
                    <a:pt x="1300" y="792"/>
                    <a:pt x="1344" y="816"/>
                  </a:cubicBezTo>
                </a:path>
              </a:pathLst>
            </a:cu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29" name="Object 5"/>
            <p:cNvGraphicFramePr>
              <a:graphicFrameLocks noChangeAspect="1"/>
            </p:cNvGraphicFramePr>
            <p:nvPr/>
          </p:nvGraphicFramePr>
          <p:xfrm>
            <a:off x="1632" y="1776"/>
            <a:ext cx="18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52400" imgH="177800" progId="Equation.3">
                    <p:embed/>
                  </p:oleObj>
                </mc:Choice>
                <mc:Fallback>
                  <p:oleObj name="" r:id="rId3" imgW="152400" imgH="177800" progId="Equation.3">
                    <p:embed/>
                    <p:pic>
                      <p:nvPicPr>
                        <p:cNvPr id="0" name="Object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32" y="1776"/>
                          <a:ext cx="189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0" name="Line 6"/>
            <p:cNvSpPr/>
            <p:nvPr/>
          </p:nvSpPr>
          <p:spPr>
            <a:xfrm>
              <a:off x="2256" y="1392"/>
              <a:ext cx="0" cy="336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1" name="Line 7"/>
            <p:cNvSpPr/>
            <p:nvPr/>
          </p:nvSpPr>
          <p:spPr>
            <a:xfrm flipV="1">
              <a:off x="1872" y="768"/>
              <a:ext cx="0" cy="1152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32" name="Object 10"/>
            <p:cNvGraphicFramePr>
              <a:graphicFrameLocks noChangeAspect="1"/>
            </p:cNvGraphicFramePr>
            <p:nvPr/>
          </p:nvGraphicFramePr>
          <p:xfrm>
            <a:off x="2112" y="1680"/>
            <a:ext cx="20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65100" imgH="228600" progId="Equation.3">
                    <p:embed/>
                  </p:oleObj>
                </mc:Choice>
                <mc:Fallback>
                  <p:oleObj name="" r:id="rId5" imgW="165100" imgH="228600" progId="Equation.3">
                    <p:embed/>
                    <p:pic>
                      <p:nvPicPr>
                        <p:cNvPr id="0" name="Object 1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12" y="1680"/>
                          <a:ext cx="209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3" name="Object 13"/>
            <p:cNvGraphicFramePr>
              <a:graphicFrameLocks noChangeAspect="1"/>
            </p:cNvGraphicFramePr>
            <p:nvPr/>
          </p:nvGraphicFramePr>
          <p:xfrm>
            <a:off x="476" y="757"/>
            <a:ext cx="961" cy="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748665" imgH="520700" progId="Equation.DSMT4">
                    <p:embed/>
                  </p:oleObj>
                </mc:Choice>
                <mc:Fallback>
                  <p:oleObj name="" r:id="rId7" imgW="748665" imgH="520700" progId="Equation.DSMT4">
                    <p:embed/>
                    <p:pic>
                      <p:nvPicPr>
                        <p:cNvPr id="0" name="Object 1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6" y="757"/>
                          <a:ext cx="961" cy="6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7010" name="Group 34"/>
          <p:cNvGrpSpPr/>
          <p:nvPr/>
        </p:nvGrpSpPr>
        <p:grpSpPr>
          <a:xfrm>
            <a:off x="4495801" y="1125539"/>
            <a:ext cx="4106863" cy="2058987"/>
            <a:chOff x="1872" y="709"/>
            <a:chExt cx="2587" cy="1297"/>
          </a:xfrm>
        </p:grpSpPr>
        <p:grpSp>
          <p:nvGrpSpPr>
            <p:cNvPr id="26635" name="Group 33"/>
            <p:cNvGrpSpPr/>
            <p:nvPr/>
          </p:nvGrpSpPr>
          <p:grpSpPr>
            <a:xfrm>
              <a:off x="2304" y="709"/>
              <a:ext cx="2155" cy="1297"/>
              <a:chOff x="2304" y="709"/>
              <a:chExt cx="2155" cy="1297"/>
            </a:xfrm>
          </p:grpSpPr>
          <p:sp>
            <p:nvSpPr>
              <p:cNvPr id="26636" name="Freeform 8"/>
              <p:cNvSpPr/>
              <p:nvPr/>
            </p:nvSpPr>
            <p:spPr>
              <a:xfrm>
                <a:off x="2304" y="1152"/>
                <a:ext cx="1344" cy="576"/>
              </a:xfrm>
              <a:custGeom>
                <a:avLst/>
                <a:gdLst/>
                <a:ahLst/>
                <a:cxnLst>
                  <a:cxn ang="0">
                    <a:pos x="0" y="143"/>
                  </a:cxn>
                  <a:cxn ang="0">
                    <a:pos x="144" y="118"/>
                  </a:cxn>
                  <a:cxn ang="0">
                    <a:pos x="336" y="42"/>
                  </a:cxn>
                  <a:cxn ang="0">
                    <a:pos x="672" y="0"/>
                  </a:cxn>
                  <a:cxn ang="0">
                    <a:pos x="1008" y="42"/>
                  </a:cxn>
                  <a:cxn ang="0">
                    <a:pos x="1200" y="118"/>
                  </a:cxn>
                  <a:cxn ang="0">
                    <a:pos x="1344" y="143"/>
                  </a:cxn>
                </a:cxnLst>
                <a:rect l="0" t="0" r="0" b="0"/>
                <a:pathLst>
                  <a:path w="1344" h="816">
                    <a:moveTo>
                      <a:pt x="0" y="816"/>
                    </a:moveTo>
                    <a:cubicBezTo>
                      <a:pt x="44" y="792"/>
                      <a:pt x="88" y="768"/>
                      <a:pt x="144" y="672"/>
                    </a:cubicBezTo>
                    <a:cubicBezTo>
                      <a:pt x="200" y="576"/>
                      <a:pt x="248" y="352"/>
                      <a:pt x="336" y="240"/>
                    </a:cubicBezTo>
                    <a:cubicBezTo>
                      <a:pt x="424" y="128"/>
                      <a:pt x="560" y="0"/>
                      <a:pt x="672" y="0"/>
                    </a:cubicBezTo>
                    <a:cubicBezTo>
                      <a:pt x="784" y="0"/>
                      <a:pt x="920" y="128"/>
                      <a:pt x="1008" y="240"/>
                    </a:cubicBezTo>
                    <a:cubicBezTo>
                      <a:pt x="1096" y="352"/>
                      <a:pt x="1144" y="576"/>
                      <a:pt x="1200" y="672"/>
                    </a:cubicBezTo>
                    <a:cubicBezTo>
                      <a:pt x="1256" y="768"/>
                      <a:pt x="1300" y="792"/>
                      <a:pt x="1344" y="816"/>
                    </a:cubicBezTo>
                  </a:path>
                </a:pathLst>
              </a:custGeom>
              <a:noFill/>
              <a:ln w="317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37" name="Line 9"/>
              <p:cNvSpPr/>
              <p:nvPr/>
            </p:nvSpPr>
            <p:spPr>
              <a:xfrm>
                <a:off x="3360" y="1392"/>
                <a:ext cx="0" cy="336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38" name="Object 11"/>
              <p:cNvGraphicFramePr>
                <a:graphicFrameLocks noChangeAspect="1"/>
              </p:cNvGraphicFramePr>
              <p:nvPr/>
            </p:nvGraphicFramePr>
            <p:xfrm>
              <a:off x="2972" y="1721"/>
              <a:ext cx="921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" r:id="rId9" imgW="774065" imgH="241300" progId="Equation.DSMT4">
                      <p:embed/>
                    </p:oleObj>
                  </mc:Choice>
                  <mc:Fallback>
                    <p:oleObj name="" r:id="rId9" imgW="774065" imgH="241300" progId="Equation.DSMT4">
                      <p:embed/>
                      <p:pic>
                        <p:nvPicPr>
                          <p:cNvPr id="0" name="Object 11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972" y="1721"/>
                            <a:ext cx="921" cy="28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39" name="Line 12"/>
              <p:cNvSpPr/>
              <p:nvPr/>
            </p:nvSpPr>
            <p:spPr>
              <a:xfrm flipV="1">
                <a:off x="2976" y="768"/>
                <a:ext cx="0" cy="115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lg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40" name="Object 14"/>
              <p:cNvGraphicFramePr>
                <a:graphicFrameLocks noChangeAspect="1"/>
              </p:cNvGraphicFramePr>
              <p:nvPr/>
            </p:nvGraphicFramePr>
            <p:xfrm>
              <a:off x="3099" y="709"/>
              <a:ext cx="1360" cy="6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" name="" r:id="rId11" imgW="1078865" imgH="520700" progId="Equation.DSMT4">
                      <p:embed/>
                    </p:oleObj>
                  </mc:Choice>
                  <mc:Fallback>
                    <p:oleObj name="" r:id="rId11" imgW="1078865" imgH="520700" progId="Equation.DSMT4">
                      <p:embed/>
                      <p:pic>
                        <p:nvPicPr>
                          <p:cNvPr id="0" name="Object 14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3099" y="709"/>
                            <a:ext cx="1360" cy="6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6641" name="AutoShape 15"/>
            <p:cNvCxnSpPr/>
            <p:nvPr/>
          </p:nvCxnSpPr>
          <p:spPr>
            <a:xfrm>
              <a:off x="1872" y="1056"/>
              <a:ext cx="1104" cy="0"/>
            </a:xfrm>
            <a:prstGeom prst="straightConnector1">
              <a:avLst/>
            </a:prstGeom>
            <a:ln w="9525" cap="rnd" cmpd="sng">
              <a:solidFill>
                <a:srgbClr val="993300"/>
              </a:solidFill>
              <a:prstDash val="sysDot"/>
              <a:round/>
              <a:headEnd type="triangle" w="med" len="med"/>
              <a:tailEnd type="triangle" w="med" len="med"/>
            </a:ln>
          </p:spPr>
        </p:cxnSp>
        <p:graphicFrame>
          <p:nvGraphicFramePr>
            <p:cNvPr id="26642" name="Object 16"/>
            <p:cNvGraphicFramePr>
              <a:graphicFrameLocks noChangeAspect="1"/>
            </p:cNvGraphicFramePr>
            <p:nvPr/>
          </p:nvGraphicFramePr>
          <p:xfrm>
            <a:off x="2237" y="753"/>
            <a:ext cx="28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177800" imgH="152400" progId="Equation.3">
                    <p:embed/>
                  </p:oleObj>
                </mc:Choice>
                <mc:Fallback>
                  <p:oleObj name="" r:id="rId13" imgW="177800" imgH="152400" progId="Equation.3">
                    <p:embed/>
                    <p:pic>
                      <p:nvPicPr>
                        <p:cNvPr id="0" name="Object 1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237" y="753"/>
                          <a:ext cx="280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7014" name="Group 38"/>
          <p:cNvGrpSpPr/>
          <p:nvPr/>
        </p:nvGrpSpPr>
        <p:grpSpPr>
          <a:xfrm>
            <a:off x="3276601" y="3962400"/>
            <a:ext cx="5522913" cy="2133600"/>
            <a:chOff x="1104" y="2496"/>
            <a:chExt cx="3479" cy="1344"/>
          </a:xfrm>
        </p:grpSpPr>
        <p:sp>
          <p:nvSpPr>
            <p:cNvPr id="26644" name="Line 17"/>
            <p:cNvSpPr/>
            <p:nvPr/>
          </p:nvSpPr>
          <p:spPr>
            <a:xfrm>
              <a:off x="1104" y="3504"/>
              <a:ext cx="3456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45" name="Object 19"/>
            <p:cNvGraphicFramePr>
              <a:graphicFrameLocks noChangeAspect="1"/>
            </p:cNvGraphicFramePr>
            <p:nvPr/>
          </p:nvGraphicFramePr>
          <p:xfrm>
            <a:off x="4368" y="3552"/>
            <a:ext cx="215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5" imgW="127000" imgH="139700" progId="Equation.3">
                    <p:embed/>
                  </p:oleObj>
                </mc:Choice>
                <mc:Fallback>
                  <p:oleObj name="" r:id="rId15" imgW="127000" imgH="139700" progId="Equation.3">
                    <p:embed/>
                    <p:pic>
                      <p:nvPicPr>
                        <p:cNvPr id="0" name="Object 1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68" y="3552"/>
                          <a:ext cx="215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6" name="Object 20"/>
            <p:cNvGraphicFramePr>
              <a:graphicFrameLocks noChangeAspect="1"/>
            </p:cNvGraphicFramePr>
            <p:nvPr/>
          </p:nvGraphicFramePr>
          <p:xfrm>
            <a:off x="2789" y="3521"/>
            <a:ext cx="18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6" imgW="152400" imgH="177800" progId="Equation.3">
                    <p:embed/>
                  </p:oleObj>
                </mc:Choice>
                <mc:Fallback>
                  <p:oleObj name="" r:id="rId16" imgW="152400" imgH="177800" progId="Equation.3">
                    <p:embed/>
                    <p:pic>
                      <p:nvPicPr>
                        <p:cNvPr id="0" name="Object 2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89" y="3521"/>
                          <a:ext cx="189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7" name="Line 22"/>
            <p:cNvSpPr/>
            <p:nvPr/>
          </p:nvSpPr>
          <p:spPr>
            <a:xfrm flipV="1">
              <a:off x="2976" y="2496"/>
              <a:ext cx="0" cy="1152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8" name="Freeform 23"/>
            <p:cNvSpPr/>
            <p:nvPr/>
          </p:nvSpPr>
          <p:spPr>
            <a:xfrm>
              <a:off x="2304" y="2928"/>
              <a:ext cx="1344" cy="576"/>
            </a:xfrm>
            <a:custGeom>
              <a:avLst/>
              <a:gdLst/>
              <a:ahLst/>
              <a:cxnLst>
                <a:cxn ang="0">
                  <a:pos x="0" y="143"/>
                </a:cxn>
                <a:cxn ang="0">
                  <a:pos x="144" y="118"/>
                </a:cxn>
                <a:cxn ang="0">
                  <a:pos x="336" y="42"/>
                </a:cxn>
                <a:cxn ang="0">
                  <a:pos x="672" y="0"/>
                </a:cxn>
                <a:cxn ang="0">
                  <a:pos x="1008" y="42"/>
                </a:cxn>
                <a:cxn ang="0">
                  <a:pos x="1200" y="118"/>
                </a:cxn>
                <a:cxn ang="0">
                  <a:pos x="1344" y="143"/>
                </a:cxn>
              </a:cxnLst>
              <a:rect l="0" t="0" r="0" b="0"/>
              <a:pathLst>
                <a:path w="1344" h="816">
                  <a:moveTo>
                    <a:pt x="0" y="816"/>
                  </a:moveTo>
                  <a:cubicBezTo>
                    <a:pt x="44" y="792"/>
                    <a:pt x="88" y="768"/>
                    <a:pt x="144" y="672"/>
                  </a:cubicBezTo>
                  <a:cubicBezTo>
                    <a:pt x="200" y="576"/>
                    <a:pt x="248" y="352"/>
                    <a:pt x="336" y="240"/>
                  </a:cubicBezTo>
                  <a:cubicBezTo>
                    <a:pt x="424" y="128"/>
                    <a:pt x="560" y="0"/>
                    <a:pt x="672" y="0"/>
                  </a:cubicBezTo>
                  <a:cubicBezTo>
                    <a:pt x="784" y="0"/>
                    <a:pt x="920" y="128"/>
                    <a:pt x="1008" y="240"/>
                  </a:cubicBezTo>
                  <a:cubicBezTo>
                    <a:pt x="1096" y="352"/>
                    <a:pt x="1144" y="576"/>
                    <a:pt x="1200" y="672"/>
                  </a:cubicBezTo>
                  <a:cubicBezTo>
                    <a:pt x="1256" y="768"/>
                    <a:pt x="1300" y="792"/>
                    <a:pt x="1344" y="816"/>
                  </a:cubicBezTo>
                </a:path>
              </a:pathLst>
            </a:cu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9" name="Line 24"/>
            <p:cNvSpPr/>
            <p:nvPr/>
          </p:nvSpPr>
          <p:spPr>
            <a:xfrm>
              <a:off x="3360" y="3168"/>
              <a:ext cx="0" cy="336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50" name="Object 25"/>
            <p:cNvGraphicFramePr>
              <a:graphicFrameLocks noChangeAspect="1"/>
            </p:cNvGraphicFramePr>
            <p:nvPr/>
          </p:nvGraphicFramePr>
          <p:xfrm>
            <a:off x="3264" y="3552"/>
            <a:ext cx="20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17" imgW="165100" imgH="228600" progId="Equation.3">
                    <p:embed/>
                  </p:oleObj>
                </mc:Choice>
                <mc:Fallback>
                  <p:oleObj name="" r:id="rId17" imgW="165100" imgH="228600" progId="Equation.3">
                    <p:embed/>
                    <p:pic>
                      <p:nvPicPr>
                        <p:cNvPr id="0" name="Object 2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64" y="3552"/>
                          <a:ext cx="209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1" name="Object 29"/>
            <p:cNvGraphicFramePr>
              <a:graphicFrameLocks noChangeAspect="1"/>
            </p:cNvGraphicFramePr>
            <p:nvPr/>
          </p:nvGraphicFramePr>
          <p:xfrm>
            <a:off x="3320" y="2760"/>
            <a:ext cx="96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" r:id="rId18" imgW="761365" imgH="241300" progId="Equation.DSMT4">
                    <p:embed/>
                  </p:oleObj>
                </mc:Choice>
                <mc:Fallback>
                  <p:oleObj name="" r:id="rId18" imgW="761365" imgH="241300" progId="Equation.DSMT4">
                    <p:embed/>
                    <p:pic>
                      <p:nvPicPr>
                        <p:cNvPr id="0" name="Object 29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320" y="2760"/>
                          <a:ext cx="960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7013" name="Group 37"/>
          <p:cNvGrpSpPr/>
          <p:nvPr/>
        </p:nvGrpSpPr>
        <p:grpSpPr>
          <a:xfrm>
            <a:off x="2038350" y="4014789"/>
            <a:ext cx="4210050" cy="2066925"/>
            <a:chOff x="324" y="2529"/>
            <a:chExt cx="2652" cy="1302"/>
          </a:xfrm>
        </p:grpSpPr>
        <p:sp>
          <p:nvSpPr>
            <p:cNvPr id="26653" name="Line 21"/>
            <p:cNvSpPr/>
            <p:nvPr/>
          </p:nvSpPr>
          <p:spPr>
            <a:xfrm>
              <a:off x="2256" y="3168"/>
              <a:ext cx="0" cy="336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54" name="Group 36"/>
            <p:cNvGrpSpPr/>
            <p:nvPr/>
          </p:nvGrpSpPr>
          <p:grpSpPr>
            <a:xfrm>
              <a:off x="324" y="2529"/>
              <a:ext cx="2652" cy="1302"/>
              <a:chOff x="324" y="2529"/>
              <a:chExt cx="2652" cy="1302"/>
            </a:xfrm>
          </p:grpSpPr>
          <p:sp>
            <p:nvSpPr>
              <p:cNvPr id="26655" name="Freeform 18"/>
              <p:cNvSpPr/>
              <p:nvPr/>
            </p:nvSpPr>
            <p:spPr>
              <a:xfrm>
                <a:off x="1200" y="2928"/>
                <a:ext cx="1344" cy="576"/>
              </a:xfrm>
              <a:custGeom>
                <a:avLst/>
                <a:gdLst/>
                <a:ahLst/>
                <a:cxnLst>
                  <a:cxn ang="0">
                    <a:pos x="0" y="143"/>
                  </a:cxn>
                  <a:cxn ang="0">
                    <a:pos x="144" y="118"/>
                  </a:cxn>
                  <a:cxn ang="0">
                    <a:pos x="336" y="42"/>
                  </a:cxn>
                  <a:cxn ang="0">
                    <a:pos x="672" y="0"/>
                  </a:cxn>
                  <a:cxn ang="0">
                    <a:pos x="1008" y="42"/>
                  </a:cxn>
                  <a:cxn ang="0">
                    <a:pos x="1200" y="118"/>
                  </a:cxn>
                  <a:cxn ang="0">
                    <a:pos x="1344" y="143"/>
                  </a:cxn>
                </a:cxnLst>
                <a:rect l="0" t="0" r="0" b="0"/>
                <a:pathLst>
                  <a:path w="1344" h="816">
                    <a:moveTo>
                      <a:pt x="0" y="816"/>
                    </a:moveTo>
                    <a:cubicBezTo>
                      <a:pt x="44" y="792"/>
                      <a:pt x="88" y="768"/>
                      <a:pt x="144" y="672"/>
                    </a:cubicBezTo>
                    <a:cubicBezTo>
                      <a:pt x="200" y="576"/>
                      <a:pt x="248" y="352"/>
                      <a:pt x="336" y="240"/>
                    </a:cubicBezTo>
                    <a:cubicBezTo>
                      <a:pt x="424" y="128"/>
                      <a:pt x="560" y="0"/>
                      <a:pt x="672" y="0"/>
                    </a:cubicBezTo>
                    <a:cubicBezTo>
                      <a:pt x="784" y="0"/>
                      <a:pt x="920" y="128"/>
                      <a:pt x="1008" y="240"/>
                    </a:cubicBezTo>
                    <a:cubicBezTo>
                      <a:pt x="1096" y="352"/>
                      <a:pt x="1144" y="576"/>
                      <a:pt x="1200" y="672"/>
                    </a:cubicBezTo>
                    <a:cubicBezTo>
                      <a:pt x="1256" y="768"/>
                      <a:pt x="1300" y="792"/>
                      <a:pt x="1344" y="816"/>
                    </a:cubicBezTo>
                  </a:path>
                </a:pathLst>
              </a:custGeom>
              <a:noFill/>
              <a:ln w="317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56" name="Object 26"/>
              <p:cNvGraphicFramePr>
                <a:graphicFrameLocks noChangeAspect="1"/>
              </p:cNvGraphicFramePr>
              <p:nvPr/>
            </p:nvGraphicFramePr>
            <p:xfrm>
              <a:off x="2064" y="3552"/>
              <a:ext cx="544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" name="" r:id="rId20" imgW="444500" imgH="228600" progId="Equation.3">
                      <p:embed/>
                    </p:oleObj>
                  </mc:Choice>
                  <mc:Fallback>
                    <p:oleObj name="" r:id="rId20" imgW="444500" imgH="228600" progId="Equation.3">
                      <p:embed/>
                      <p:pic>
                        <p:nvPicPr>
                          <p:cNvPr id="0" name="Object 26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2064" y="3552"/>
                            <a:ext cx="544" cy="27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57" name="Line 27"/>
              <p:cNvSpPr/>
              <p:nvPr/>
            </p:nvSpPr>
            <p:spPr>
              <a:xfrm flipV="1">
                <a:off x="1872" y="2544"/>
                <a:ext cx="0" cy="115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lg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58" name="Object 28"/>
              <p:cNvGraphicFramePr>
                <a:graphicFrameLocks noChangeAspect="1"/>
              </p:cNvGraphicFramePr>
              <p:nvPr/>
            </p:nvGraphicFramePr>
            <p:xfrm>
              <a:off x="324" y="2711"/>
              <a:ext cx="1430" cy="3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" name="" r:id="rId22" imgW="1078865" imgH="241300" progId="Equation.DSMT4">
                      <p:embed/>
                    </p:oleObj>
                  </mc:Choice>
                  <mc:Fallback>
                    <p:oleObj name="" r:id="rId22" imgW="1078865" imgH="241300" progId="Equation.DSMT4">
                      <p:embed/>
                      <p:pic>
                        <p:nvPicPr>
                          <p:cNvPr id="0" name="Object 28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324" y="2711"/>
                            <a:ext cx="1430" cy="32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6659" name="AutoShape 30"/>
              <p:cNvCxnSpPr/>
              <p:nvPr/>
            </p:nvCxnSpPr>
            <p:spPr>
              <a:xfrm>
                <a:off x="1872" y="2832"/>
                <a:ext cx="1104" cy="0"/>
              </a:xfrm>
              <a:prstGeom prst="straightConnector1">
                <a:avLst/>
              </a:prstGeom>
              <a:ln w="9525" cap="rnd" cmpd="sng">
                <a:solidFill>
                  <a:srgbClr val="993300"/>
                </a:solidFill>
                <a:prstDash val="sysDot"/>
                <a:round/>
                <a:headEnd type="triangle" w="med" len="med"/>
                <a:tailEnd type="triangle" w="med" len="med"/>
              </a:ln>
            </p:spPr>
          </p:cxnSp>
          <p:graphicFrame>
            <p:nvGraphicFramePr>
              <p:cNvPr id="26660" name="Object 31"/>
              <p:cNvGraphicFramePr>
                <a:graphicFrameLocks noChangeAspect="1"/>
              </p:cNvGraphicFramePr>
              <p:nvPr/>
            </p:nvGraphicFramePr>
            <p:xfrm>
              <a:off x="2237" y="2529"/>
              <a:ext cx="28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" name="" r:id="rId24" imgW="177800" imgH="152400" progId="Equation.3">
                      <p:embed/>
                    </p:oleObj>
                  </mc:Choice>
                  <mc:Fallback>
                    <p:oleObj name="" r:id="rId24" imgW="177800" imgH="152400" progId="Equation.3">
                      <p:embed/>
                      <p:pic>
                        <p:nvPicPr>
                          <p:cNvPr id="0" name="Object 31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237" y="2529"/>
                            <a:ext cx="280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6661" name="Line 32"/>
          <p:cNvSpPr/>
          <p:nvPr/>
        </p:nvSpPr>
        <p:spPr>
          <a:xfrm flipV="1">
            <a:off x="2208213" y="3573463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62" name="AutoShape 39"/>
          <p:cNvSpPr/>
          <p:nvPr/>
        </p:nvSpPr>
        <p:spPr>
          <a:xfrm>
            <a:off x="2208214" y="260350"/>
            <a:ext cx="3736975" cy="609600"/>
          </a:xfrm>
          <a:prstGeom prst="borderCallout2">
            <a:avLst>
              <a:gd name="adj1" fmla="val 18750"/>
              <a:gd name="adj2" fmla="val 102037"/>
              <a:gd name="adj3" fmla="val 18750"/>
              <a:gd name="adj4" fmla="val 113296"/>
              <a:gd name="adj5" fmla="val 310676"/>
              <a:gd name="adj6" fmla="val 124597"/>
            </a:avLst>
          </a:prstGeom>
          <a:solidFill>
            <a:srgbClr val="FFFF00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oval" w="med" len="med"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anchor="t" anchorCtr="0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G(x-at)=G(x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+at-at)=G(x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63" name="AutoShape 40"/>
          <p:cNvSpPr/>
          <p:nvPr/>
        </p:nvSpPr>
        <p:spPr>
          <a:xfrm>
            <a:off x="6456364" y="6021388"/>
            <a:ext cx="3736975" cy="609600"/>
          </a:xfrm>
          <a:prstGeom prst="borderCallout2">
            <a:avLst>
              <a:gd name="adj1" fmla="val 18750"/>
              <a:gd name="adj2" fmla="val -2037"/>
              <a:gd name="adj3" fmla="val 18750"/>
              <a:gd name="adj4" fmla="val -18394"/>
              <a:gd name="adj5" fmla="val -152083"/>
              <a:gd name="adj6" fmla="val -34792"/>
            </a:avLst>
          </a:prstGeom>
          <a:solidFill>
            <a:srgbClr val="FFFF00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oval" w="med" len="med"/>
          </a:ln>
        </p:spPr>
        <p:txBody>
          <a:bodyPr anchor="t" anchorCtr="0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F(x+at)=F(x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-at+at)=F(x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27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27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7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7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5" name="Rectangle 8"/>
          <p:cNvSpPr/>
          <p:nvPr/>
        </p:nvSpPr>
        <p:spPr>
          <a:xfrm>
            <a:off x="1711325" y="230188"/>
            <a:ext cx="3689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、达朗贝尔解的物理意义</a:t>
            </a:r>
            <a:endParaRPr lang="zh-CN" altLang="en-US" sz="24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256006" name="Object 9"/>
          <p:cNvGraphicFramePr/>
          <p:nvPr/>
        </p:nvGraphicFramePr>
        <p:xfrm>
          <a:off x="2120901" y="809626"/>
          <a:ext cx="8359775" cy="190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3911600" imgH="914400" progId="Equation.DSMT4">
                  <p:embed/>
                </p:oleObj>
              </mc:Choice>
              <mc:Fallback>
                <p:oleObj name="" r:id="rId1" imgW="3911600" imgH="9144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0901" y="809626"/>
                        <a:ext cx="8359775" cy="190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08" name="Rectangle 8"/>
          <p:cNvSpPr/>
          <p:nvPr/>
        </p:nvSpPr>
        <p:spPr>
          <a:xfrm>
            <a:off x="1724025" y="2935288"/>
            <a:ext cx="2470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、行波法的应用</a:t>
            </a:r>
            <a:endParaRPr lang="zh-CN" altLang="en-US" sz="24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56009" name="文本框 256008"/>
          <p:cNvSpPr txBox="1"/>
          <p:nvPr/>
        </p:nvSpPr>
        <p:spPr>
          <a:xfrm>
            <a:off x="2082800" y="3454401"/>
            <a:ext cx="8039100" cy="212365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①求解一维无界弦的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自由振动（齐次）</a:t>
            </a: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问题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</a:rPr>
              <a:t>；</a:t>
            </a:r>
            <a:endParaRPr lang="en-US" altLang="zh-CN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②求解一维无界弦的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强迫振动（非齐次）</a:t>
            </a: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问题；</a:t>
            </a:r>
            <a:endParaRPr lang="en-US" altLang="zh-CN" sz="2400" dirty="0">
              <a:latin typeface="Arial" panose="020B0604020202020204" pitchFamily="34" charset="0"/>
              <a:ea typeface="仿宋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③ 求解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半无界弦的自由振动</a:t>
            </a: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问题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  <a:p>
            <a:pPr>
              <a:spcBef>
                <a:spcPct val="50000"/>
              </a:spcBef>
            </a:pPr>
            <a:endParaRPr lang="zh-CN" altLang="en-US" sz="24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56010" name="矩形 256009"/>
          <p:cNvSpPr/>
          <p:nvPr/>
        </p:nvSpPr>
        <p:spPr>
          <a:xfrm>
            <a:off x="2003426" y="5217104"/>
            <a:ext cx="8347075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</a:rPr>
              <a:t>基本思想：</a:t>
            </a:r>
            <a:r>
              <a:rPr lang="zh-CN" altLang="en-US" sz="2400" dirty="0">
                <a:latin typeface="Times New Roman" panose="02020603050405020304" pitchFamily="18" charset="0"/>
              </a:rPr>
              <a:t>利用偏微分方程和定解条件的线性叠加性质，  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</a:rPr>
              <a:t>                    将定解问题分解为自由振动和纯强迫振动两部分。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</a:rPr>
              <a:t>关键步骤：</a:t>
            </a:r>
            <a:r>
              <a:rPr lang="zh-CN" altLang="en-US" sz="2400" dirty="0">
                <a:latin typeface="Times New Roman" panose="02020603050405020304" pitchFamily="18" charset="0"/>
              </a:rPr>
              <a:t>利用冲量原理法求解纯强迫振动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5" grpId="0"/>
      <p:bldP spid="256008" grpId="0"/>
      <p:bldP spid="256009" grpId="0"/>
      <p:bldP spid="2560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/>
          <p:nvPr/>
        </p:nvGraphicFramePr>
        <p:xfrm>
          <a:off x="2495551" y="884238"/>
          <a:ext cx="61944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3097530" imgH="393700" progId="Equation.DSMT4">
                  <p:embed/>
                </p:oleObj>
              </mc:Choice>
              <mc:Fallback>
                <p:oleObj name="" r:id="rId1" imgW="3097530" imgH="3937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95551" y="884238"/>
                        <a:ext cx="6194425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1" name="Group 54"/>
          <p:cNvGrpSpPr/>
          <p:nvPr/>
        </p:nvGrpSpPr>
        <p:grpSpPr>
          <a:xfrm>
            <a:off x="6816726" y="3035301"/>
            <a:ext cx="3529013" cy="2232025"/>
            <a:chOff x="612" y="935"/>
            <a:chExt cx="2336" cy="1508"/>
          </a:xfrm>
        </p:grpSpPr>
        <p:grpSp>
          <p:nvGrpSpPr>
            <p:cNvPr id="10261" name="Group 55"/>
            <p:cNvGrpSpPr/>
            <p:nvPr/>
          </p:nvGrpSpPr>
          <p:grpSpPr>
            <a:xfrm>
              <a:off x="612" y="935"/>
              <a:ext cx="2336" cy="1508"/>
              <a:chOff x="612" y="1016"/>
              <a:chExt cx="2336" cy="1508"/>
            </a:xfrm>
          </p:grpSpPr>
          <p:sp>
            <p:nvSpPr>
              <p:cNvPr id="10265" name="Line 56"/>
              <p:cNvSpPr/>
              <p:nvPr/>
            </p:nvSpPr>
            <p:spPr>
              <a:xfrm flipV="1">
                <a:off x="612" y="2069"/>
                <a:ext cx="2087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6" name="Line 57"/>
              <p:cNvSpPr/>
              <p:nvPr/>
            </p:nvSpPr>
            <p:spPr>
              <a:xfrm flipV="1">
                <a:off x="702" y="1117"/>
                <a:ext cx="0" cy="140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7" name="Line 58"/>
              <p:cNvSpPr/>
              <p:nvPr/>
            </p:nvSpPr>
            <p:spPr>
              <a:xfrm>
                <a:off x="1156" y="2069"/>
                <a:ext cx="1180" cy="0"/>
              </a:xfrm>
              <a:prstGeom prst="line">
                <a:avLst/>
              </a:prstGeom>
              <a:ln w="28575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47" name="Object 59"/>
              <p:cNvGraphicFramePr/>
              <p:nvPr/>
            </p:nvGraphicFramePr>
            <p:xfrm>
              <a:off x="2744" y="1979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" r:id="rId3" imgW="127000" imgH="139700" progId="Equation.DSMT4">
                      <p:embed/>
                    </p:oleObj>
                  </mc:Choice>
                  <mc:Fallback>
                    <p:oleObj name="" r:id="rId3" imgW="127000" imgH="139700" progId="Equation.DSMT4">
                      <p:embed/>
                      <p:pic>
                        <p:nvPicPr>
                          <p:cNvPr id="0" name="Object 5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744" y="1979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48" name="Object 60"/>
              <p:cNvGraphicFramePr/>
              <p:nvPr/>
            </p:nvGraphicFramePr>
            <p:xfrm>
              <a:off x="839" y="2115"/>
              <a:ext cx="63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" r:id="rId5" imgW="393065" imgH="152400" progId="Equation.DSMT4">
                      <p:embed/>
                    </p:oleObj>
                  </mc:Choice>
                  <mc:Fallback>
                    <p:oleObj name="" r:id="rId5" imgW="393065" imgH="152400" progId="Equation.DSMT4">
                      <p:embed/>
                      <p:pic>
                        <p:nvPicPr>
                          <p:cNvPr id="0" name="Object 60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839" y="2115"/>
                            <a:ext cx="63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49" name="Object 61"/>
              <p:cNvGraphicFramePr/>
              <p:nvPr/>
            </p:nvGraphicFramePr>
            <p:xfrm>
              <a:off x="1927" y="2115"/>
              <a:ext cx="63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" r:id="rId7" imgW="393065" imgH="152400" progId="Equation.DSMT4">
                      <p:embed/>
                    </p:oleObj>
                  </mc:Choice>
                  <mc:Fallback>
                    <p:oleObj name="" r:id="rId7" imgW="393065" imgH="152400" progId="Equation.DSMT4">
                      <p:embed/>
                      <p:pic>
                        <p:nvPicPr>
                          <p:cNvPr id="0" name="Object 61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927" y="2115"/>
                            <a:ext cx="63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68" name="Oval 62"/>
              <p:cNvSpPr/>
              <p:nvPr/>
            </p:nvSpPr>
            <p:spPr>
              <a:xfrm flipH="1">
                <a:off x="1117" y="2048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269" name="Oval 63"/>
              <p:cNvSpPr/>
              <p:nvPr/>
            </p:nvSpPr>
            <p:spPr>
              <a:xfrm flipH="1">
                <a:off x="2336" y="2046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270" name="Text Box 64"/>
              <p:cNvSpPr txBox="1"/>
              <p:nvPr/>
            </p:nvSpPr>
            <p:spPr>
              <a:xfrm>
                <a:off x="1247" y="1752"/>
                <a:ext cx="99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Arial" panose="020B0604020202020204" pitchFamily="34" charset="0"/>
                  </a:rPr>
                  <a:t>依赖区间</a:t>
                </a:r>
                <a:endParaRPr lang="zh-CN" altLang="en-US" b="1" dirty="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0250" name="Object 65"/>
              <p:cNvGraphicFramePr/>
              <p:nvPr/>
            </p:nvGraphicFramePr>
            <p:xfrm>
              <a:off x="779" y="1016"/>
              <a:ext cx="14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" r:id="rId9" imgW="88265" imgH="151765" progId="Equation.DSMT4">
                      <p:embed/>
                    </p:oleObj>
                  </mc:Choice>
                  <mc:Fallback>
                    <p:oleObj name="" r:id="rId9" imgW="88265" imgH="151765" progId="Equation.DSMT4">
                      <p:embed/>
                      <p:pic>
                        <p:nvPicPr>
                          <p:cNvPr id="0" name="Object 65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779" y="1016"/>
                            <a:ext cx="14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246" name="Object 66"/>
            <p:cNvGraphicFramePr/>
            <p:nvPr/>
          </p:nvGraphicFramePr>
          <p:xfrm>
            <a:off x="1791" y="1207"/>
            <a:ext cx="499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11" imgW="431165" imgH="203200" progId="Equation.DSMT4">
                    <p:embed/>
                  </p:oleObj>
                </mc:Choice>
                <mc:Fallback>
                  <p:oleObj name="" r:id="rId11" imgW="431165" imgH="203200" progId="Equation.DSMT4">
                    <p:embed/>
                    <p:pic>
                      <p:nvPicPr>
                        <p:cNvPr id="0" name="Object 6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91" y="1207"/>
                          <a:ext cx="499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2" name="Oval 67"/>
            <p:cNvSpPr/>
            <p:nvPr/>
          </p:nvSpPr>
          <p:spPr>
            <a:xfrm flipV="1">
              <a:off x="1731" y="1317"/>
              <a:ext cx="27" cy="27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263" name="Line 68"/>
            <p:cNvSpPr/>
            <p:nvPr/>
          </p:nvSpPr>
          <p:spPr>
            <a:xfrm flipH="1">
              <a:off x="1156" y="1344"/>
              <a:ext cx="590" cy="6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4" name="Line 69"/>
            <p:cNvSpPr/>
            <p:nvPr/>
          </p:nvSpPr>
          <p:spPr>
            <a:xfrm>
              <a:off x="1746" y="1344"/>
              <a:ext cx="590" cy="6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52" name="Rectangle 76"/>
          <p:cNvSpPr/>
          <p:nvPr/>
        </p:nvSpPr>
        <p:spPr>
          <a:xfrm>
            <a:off x="1069062" y="256354"/>
            <a:ext cx="2031325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3333FF"/>
                </a:solidFill>
                <a:latin typeface="Arial" panose="020B0604020202020204" pitchFamily="34" charset="0"/>
              </a:rPr>
              <a:t>相关概念</a:t>
            </a:r>
            <a:endParaRPr lang="zh-CN" altLang="en-US" sz="3600" b="1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207950" name="Text Box 78"/>
          <p:cNvSpPr txBox="1"/>
          <p:nvPr/>
        </p:nvSpPr>
        <p:spPr>
          <a:xfrm>
            <a:off x="2279650" y="5743575"/>
            <a:ext cx="16573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区间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7951" name="Object 79"/>
          <p:cNvGraphicFramePr/>
          <p:nvPr/>
        </p:nvGraphicFramePr>
        <p:xfrm>
          <a:off x="3305175" y="5746750"/>
          <a:ext cx="21145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875665" imgH="203200" progId="Equation.3">
                  <p:embed/>
                </p:oleObj>
              </mc:Choice>
              <mc:Fallback>
                <p:oleObj name="" r:id="rId13" imgW="875665" imgH="203200" progId="Equation.3">
                  <p:embed/>
                  <p:pic>
                    <p:nvPicPr>
                      <p:cNvPr id="0" name="Object 7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05175" y="5746750"/>
                        <a:ext cx="2114550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52" name="Text Box 80"/>
          <p:cNvSpPr txBox="1"/>
          <p:nvPr/>
        </p:nvSpPr>
        <p:spPr>
          <a:xfrm>
            <a:off x="5348288" y="5743575"/>
            <a:ext cx="50292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为解在（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）的值的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依赖区间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7953" name="Text Box 81"/>
          <p:cNvSpPr txBox="1"/>
          <p:nvPr/>
        </p:nvSpPr>
        <p:spPr>
          <a:xfrm>
            <a:off x="2279650" y="1773239"/>
            <a:ext cx="678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从达朗贝尔公式中可以看出，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仅仅依赖于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7954" name="Object 82"/>
          <p:cNvGraphicFramePr/>
          <p:nvPr/>
        </p:nvGraphicFramePr>
        <p:xfrm>
          <a:off x="7658101" y="1787525"/>
          <a:ext cx="17764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5" imgW="875665" imgH="203200" progId="Equation.3">
                  <p:embed/>
                </p:oleObj>
              </mc:Choice>
              <mc:Fallback>
                <p:oleObj name="" r:id="rId15" imgW="875665" imgH="203200" progId="Equation.3">
                  <p:embed/>
                  <p:pic>
                    <p:nvPicPr>
                      <p:cNvPr id="0" name="Object 8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58101" y="1787525"/>
                        <a:ext cx="1776413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55" name="Text Box 83"/>
          <p:cNvSpPr txBox="1"/>
          <p:nvPr/>
        </p:nvSpPr>
        <p:spPr>
          <a:xfrm>
            <a:off x="2352675" y="2243139"/>
            <a:ext cx="57594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内的初始条件，与其他点的初始条件无关。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7967" name="Line 95"/>
          <p:cNvSpPr/>
          <p:nvPr/>
        </p:nvSpPr>
        <p:spPr>
          <a:xfrm>
            <a:off x="4224338" y="2890838"/>
            <a:ext cx="0" cy="6096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968" name="Text Box 96"/>
          <p:cNvSpPr txBox="1"/>
          <p:nvPr/>
        </p:nvSpPr>
        <p:spPr>
          <a:xfrm>
            <a:off x="2443163" y="3581401"/>
            <a:ext cx="441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它是过（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）点，斜率分别为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7969" name="Object 97"/>
          <p:cNvGraphicFramePr/>
          <p:nvPr/>
        </p:nvGraphicFramePr>
        <p:xfrm>
          <a:off x="2552701" y="4029076"/>
          <a:ext cx="51911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6" imgW="266065" imgH="393065" progId="Equation.3">
                  <p:embed/>
                </p:oleObj>
              </mc:Choice>
              <mc:Fallback>
                <p:oleObj name="" r:id="rId16" imgW="266065" imgH="393065" progId="Equation.3">
                  <p:embed/>
                  <p:pic>
                    <p:nvPicPr>
                      <p:cNvPr id="0" name="Object 9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552701" y="4029076"/>
                        <a:ext cx="519113" cy="58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70" name="Text Box 98"/>
          <p:cNvSpPr txBox="1"/>
          <p:nvPr/>
        </p:nvSpPr>
        <p:spPr>
          <a:xfrm>
            <a:off x="3205163" y="4114801"/>
            <a:ext cx="3733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的直线与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轴所截而得到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7971" name="Text Box 99"/>
          <p:cNvSpPr txBox="1"/>
          <p:nvPr/>
        </p:nvSpPr>
        <p:spPr>
          <a:xfrm>
            <a:off x="2443163" y="4618039"/>
            <a:ext cx="3733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的区间（如右图）。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Text Box 18"/>
          <p:cNvSpPr txBox="1"/>
          <p:nvPr/>
        </p:nvSpPr>
        <p:spPr>
          <a:xfrm>
            <a:off x="1558926" y="908051"/>
            <a:ext cx="63722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过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点作斜率为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1/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的直线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at</a:t>
            </a:r>
            <a:endParaRPr lang="en-US" altLang="zh-CN" sz="20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3" name="Text Box 32"/>
          <p:cNvSpPr txBox="1"/>
          <p:nvPr/>
        </p:nvSpPr>
        <p:spPr>
          <a:xfrm>
            <a:off x="1703389" y="2205039"/>
            <a:ext cx="4537075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此三角形区域中任一点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的依赖区间都落在区间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的内部，因此解在此三角形区域中的数值完全由区间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上的初始条件决定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4" name="Text Box 37"/>
          <p:cNvSpPr txBox="1"/>
          <p:nvPr/>
        </p:nvSpPr>
        <p:spPr>
          <a:xfrm>
            <a:off x="1558925" y="4221164"/>
            <a:ext cx="54737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该三角区域称为该区间的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决定区域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5" name="Text Box 40"/>
          <p:cNvSpPr txBox="1"/>
          <p:nvPr/>
        </p:nvSpPr>
        <p:spPr>
          <a:xfrm>
            <a:off x="1558926" y="1468439"/>
            <a:ext cx="63722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过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点作斜率为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-1/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的直线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at</a:t>
            </a:r>
            <a:endParaRPr lang="en-US" altLang="zh-CN" sz="20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6" name="Text Box 41"/>
          <p:cNvSpPr txBox="1"/>
          <p:nvPr/>
        </p:nvSpPr>
        <p:spPr>
          <a:xfrm>
            <a:off x="6024563" y="1128713"/>
            <a:ext cx="4499950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</a:rPr>
              <a:t>与区间</a:t>
            </a:r>
            <a:r>
              <a:rPr lang="en-US" altLang="zh-CN" sz="2000" b="1" dirty="0">
                <a:latin typeface="Times New Roman" panose="02020603050405020304" pitchFamily="18" charset="0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b="1" dirty="0">
                <a:latin typeface="Times New Roman" panose="02020603050405020304" pitchFamily="18" charset="0"/>
              </a:rPr>
              <a:t>一齐围成一个三角形区域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1277" name="Text Box 42"/>
          <p:cNvSpPr txBox="1"/>
          <p:nvPr/>
        </p:nvSpPr>
        <p:spPr>
          <a:xfrm>
            <a:off x="1847851" y="5734051"/>
            <a:ext cx="83534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在区间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上给定初始条件，就可以在其决定区域中确定初值问题的解。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278" name="Group 66"/>
          <p:cNvGrpSpPr/>
          <p:nvPr/>
        </p:nvGrpSpPr>
        <p:grpSpPr>
          <a:xfrm>
            <a:off x="6781801" y="3284538"/>
            <a:ext cx="3706813" cy="2305050"/>
            <a:chOff x="3198" y="981"/>
            <a:chExt cx="2335" cy="1452"/>
          </a:xfrm>
        </p:grpSpPr>
        <p:grpSp>
          <p:nvGrpSpPr>
            <p:cNvPr id="11279" name="Group 67"/>
            <p:cNvGrpSpPr/>
            <p:nvPr/>
          </p:nvGrpSpPr>
          <p:grpSpPr>
            <a:xfrm>
              <a:off x="3198" y="981"/>
              <a:ext cx="2335" cy="1452"/>
              <a:chOff x="3198" y="1026"/>
              <a:chExt cx="2335" cy="1452"/>
            </a:xfrm>
          </p:grpSpPr>
          <p:sp>
            <p:nvSpPr>
              <p:cNvPr id="11280" name="Line 68"/>
              <p:cNvSpPr/>
              <p:nvPr/>
            </p:nvSpPr>
            <p:spPr>
              <a:xfrm flipV="1">
                <a:off x="3198" y="2023"/>
                <a:ext cx="2087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1" name="Line 69"/>
              <p:cNvSpPr/>
              <p:nvPr/>
            </p:nvSpPr>
            <p:spPr>
              <a:xfrm flipV="1">
                <a:off x="3288" y="1071"/>
                <a:ext cx="0" cy="140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282" name="Group 70"/>
              <p:cNvGrpSpPr/>
              <p:nvPr/>
            </p:nvGrpSpPr>
            <p:grpSpPr>
              <a:xfrm>
                <a:off x="3742" y="1434"/>
                <a:ext cx="1180" cy="590"/>
                <a:chOff x="3742" y="1434"/>
                <a:chExt cx="1180" cy="590"/>
              </a:xfrm>
            </p:grpSpPr>
            <p:sp>
              <p:nvSpPr>
                <p:cNvPr id="11291" name="Line 71"/>
                <p:cNvSpPr/>
                <p:nvPr/>
              </p:nvSpPr>
              <p:spPr>
                <a:xfrm flipV="1">
                  <a:off x="3742" y="1434"/>
                  <a:ext cx="590" cy="59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2" name="Line 72"/>
                <p:cNvSpPr/>
                <p:nvPr/>
              </p:nvSpPr>
              <p:spPr>
                <a:xfrm>
                  <a:off x="4322" y="1434"/>
                  <a:ext cx="590" cy="59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3" name="Line 73"/>
                <p:cNvSpPr/>
                <p:nvPr/>
              </p:nvSpPr>
              <p:spPr>
                <a:xfrm>
                  <a:off x="3742" y="2024"/>
                  <a:ext cx="1180" cy="0"/>
                </a:xfrm>
                <a:prstGeom prst="line">
                  <a:avLst/>
                </a:prstGeom>
                <a:ln w="28575" cap="flat" cmpd="sng">
                  <a:solidFill>
                    <a:srgbClr val="CC33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283" name="Line 74"/>
              <p:cNvSpPr/>
              <p:nvPr/>
            </p:nvSpPr>
            <p:spPr>
              <a:xfrm>
                <a:off x="3878" y="1933"/>
                <a:ext cx="91" cy="91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4" name="Line 75"/>
              <p:cNvSpPr/>
              <p:nvPr/>
            </p:nvSpPr>
            <p:spPr>
              <a:xfrm>
                <a:off x="4059" y="1706"/>
                <a:ext cx="273" cy="318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" name="Line 76"/>
              <p:cNvSpPr/>
              <p:nvPr/>
            </p:nvSpPr>
            <p:spPr>
              <a:xfrm>
                <a:off x="4150" y="1616"/>
                <a:ext cx="363" cy="408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" name="Line 77"/>
              <p:cNvSpPr/>
              <p:nvPr/>
            </p:nvSpPr>
            <p:spPr>
              <a:xfrm>
                <a:off x="4241" y="1525"/>
                <a:ext cx="499" cy="499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" name="Line 78"/>
              <p:cNvSpPr/>
              <p:nvPr/>
            </p:nvSpPr>
            <p:spPr>
              <a:xfrm>
                <a:off x="3969" y="1797"/>
                <a:ext cx="181" cy="227"/>
              </a:xfrm>
              <a:prstGeom prst="line">
                <a:avLst/>
              </a:prstGeom>
              <a:ln w="19050" cap="flat" cmpd="sng">
                <a:solidFill>
                  <a:srgbClr val="CC3300"/>
                </a:solidFill>
                <a:prstDash val="sysDot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1268" name="Object 79"/>
              <p:cNvGraphicFramePr/>
              <p:nvPr/>
            </p:nvGraphicFramePr>
            <p:xfrm>
              <a:off x="5329" y="1933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" name="" r:id="rId1" imgW="127000" imgH="139700" progId="Equation.DSMT4">
                      <p:embed/>
                    </p:oleObj>
                  </mc:Choice>
                  <mc:Fallback>
                    <p:oleObj name="" r:id="rId1" imgW="127000" imgH="139700" progId="Equation.DSMT4">
                      <p:embed/>
                      <p:pic>
                        <p:nvPicPr>
                          <p:cNvPr id="0" name="Object 7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5329" y="1933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69" name="Object 80"/>
              <p:cNvGraphicFramePr/>
              <p:nvPr/>
            </p:nvGraphicFramePr>
            <p:xfrm>
              <a:off x="3334" y="1480"/>
              <a:ext cx="759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" r:id="rId3" imgW="660400" imgH="228600" progId="Equation.DSMT4">
                      <p:embed/>
                    </p:oleObj>
                  </mc:Choice>
                  <mc:Fallback>
                    <p:oleObj name="" r:id="rId3" imgW="660400" imgH="228600" progId="Equation.DSMT4">
                      <p:embed/>
                      <p:pic>
                        <p:nvPicPr>
                          <p:cNvPr id="0" name="Object 8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334" y="1480"/>
                            <a:ext cx="759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70" name="Object 81"/>
              <p:cNvGraphicFramePr/>
              <p:nvPr/>
            </p:nvGraphicFramePr>
            <p:xfrm>
              <a:off x="3379" y="1026"/>
              <a:ext cx="14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" r:id="rId5" imgW="88265" imgH="151765" progId="Equation.DSMT4">
                      <p:embed/>
                    </p:oleObj>
                  </mc:Choice>
                  <mc:Fallback>
                    <p:oleObj name="" r:id="rId5" imgW="88265" imgH="151765" progId="Equation.DSMT4">
                      <p:embed/>
                      <p:pic>
                        <p:nvPicPr>
                          <p:cNvPr id="0" name="Object 81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379" y="1026"/>
                            <a:ext cx="142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71" name="Object 82"/>
              <p:cNvGraphicFramePr/>
              <p:nvPr/>
            </p:nvGraphicFramePr>
            <p:xfrm>
              <a:off x="3663" y="1963"/>
              <a:ext cx="245" cy="3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" r:id="rId7" imgW="152400" imgH="228600" progId="Equation.DSMT4">
                      <p:embed/>
                    </p:oleObj>
                  </mc:Choice>
                  <mc:Fallback>
                    <p:oleObj name="" r:id="rId7" imgW="152400" imgH="228600" progId="Equation.DSMT4">
                      <p:embed/>
                      <p:pic>
                        <p:nvPicPr>
                          <p:cNvPr id="0" name="Object 82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663" y="1963"/>
                            <a:ext cx="245" cy="3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88" name="Text Box 83"/>
              <p:cNvSpPr txBox="1"/>
              <p:nvPr/>
            </p:nvSpPr>
            <p:spPr>
              <a:xfrm>
                <a:off x="3923" y="1755"/>
                <a:ext cx="907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b="1" dirty="0">
                    <a:latin typeface="Arial" panose="020B0604020202020204" pitchFamily="34" charset="0"/>
                  </a:rPr>
                  <a:t>决定区域</a:t>
                </a:r>
                <a:endParaRPr lang="zh-CN" altLang="en-US" sz="22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289" name="Oval 84"/>
              <p:cNvSpPr/>
              <p:nvPr/>
            </p:nvSpPr>
            <p:spPr>
              <a:xfrm flipH="1">
                <a:off x="3724" y="1997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290" name="Oval 85"/>
              <p:cNvSpPr/>
              <p:nvPr/>
            </p:nvSpPr>
            <p:spPr>
              <a:xfrm flipH="1">
                <a:off x="4892" y="2012"/>
                <a:ext cx="45" cy="45"/>
              </a:xfrm>
              <a:prstGeom prst="ellipse">
                <a:avLst/>
              </a:prstGeom>
              <a:solidFill>
                <a:srgbClr val="8000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11266" name="Object 86"/>
            <p:cNvGraphicFramePr/>
            <p:nvPr/>
          </p:nvGraphicFramePr>
          <p:xfrm>
            <a:off x="4830" y="1933"/>
            <a:ext cx="265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9" imgW="165100" imgH="228600" progId="Equation.DSMT4">
                    <p:embed/>
                  </p:oleObj>
                </mc:Choice>
                <mc:Fallback>
                  <p:oleObj name="" r:id="rId9" imgW="165100" imgH="228600" progId="Equation.DSMT4">
                    <p:embed/>
                    <p:pic>
                      <p:nvPicPr>
                        <p:cNvPr id="0" name="Object 8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30" y="1933"/>
                          <a:ext cx="265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7" name="Object 87"/>
            <p:cNvGraphicFramePr/>
            <p:nvPr/>
          </p:nvGraphicFramePr>
          <p:xfrm>
            <a:off x="4558" y="1389"/>
            <a:ext cx="67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11" imgW="673100" imgH="228600" progId="Equation.DSMT4">
                    <p:embed/>
                  </p:oleObj>
                </mc:Choice>
                <mc:Fallback>
                  <p:oleObj name="" r:id="rId11" imgW="673100" imgH="228600" progId="Equation.DSMT4">
                    <p:embed/>
                    <p:pic>
                      <p:nvPicPr>
                        <p:cNvPr id="0" name="Object 8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558" y="1389"/>
                          <a:ext cx="678" cy="2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9" name="Text Box 3"/>
          <p:cNvSpPr txBox="1"/>
          <p:nvPr/>
        </p:nvSpPr>
        <p:spPr>
          <a:xfrm>
            <a:off x="2351088" y="739776"/>
            <a:ext cx="5943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波动是以一定的速度 </a:t>
            </a:r>
            <a:r>
              <a:rPr lang="en-US" altLang="zh-CN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zh-CN" altLang="en-US" sz="20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向两个方向传播的。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0" name="Text Box 4"/>
          <p:cNvSpPr txBox="1"/>
          <p:nvPr/>
        </p:nvSpPr>
        <p:spPr>
          <a:xfrm>
            <a:off x="2395539" y="1557338"/>
            <a:ext cx="6264275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如果在初始时刻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，扰动仅仅在有限区间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4021" name="Object 5"/>
          <p:cNvGraphicFramePr/>
          <p:nvPr/>
        </p:nvGraphicFramePr>
        <p:xfrm>
          <a:off x="8534400" y="1557338"/>
          <a:ext cx="99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443865" imgH="215900" progId="Equation.3">
                  <p:embed/>
                </p:oleObj>
              </mc:Choice>
              <mc:Fallback>
                <p:oleObj name="" r:id="rId1" imgW="443865" imgH="215900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34400" y="1557338"/>
                        <a:ext cx="9906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2" name="Text Box 6"/>
          <p:cNvSpPr txBox="1"/>
          <p:nvPr/>
        </p:nvSpPr>
        <p:spPr>
          <a:xfrm>
            <a:off x="2362200" y="2090738"/>
            <a:ext cx="64008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上存在，则经过时间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后，扰动传到的范围为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4023" name="Object 7"/>
          <p:cNvGraphicFramePr/>
          <p:nvPr/>
        </p:nvGraphicFramePr>
        <p:xfrm>
          <a:off x="3935413" y="2636839"/>
          <a:ext cx="424656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905000" imgH="228600" progId="Equation.DSMT4">
                  <p:embed/>
                </p:oleObj>
              </mc:Choice>
              <mc:Fallback>
                <p:oleObj name="" r:id="rId3" imgW="1905000" imgH="2286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35413" y="2636839"/>
                        <a:ext cx="4246562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39" name="Text Box 23"/>
          <p:cNvSpPr txBox="1"/>
          <p:nvPr/>
        </p:nvSpPr>
        <p:spPr>
          <a:xfrm>
            <a:off x="2424113" y="3262313"/>
            <a:ext cx="9144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40" name="Text Box 24"/>
          <p:cNvSpPr txBox="1"/>
          <p:nvPr/>
        </p:nvSpPr>
        <p:spPr>
          <a:xfrm>
            <a:off x="3359150" y="3257550"/>
            <a:ext cx="41148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上式所定义的区域称为区间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4041" name="Object 25"/>
          <p:cNvGraphicFramePr/>
          <p:nvPr/>
        </p:nvGraphicFramePr>
        <p:xfrm>
          <a:off x="7197725" y="3246438"/>
          <a:ext cx="99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443865" imgH="215900" progId="Equation.3">
                  <p:embed/>
                </p:oleObj>
              </mc:Choice>
              <mc:Fallback>
                <p:oleObj name="" r:id="rId5" imgW="443865" imgH="215900" progId="Equation.3">
                  <p:embed/>
                  <p:pic>
                    <p:nvPicPr>
                      <p:cNvPr id="0" name="Object 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97725" y="3246438"/>
                        <a:ext cx="9906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42" name="Text Box 26"/>
          <p:cNvSpPr txBox="1"/>
          <p:nvPr/>
        </p:nvSpPr>
        <p:spPr>
          <a:xfrm>
            <a:off x="8166100" y="3252788"/>
            <a:ext cx="21336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影响区域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305" name="Group 60"/>
          <p:cNvGrpSpPr/>
          <p:nvPr/>
        </p:nvGrpSpPr>
        <p:grpSpPr>
          <a:xfrm>
            <a:off x="4583113" y="4581526"/>
            <a:ext cx="5795962" cy="2087563"/>
            <a:chOff x="1927" y="2886"/>
            <a:chExt cx="3651" cy="1315"/>
          </a:xfrm>
        </p:grpSpPr>
        <p:graphicFrame>
          <p:nvGraphicFramePr>
            <p:cNvPr id="12293" name="Object 31"/>
            <p:cNvGraphicFramePr/>
            <p:nvPr/>
          </p:nvGraphicFramePr>
          <p:xfrm>
            <a:off x="2752" y="3761"/>
            <a:ext cx="223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6" imgW="152400" imgH="228600" progId="Equation.DSMT4">
                    <p:embed/>
                  </p:oleObj>
                </mc:Choice>
                <mc:Fallback>
                  <p:oleObj name="" r:id="rId6" imgW="152400" imgH="228600" progId="Equation.DSMT4">
                    <p:embed/>
                    <p:pic>
                      <p:nvPicPr>
                        <p:cNvPr id="0" name="Object 31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752" y="3761"/>
                          <a:ext cx="223" cy="3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6" name="Line 32"/>
            <p:cNvSpPr/>
            <p:nvPr/>
          </p:nvSpPr>
          <p:spPr>
            <a:xfrm flipV="1">
              <a:off x="2381" y="3802"/>
              <a:ext cx="2930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Line 33"/>
            <p:cNvSpPr/>
            <p:nvPr/>
          </p:nvSpPr>
          <p:spPr>
            <a:xfrm flipV="1">
              <a:off x="2463" y="2967"/>
              <a:ext cx="0" cy="12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Line 34"/>
            <p:cNvSpPr/>
            <p:nvPr/>
          </p:nvSpPr>
          <p:spPr>
            <a:xfrm flipV="1">
              <a:off x="3948" y="3285"/>
              <a:ext cx="537" cy="5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Line 35"/>
            <p:cNvSpPr/>
            <p:nvPr/>
          </p:nvSpPr>
          <p:spPr>
            <a:xfrm>
              <a:off x="2340" y="3284"/>
              <a:ext cx="537" cy="5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Line 36"/>
            <p:cNvSpPr/>
            <p:nvPr/>
          </p:nvSpPr>
          <p:spPr>
            <a:xfrm>
              <a:off x="2876" y="3802"/>
              <a:ext cx="1073" cy="0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294" name="Object 37"/>
            <p:cNvGraphicFramePr/>
            <p:nvPr/>
          </p:nvGraphicFramePr>
          <p:xfrm>
            <a:off x="5392" y="3761"/>
            <a:ext cx="186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8" imgW="127000" imgH="139700" progId="Equation.DSMT4">
                    <p:embed/>
                  </p:oleObj>
                </mc:Choice>
                <mc:Fallback>
                  <p:oleObj name="" r:id="rId8" imgW="127000" imgH="139700" progId="Equation.DSMT4">
                    <p:embed/>
                    <p:pic>
                      <p:nvPicPr>
                        <p:cNvPr id="0" name="Object 37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392" y="3761"/>
                          <a:ext cx="186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5" name="Object 38"/>
            <p:cNvGraphicFramePr/>
            <p:nvPr/>
          </p:nvGraphicFramePr>
          <p:xfrm>
            <a:off x="3825" y="3802"/>
            <a:ext cx="241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10" imgW="165100" imgH="228600" progId="Equation.DSMT4">
                    <p:embed/>
                  </p:oleObj>
                </mc:Choice>
                <mc:Fallback>
                  <p:oleObj name="" r:id="rId10" imgW="165100" imgH="228600" progId="Equation.DSMT4">
                    <p:embed/>
                    <p:pic>
                      <p:nvPicPr>
                        <p:cNvPr id="0" name="Object 38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825" y="3802"/>
                          <a:ext cx="241" cy="3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6" name="Object 42"/>
            <p:cNvGraphicFramePr/>
            <p:nvPr/>
          </p:nvGraphicFramePr>
          <p:xfrm>
            <a:off x="2505" y="2886"/>
            <a:ext cx="12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2" imgW="88265" imgH="151765" progId="Equation.DSMT4">
                    <p:embed/>
                  </p:oleObj>
                </mc:Choice>
                <mc:Fallback>
                  <p:oleObj name="" r:id="rId12" imgW="88265" imgH="151765" progId="Equation.DSMT4">
                    <p:embed/>
                    <p:pic>
                      <p:nvPicPr>
                        <p:cNvPr id="0" name="Object 4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505" y="2886"/>
                          <a:ext cx="129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7" name="Object 43"/>
            <p:cNvGraphicFramePr/>
            <p:nvPr/>
          </p:nvGraphicFramePr>
          <p:xfrm>
            <a:off x="4527" y="3085"/>
            <a:ext cx="616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4" imgW="673100" imgH="228600" progId="Equation.DSMT4">
                    <p:embed/>
                  </p:oleObj>
                </mc:Choice>
                <mc:Fallback>
                  <p:oleObj name="" r:id="rId14" imgW="673100" imgH="228600" progId="Equation.DSMT4">
                    <p:embed/>
                    <p:pic>
                      <p:nvPicPr>
                        <p:cNvPr id="0" name="Object 4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527" y="3085"/>
                          <a:ext cx="616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1" name="Text Box 44"/>
            <p:cNvSpPr txBox="1"/>
            <p:nvPr/>
          </p:nvSpPr>
          <p:spPr>
            <a:xfrm>
              <a:off x="2958" y="3443"/>
              <a:ext cx="8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 b="1" dirty="0">
                  <a:latin typeface="Arial" panose="020B0604020202020204" pitchFamily="34" charset="0"/>
                </a:rPr>
                <a:t>影响区域</a:t>
              </a:r>
              <a:endParaRPr lang="zh-CN" altLang="en-US" sz="2200" b="1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2298" name="Object 45"/>
            <p:cNvGraphicFramePr/>
            <p:nvPr/>
          </p:nvGraphicFramePr>
          <p:xfrm>
            <a:off x="1927" y="3046"/>
            <a:ext cx="69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6" imgW="660400" imgH="228600" progId="Equation.DSMT4">
                    <p:embed/>
                  </p:oleObj>
                </mc:Choice>
                <mc:Fallback>
                  <p:oleObj name="" r:id="rId16" imgW="660400" imgH="228600" progId="Equation.DSMT4">
                    <p:embed/>
                    <p:pic>
                      <p:nvPicPr>
                        <p:cNvPr id="0" name="Object 4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927" y="3046"/>
                          <a:ext cx="690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2" name="Oval 46"/>
            <p:cNvSpPr/>
            <p:nvPr/>
          </p:nvSpPr>
          <p:spPr>
            <a:xfrm flipH="1">
              <a:off x="2840" y="3777"/>
              <a:ext cx="41" cy="40"/>
            </a:xfrm>
            <a:prstGeom prst="ellipse">
              <a:avLst/>
            </a:prstGeom>
            <a:solidFill>
              <a:srgbClr val="80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13" name="Oval 47"/>
            <p:cNvSpPr/>
            <p:nvPr/>
          </p:nvSpPr>
          <p:spPr>
            <a:xfrm flipH="1">
              <a:off x="3940" y="3772"/>
              <a:ext cx="41" cy="40"/>
            </a:xfrm>
            <a:prstGeom prst="ellipse">
              <a:avLst/>
            </a:prstGeom>
            <a:solidFill>
              <a:srgbClr val="80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14" name="Line 48"/>
            <p:cNvSpPr/>
            <p:nvPr/>
          </p:nvSpPr>
          <p:spPr>
            <a:xfrm>
              <a:off x="2453" y="3204"/>
              <a:ext cx="577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5" name="Line 49"/>
            <p:cNvSpPr/>
            <p:nvPr/>
          </p:nvSpPr>
          <p:spPr>
            <a:xfrm>
              <a:off x="2587" y="3204"/>
              <a:ext cx="578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6" name="Line 50"/>
            <p:cNvSpPr/>
            <p:nvPr/>
          </p:nvSpPr>
          <p:spPr>
            <a:xfrm>
              <a:off x="2744" y="3204"/>
              <a:ext cx="577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7" name="Line 51"/>
            <p:cNvSpPr/>
            <p:nvPr/>
          </p:nvSpPr>
          <p:spPr>
            <a:xfrm>
              <a:off x="2918" y="3204"/>
              <a:ext cx="577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Line 52"/>
            <p:cNvSpPr/>
            <p:nvPr/>
          </p:nvSpPr>
          <p:spPr>
            <a:xfrm>
              <a:off x="3058" y="3204"/>
              <a:ext cx="577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9" name="Line 53"/>
            <p:cNvSpPr/>
            <p:nvPr/>
          </p:nvSpPr>
          <p:spPr>
            <a:xfrm>
              <a:off x="3248" y="3204"/>
              <a:ext cx="577" cy="59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0" name="Line 54"/>
            <p:cNvSpPr/>
            <p:nvPr/>
          </p:nvSpPr>
          <p:spPr>
            <a:xfrm>
              <a:off x="3418" y="3173"/>
              <a:ext cx="572" cy="58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1" name="Line 55"/>
            <p:cNvSpPr/>
            <p:nvPr/>
          </p:nvSpPr>
          <p:spPr>
            <a:xfrm>
              <a:off x="3577" y="3165"/>
              <a:ext cx="496" cy="517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2" name="Line 56"/>
            <p:cNvSpPr/>
            <p:nvPr/>
          </p:nvSpPr>
          <p:spPr>
            <a:xfrm>
              <a:off x="3737" y="3114"/>
              <a:ext cx="418" cy="44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3" name="Line 57"/>
            <p:cNvSpPr/>
            <p:nvPr/>
          </p:nvSpPr>
          <p:spPr>
            <a:xfrm>
              <a:off x="3866" y="3046"/>
              <a:ext cx="418" cy="44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4" name="Line 58"/>
            <p:cNvSpPr/>
            <p:nvPr/>
          </p:nvSpPr>
          <p:spPr>
            <a:xfrm>
              <a:off x="4073" y="3046"/>
              <a:ext cx="334" cy="329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4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4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4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4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4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/>
      <p:bldP spid="214020" grpId="0"/>
      <p:bldP spid="214022" grpId="0"/>
      <p:bldP spid="214039" grpId="0"/>
      <p:bldP spid="214040" grpId="0"/>
      <p:bldP spid="2140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3"/>
          <p:cNvSpPr/>
          <p:nvPr/>
        </p:nvSpPr>
        <p:spPr>
          <a:xfrm>
            <a:off x="2208213" y="1625600"/>
            <a:ext cx="7848600" cy="946150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分析其物理意义表明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sz="2800" i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xot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平面上斜率为    的两族直线：   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4818" name="Object 4"/>
          <p:cNvGraphicFramePr>
            <a:graphicFrameLocks noChangeAspect="1"/>
          </p:cNvGraphicFramePr>
          <p:nvPr/>
        </p:nvGraphicFramePr>
        <p:xfrm>
          <a:off x="9191626" y="1484313"/>
          <a:ext cx="50006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533400" imgH="837565" progId="Equation.DSMT4">
                  <p:embed/>
                </p:oleObj>
              </mc:Choice>
              <mc:Fallback>
                <p:oleObj name="" r:id="rId1" imgW="533400" imgH="837565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91626" y="1484313"/>
                        <a:ext cx="500063" cy="792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5"/>
          <p:cNvGraphicFramePr/>
          <p:nvPr/>
        </p:nvGraphicFramePr>
        <p:xfrm>
          <a:off x="5159375" y="2205039"/>
          <a:ext cx="216058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875665" imgH="215900" progId="Equation.DSMT4">
                  <p:embed/>
                </p:oleObj>
              </mc:Choice>
              <mc:Fallback>
                <p:oleObj name="" r:id="rId3" imgW="875665" imgH="2159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9375" y="2205039"/>
                        <a:ext cx="2160588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6"/>
          <p:cNvSpPr/>
          <p:nvPr/>
        </p:nvSpPr>
        <p:spPr>
          <a:xfrm>
            <a:off x="2208213" y="2852739"/>
            <a:ext cx="8064500" cy="1082675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对一维波动方程研究起重要作用，称这两族直线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9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为一维波动方程的特征线。波动沿特征线传播。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1" name="Rectangle 7"/>
          <p:cNvSpPr/>
          <p:nvPr/>
        </p:nvSpPr>
        <p:spPr>
          <a:xfrm>
            <a:off x="2279650" y="5300663"/>
            <a:ext cx="6229350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称为特征变换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行波法也叫特征线法。 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4822" name="Group 8"/>
          <p:cNvGrpSpPr/>
          <p:nvPr/>
        </p:nvGrpSpPr>
        <p:grpSpPr>
          <a:xfrm>
            <a:off x="3863976" y="4076701"/>
            <a:ext cx="4029075" cy="1008063"/>
            <a:chOff x="569" y="482"/>
            <a:chExt cx="2538" cy="635"/>
          </a:xfrm>
        </p:grpSpPr>
        <p:graphicFrame>
          <p:nvGraphicFramePr>
            <p:cNvPr id="34823" name="Object 9"/>
            <p:cNvGraphicFramePr/>
            <p:nvPr/>
          </p:nvGraphicFramePr>
          <p:xfrm>
            <a:off x="1927" y="482"/>
            <a:ext cx="1180" cy="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774065" imgH="469900" progId="Equation.DSMT4">
                    <p:embed/>
                  </p:oleObj>
                </mc:Choice>
                <mc:Fallback>
                  <p:oleObj name="" r:id="rId5" imgW="774065" imgH="469900" progId="Equation.DSMT4">
                    <p:embed/>
                    <p:pic>
                      <p:nvPicPr>
                        <p:cNvPr id="0" name="Object 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27" y="482"/>
                          <a:ext cx="1180" cy="6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4" name="Rectangle 10"/>
            <p:cNvSpPr/>
            <p:nvPr/>
          </p:nvSpPr>
          <p:spPr>
            <a:xfrm>
              <a:off x="569" y="618"/>
              <a:ext cx="1236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t" anchorCtr="0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自变量变换</a:t>
              </a:r>
              <a:endPara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8444" name="Text Box 12"/>
          <p:cNvSpPr txBox="1"/>
          <p:nvPr/>
        </p:nvSpPr>
        <p:spPr>
          <a:xfrm>
            <a:off x="885508" y="588646"/>
            <a:ext cx="381635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n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行波法又叫特征线法</a:t>
            </a:r>
            <a:endParaRPr lang="zh-CN" altLang="en-US" sz="2800" dirty="0">
              <a:ln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373"/>
          <p:cNvSpPr/>
          <p:nvPr/>
        </p:nvSpPr>
        <p:spPr>
          <a:xfrm>
            <a:off x="960398" y="397434"/>
            <a:ext cx="4339650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36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复习：线性叠加原理</a:t>
            </a:r>
            <a:endParaRPr lang="zh-CN" altLang="en-US" sz="36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8850" name="Text Box 384"/>
          <p:cNvSpPr txBox="1"/>
          <p:nvPr/>
        </p:nvSpPr>
        <p:spPr>
          <a:xfrm>
            <a:off x="2208214" y="1341439"/>
            <a:ext cx="7705725" cy="4365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en-US" altLang="zh-CN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叠加原理</a:t>
            </a:r>
            <a:endParaRPr lang="zh-CN" altLang="en-US" sz="2800" dirty="0">
              <a:solidFill>
                <a:srgbClr val="FF21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50000"/>
              </a:spcBef>
              <a:buChar char="•"/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定义：几种不同原因综合产生的效果等于这些原因单独产生效果的累加。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50000"/>
              </a:spcBef>
              <a:buChar char="•"/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对象：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线性微分方程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所描述的物理现象。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50000"/>
              </a:spcBef>
              <a:buChar char="•"/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意义：是线性偏微分方程及其重要的特征，是求解线性偏微分方程的出发点，对非线性偏微分方程的求解也十分重要。 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5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851" name="AutoShape 385"/>
          <p:cNvSpPr/>
          <p:nvPr/>
        </p:nvSpPr>
        <p:spPr>
          <a:xfrm>
            <a:off x="5735638" y="5516563"/>
            <a:ext cx="4932362" cy="1008062"/>
          </a:xfrm>
          <a:prstGeom prst="cloudCallout">
            <a:avLst>
              <a:gd name="adj1" fmla="val -25444"/>
              <a:gd name="adj2" fmla="val -107167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sz="2400" dirty="0">
                <a:solidFill>
                  <a:srgbClr val="FF2121"/>
                </a:solidFill>
                <a:latin typeface="Arial" panose="020B0604020202020204" pitchFamily="34" charset="0"/>
                <a:ea typeface="楷体_GB2312" pitchFamily="49" charset="-122"/>
              </a:rPr>
              <a:t>将复杂定解问题分解为若干个简单的定解问题</a:t>
            </a:r>
            <a:endParaRPr lang="zh-CN" altLang="en-US" sz="2400" dirty="0">
              <a:solidFill>
                <a:srgbClr val="FF212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71084" name="文本框 771083"/>
          <p:cNvSpPr txBox="1"/>
          <p:nvPr/>
        </p:nvSpPr>
        <p:spPr>
          <a:xfrm>
            <a:off x="2063433" y="5735419"/>
            <a:ext cx="3087687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叠加原理为求解定解问题提供了有力的工具</a:t>
            </a:r>
            <a:endParaRPr lang="zh-CN" altLang="en-US" sz="20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3"/>
          <p:cNvSpPr/>
          <p:nvPr/>
        </p:nvSpPr>
        <p:spPr>
          <a:xfrm>
            <a:off x="1847851" y="333376"/>
            <a:ext cx="2524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二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微分算子：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79874" name="Object 4"/>
          <p:cNvGraphicFramePr>
            <a:graphicFrameLocks noChangeAspect="1"/>
          </p:cNvGraphicFramePr>
          <p:nvPr/>
        </p:nvGraphicFramePr>
        <p:xfrm>
          <a:off x="2711450" y="765175"/>
          <a:ext cx="7488238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3187700" imgH="914400" progId="Equation.DSMT4">
                  <p:embed/>
                </p:oleObj>
              </mc:Choice>
              <mc:Fallback>
                <p:oleObj name="" r:id="rId1" imgW="3187700" imgH="9144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11450" y="765175"/>
                        <a:ext cx="7488238" cy="214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Rectangle 5"/>
          <p:cNvSpPr/>
          <p:nvPr/>
        </p:nvSpPr>
        <p:spPr>
          <a:xfrm>
            <a:off x="2279650" y="2924176"/>
            <a:ext cx="33988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例：二阶偏微分方程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9876" name="Group 8"/>
          <p:cNvGrpSpPr/>
          <p:nvPr/>
        </p:nvGrpSpPr>
        <p:grpSpPr>
          <a:xfrm>
            <a:off x="2424113" y="3644900"/>
            <a:ext cx="7561262" cy="2795588"/>
            <a:chOff x="476" y="890"/>
            <a:chExt cx="4763" cy="1761"/>
          </a:xfrm>
        </p:grpSpPr>
        <p:graphicFrame>
          <p:nvGraphicFramePr>
            <p:cNvPr id="79877" name="Object 9"/>
            <p:cNvGraphicFramePr>
              <a:graphicFrameLocks noChangeAspect="1"/>
            </p:cNvGraphicFramePr>
            <p:nvPr/>
          </p:nvGraphicFramePr>
          <p:xfrm>
            <a:off x="476" y="890"/>
            <a:ext cx="4763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3" imgW="7848600" imgH="1016000" progId="Equation.3">
                    <p:embed/>
                  </p:oleObj>
                </mc:Choice>
                <mc:Fallback>
                  <p:oleObj name="" r:id="rId3" imgW="7848600" imgH="1016000" progId="Equation.3">
                    <p:embed/>
                    <p:pic>
                      <p:nvPicPr>
                        <p:cNvPr id="0" name="Object 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6" y="890"/>
                          <a:ext cx="4763" cy="5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78" name="Rectangle 10"/>
            <p:cNvSpPr/>
            <p:nvPr/>
          </p:nvSpPr>
          <p:spPr>
            <a:xfrm>
              <a:off x="521" y="1616"/>
              <a:ext cx="1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华文中宋" panose="02010600040101010101" pitchFamily="2" charset="-122"/>
                  <a:ea typeface="黑体" panose="02010609060101010101" pitchFamily="49" charset="-122"/>
                </a:rPr>
                <a:t>可简写为：</a:t>
              </a:r>
              <a:endParaRPr lang="zh-CN" altLang="en-US" sz="2800" dirty="0">
                <a:solidFill>
                  <a:srgbClr val="0000CC"/>
                </a:solidFill>
                <a:latin typeface="华文中宋" panose="02010600040101010101" pitchFamily="2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9879" name="Object 11"/>
            <p:cNvGraphicFramePr>
              <a:graphicFrameLocks noChangeAspect="1"/>
            </p:cNvGraphicFramePr>
            <p:nvPr/>
          </p:nvGraphicFramePr>
          <p:xfrm>
            <a:off x="1610" y="1661"/>
            <a:ext cx="90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5" imgW="596900" imgH="203200" progId="Equation.3">
                    <p:embed/>
                  </p:oleObj>
                </mc:Choice>
                <mc:Fallback>
                  <p:oleObj name="" r:id="rId5" imgW="596900" imgH="203200" progId="Equation.3">
                    <p:embed/>
                    <p:pic>
                      <p:nvPicPr>
                        <p:cNvPr id="0" name="Object 1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10" y="1661"/>
                          <a:ext cx="907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80" name="Text Box 12"/>
            <p:cNvSpPr txBox="1"/>
            <p:nvPr/>
          </p:nvSpPr>
          <p:spPr>
            <a:xfrm>
              <a:off x="476" y="2160"/>
              <a:ext cx="186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华文中宋" panose="02010600040101010101" pitchFamily="2" charset="-122"/>
                  <a:ea typeface="黑体" panose="02010609060101010101" pitchFamily="49" charset="-122"/>
                </a:rPr>
                <a:t>定解条件</a:t>
              </a:r>
              <a:endParaRPr lang="zh-CN" altLang="en-US" sz="2800" dirty="0">
                <a:solidFill>
                  <a:srgbClr val="0000CC"/>
                </a:solidFill>
                <a:latin typeface="华文中宋" panose="02010600040101010101" pitchFamily="2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9881" name="Object 13"/>
            <p:cNvGraphicFramePr>
              <a:graphicFrameLocks noChangeAspect="1"/>
            </p:cNvGraphicFramePr>
            <p:nvPr/>
          </p:nvGraphicFramePr>
          <p:xfrm>
            <a:off x="1655" y="1979"/>
            <a:ext cx="998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7" imgW="660400" imgH="444500" progId="Equation.3">
                    <p:embed/>
                  </p:oleObj>
                </mc:Choice>
                <mc:Fallback>
                  <p:oleObj name="" r:id="rId7" imgW="660400" imgH="444500" progId="Equation.3">
                    <p:embed/>
                    <p:pic>
                      <p:nvPicPr>
                        <p:cNvPr id="0" name="Object 1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55" y="1979"/>
                          <a:ext cx="998" cy="6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82" name="Text Box 14"/>
            <p:cNvSpPr txBox="1"/>
            <p:nvPr/>
          </p:nvSpPr>
          <p:spPr>
            <a:xfrm>
              <a:off x="2835" y="2115"/>
              <a:ext cx="140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华文中宋" panose="02010600040101010101" pitchFamily="2" charset="-122"/>
                  <a:ea typeface="黑体" panose="02010609060101010101" pitchFamily="49" charset="-122"/>
                </a:rPr>
                <a:t>可简写为：</a:t>
              </a:r>
              <a:endParaRPr lang="zh-CN" altLang="en-US" sz="2800" dirty="0">
                <a:solidFill>
                  <a:srgbClr val="0000CC"/>
                </a:solidFill>
                <a:latin typeface="华文中宋" panose="02010600040101010101" pitchFamily="2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9883" name="Object 15"/>
            <p:cNvGraphicFramePr>
              <a:graphicFrameLocks noChangeAspect="1"/>
            </p:cNvGraphicFramePr>
            <p:nvPr/>
          </p:nvGraphicFramePr>
          <p:xfrm>
            <a:off x="3969" y="2115"/>
            <a:ext cx="907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9" imgW="584200" imgH="203200" progId="Equation.3">
                    <p:embed/>
                  </p:oleObj>
                </mc:Choice>
                <mc:Fallback>
                  <p:oleObj name="" r:id="rId9" imgW="584200" imgH="203200" progId="Equation.3">
                    <p:embed/>
                    <p:pic>
                      <p:nvPicPr>
                        <p:cNvPr id="0" name="Object 1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69" y="2115"/>
                          <a:ext cx="907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Rectangle 4"/>
          <p:cNvSpPr/>
          <p:nvPr/>
        </p:nvSpPr>
        <p:spPr>
          <a:xfrm>
            <a:off x="2135188" y="692151"/>
            <a:ext cx="27225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三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叠加定理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80898" name="Group 6"/>
          <p:cNvGrpSpPr>
            <a:grpSpLocks noChangeAspect="1"/>
          </p:cNvGrpSpPr>
          <p:nvPr/>
        </p:nvGrpSpPr>
        <p:grpSpPr>
          <a:xfrm>
            <a:off x="2351088" y="1412876"/>
            <a:ext cx="7562850" cy="1782763"/>
            <a:chOff x="521" y="890"/>
            <a:chExt cx="4764" cy="1123"/>
          </a:xfrm>
        </p:grpSpPr>
        <p:sp>
          <p:nvSpPr>
            <p:cNvPr id="80899" name="AutoShape 5"/>
            <p:cNvSpPr>
              <a:spLocks noChangeAspect="1" noTextEdit="1"/>
            </p:cNvSpPr>
            <p:nvPr/>
          </p:nvSpPr>
          <p:spPr>
            <a:xfrm>
              <a:off x="521" y="890"/>
              <a:ext cx="4764" cy="11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0" name="Rectangle 7"/>
            <p:cNvSpPr/>
            <p:nvPr/>
          </p:nvSpPr>
          <p:spPr>
            <a:xfrm>
              <a:off x="521" y="948"/>
              <a:ext cx="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1" name="Rectangle 8"/>
            <p:cNvSpPr/>
            <p:nvPr/>
          </p:nvSpPr>
          <p:spPr>
            <a:xfrm>
              <a:off x="746" y="948"/>
              <a:ext cx="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2" name="Rectangle 9"/>
            <p:cNvSpPr/>
            <p:nvPr/>
          </p:nvSpPr>
          <p:spPr>
            <a:xfrm>
              <a:off x="970" y="948"/>
              <a:ext cx="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3" name="Rectangle 10"/>
            <p:cNvSpPr/>
            <p:nvPr/>
          </p:nvSpPr>
          <p:spPr>
            <a:xfrm>
              <a:off x="1474" y="948"/>
              <a:ext cx="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4" name="Rectangle 11"/>
            <p:cNvSpPr/>
            <p:nvPr/>
          </p:nvSpPr>
          <p:spPr>
            <a:xfrm>
              <a:off x="1616" y="948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5" name="Rectangle 12"/>
            <p:cNvSpPr/>
            <p:nvPr/>
          </p:nvSpPr>
          <p:spPr>
            <a:xfrm>
              <a:off x="1728" y="948"/>
              <a:ext cx="22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若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0906" name="Group 15"/>
            <p:cNvGrpSpPr/>
            <p:nvPr/>
          </p:nvGrpSpPr>
          <p:grpSpPr>
            <a:xfrm>
              <a:off x="1962" y="953"/>
              <a:ext cx="167" cy="304"/>
              <a:chOff x="1962" y="953"/>
              <a:chExt cx="167" cy="304"/>
            </a:xfrm>
          </p:grpSpPr>
          <p:sp>
            <p:nvSpPr>
              <p:cNvPr id="80907" name="Rectangle 13"/>
              <p:cNvSpPr/>
              <p:nvPr/>
            </p:nvSpPr>
            <p:spPr>
              <a:xfrm>
                <a:off x="2087" y="1073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08" name="Rectangle 14"/>
              <p:cNvSpPr/>
              <p:nvPr/>
            </p:nvSpPr>
            <p:spPr>
              <a:xfrm>
                <a:off x="1962" y="953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09" name="Rectangle 16"/>
            <p:cNvSpPr/>
            <p:nvPr/>
          </p:nvSpPr>
          <p:spPr>
            <a:xfrm>
              <a:off x="2148" y="948"/>
              <a:ext cx="67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满足线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0910" name="Rectangle 17"/>
            <p:cNvSpPr/>
            <p:nvPr/>
          </p:nvSpPr>
          <p:spPr>
            <a:xfrm>
              <a:off x="2822" y="948"/>
              <a:ext cx="67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性方程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0911" name="Rectangle 18"/>
            <p:cNvSpPr/>
            <p:nvPr/>
          </p:nvSpPr>
          <p:spPr>
            <a:xfrm>
              <a:off x="3493" y="948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0912" name="Group 27"/>
            <p:cNvGrpSpPr/>
            <p:nvPr/>
          </p:nvGrpSpPr>
          <p:grpSpPr>
            <a:xfrm>
              <a:off x="2016" y="1302"/>
              <a:ext cx="895" cy="329"/>
              <a:chOff x="2016" y="1302"/>
              <a:chExt cx="895" cy="329"/>
            </a:xfrm>
          </p:grpSpPr>
          <p:sp>
            <p:nvSpPr>
              <p:cNvPr id="80913" name="Rectangle 19"/>
              <p:cNvSpPr/>
              <p:nvPr/>
            </p:nvSpPr>
            <p:spPr>
              <a:xfrm>
                <a:off x="2869" y="1447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4" name="Rectangle 20"/>
              <p:cNvSpPr/>
              <p:nvPr/>
            </p:nvSpPr>
            <p:spPr>
              <a:xfrm>
                <a:off x="2346" y="1447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5" name="Rectangle 21"/>
              <p:cNvSpPr/>
              <p:nvPr/>
            </p:nvSpPr>
            <p:spPr>
              <a:xfrm>
                <a:off x="2776" y="1327"/>
                <a:ext cx="6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6" name="Rectangle 22"/>
              <p:cNvSpPr/>
              <p:nvPr/>
            </p:nvSpPr>
            <p:spPr>
              <a:xfrm>
                <a:off x="2219" y="1327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7" name="Rectangle 23"/>
              <p:cNvSpPr/>
              <p:nvPr/>
            </p:nvSpPr>
            <p:spPr>
              <a:xfrm>
                <a:off x="2016" y="1327"/>
                <a:ext cx="12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8" name="Rectangle 24"/>
              <p:cNvSpPr/>
              <p:nvPr/>
            </p:nvSpPr>
            <p:spPr>
              <a:xfrm>
                <a:off x="2544" y="1302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9" name="Rectangle 25"/>
              <p:cNvSpPr/>
              <p:nvPr/>
            </p:nvSpPr>
            <p:spPr>
              <a:xfrm>
                <a:off x="2427" y="1324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]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0" name="Rectangle 26"/>
              <p:cNvSpPr/>
              <p:nvPr/>
            </p:nvSpPr>
            <p:spPr>
              <a:xfrm>
                <a:off x="2139" y="1324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[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21" name="Rectangle 28"/>
            <p:cNvSpPr/>
            <p:nvPr/>
          </p:nvSpPr>
          <p:spPr>
            <a:xfrm>
              <a:off x="2938" y="1322"/>
              <a:ext cx="2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0922" name="Group 38"/>
            <p:cNvGrpSpPr/>
            <p:nvPr/>
          </p:nvGrpSpPr>
          <p:grpSpPr>
            <a:xfrm>
              <a:off x="3175" y="1265"/>
              <a:ext cx="1063" cy="328"/>
              <a:chOff x="3175" y="1265"/>
              <a:chExt cx="1063" cy="328"/>
            </a:xfrm>
          </p:grpSpPr>
          <p:sp>
            <p:nvSpPr>
              <p:cNvPr id="80923" name="Rectangle 29"/>
              <p:cNvSpPr/>
              <p:nvPr/>
            </p:nvSpPr>
            <p:spPr>
              <a:xfrm>
                <a:off x="4125" y="1322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4" name="Rectangle 30"/>
              <p:cNvSpPr/>
              <p:nvPr/>
            </p:nvSpPr>
            <p:spPr>
              <a:xfrm>
                <a:off x="3175" y="1322"/>
                <a:ext cx="6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5" name="Rectangle 31"/>
              <p:cNvSpPr/>
              <p:nvPr/>
            </p:nvSpPr>
            <p:spPr>
              <a:xfrm>
                <a:off x="4043" y="1319"/>
                <a:ext cx="5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6" name="Rectangle 32"/>
              <p:cNvSpPr/>
              <p:nvPr/>
            </p:nvSpPr>
            <p:spPr>
              <a:xfrm>
                <a:off x="3749" y="1319"/>
                <a:ext cx="5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7" name="Rectangle 33"/>
              <p:cNvSpPr/>
              <p:nvPr/>
            </p:nvSpPr>
            <p:spPr>
              <a:xfrm>
                <a:off x="3636" y="1319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8" name="Rectangle 34"/>
              <p:cNvSpPr/>
              <p:nvPr/>
            </p:nvSpPr>
            <p:spPr>
              <a:xfrm>
                <a:off x="3577" y="1319"/>
                <a:ext cx="5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9" name="Rectangle 35"/>
              <p:cNvSpPr/>
              <p:nvPr/>
            </p:nvSpPr>
            <p:spPr>
              <a:xfrm>
                <a:off x="3471" y="1319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0" name="Rectangle 36"/>
              <p:cNvSpPr/>
              <p:nvPr/>
            </p:nvSpPr>
            <p:spPr>
              <a:xfrm>
                <a:off x="3810" y="1265"/>
                <a:ext cx="22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MT Extra" panose="05050102010205020202" pitchFamily="18" charset="2"/>
                    <a:ea typeface="宋体" panose="02010600030101010101" pitchFamily="2" charset="-122"/>
                  </a:rPr>
                  <a:t>L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1" name="Rectangle 37"/>
              <p:cNvSpPr/>
              <p:nvPr/>
            </p:nvSpPr>
            <p:spPr>
              <a:xfrm>
                <a:off x="3302" y="1299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32" name="Rectangle 39"/>
            <p:cNvSpPr/>
            <p:nvPr/>
          </p:nvSpPr>
          <p:spPr>
            <a:xfrm>
              <a:off x="4260" y="1322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33" name="Rectangle 40"/>
            <p:cNvSpPr/>
            <p:nvPr/>
          </p:nvSpPr>
          <p:spPr>
            <a:xfrm>
              <a:off x="521" y="1697"/>
              <a:ext cx="13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（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或定解条件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0934" name="Group 49"/>
            <p:cNvGrpSpPr/>
            <p:nvPr/>
          </p:nvGrpSpPr>
          <p:grpSpPr>
            <a:xfrm>
              <a:off x="1886" y="1677"/>
              <a:ext cx="914" cy="328"/>
              <a:chOff x="1886" y="1677"/>
              <a:chExt cx="914" cy="328"/>
            </a:xfrm>
          </p:grpSpPr>
          <p:sp>
            <p:nvSpPr>
              <p:cNvPr id="80935" name="Rectangle 41"/>
              <p:cNvSpPr/>
              <p:nvPr/>
            </p:nvSpPr>
            <p:spPr>
              <a:xfrm>
                <a:off x="2758" y="1821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6" name="Rectangle 42"/>
              <p:cNvSpPr/>
              <p:nvPr/>
            </p:nvSpPr>
            <p:spPr>
              <a:xfrm>
                <a:off x="2236" y="1821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7" name="Rectangle 43"/>
              <p:cNvSpPr/>
              <p:nvPr/>
            </p:nvSpPr>
            <p:spPr>
              <a:xfrm>
                <a:off x="2635" y="1702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8" name="Rectangle 44"/>
              <p:cNvSpPr/>
              <p:nvPr/>
            </p:nvSpPr>
            <p:spPr>
              <a:xfrm>
                <a:off x="2110" y="1702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9" name="Rectangle 45"/>
              <p:cNvSpPr/>
              <p:nvPr/>
            </p:nvSpPr>
            <p:spPr>
              <a:xfrm>
                <a:off x="1886" y="1702"/>
                <a:ext cx="138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40" name="Rectangle 46"/>
              <p:cNvSpPr/>
              <p:nvPr/>
            </p:nvSpPr>
            <p:spPr>
              <a:xfrm>
                <a:off x="2434" y="1677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41" name="Rectangle 47"/>
              <p:cNvSpPr/>
              <p:nvPr/>
            </p:nvSpPr>
            <p:spPr>
              <a:xfrm>
                <a:off x="2317" y="1699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]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42" name="Rectangle 48"/>
              <p:cNvSpPr/>
              <p:nvPr/>
            </p:nvSpPr>
            <p:spPr>
              <a:xfrm>
                <a:off x="2029" y="1699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[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43" name="Rectangle 50"/>
            <p:cNvSpPr/>
            <p:nvPr/>
          </p:nvSpPr>
          <p:spPr>
            <a:xfrm>
              <a:off x="2825" y="1697"/>
              <a:ext cx="452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），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4" name="Rectangle 51"/>
            <p:cNvSpPr/>
            <p:nvPr/>
          </p:nvSpPr>
          <p:spPr>
            <a:xfrm>
              <a:off x="3162" y="1826"/>
              <a:ext cx="22" cy="1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1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0945" name="Group 53"/>
          <p:cNvGrpSpPr>
            <a:grpSpLocks noChangeAspect="1"/>
          </p:cNvGrpSpPr>
          <p:nvPr/>
        </p:nvGrpSpPr>
        <p:grpSpPr>
          <a:xfrm>
            <a:off x="2279650" y="3213099"/>
            <a:ext cx="7747000" cy="2971800"/>
            <a:chOff x="476" y="2024"/>
            <a:chExt cx="4880" cy="1872"/>
          </a:xfrm>
        </p:grpSpPr>
        <p:sp>
          <p:nvSpPr>
            <p:cNvPr id="80946" name="AutoShape 52"/>
            <p:cNvSpPr>
              <a:spLocks noChangeAspect="1" noTextEdit="1"/>
            </p:cNvSpPr>
            <p:nvPr/>
          </p:nvSpPr>
          <p:spPr>
            <a:xfrm>
              <a:off x="476" y="2024"/>
              <a:ext cx="4764" cy="18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7" name="Rectangle 54"/>
            <p:cNvSpPr/>
            <p:nvPr/>
          </p:nvSpPr>
          <p:spPr>
            <a:xfrm>
              <a:off x="476" y="2191"/>
              <a:ext cx="2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0948" name="Group 66"/>
            <p:cNvGrpSpPr/>
            <p:nvPr/>
          </p:nvGrpSpPr>
          <p:grpSpPr>
            <a:xfrm>
              <a:off x="713" y="2066"/>
              <a:ext cx="932" cy="563"/>
              <a:chOff x="713" y="2066"/>
              <a:chExt cx="932" cy="563"/>
            </a:xfrm>
          </p:grpSpPr>
          <p:sp>
            <p:nvSpPr>
              <p:cNvPr id="80949" name="Rectangle 55"/>
              <p:cNvSpPr/>
              <p:nvPr/>
            </p:nvSpPr>
            <p:spPr>
              <a:xfrm>
                <a:off x="1107" y="2184"/>
                <a:ext cx="162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å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0" name="Rectangle 56"/>
              <p:cNvSpPr/>
              <p:nvPr/>
            </p:nvSpPr>
            <p:spPr>
              <a:xfrm>
                <a:off x="893" y="2170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1" name="Rectangle 57"/>
              <p:cNvSpPr/>
              <p:nvPr/>
            </p:nvSpPr>
            <p:spPr>
              <a:xfrm>
                <a:off x="1141" y="2429"/>
                <a:ext cx="84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2" name="Rectangle 58"/>
              <p:cNvSpPr/>
              <p:nvPr/>
            </p:nvSpPr>
            <p:spPr>
              <a:xfrm>
                <a:off x="1148" y="2066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3" name="Rectangle 59"/>
              <p:cNvSpPr/>
              <p:nvPr/>
            </p:nvSpPr>
            <p:spPr>
              <a:xfrm>
                <a:off x="1081" y="2445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4" name="Rectangle 60"/>
              <p:cNvSpPr/>
              <p:nvPr/>
            </p:nvSpPr>
            <p:spPr>
              <a:xfrm>
                <a:off x="1603" y="2314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5" name="Rectangle 61"/>
              <p:cNvSpPr/>
              <p:nvPr/>
            </p:nvSpPr>
            <p:spPr>
              <a:xfrm>
                <a:off x="1409" y="2314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6" name="Rectangle 62"/>
              <p:cNvSpPr/>
              <p:nvPr/>
            </p:nvSpPr>
            <p:spPr>
              <a:xfrm>
                <a:off x="1476" y="2194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7" name="Rectangle 63"/>
              <p:cNvSpPr/>
              <p:nvPr/>
            </p:nvSpPr>
            <p:spPr>
              <a:xfrm>
                <a:off x="1300" y="2194"/>
                <a:ext cx="10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8" name="Rectangle 64"/>
              <p:cNvSpPr/>
              <p:nvPr/>
            </p:nvSpPr>
            <p:spPr>
              <a:xfrm>
                <a:off x="713" y="2194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9" name="Rectangle 65"/>
              <p:cNvSpPr/>
              <p:nvPr/>
            </p:nvSpPr>
            <p:spPr>
              <a:xfrm>
                <a:off x="1229" y="2443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60" name="Rectangle 67"/>
            <p:cNvSpPr/>
            <p:nvPr/>
          </p:nvSpPr>
          <p:spPr>
            <a:xfrm>
              <a:off x="1691" y="2191"/>
              <a:ext cx="90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满足方程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0961" name="Rectangle 68"/>
            <p:cNvSpPr/>
            <p:nvPr/>
          </p:nvSpPr>
          <p:spPr>
            <a:xfrm>
              <a:off x="2590" y="2191"/>
              <a:ext cx="21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62" name="Rectangle 69"/>
            <p:cNvSpPr/>
            <p:nvPr/>
          </p:nvSpPr>
          <p:spPr>
            <a:xfrm>
              <a:off x="2924" y="2191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0963" name="Group 84"/>
            <p:cNvGrpSpPr/>
            <p:nvPr/>
          </p:nvGrpSpPr>
          <p:grpSpPr>
            <a:xfrm>
              <a:off x="2242" y="2688"/>
              <a:ext cx="1209" cy="563"/>
              <a:chOff x="2242" y="2688"/>
              <a:chExt cx="1209" cy="563"/>
            </a:xfrm>
          </p:grpSpPr>
          <p:sp>
            <p:nvSpPr>
              <p:cNvPr id="80964" name="Rectangle 70"/>
              <p:cNvSpPr/>
              <p:nvPr/>
            </p:nvSpPr>
            <p:spPr>
              <a:xfrm>
                <a:off x="2902" y="2806"/>
                <a:ext cx="162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å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65" name="Rectangle 71"/>
              <p:cNvSpPr/>
              <p:nvPr/>
            </p:nvSpPr>
            <p:spPr>
              <a:xfrm>
                <a:off x="2688" y="2792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66" name="Rectangle 72"/>
              <p:cNvSpPr/>
              <p:nvPr/>
            </p:nvSpPr>
            <p:spPr>
              <a:xfrm>
                <a:off x="2935" y="3051"/>
                <a:ext cx="84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67" name="Rectangle 73"/>
              <p:cNvSpPr/>
              <p:nvPr/>
            </p:nvSpPr>
            <p:spPr>
              <a:xfrm>
                <a:off x="2942" y="2688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68" name="Rectangle 74"/>
              <p:cNvSpPr/>
              <p:nvPr/>
            </p:nvSpPr>
            <p:spPr>
              <a:xfrm>
                <a:off x="2876" y="3067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69" name="Rectangle 75"/>
              <p:cNvSpPr/>
              <p:nvPr/>
            </p:nvSpPr>
            <p:spPr>
              <a:xfrm>
                <a:off x="3409" y="2936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0" name="Rectangle 76"/>
              <p:cNvSpPr/>
              <p:nvPr/>
            </p:nvSpPr>
            <p:spPr>
              <a:xfrm>
                <a:off x="3204" y="2936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1" name="Rectangle 77"/>
              <p:cNvSpPr/>
              <p:nvPr/>
            </p:nvSpPr>
            <p:spPr>
              <a:xfrm>
                <a:off x="3317" y="2816"/>
                <a:ext cx="6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2" name="Rectangle 78"/>
              <p:cNvSpPr/>
              <p:nvPr/>
            </p:nvSpPr>
            <p:spPr>
              <a:xfrm>
                <a:off x="3095" y="2816"/>
                <a:ext cx="10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3" name="Rectangle 79"/>
              <p:cNvSpPr/>
              <p:nvPr/>
            </p:nvSpPr>
            <p:spPr>
              <a:xfrm>
                <a:off x="2445" y="2816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4" name="Rectangle 80"/>
              <p:cNvSpPr/>
              <p:nvPr/>
            </p:nvSpPr>
            <p:spPr>
              <a:xfrm>
                <a:off x="2242" y="2816"/>
                <a:ext cx="12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5" name="Rectangle 81"/>
              <p:cNvSpPr/>
              <p:nvPr/>
            </p:nvSpPr>
            <p:spPr>
              <a:xfrm>
                <a:off x="3024" y="3065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6" name="Rectangle 82"/>
              <p:cNvSpPr/>
              <p:nvPr/>
            </p:nvSpPr>
            <p:spPr>
              <a:xfrm>
                <a:off x="2571" y="2813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]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7" name="Rectangle 83"/>
              <p:cNvSpPr/>
              <p:nvPr/>
            </p:nvSpPr>
            <p:spPr>
              <a:xfrm>
                <a:off x="2364" y="2813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[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78" name="Rectangle 85"/>
            <p:cNvSpPr/>
            <p:nvPr/>
          </p:nvSpPr>
          <p:spPr>
            <a:xfrm>
              <a:off x="3497" y="2814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79" name="Rectangle 86"/>
            <p:cNvSpPr/>
            <p:nvPr/>
          </p:nvSpPr>
          <p:spPr>
            <a:xfrm>
              <a:off x="476" y="3438"/>
              <a:ext cx="13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（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或定解条件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0980" name="Group 101"/>
            <p:cNvGrpSpPr/>
            <p:nvPr/>
          </p:nvGrpSpPr>
          <p:grpSpPr>
            <a:xfrm>
              <a:off x="1841" y="3313"/>
              <a:ext cx="1220" cy="563"/>
              <a:chOff x="1841" y="3313"/>
              <a:chExt cx="1220" cy="563"/>
            </a:xfrm>
          </p:grpSpPr>
          <p:sp>
            <p:nvSpPr>
              <p:cNvPr id="80981" name="Rectangle 87"/>
              <p:cNvSpPr/>
              <p:nvPr/>
            </p:nvSpPr>
            <p:spPr>
              <a:xfrm>
                <a:off x="2510" y="3431"/>
                <a:ext cx="162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å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2" name="Rectangle 88"/>
              <p:cNvSpPr/>
              <p:nvPr/>
            </p:nvSpPr>
            <p:spPr>
              <a:xfrm>
                <a:off x="2301" y="3417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3" name="Rectangle 89"/>
              <p:cNvSpPr/>
              <p:nvPr/>
            </p:nvSpPr>
            <p:spPr>
              <a:xfrm>
                <a:off x="2543" y="3676"/>
                <a:ext cx="84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4" name="Rectangle 90"/>
              <p:cNvSpPr/>
              <p:nvPr/>
            </p:nvSpPr>
            <p:spPr>
              <a:xfrm>
                <a:off x="2550" y="3313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5" name="Rectangle 91"/>
              <p:cNvSpPr/>
              <p:nvPr/>
            </p:nvSpPr>
            <p:spPr>
              <a:xfrm>
                <a:off x="2482" y="3692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6" name="Rectangle 92"/>
              <p:cNvSpPr/>
              <p:nvPr/>
            </p:nvSpPr>
            <p:spPr>
              <a:xfrm>
                <a:off x="3019" y="3561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7" name="Rectangle 93"/>
              <p:cNvSpPr/>
              <p:nvPr/>
            </p:nvSpPr>
            <p:spPr>
              <a:xfrm>
                <a:off x="2813" y="3561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8" name="Rectangle 94"/>
              <p:cNvSpPr/>
              <p:nvPr/>
            </p:nvSpPr>
            <p:spPr>
              <a:xfrm>
                <a:off x="2895" y="3441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9" name="Rectangle 95"/>
              <p:cNvSpPr/>
              <p:nvPr/>
            </p:nvSpPr>
            <p:spPr>
              <a:xfrm>
                <a:off x="2704" y="3441"/>
                <a:ext cx="10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90" name="Rectangle 96"/>
              <p:cNvSpPr/>
              <p:nvPr/>
            </p:nvSpPr>
            <p:spPr>
              <a:xfrm>
                <a:off x="2065" y="3441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91" name="Rectangle 97"/>
              <p:cNvSpPr/>
              <p:nvPr/>
            </p:nvSpPr>
            <p:spPr>
              <a:xfrm>
                <a:off x="1841" y="3441"/>
                <a:ext cx="138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92" name="Rectangle 98"/>
              <p:cNvSpPr/>
              <p:nvPr/>
            </p:nvSpPr>
            <p:spPr>
              <a:xfrm>
                <a:off x="2631" y="3690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93" name="Rectangle 99"/>
              <p:cNvSpPr/>
              <p:nvPr/>
            </p:nvSpPr>
            <p:spPr>
              <a:xfrm>
                <a:off x="2191" y="3438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]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94" name="Rectangle 100"/>
              <p:cNvSpPr/>
              <p:nvPr/>
            </p:nvSpPr>
            <p:spPr>
              <a:xfrm>
                <a:off x="1984" y="3438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[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95" name="Rectangle 102"/>
            <p:cNvSpPr/>
            <p:nvPr/>
          </p:nvSpPr>
          <p:spPr>
            <a:xfrm>
              <a:off x="3109" y="3438"/>
              <a:ext cx="2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）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96" name="Rectangle 103"/>
            <p:cNvSpPr/>
            <p:nvPr/>
          </p:nvSpPr>
          <p:spPr>
            <a:xfrm>
              <a:off x="3221" y="3438"/>
              <a:ext cx="2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97" name="Rectangle 104"/>
            <p:cNvSpPr/>
            <p:nvPr/>
          </p:nvSpPr>
          <p:spPr>
            <a:xfrm>
              <a:off x="3376" y="3438"/>
              <a:ext cx="45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0998" name="Group 107"/>
            <p:cNvGrpSpPr/>
            <p:nvPr/>
          </p:nvGrpSpPr>
          <p:grpSpPr>
            <a:xfrm>
              <a:off x="3832" y="3443"/>
              <a:ext cx="149" cy="304"/>
              <a:chOff x="3832" y="3443"/>
              <a:chExt cx="149" cy="304"/>
            </a:xfrm>
          </p:grpSpPr>
          <p:sp>
            <p:nvSpPr>
              <p:cNvPr id="80999" name="Rectangle 105"/>
              <p:cNvSpPr/>
              <p:nvPr/>
            </p:nvSpPr>
            <p:spPr>
              <a:xfrm>
                <a:off x="3939" y="3563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000" name="Rectangle 106"/>
              <p:cNvSpPr/>
              <p:nvPr/>
            </p:nvSpPr>
            <p:spPr>
              <a:xfrm>
                <a:off x="3832" y="3443"/>
                <a:ext cx="10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1001" name="Rectangle 108"/>
            <p:cNvSpPr/>
            <p:nvPr/>
          </p:nvSpPr>
          <p:spPr>
            <a:xfrm>
              <a:off x="4007" y="3438"/>
              <a:ext cx="13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为任意常数。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1002" name="Rectangle 109"/>
            <p:cNvSpPr/>
            <p:nvPr/>
          </p:nvSpPr>
          <p:spPr>
            <a:xfrm>
              <a:off x="5240" y="3438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1003" name="AutoShape 112"/>
          <p:cNvSpPr/>
          <p:nvPr/>
        </p:nvSpPr>
        <p:spPr>
          <a:xfrm>
            <a:off x="1847851" y="4365625"/>
            <a:ext cx="1800225" cy="863600"/>
          </a:xfrm>
          <a:prstGeom prst="cloudCallout">
            <a:avLst>
              <a:gd name="adj1" fmla="val 65875"/>
              <a:gd name="adj2" fmla="val -92829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sz="2000" dirty="0">
                <a:latin typeface="Arial" panose="020B0604020202020204" pitchFamily="34" charset="0"/>
                <a:ea typeface="方正毡笔黑简体" pitchFamily="65" charset="-122"/>
              </a:rPr>
              <a:t>线性组合</a:t>
            </a:r>
            <a:endParaRPr lang="zh-CN" altLang="en-US" sz="2000" dirty="0">
              <a:latin typeface="Arial" panose="020B0604020202020204" pitchFamily="34" charset="0"/>
              <a:ea typeface="方正毡笔黑简体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/>
          <p:nvPr/>
        </p:nvSpPr>
        <p:spPr>
          <a:xfrm>
            <a:off x="2208214" y="765176"/>
            <a:ext cx="486568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热传导方程的叠加定理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61900" name="Object 108"/>
          <p:cNvGraphicFramePr>
            <a:graphicFrameLocks noChangeAspect="1"/>
          </p:cNvGraphicFramePr>
          <p:nvPr/>
        </p:nvGraphicFramePr>
        <p:xfrm>
          <a:off x="2566989" y="1484314"/>
          <a:ext cx="8607425" cy="377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6793230" imgH="2989580" progId="Word.Document.8">
                  <p:embed/>
                </p:oleObj>
              </mc:Choice>
              <mc:Fallback>
                <p:oleObj name="" r:id="rId1" imgW="6793230" imgH="2989580" progId="Word.Document.8">
                  <p:embed/>
                  <p:pic>
                    <p:nvPicPr>
                      <p:cNvPr id="0" name="Object 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6989" y="1484314"/>
                        <a:ext cx="8607425" cy="3773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902" name="Rectangle 110"/>
          <p:cNvSpPr/>
          <p:nvPr/>
        </p:nvSpPr>
        <p:spPr>
          <a:xfrm>
            <a:off x="2424113" y="5084763"/>
            <a:ext cx="7200900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即：如果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800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x,t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是方程的解，则它的无限线性组合仍然是方程的解。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16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/>
      <p:bldP spid="16190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/>
          <p:nvPr/>
        </p:nvSpPr>
        <p:spPr>
          <a:xfrm>
            <a:off x="2208213" y="765176"/>
            <a:ext cx="27225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三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叠加定理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82946" name="Group 108"/>
          <p:cNvGrpSpPr/>
          <p:nvPr/>
        </p:nvGrpSpPr>
        <p:grpSpPr>
          <a:xfrm>
            <a:off x="1919289" y="1268413"/>
            <a:ext cx="8570914" cy="3084512"/>
            <a:chOff x="0" y="0"/>
            <a:chExt cx="5399" cy="1943"/>
          </a:xfrm>
        </p:grpSpPr>
        <p:sp>
          <p:nvSpPr>
            <p:cNvPr id="82947" name="AutoShape 109"/>
            <p:cNvSpPr>
              <a:spLocks noChangeAspect="1" noTextEdit="1"/>
            </p:cNvSpPr>
            <p:nvPr/>
          </p:nvSpPr>
          <p:spPr>
            <a:xfrm>
              <a:off x="0" y="0"/>
              <a:ext cx="4944" cy="19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48" name="Rectangle 110"/>
            <p:cNvSpPr/>
            <p:nvPr/>
          </p:nvSpPr>
          <p:spPr>
            <a:xfrm>
              <a:off x="0" y="138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2949" name="Rectangle 111"/>
            <p:cNvSpPr/>
            <p:nvPr/>
          </p:nvSpPr>
          <p:spPr>
            <a:xfrm>
              <a:off x="918" y="138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2950" name="Rectangle 112"/>
            <p:cNvSpPr/>
            <p:nvPr/>
          </p:nvSpPr>
          <p:spPr>
            <a:xfrm>
              <a:off x="1055" y="138"/>
              <a:ext cx="7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2951" name="Rectangle 113"/>
            <p:cNvSpPr/>
            <p:nvPr/>
          </p:nvSpPr>
          <p:spPr>
            <a:xfrm>
              <a:off x="1163" y="138"/>
              <a:ext cx="22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若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2952" name="Group 114"/>
            <p:cNvGrpSpPr/>
            <p:nvPr/>
          </p:nvGrpSpPr>
          <p:grpSpPr>
            <a:xfrm>
              <a:off x="1388" y="129"/>
              <a:ext cx="174" cy="316"/>
              <a:chOff x="0" y="0"/>
              <a:chExt cx="174" cy="316"/>
            </a:xfrm>
          </p:grpSpPr>
          <p:sp>
            <p:nvSpPr>
              <p:cNvPr id="82953" name="Rectangle 115"/>
              <p:cNvSpPr/>
              <p:nvPr/>
            </p:nvSpPr>
            <p:spPr>
              <a:xfrm>
                <a:off x="130" y="124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54" name="Rectangle 116"/>
              <p:cNvSpPr/>
              <p:nvPr/>
            </p:nvSpPr>
            <p:spPr>
              <a:xfrm>
                <a:off x="0" y="0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82955" name="Rectangle 117"/>
            <p:cNvSpPr/>
            <p:nvPr/>
          </p:nvSpPr>
          <p:spPr>
            <a:xfrm>
              <a:off x="1581" y="138"/>
              <a:ext cx="11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满足线性方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2956" name="Rectangle 118"/>
            <p:cNvSpPr/>
            <p:nvPr/>
          </p:nvSpPr>
          <p:spPr>
            <a:xfrm>
              <a:off x="2660" y="138"/>
              <a:ext cx="2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程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2957" name="Rectangle 119"/>
            <p:cNvSpPr/>
            <p:nvPr/>
          </p:nvSpPr>
          <p:spPr>
            <a:xfrm>
              <a:off x="2876" y="138"/>
              <a:ext cx="7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82958" name="Group 120"/>
            <p:cNvGrpSpPr/>
            <p:nvPr/>
          </p:nvGrpSpPr>
          <p:grpSpPr>
            <a:xfrm>
              <a:off x="1444" y="554"/>
              <a:ext cx="929" cy="342"/>
              <a:chOff x="0" y="0"/>
              <a:chExt cx="929" cy="342"/>
            </a:xfrm>
          </p:grpSpPr>
          <p:sp>
            <p:nvSpPr>
              <p:cNvPr id="82959" name="Rectangle 121"/>
              <p:cNvSpPr/>
              <p:nvPr/>
            </p:nvSpPr>
            <p:spPr>
              <a:xfrm>
                <a:off x="885" y="150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0" name="Rectangle 122"/>
              <p:cNvSpPr/>
              <p:nvPr/>
            </p:nvSpPr>
            <p:spPr>
              <a:xfrm>
                <a:off x="342" y="150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1" name="Rectangle 123"/>
              <p:cNvSpPr/>
              <p:nvPr/>
            </p:nvSpPr>
            <p:spPr>
              <a:xfrm>
                <a:off x="789" y="25"/>
                <a:ext cx="65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f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2" name="Rectangle 124"/>
              <p:cNvSpPr/>
              <p:nvPr/>
            </p:nvSpPr>
            <p:spPr>
              <a:xfrm>
                <a:off x="211" y="25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3" name="Rectangle 125"/>
              <p:cNvSpPr/>
              <p:nvPr/>
            </p:nvSpPr>
            <p:spPr>
              <a:xfrm>
                <a:off x="0" y="25"/>
                <a:ext cx="130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L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4" name="Rectangle 126"/>
              <p:cNvSpPr/>
              <p:nvPr/>
            </p:nvSpPr>
            <p:spPr>
              <a:xfrm>
                <a:off x="548" y="0"/>
                <a:ext cx="12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=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5" name="Rectangle 127"/>
              <p:cNvSpPr/>
              <p:nvPr/>
            </p:nvSpPr>
            <p:spPr>
              <a:xfrm>
                <a:off x="427" y="22"/>
                <a:ext cx="7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]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6" name="Rectangle 128"/>
              <p:cNvSpPr/>
              <p:nvPr/>
            </p:nvSpPr>
            <p:spPr>
              <a:xfrm>
                <a:off x="127" y="22"/>
                <a:ext cx="7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[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82967" name="Rectangle 129"/>
            <p:cNvSpPr/>
            <p:nvPr/>
          </p:nvSpPr>
          <p:spPr>
            <a:xfrm>
              <a:off x="2400" y="589"/>
              <a:ext cx="218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82968" name="Group 130"/>
            <p:cNvGrpSpPr/>
            <p:nvPr/>
          </p:nvGrpSpPr>
          <p:grpSpPr>
            <a:xfrm>
              <a:off x="2628" y="514"/>
              <a:ext cx="951" cy="341"/>
              <a:chOff x="0" y="0"/>
              <a:chExt cx="951" cy="341"/>
            </a:xfrm>
          </p:grpSpPr>
          <p:sp>
            <p:nvSpPr>
              <p:cNvPr id="82969" name="Rectangle 131"/>
              <p:cNvSpPr/>
              <p:nvPr/>
            </p:nvSpPr>
            <p:spPr>
              <a:xfrm>
                <a:off x="664" y="0"/>
                <a:ext cx="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endParaRPr lang="zh-CN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0" name="Rectangle 132"/>
              <p:cNvSpPr/>
              <p:nvPr/>
            </p:nvSpPr>
            <p:spPr>
              <a:xfrm>
                <a:off x="600" y="57"/>
                <a:ext cx="351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, …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1" name="Rectangle 133"/>
              <p:cNvSpPr/>
              <p:nvPr/>
            </p:nvSpPr>
            <p:spPr>
              <a:xfrm>
                <a:off x="483" y="57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2" name="Rectangle 134"/>
              <p:cNvSpPr/>
              <p:nvPr/>
            </p:nvSpPr>
            <p:spPr>
              <a:xfrm>
                <a:off x="421" y="57"/>
                <a:ext cx="59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,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3" name="Rectangle 135"/>
              <p:cNvSpPr/>
              <p:nvPr/>
            </p:nvSpPr>
            <p:spPr>
              <a:xfrm>
                <a:off x="312" y="57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4" name="Rectangle 136"/>
              <p:cNvSpPr/>
              <p:nvPr/>
            </p:nvSpPr>
            <p:spPr>
              <a:xfrm>
                <a:off x="134" y="35"/>
                <a:ext cx="12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=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5" name="Rectangle 137"/>
              <p:cNvSpPr/>
              <p:nvPr/>
            </p:nvSpPr>
            <p:spPr>
              <a:xfrm>
                <a:off x="0" y="60"/>
                <a:ext cx="65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82976" name="Rectangle 138"/>
            <p:cNvSpPr/>
            <p:nvPr/>
          </p:nvSpPr>
          <p:spPr>
            <a:xfrm>
              <a:off x="3521" y="589"/>
              <a:ext cx="7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2977" name="Rectangle 139"/>
            <p:cNvSpPr/>
            <p:nvPr/>
          </p:nvSpPr>
          <p:spPr>
            <a:xfrm>
              <a:off x="0" y="1094"/>
              <a:ext cx="1309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（或定解条件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82978" name="Group 140"/>
            <p:cNvGrpSpPr/>
            <p:nvPr/>
          </p:nvGrpSpPr>
          <p:grpSpPr>
            <a:xfrm>
              <a:off x="1315" y="1059"/>
              <a:ext cx="949" cy="342"/>
              <a:chOff x="0" y="0"/>
              <a:chExt cx="949" cy="342"/>
            </a:xfrm>
          </p:grpSpPr>
          <p:sp>
            <p:nvSpPr>
              <p:cNvPr id="82979" name="Rectangle 141"/>
              <p:cNvSpPr/>
              <p:nvPr/>
            </p:nvSpPr>
            <p:spPr>
              <a:xfrm>
                <a:off x="905" y="150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0" name="Rectangle 142"/>
              <p:cNvSpPr/>
              <p:nvPr/>
            </p:nvSpPr>
            <p:spPr>
              <a:xfrm>
                <a:off x="363" y="150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1" name="Rectangle 143"/>
              <p:cNvSpPr/>
              <p:nvPr/>
            </p:nvSpPr>
            <p:spPr>
              <a:xfrm>
                <a:off x="777" y="25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g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2" name="Rectangle 144"/>
              <p:cNvSpPr/>
              <p:nvPr/>
            </p:nvSpPr>
            <p:spPr>
              <a:xfrm>
                <a:off x="232" y="25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3" name="Rectangle 145"/>
              <p:cNvSpPr/>
              <p:nvPr/>
            </p:nvSpPr>
            <p:spPr>
              <a:xfrm>
                <a:off x="0" y="25"/>
                <a:ext cx="143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B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4" name="Rectangle 146"/>
              <p:cNvSpPr/>
              <p:nvPr/>
            </p:nvSpPr>
            <p:spPr>
              <a:xfrm>
                <a:off x="569" y="0"/>
                <a:ext cx="12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=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5" name="Rectangle 147"/>
              <p:cNvSpPr/>
              <p:nvPr/>
            </p:nvSpPr>
            <p:spPr>
              <a:xfrm>
                <a:off x="448" y="22"/>
                <a:ext cx="7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]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6" name="Rectangle 148"/>
              <p:cNvSpPr/>
              <p:nvPr/>
            </p:nvSpPr>
            <p:spPr>
              <a:xfrm>
                <a:off x="148" y="22"/>
                <a:ext cx="7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[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82987" name="Rectangle 149"/>
            <p:cNvSpPr/>
            <p:nvPr/>
          </p:nvSpPr>
          <p:spPr>
            <a:xfrm>
              <a:off x="2290" y="1094"/>
              <a:ext cx="123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, </a:t>
              </a:r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若函数级数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82988" name="Group 150"/>
            <p:cNvGrpSpPr/>
            <p:nvPr/>
          </p:nvGrpSpPr>
          <p:grpSpPr>
            <a:xfrm>
              <a:off x="3670" y="934"/>
              <a:ext cx="587" cy="601"/>
              <a:chOff x="0" y="0"/>
              <a:chExt cx="587" cy="601"/>
            </a:xfrm>
          </p:grpSpPr>
          <p:sp>
            <p:nvSpPr>
              <p:cNvPr id="82989" name="Rectangle 151"/>
              <p:cNvSpPr/>
              <p:nvPr/>
            </p:nvSpPr>
            <p:spPr>
              <a:xfrm>
                <a:off x="28" y="138"/>
                <a:ext cx="16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å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0" name="Rectangle 152"/>
              <p:cNvSpPr/>
              <p:nvPr/>
            </p:nvSpPr>
            <p:spPr>
              <a:xfrm>
                <a:off x="53" y="0"/>
                <a:ext cx="11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¥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1" name="Rectangle 153"/>
              <p:cNvSpPr/>
              <p:nvPr/>
            </p:nvSpPr>
            <p:spPr>
              <a:xfrm>
                <a:off x="62" y="393"/>
                <a:ext cx="88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=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2" name="Rectangle 154"/>
              <p:cNvSpPr/>
              <p:nvPr/>
            </p:nvSpPr>
            <p:spPr>
              <a:xfrm>
                <a:off x="154" y="408"/>
                <a:ext cx="8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3" name="Rectangle 155"/>
              <p:cNvSpPr/>
              <p:nvPr/>
            </p:nvSpPr>
            <p:spPr>
              <a:xfrm>
                <a:off x="0" y="409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4" name="Rectangle 156"/>
              <p:cNvSpPr/>
              <p:nvPr/>
            </p:nvSpPr>
            <p:spPr>
              <a:xfrm>
                <a:off x="543" y="273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5" name="Rectangle 157"/>
              <p:cNvSpPr/>
              <p:nvPr/>
            </p:nvSpPr>
            <p:spPr>
              <a:xfrm>
                <a:off x="342" y="273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6" name="Rectangle 158"/>
              <p:cNvSpPr/>
              <p:nvPr/>
            </p:nvSpPr>
            <p:spPr>
              <a:xfrm>
                <a:off x="411" y="148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7" name="Rectangle 159"/>
              <p:cNvSpPr/>
              <p:nvPr/>
            </p:nvSpPr>
            <p:spPr>
              <a:xfrm>
                <a:off x="228" y="148"/>
                <a:ext cx="104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c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82998" name="Rectangle 160"/>
            <p:cNvSpPr/>
            <p:nvPr/>
          </p:nvSpPr>
          <p:spPr>
            <a:xfrm>
              <a:off x="4304" y="1094"/>
              <a:ext cx="218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在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2999" name="Rectangle 161"/>
            <p:cNvSpPr/>
            <p:nvPr/>
          </p:nvSpPr>
          <p:spPr>
            <a:xfrm>
              <a:off x="4529" y="1059"/>
              <a:ext cx="180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900" dirty="0">
                  <a:latin typeface="Symbol" panose="05050102010706020507" pitchFamily="18" charset="2"/>
                  <a:ea typeface="华文中宋" panose="02010600040101010101" pitchFamily="2" charset="-122"/>
                </a:rPr>
                <a:t>W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0" name="Rectangle 162"/>
            <p:cNvSpPr/>
            <p:nvPr/>
          </p:nvSpPr>
          <p:spPr>
            <a:xfrm>
              <a:off x="4726" y="1094"/>
              <a:ext cx="218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内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1" name="Rectangle 163"/>
            <p:cNvSpPr/>
            <p:nvPr/>
          </p:nvSpPr>
          <p:spPr>
            <a:xfrm>
              <a:off x="0" y="1626"/>
              <a:ext cx="140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收敛，并且</a:t>
              </a:r>
              <a:r>
                <a:rPr lang="en-US" altLang="zh-CN" sz="27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L,B</a:t>
              </a:r>
              <a:endParaRPr lang="en-US" altLang="zh-CN" sz="2800" i="1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3002" name="Rectangle 164"/>
            <p:cNvSpPr/>
            <p:nvPr/>
          </p:nvSpPr>
          <p:spPr>
            <a:xfrm>
              <a:off x="1215" y="1613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3" name="Rectangle 165"/>
            <p:cNvSpPr/>
            <p:nvPr/>
          </p:nvSpPr>
          <p:spPr>
            <a:xfrm>
              <a:off x="1309" y="1626"/>
              <a:ext cx="409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可逐项作用</a:t>
              </a:r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, </a:t>
              </a:r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则和函数               满足方程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4" name="Rectangle 166"/>
            <p:cNvSpPr/>
            <p:nvPr/>
          </p:nvSpPr>
          <p:spPr>
            <a:xfrm>
              <a:off x="3188" y="1612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5" name="Rectangle 167"/>
            <p:cNvSpPr/>
            <p:nvPr/>
          </p:nvSpPr>
          <p:spPr>
            <a:xfrm>
              <a:off x="3324" y="1626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6" name="Rectangle 168"/>
            <p:cNvSpPr/>
            <p:nvPr/>
          </p:nvSpPr>
          <p:spPr>
            <a:xfrm>
              <a:off x="4944" y="1745"/>
              <a:ext cx="22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aphicFrame>
        <p:nvGraphicFramePr>
          <p:cNvPr id="83007" name="Object 169"/>
          <p:cNvGraphicFramePr>
            <a:graphicFrameLocks noChangeAspect="1"/>
          </p:cNvGraphicFramePr>
          <p:nvPr/>
        </p:nvGraphicFramePr>
        <p:xfrm>
          <a:off x="7908925" y="3649346"/>
          <a:ext cx="1512888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711200" imgH="431800" progId="Equation.DSMT4">
                  <p:embed/>
                </p:oleObj>
              </mc:Choice>
              <mc:Fallback>
                <p:oleObj name="" r:id="rId1" imgW="711200" imgH="431800" progId="Equation.DSMT4">
                  <p:embed/>
                  <p:pic>
                    <p:nvPicPr>
                      <p:cNvPr id="0" name="Object 16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08925" y="3649346"/>
                        <a:ext cx="1512888" cy="919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008" name="AutoShape 171"/>
          <p:cNvSpPr>
            <a:spLocks noChangeAspect="1" noTextEdit="1"/>
          </p:cNvSpPr>
          <p:nvPr/>
        </p:nvSpPr>
        <p:spPr>
          <a:xfrm>
            <a:off x="2135188" y="3213101"/>
            <a:ext cx="7562850" cy="3070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009" name="Rectangle 172"/>
          <p:cNvSpPr/>
          <p:nvPr/>
        </p:nvSpPr>
        <p:spPr>
          <a:xfrm>
            <a:off x="1919289" y="3579814"/>
            <a:ext cx="65" cy="4308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endParaRPr lang="zh-CN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83010" name="Group 173"/>
          <p:cNvGrpSpPr/>
          <p:nvPr/>
        </p:nvGrpSpPr>
        <p:grpSpPr>
          <a:xfrm>
            <a:off x="3360739" y="3354388"/>
            <a:ext cx="1412875" cy="1058862"/>
            <a:chOff x="0" y="0"/>
            <a:chExt cx="890" cy="667"/>
          </a:xfrm>
        </p:grpSpPr>
        <p:sp>
          <p:nvSpPr>
            <p:cNvPr id="83011" name="Rectangle 174"/>
            <p:cNvSpPr/>
            <p:nvPr/>
          </p:nvSpPr>
          <p:spPr>
            <a:xfrm>
              <a:off x="395" y="134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2" name="Rectangle 175"/>
            <p:cNvSpPr/>
            <p:nvPr/>
          </p:nvSpPr>
          <p:spPr>
            <a:xfrm>
              <a:off x="180" y="120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3" name="Rectangle 176"/>
            <p:cNvSpPr/>
            <p:nvPr/>
          </p:nvSpPr>
          <p:spPr>
            <a:xfrm>
              <a:off x="419" y="0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4" name="Rectangle 177"/>
            <p:cNvSpPr/>
            <p:nvPr/>
          </p:nvSpPr>
          <p:spPr>
            <a:xfrm>
              <a:off x="428" y="379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5" name="Rectangle 178"/>
            <p:cNvSpPr/>
            <p:nvPr/>
          </p:nvSpPr>
          <p:spPr>
            <a:xfrm>
              <a:off x="516" y="394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6" name="Rectangle 179"/>
            <p:cNvSpPr/>
            <p:nvPr/>
          </p:nvSpPr>
          <p:spPr>
            <a:xfrm>
              <a:off x="368" y="396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7" name="Rectangle 180"/>
            <p:cNvSpPr/>
            <p:nvPr/>
          </p:nvSpPr>
          <p:spPr>
            <a:xfrm>
              <a:off x="890" y="265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8" name="Rectangle 181"/>
            <p:cNvSpPr/>
            <p:nvPr/>
          </p:nvSpPr>
          <p:spPr>
            <a:xfrm>
              <a:off x="696" y="265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9" name="Rectangle 182"/>
            <p:cNvSpPr/>
            <p:nvPr/>
          </p:nvSpPr>
          <p:spPr>
            <a:xfrm>
              <a:off x="763" y="144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0" name="Rectangle 183"/>
            <p:cNvSpPr/>
            <p:nvPr/>
          </p:nvSpPr>
          <p:spPr>
            <a:xfrm>
              <a:off x="587" y="144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1" name="Rectangle 184"/>
            <p:cNvSpPr/>
            <p:nvPr/>
          </p:nvSpPr>
          <p:spPr>
            <a:xfrm>
              <a:off x="0" y="144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3022" name="Rectangle 185"/>
          <p:cNvSpPr/>
          <p:nvPr/>
        </p:nvSpPr>
        <p:spPr>
          <a:xfrm>
            <a:off x="4914901" y="3579814"/>
            <a:ext cx="65" cy="4308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endParaRPr lang="zh-CN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3023" name="Rectangle 186"/>
          <p:cNvSpPr/>
          <p:nvPr/>
        </p:nvSpPr>
        <p:spPr>
          <a:xfrm>
            <a:off x="6340475" y="3579814"/>
            <a:ext cx="114300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83024" name="Group 187"/>
          <p:cNvGrpSpPr/>
          <p:nvPr/>
        </p:nvGrpSpPr>
        <p:grpSpPr>
          <a:xfrm>
            <a:off x="4722814" y="4340225"/>
            <a:ext cx="1919287" cy="920750"/>
            <a:chOff x="0" y="0"/>
            <a:chExt cx="1209" cy="580"/>
          </a:xfrm>
        </p:grpSpPr>
        <p:sp>
          <p:nvSpPr>
            <p:cNvPr id="83025" name="Rectangle 188"/>
            <p:cNvSpPr/>
            <p:nvPr/>
          </p:nvSpPr>
          <p:spPr>
            <a:xfrm>
              <a:off x="660" y="135"/>
              <a:ext cx="16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Symbol" panose="05050102010706020507" pitchFamily="18" charset="2"/>
                  <a:ea typeface="华文中宋" panose="02010600040101010101" pitchFamily="2" charset="-122"/>
                </a:rPr>
                <a:t>å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6" name="Rectangle 189"/>
            <p:cNvSpPr/>
            <p:nvPr/>
          </p:nvSpPr>
          <p:spPr>
            <a:xfrm>
              <a:off x="446" y="121"/>
              <a:ext cx="12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Symbol" panose="05050102010706020507" pitchFamily="18" charset="2"/>
                  <a:ea typeface="华文中宋" panose="02010600040101010101" pitchFamily="2" charset="-122"/>
                </a:rPr>
                <a:t>=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7" name="Rectangle 190"/>
            <p:cNvSpPr/>
            <p:nvPr/>
          </p:nvSpPr>
          <p:spPr>
            <a:xfrm>
              <a:off x="685" y="0"/>
              <a:ext cx="109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Symbol" panose="05050102010706020507" pitchFamily="18" charset="2"/>
                  <a:ea typeface="华文中宋" panose="02010600040101010101" pitchFamily="2" charset="-122"/>
                </a:rPr>
                <a:t>¥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8" name="Rectangle 191"/>
            <p:cNvSpPr/>
            <p:nvPr/>
          </p:nvSpPr>
          <p:spPr>
            <a:xfrm>
              <a:off x="693" y="379"/>
              <a:ext cx="8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Symbol" panose="05050102010706020507" pitchFamily="18" charset="2"/>
                  <a:ea typeface="华文中宋" panose="02010600040101010101" pitchFamily="2" charset="-122"/>
                </a:rPr>
                <a:t>=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9" name="Rectangle 192"/>
            <p:cNvSpPr/>
            <p:nvPr/>
          </p:nvSpPr>
          <p:spPr>
            <a:xfrm>
              <a:off x="782" y="394"/>
              <a:ext cx="77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1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0" name="Rectangle 193"/>
            <p:cNvSpPr/>
            <p:nvPr/>
          </p:nvSpPr>
          <p:spPr>
            <a:xfrm>
              <a:off x="329" y="141"/>
              <a:ext cx="7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]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1" name="Rectangle 194"/>
            <p:cNvSpPr/>
            <p:nvPr/>
          </p:nvSpPr>
          <p:spPr>
            <a:xfrm>
              <a:off x="122" y="141"/>
              <a:ext cx="7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[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2" name="Rectangle 195"/>
            <p:cNvSpPr/>
            <p:nvPr/>
          </p:nvSpPr>
          <p:spPr>
            <a:xfrm>
              <a:off x="634" y="396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3" name="Rectangle 196"/>
            <p:cNvSpPr/>
            <p:nvPr/>
          </p:nvSpPr>
          <p:spPr>
            <a:xfrm>
              <a:off x="1167" y="265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4" name="Rectangle 197"/>
            <p:cNvSpPr/>
            <p:nvPr/>
          </p:nvSpPr>
          <p:spPr>
            <a:xfrm>
              <a:off x="962" y="265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5" name="Rectangle 198"/>
            <p:cNvSpPr/>
            <p:nvPr/>
          </p:nvSpPr>
          <p:spPr>
            <a:xfrm>
              <a:off x="1075" y="144"/>
              <a:ext cx="6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f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6" name="Rectangle 199"/>
            <p:cNvSpPr/>
            <p:nvPr/>
          </p:nvSpPr>
          <p:spPr>
            <a:xfrm>
              <a:off x="853" y="144"/>
              <a:ext cx="10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c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7" name="Rectangle 200"/>
            <p:cNvSpPr/>
            <p:nvPr/>
          </p:nvSpPr>
          <p:spPr>
            <a:xfrm>
              <a:off x="203" y="144"/>
              <a:ext cx="11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8" name="Rectangle 201"/>
            <p:cNvSpPr/>
            <p:nvPr/>
          </p:nvSpPr>
          <p:spPr>
            <a:xfrm>
              <a:off x="0" y="144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L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3039" name="Rectangle 202"/>
          <p:cNvSpPr/>
          <p:nvPr/>
        </p:nvSpPr>
        <p:spPr>
          <a:xfrm>
            <a:off x="6715125" y="4567239"/>
            <a:ext cx="114300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3040" name="Rectangle 203"/>
          <p:cNvSpPr/>
          <p:nvPr/>
        </p:nvSpPr>
        <p:spPr>
          <a:xfrm>
            <a:off x="1919288" y="5559425"/>
            <a:ext cx="2133600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（或定解条件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83041" name="Group 204"/>
          <p:cNvGrpSpPr/>
          <p:nvPr/>
        </p:nvGrpSpPr>
        <p:grpSpPr>
          <a:xfrm>
            <a:off x="4086225" y="5334001"/>
            <a:ext cx="1936750" cy="919163"/>
            <a:chOff x="0" y="0"/>
            <a:chExt cx="1220" cy="579"/>
          </a:xfrm>
        </p:grpSpPr>
        <p:sp>
          <p:nvSpPr>
            <p:cNvPr id="83042" name="Rectangle 205"/>
            <p:cNvSpPr/>
            <p:nvPr/>
          </p:nvSpPr>
          <p:spPr>
            <a:xfrm>
              <a:off x="669" y="134"/>
              <a:ext cx="16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Symbol" panose="05050102010706020507" pitchFamily="18" charset="2"/>
                  <a:ea typeface="华文中宋" panose="02010600040101010101" pitchFamily="2" charset="-122"/>
                </a:rPr>
                <a:t>å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3" name="Rectangle 206"/>
            <p:cNvSpPr/>
            <p:nvPr/>
          </p:nvSpPr>
          <p:spPr>
            <a:xfrm>
              <a:off x="460" y="120"/>
              <a:ext cx="12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Symbol" panose="05050102010706020507" pitchFamily="18" charset="2"/>
                  <a:ea typeface="华文中宋" panose="02010600040101010101" pitchFamily="2" charset="-122"/>
                </a:rPr>
                <a:t>=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4" name="Rectangle 207"/>
            <p:cNvSpPr/>
            <p:nvPr/>
          </p:nvSpPr>
          <p:spPr>
            <a:xfrm>
              <a:off x="693" y="0"/>
              <a:ext cx="109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Symbol" panose="05050102010706020507" pitchFamily="18" charset="2"/>
                  <a:ea typeface="华文中宋" panose="02010600040101010101" pitchFamily="2" charset="-122"/>
                </a:rPr>
                <a:t>¥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5" name="Rectangle 208"/>
            <p:cNvSpPr/>
            <p:nvPr/>
          </p:nvSpPr>
          <p:spPr>
            <a:xfrm>
              <a:off x="702" y="379"/>
              <a:ext cx="8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Symbol" panose="05050102010706020507" pitchFamily="18" charset="2"/>
                  <a:ea typeface="华文中宋" panose="02010600040101010101" pitchFamily="2" charset="-122"/>
                </a:rPr>
                <a:t>=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6" name="Rectangle 209"/>
            <p:cNvSpPr/>
            <p:nvPr/>
          </p:nvSpPr>
          <p:spPr>
            <a:xfrm>
              <a:off x="790" y="393"/>
              <a:ext cx="77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1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7" name="Rectangle 210"/>
            <p:cNvSpPr/>
            <p:nvPr/>
          </p:nvSpPr>
          <p:spPr>
            <a:xfrm>
              <a:off x="350" y="141"/>
              <a:ext cx="7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]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8" name="Rectangle 211"/>
            <p:cNvSpPr/>
            <p:nvPr/>
          </p:nvSpPr>
          <p:spPr>
            <a:xfrm>
              <a:off x="143" y="141"/>
              <a:ext cx="7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[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9" name="Rectangle 212"/>
            <p:cNvSpPr/>
            <p:nvPr/>
          </p:nvSpPr>
          <p:spPr>
            <a:xfrm>
              <a:off x="641" y="395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0" name="Rectangle 213"/>
            <p:cNvSpPr/>
            <p:nvPr/>
          </p:nvSpPr>
          <p:spPr>
            <a:xfrm>
              <a:off x="1178" y="264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1" name="Rectangle 214"/>
            <p:cNvSpPr/>
            <p:nvPr/>
          </p:nvSpPr>
          <p:spPr>
            <a:xfrm>
              <a:off x="972" y="264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2" name="Rectangle 215"/>
            <p:cNvSpPr/>
            <p:nvPr/>
          </p:nvSpPr>
          <p:spPr>
            <a:xfrm>
              <a:off x="1054" y="144"/>
              <a:ext cx="11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g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3" name="Rectangle 216"/>
            <p:cNvSpPr/>
            <p:nvPr/>
          </p:nvSpPr>
          <p:spPr>
            <a:xfrm>
              <a:off x="863" y="144"/>
              <a:ext cx="9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c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4" name="Rectangle 217"/>
            <p:cNvSpPr/>
            <p:nvPr/>
          </p:nvSpPr>
          <p:spPr>
            <a:xfrm>
              <a:off x="224" y="144"/>
              <a:ext cx="11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5" name="Rectangle 218"/>
            <p:cNvSpPr/>
            <p:nvPr/>
          </p:nvSpPr>
          <p:spPr>
            <a:xfrm>
              <a:off x="0" y="144"/>
              <a:ext cx="13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B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3056" name="Rectangle 219"/>
          <p:cNvSpPr/>
          <p:nvPr/>
        </p:nvSpPr>
        <p:spPr>
          <a:xfrm>
            <a:off x="6099175" y="5559425"/>
            <a:ext cx="711200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3057" name="Rectangle 220"/>
          <p:cNvSpPr/>
          <p:nvPr/>
        </p:nvSpPr>
        <p:spPr>
          <a:xfrm>
            <a:off x="6634163" y="5764213"/>
            <a:ext cx="3175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035" name="Object 3"/>
          <p:cNvGraphicFramePr/>
          <p:nvPr/>
        </p:nvGraphicFramePr>
        <p:xfrm>
          <a:off x="1703389" y="5373688"/>
          <a:ext cx="8785225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5041900" imgH="469900" progId="Equation.DSMT4">
                  <p:embed/>
                </p:oleObj>
              </mc:Choice>
              <mc:Fallback>
                <p:oleObj name="" r:id="rId1" imgW="5041900" imgH="4699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03389" y="5373688"/>
                        <a:ext cx="8785225" cy="9509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36" name="Rectangle 4"/>
          <p:cNvSpPr/>
          <p:nvPr/>
        </p:nvSpPr>
        <p:spPr>
          <a:xfrm>
            <a:off x="2208213" y="4652963"/>
            <a:ext cx="8064500" cy="519112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一维非齐次波动方程柯西问题的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Kirchihoff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Rectangle 5"/>
          <p:cNvSpPr/>
          <p:nvPr/>
        </p:nvSpPr>
        <p:spPr>
          <a:xfrm>
            <a:off x="2063751" y="333376"/>
            <a:ext cx="56880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无界弦受迫振动问题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6868" name="Object 6"/>
          <p:cNvGraphicFramePr>
            <a:graphicFrameLocks noChangeAspect="1"/>
          </p:cNvGraphicFramePr>
          <p:nvPr/>
        </p:nvGraphicFramePr>
        <p:xfrm>
          <a:off x="2782889" y="908051"/>
          <a:ext cx="585787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289300" imgH="571500" progId="Equation.DSMT4">
                  <p:embed/>
                </p:oleObj>
              </mc:Choice>
              <mc:Fallback>
                <p:oleObj name="" r:id="rId3" imgW="3289300" imgH="5715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2889" y="908051"/>
                        <a:ext cx="5857875" cy="1031875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2043" name="Group 11"/>
          <p:cNvGrpSpPr/>
          <p:nvPr/>
        </p:nvGrpSpPr>
        <p:grpSpPr>
          <a:xfrm>
            <a:off x="2011363" y="2205038"/>
            <a:ext cx="4692650" cy="2273300"/>
            <a:chOff x="307" y="1389"/>
            <a:chExt cx="2956" cy="1432"/>
          </a:xfrm>
        </p:grpSpPr>
        <p:graphicFrame>
          <p:nvGraphicFramePr>
            <p:cNvPr id="36870" name="Object 7"/>
            <p:cNvGraphicFramePr>
              <a:graphicFrameLocks noChangeAspect="1"/>
            </p:cNvGraphicFramePr>
            <p:nvPr/>
          </p:nvGraphicFramePr>
          <p:xfrm>
            <a:off x="307" y="1389"/>
            <a:ext cx="2956" cy="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2578100" imgH="571500" progId="Equation.DSMT4">
                    <p:embed/>
                  </p:oleObj>
                </mc:Choice>
                <mc:Fallback>
                  <p:oleObj name="" r:id="rId5" imgW="2578100" imgH="571500" progId="Equation.DSMT4">
                    <p:embed/>
                    <p:pic>
                      <p:nvPicPr>
                        <p:cNvPr id="0" name="Object 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7" y="1389"/>
                          <a:ext cx="2956" cy="666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1" name="Object 8"/>
            <p:cNvGraphicFramePr>
              <a:graphicFrameLocks noChangeAspect="1"/>
            </p:cNvGraphicFramePr>
            <p:nvPr/>
          </p:nvGraphicFramePr>
          <p:xfrm>
            <a:off x="340" y="2160"/>
            <a:ext cx="2320" cy="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2032000" imgH="571500" progId="Equation.DSMT4">
                    <p:embed/>
                  </p:oleObj>
                </mc:Choice>
                <mc:Fallback>
                  <p:oleObj name="" r:id="rId7" imgW="2032000" imgH="571500" progId="Equation.DSMT4">
                    <p:embed/>
                    <p:pic>
                      <p:nvPicPr>
                        <p:cNvPr id="0" name="Object 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0" y="2160"/>
                          <a:ext cx="2320" cy="661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2041" name="AutoShape 9"/>
          <p:cNvSpPr/>
          <p:nvPr/>
        </p:nvSpPr>
        <p:spPr>
          <a:xfrm flipH="1">
            <a:off x="6888164" y="2205039"/>
            <a:ext cx="287337" cy="2232025"/>
          </a:xfrm>
          <a:prstGeom prst="leftBrace">
            <a:avLst>
              <a:gd name="adj1" fmla="val 64661"/>
              <a:gd name="adj2" fmla="val 51125"/>
            </a:avLst>
          </a:prstGeom>
          <a:noFill/>
          <a:ln w="317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72042" name="Object 10"/>
          <p:cNvGraphicFramePr>
            <a:graphicFrameLocks noChangeAspect="1"/>
          </p:cNvGraphicFramePr>
          <p:nvPr/>
        </p:nvGraphicFramePr>
        <p:xfrm>
          <a:off x="7464426" y="3068638"/>
          <a:ext cx="182721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711200" imgH="165100" progId="Equation.DSMT4">
                  <p:embed/>
                </p:oleObj>
              </mc:Choice>
              <mc:Fallback>
                <p:oleObj name="" r:id="rId9" imgW="711200" imgH="1651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64426" y="3068638"/>
                        <a:ext cx="1827213" cy="430212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6" grpId="0"/>
      <p:bldP spid="17204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/>
          <p:nvPr/>
        </p:nvSpPr>
        <p:spPr>
          <a:xfrm>
            <a:off x="1992314" y="765176"/>
            <a:ext cx="6480175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 非齐次波动方程的</a:t>
            </a:r>
            <a:r>
              <a:rPr lang="en-US" altLang="zh-CN" sz="2800" dirty="0">
                <a:solidFill>
                  <a:srgbClr val="FF212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Cauchy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  <a:endParaRPr lang="zh-CN" altLang="en-US" sz="2800" dirty="0">
              <a:solidFill>
                <a:srgbClr val="FF21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1075" name="Object 3"/>
          <p:cNvGraphicFramePr>
            <a:graphicFrameLocks noChangeAspect="1"/>
          </p:cNvGraphicFramePr>
          <p:nvPr/>
        </p:nvGraphicFramePr>
        <p:xfrm>
          <a:off x="2782889" y="1341438"/>
          <a:ext cx="7488237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2997200" imgH="533400" progId="Equation.DSMT4">
                  <p:embed/>
                </p:oleObj>
              </mc:Choice>
              <mc:Fallback>
                <p:oleObj name="" r:id="rId1" imgW="2997200" imgH="5334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2889" y="1341438"/>
                        <a:ext cx="7488237" cy="1338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6" name="Rectangle 4"/>
          <p:cNvSpPr/>
          <p:nvPr/>
        </p:nvSpPr>
        <p:spPr>
          <a:xfrm>
            <a:off x="2711450" y="2781301"/>
            <a:ext cx="60833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的解等于问题</a:t>
            </a:r>
            <a:r>
              <a:rPr lang="en-US" altLang="zh-CN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(I)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和问题</a:t>
            </a:r>
            <a:r>
              <a:rPr lang="en-US" altLang="zh-CN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(II)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的解之和</a:t>
            </a:r>
            <a:endParaRPr lang="zh-CN" altLang="en-US" sz="2800" dirty="0">
              <a:solidFill>
                <a:srgbClr val="FF21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1077" name="Object 5"/>
          <p:cNvGraphicFramePr>
            <a:graphicFrameLocks noChangeAspect="1"/>
          </p:cNvGraphicFramePr>
          <p:nvPr/>
        </p:nvGraphicFramePr>
        <p:xfrm>
          <a:off x="2566988" y="3517901"/>
          <a:ext cx="6850062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6842125" imgH="1129665" progId="Equation.3">
                  <p:embed/>
                </p:oleObj>
              </mc:Choice>
              <mc:Fallback>
                <p:oleObj name="" r:id="rId3" imgW="6842125" imgH="1129665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3517901"/>
                        <a:ext cx="6850062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8" name="Object 6"/>
          <p:cNvGraphicFramePr>
            <a:graphicFrameLocks noChangeAspect="1"/>
          </p:cNvGraphicFramePr>
          <p:nvPr/>
        </p:nvGraphicFramePr>
        <p:xfrm>
          <a:off x="2495550" y="5030789"/>
          <a:ext cx="78105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7807325" imgH="1129665" progId="Equation.3">
                  <p:embed/>
                </p:oleObj>
              </mc:Choice>
              <mc:Fallback>
                <p:oleObj name="" r:id="rId5" imgW="7807325" imgH="1129665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95550" y="5030789"/>
                        <a:ext cx="7810500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9" name="Rectangle 7"/>
          <p:cNvSpPr/>
          <p:nvPr/>
        </p:nvSpPr>
        <p:spPr>
          <a:xfrm>
            <a:off x="6888164" y="5876926"/>
            <a:ext cx="3405187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注：书</a:t>
            </a:r>
            <a:r>
              <a:rPr lang="en-US" altLang="zh-CN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P23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：例</a:t>
            </a:r>
            <a:r>
              <a:rPr lang="en-US" altLang="zh-CN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1.5.1</a:t>
            </a:r>
            <a:endParaRPr lang="en-US" altLang="zh-CN" sz="2800" dirty="0">
              <a:solidFill>
                <a:srgbClr val="FF21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/>
          <p:nvPr/>
        </p:nvSpPr>
        <p:spPr>
          <a:xfrm>
            <a:off x="2376488" y="176214"/>
            <a:ext cx="7772400" cy="7270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endParaRPr lang="zh-CN" altLang="zh-CN" sz="4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61124" name="Object 7"/>
          <p:cNvGraphicFramePr/>
          <p:nvPr/>
        </p:nvGraphicFramePr>
        <p:xfrm>
          <a:off x="2509838" y="585788"/>
          <a:ext cx="6315075" cy="522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2794000" imgH="2286000" progId="Equation.3">
                  <p:embed/>
                </p:oleObj>
              </mc:Choice>
              <mc:Fallback>
                <p:oleObj name="" r:id="rId1" imgW="2794000" imgH="2286000" progId="Equation.3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9838" y="585788"/>
                        <a:ext cx="6315075" cy="5222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>
          <a:xfrm>
            <a:off x="5032375" y="5199063"/>
            <a:ext cx="4076700" cy="392112"/>
            <a:chOff x="2946" y="3789"/>
            <a:chExt cx="2568" cy="247"/>
          </a:xfrm>
        </p:grpSpPr>
        <p:graphicFrame>
          <p:nvGraphicFramePr>
            <p:cNvPr id="261127" name="Object 9"/>
            <p:cNvGraphicFramePr/>
            <p:nvPr/>
          </p:nvGraphicFramePr>
          <p:xfrm>
            <a:off x="3639" y="3789"/>
            <a:ext cx="187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560830" imgH="203200" progId="Equation.DSMT4">
                    <p:embed/>
                  </p:oleObj>
                </mc:Choice>
                <mc:Fallback>
                  <p:oleObj name="" r:id="rId3" imgW="1560830" imgH="203200" progId="Equation.DSMT4">
                    <p:embed/>
                    <p:pic>
                      <p:nvPicPr>
                        <p:cNvPr id="0" name="Object 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39" y="3789"/>
                          <a:ext cx="1875" cy="247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12700" cap="flat" cmpd="sng">
                          <a:solidFill>
                            <a:srgbClr val="0000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1128" name="AutoShape 10"/>
            <p:cNvSpPr/>
            <p:nvPr/>
          </p:nvSpPr>
          <p:spPr>
            <a:xfrm>
              <a:off x="2946" y="3864"/>
              <a:ext cx="690" cy="126"/>
            </a:xfrm>
            <a:prstGeom prst="leftArrow">
              <a:avLst>
                <a:gd name="adj1" fmla="val 50000"/>
                <a:gd name="adj2" fmla="val 136904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思想气泡: 云 2"/>
          <p:cNvSpPr/>
          <p:nvPr/>
        </p:nvSpPr>
        <p:spPr>
          <a:xfrm>
            <a:off x="6432695" y="1728066"/>
            <a:ext cx="2392218" cy="882073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齐次化原理</a:t>
            </a:r>
            <a:endParaRPr lang="en-US" altLang="zh-CN" dirty="0"/>
          </a:p>
          <a:p>
            <a:pPr algn="ctr"/>
            <a:r>
              <a:rPr lang="en-US" altLang="zh-CN" dirty="0"/>
              <a:t>Duhamel</a:t>
            </a:r>
            <a:r>
              <a:rPr lang="zh-CN" altLang="en-US" dirty="0"/>
              <a:t>原理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20" name="Rectangle 8"/>
          <p:cNvSpPr/>
          <p:nvPr/>
        </p:nvSpPr>
        <p:spPr>
          <a:xfrm>
            <a:off x="387927" y="63500"/>
            <a:ext cx="3669723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lang="zh-CN" altLang="en-US" sz="32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、行波法的应用</a:t>
            </a:r>
            <a:endParaRPr lang="zh-CN" altLang="en-US" sz="32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65221" name="文本框 265220"/>
          <p:cNvSpPr txBox="1"/>
          <p:nvPr/>
        </p:nvSpPr>
        <p:spPr>
          <a:xfrm>
            <a:off x="3829844" y="159838"/>
            <a:ext cx="6607247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②求解一维无界弦的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强迫振动（非齐次）</a:t>
            </a: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问题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066" y="1203666"/>
            <a:ext cx="7475868" cy="5494496"/>
          </a:xfrm>
          <a:prstGeom prst="rect">
            <a:avLst/>
          </a:prstGeom>
        </p:spPr>
      </p:pic>
      <p:sp>
        <p:nvSpPr>
          <p:cNvPr id="4" name="思想气泡: 云 3"/>
          <p:cNvSpPr/>
          <p:nvPr/>
        </p:nvSpPr>
        <p:spPr>
          <a:xfrm>
            <a:off x="6906007" y="2447637"/>
            <a:ext cx="2392218" cy="618836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如何证明？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0" y="240030"/>
            <a:ext cx="7060565" cy="180530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1894205"/>
            <a:ext cx="8498205" cy="48787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>
          <a:xfrm>
            <a:off x="296487" y="122328"/>
            <a:ext cx="3669723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冲量定理</a:t>
            </a:r>
            <a:endParaRPr lang="zh-CN" altLang="en-US" sz="32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5238"/>
            <a:ext cx="12192000" cy="60027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/>
          <p:nvPr/>
        </p:nvSpPr>
        <p:spPr>
          <a:xfrm>
            <a:off x="2376488" y="176214"/>
            <a:ext cx="7772400" cy="7270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endParaRPr lang="zh-CN" altLang="zh-CN" sz="4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63172" name="Object 8"/>
          <p:cNvGraphicFramePr>
            <a:graphicFrameLocks noGrp="1"/>
          </p:cNvGraphicFramePr>
          <p:nvPr>
            <p:ph idx="1"/>
          </p:nvPr>
        </p:nvGraphicFramePr>
        <p:xfrm>
          <a:off x="2794001" y="4289426"/>
          <a:ext cx="5737225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2792730" imgH="635000" progId="Equation.3">
                  <p:embed/>
                </p:oleObj>
              </mc:Choice>
              <mc:Fallback>
                <p:oleObj name="" r:id="rId1" imgW="2792730" imgH="635000" progId="Equation.3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94001" y="4289426"/>
                        <a:ext cx="5737225" cy="1304925"/>
                      </a:xfrm>
                      <a:prstGeom prst="rect">
                        <a:avLst/>
                      </a:prstGeom>
                      <a:solidFill>
                        <a:srgbClr val="FFFFFF">
                          <a:alpha val="100000"/>
                        </a:srgbClr>
                      </a:solidFill>
                      <a:ln w="15875">
                        <a:solidFill>
                          <a:srgbClr val="FF0000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9631" name="AutoShape 15"/>
          <p:cNvSpPr/>
          <p:nvPr/>
        </p:nvSpPr>
        <p:spPr>
          <a:xfrm rot="10800000" flipH="1">
            <a:off x="2222500" y="3365500"/>
            <a:ext cx="400050" cy="1538288"/>
          </a:xfrm>
          <a:prstGeom prst="curvedRightArrow">
            <a:avLst>
              <a:gd name="adj1" fmla="val 76904"/>
              <a:gd name="adj2" fmla="val 153809"/>
              <a:gd name="adj3" fmla="val 33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2797175" y="3362328"/>
            <a:ext cx="7639050" cy="695326"/>
            <a:chOff x="810" y="2694"/>
            <a:chExt cx="4812" cy="438"/>
          </a:xfrm>
        </p:grpSpPr>
        <p:sp>
          <p:nvSpPr>
            <p:cNvPr id="263175" name="AutoShape 10"/>
            <p:cNvSpPr/>
            <p:nvPr/>
          </p:nvSpPr>
          <p:spPr>
            <a:xfrm rot="5400000">
              <a:off x="2205" y="1299"/>
              <a:ext cx="120" cy="2910"/>
            </a:xfrm>
            <a:prstGeom prst="rightBrace">
              <a:avLst>
                <a:gd name="adj1" fmla="val 202083"/>
                <a:gd name="adj2" fmla="val 50000"/>
              </a:avLst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63176" name="AutoShape 11"/>
            <p:cNvSpPr/>
            <p:nvPr/>
          </p:nvSpPr>
          <p:spPr>
            <a:xfrm rot="5400000">
              <a:off x="4728" y="1932"/>
              <a:ext cx="114" cy="1674"/>
            </a:xfrm>
            <a:prstGeom prst="rightBrace">
              <a:avLst>
                <a:gd name="adj1" fmla="val 122368"/>
                <a:gd name="adj2" fmla="val 50000"/>
              </a:avLst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63177" name="Rectangle 12"/>
            <p:cNvSpPr/>
            <p:nvPr/>
          </p:nvSpPr>
          <p:spPr>
            <a:xfrm>
              <a:off x="2028" y="2829"/>
              <a:ext cx="180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400" baseline="30000">
                  <a:solidFill>
                    <a:srgbClr val="FF0000"/>
                  </a:solidFill>
                  <a:latin typeface="Times New Roman" panose="02020603050405020304" pitchFamily="18" charset="0"/>
                </a:rPr>
                <a:t>Ⅰ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（达朗贝尔公式）</a:t>
              </a:r>
              <a:endPara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3178" name="Rectangle 13"/>
            <p:cNvSpPr/>
            <p:nvPr/>
          </p:nvSpPr>
          <p:spPr>
            <a:xfrm>
              <a:off x="4572" y="2841"/>
              <a:ext cx="297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400" baseline="30000">
                  <a:solidFill>
                    <a:srgbClr val="FF0000"/>
                  </a:solidFill>
                  <a:latin typeface="Times New Roman" panose="02020603050405020304" pitchFamily="18" charset="0"/>
                </a:rPr>
                <a:t>Ⅱ</a:t>
              </a:r>
              <a:endParaRPr lang="en-US" altLang="zh-CN" sz="2400" baseline="30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63179" name="Object 7"/>
          <p:cNvGraphicFramePr/>
          <p:nvPr/>
        </p:nvGraphicFramePr>
        <p:xfrm>
          <a:off x="1674813" y="763588"/>
          <a:ext cx="8888412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4724400" imgH="1422400" progId="Equation.DSMT4">
                  <p:embed/>
                </p:oleObj>
              </mc:Choice>
              <mc:Fallback>
                <p:oleObj name="" r:id="rId3" imgW="4724400" imgH="14224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4813" y="763588"/>
                        <a:ext cx="8888412" cy="271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9632" name="Line 16"/>
          <p:cNvSpPr/>
          <p:nvPr/>
        </p:nvSpPr>
        <p:spPr>
          <a:xfrm>
            <a:off x="1854200" y="2066925"/>
            <a:ext cx="6972300" cy="0"/>
          </a:xfrm>
          <a:prstGeom prst="line">
            <a:avLst/>
          </a:prstGeom>
          <a:ln w="38100" cap="flat" cmpd="dbl">
            <a:solidFill>
              <a:srgbClr val="0000FF"/>
            </a:solidFill>
            <a:prstDash val="lgDash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9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9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19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19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9631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20" name="Rectangle 8"/>
          <p:cNvSpPr/>
          <p:nvPr/>
        </p:nvSpPr>
        <p:spPr>
          <a:xfrm>
            <a:off x="387927" y="63500"/>
            <a:ext cx="3669723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lang="zh-CN" altLang="en-US" sz="320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、行波法的应用</a:t>
            </a:r>
            <a:endParaRPr lang="zh-CN" altLang="en-US" sz="3200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65221" name="文本框 265220"/>
          <p:cNvSpPr txBox="1"/>
          <p:nvPr/>
        </p:nvSpPr>
        <p:spPr>
          <a:xfrm>
            <a:off x="3829844" y="159838"/>
            <a:ext cx="4763077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③ 求解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半无界弦的自由振动</a:t>
            </a: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问题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65222" name="Text Box 2"/>
          <p:cNvSpPr txBox="1"/>
          <p:nvPr/>
        </p:nvSpPr>
        <p:spPr>
          <a:xfrm>
            <a:off x="1379311" y="1182833"/>
            <a:ext cx="2646878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端点的反射：</a:t>
            </a:r>
            <a:endParaRPr lang="zh-CN" altLang="en-US" sz="32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65223" name="Text Box 3"/>
          <p:cNvSpPr txBox="1"/>
          <p:nvPr/>
        </p:nvSpPr>
        <p:spPr>
          <a:xfrm>
            <a:off x="3755159" y="1193945"/>
            <a:ext cx="187325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u="sng" dirty="0">
                <a:latin typeface="Arial" panose="020B0604020202020204" pitchFamily="34" charset="0"/>
                <a:ea typeface="仿宋_GB2312" pitchFamily="49" charset="-122"/>
              </a:rPr>
              <a:t>端点固定</a:t>
            </a:r>
            <a:endParaRPr lang="zh-CN" altLang="en-US" sz="3200" u="sng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graphicFrame>
        <p:nvGraphicFramePr>
          <p:cNvPr id="265224" name="Object 4"/>
          <p:cNvGraphicFramePr/>
          <p:nvPr/>
        </p:nvGraphicFramePr>
        <p:xfrm>
          <a:off x="3178465" y="2184256"/>
          <a:ext cx="324167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1319530" imgH="355600" progId="Equation.DSMT4">
                  <p:embed/>
                </p:oleObj>
              </mc:Choice>
              <mc:Fallback>
                <p:oleObj name="" r:id="rId1" imgW="1319530" imgH="3556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78465" y="2184256"/>
                        <a:ext cx="3241675" cy="709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5" name="Object 5"/>
          <p:cNvGraphicFramePr/>
          <p:nvPr/>
        </p:nvGraphicFramePr>
        <p:xfrm>
          <a:off x="6683664" y="2387457"/>
          <a:ext cx="13081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633730" imgH="177800" progId="Equation.DSMT4">
                  <p:embed/>
                </p:oleObj>
              </mc:Choice>
              <mc:Fallback>
                <p:oleObj name="" r:id="rId3" imgW="633730" imgH="1778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3664" y="2387457"/>
                        <a:ext cx="130810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7" name="Object 7"/>
          <p:cNvGraphicFramePr/>
          <p:nvPr/>
        </p:nvGraphicFramePr>
        <p:xfrm>
          <a:off x="3248314" y="2966893"/>
          <a:ext cx="15557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685165" imgH="215900" progId="Equation.DSMT4">
                  <p:embed/>
                </p:oleObj>
              </mc:Choice>
              <mc:Fallback>
                <p:oleObj name="" r:id="rId5" imgW="685165" imgH="2159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48314" y="2966893"/>
                        <a:ext cx="155575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9" name="Object 9"/>
          <p:cNvGraphicFramePr/>
          <p:nvPr/>
        </p:nvGraphicFramePr>
        <p:xfrm>
          <a:off x="4994564" y="3003407"/>
          <a:ext cx="15494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735330" imgH="215900" progId="Equation.DSMT4">
                  <p:embed/>
                </p:oleObj>
              </mc:Choice>
              <mc:Fallback>
                <p:oleObj name="" r:id="rId7" imgW="735330" imgH="2159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94564" y="3003407"/>
                        <a:ext cx="1549400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30" name="Text Box 10"/>
          <p:cNvSpPr txBox="1"/>
          <p:nvPr/>
        </p:nvSpPr>
        <p:spPr>
          <a:xfrm>
            <a:off x="4462753" y="3659044"/>
            <a:ext cx="1565275" cy="466725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边界条件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graphicFrame>
        <p:nvGraphicFramePr>
          <p:cNvPr id="265231" name="Object 11"/>
          <p:cNvGraphicFramePr/>
          <p:nvPr/>
        </p:nvGraphicFramePr>
        <p:xfrm>
          <a:off x="3305464" y="3716194"/>
          <a:ext cx="10160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520065" imgH="215900" progId="Equation.DSMT4">
                  <p:embed/>
                </p:oleObj>
              </mc:Choice>
              <mc:Fallback>
                <p:oleObj name="" r:id="rId9" imgW="520065" imgH="2159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05464" y="3716194"/>
                        <a:ext cx="1016000" cy="423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32" name="Text Box 12"/>
          <p:cNvSpPr txBox="1"/>
          <p:nvPr/>
        </p:nvSpPr>
        <p:spPr>
          <a:xfrm>
            <a:off x="2251364" y="4425806"/>
            <a:ext cx="79200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仿宋_GB2312" pitchFamily="49" charset="-122"/>
                <a:ea typeface="仿宋_GB2312" pitchFamily="49" charset="-122"/>
              </a:rPr>
              <a:t>达朗贝尔公式是无限长弦的公式。由于自变量限制为</a:t>
            </a:r>
            <a:r>
              <a:rPr lang="en-US" altLang="zh-CN" sz="2400" i="1">
                <a:latin typeface="Times New Roman" panose="02020603050405020304" pitchFamily="18" charset="0"/>
                <a:ea typeface="仿宋_GB2312" pitchFamily="49" charset="-122"/>
              </a:rPr>
              <a:t>x</a:t>
            </a:r>
            <a:r>
              <a:rPr lang="en-US" altLang="zh-CN" sz="24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0</a:t>
            </a:r>
            <a:endParaRPr lang="en-US" altLang="zh-CN" sz="240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265233" name="Object 14"/>
          <p:cNvGraphicFramePr/>
          <p:nvPr/>
        </p:nvGraphicFramePr>
        <p:xfrm>
          <a:off x="2632365" y="4841732"/>
          <a:ext cx="561816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2677160" imgH="405765" progId="Equation.DSMT4">
                  <p:embed/>
                </p:oleObj>
              </mc:Choice>
              <mc:Fallback>
                <p:oleObj name="" r:id="rId11" imgW="2677160" imgH="405765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32365" y="4841732"/>
                        <a:ext cx="5618163" cy="852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3" name="Text Box 16"/>
          <p:cNvSpPr txBox="1"/>
          <p:nvPr/>
        </p:nvSpPr>
        <p:spPr>
          <a:xfrm>
            <a:off x="1832264" y="5675168"/>
            <a:ext cx="8731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当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x/a</a:t>
            </a: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时，上式后两项无意义，必须将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i="1" err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400" err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err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延拓到这个范围。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65236" name="AutoShape 24"/>
          <p:cNvSpPr/>
          <p:nvPr/>
        </p:nvSpPr>
        <p:spPr>
          <a:xfrm>
            <a:off x="2819690" y="2487469"/>
            <a:ext cx="288925" cy="1541463"/>
          </a:xfrm>
          <a:prstGeom prst="leftBrace">
            <a:avLst>
              <a:gd name="adj1" fmla="val 44459"/>
              <a:gd name="adj2" fmla="val 50000"/>
            </a:avLst>
          </a:prstGeom>
          <a:noFill/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5237" name="Text Box 10"/>
          <p:cNvSpPr txBox="1"/>
          <p:nvPr/>
        </p:nvSpPr>
        <p:spPr>
          <a:xfrm>
            <a:off x="6609052" y="2973243"/>
            <a:ext cx="18351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初始条件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65238" name="文本框 265237"/>
          <p:cNvSpPr txBox="1"/>
          <p:nvPr/>
        </p:nvSpPr>
        <p:spPr>
          <a:xfrm>
            <a:off x="2243466" y="2582718"/>
            <a:ext cx="553998" cy="14732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定解问题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5239" name="文本框 265238"/>
          <p:cNvSpPr txBox="1"/>
          <p:nvPr/>
        </p:nvSpPr>
        <p:spPr>
          <a:xfrm>
            <a:off x="1362364" y="4436918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讨论：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6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6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6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6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2" grpId="0"/>
      <p:bldP spid="265223" grpId="0"/>
      <p:bldP spid="265230" grpId="0" bldLvl="0" animBg="1"/>
      <p:bldP spid="265232" grpId="0"/>
      <p:bldP spid="31763" grpId="0"/>
      <p:bldP spid="265236" grpId="0" bldLvl="0" animBg="1"/>
      <p:bldP spid="265237" grpId="0"/>
      <p:bldP spid="265238" grpId="0"/>
      <p:bldP spid="26523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6"/>
          <p:cNvSpPr/>
          <p:nvPr/>
        </p:nvSpPr>
        <p:spPr>
          <a:xfrm>
            <a:off x="2351088" y="836613"/>
            <a:ext cx="6972300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注：容易看出</a:t>
            </a:r>
            <a:r>
              <a:rPr lang="en-US" altLang="zh-CN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一维波动方程的两族特征线 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2" name="Rectangle 7"/>
          <p:cNvSpPr/>
          <p:nvPr/>
        </p:nvSpPr>
        <p:spPr>
          <a:xfrm>
            <a:off x="6003635" y="2774434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5843" name="Object 8"/>
          <p:cNvGraphicFramePr>
            <a:graphicFrameLocks noChangeAspect="1"/>
          </p:cNvGraphicFramePr>
          <p:nvPr/>
        </p:nvGraphicFramePr>
        <p:xfrm>
          <a:off x="5087939" y="1773239"/>
          <a:ext cx="216058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981200" imgH="393700" progId="Equation.DSMT4">
                  <p:embed/>
                </p:oleObj>
              </mc:Choice>
              <mc:Fallback>
                <p:oleObj name="" r:id="rId1" imgW="1981200" imgH="3937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87939" y="1773239"/>
                        <a:ext cx="2160587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Rectangle 9"/>
          <p:cNvSpPr/>
          <p:nvPr/>
        </p:nvSpPr>
        <p:spPr>
          <a:xfrm>
            <a:off x="6003635" y="2679184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5845" name="Group 10"/>
          <p:cNvGrpSpPr/>
          <p:nvPr/>
        </p:nvGrpSpPr>
        <p:grpSpPr>
          <a:xfrm>
            <a:off x="2422525" y="2493964"/>
            <a:ext cx="7251700" cy="649287"/>
            <a:chOff x="612" y="2341"/>
            <a:chExt cx="4568" cy="409"/>
          </a:xfrm>
        </p:grpSpPr>
        <p:sp>
          <p:nvSpPr>
            <p:cNvPr id="35846" name="Rectangle 11"/>
            <p:cNvSpPr/>
            <p:nvPr/>
          </p:nvSpPr>
          <p:spPr>
            <a:xfrm>
              <a:off x="612" y="2387"/>
              <a:ext cx="456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33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恰好是常微分方程                 的解。</a:t>
              </a: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5847" name="Object 12"/>
            <p:cNvGraphicFramePr/>
            <p:nvPr/>
          </p:nvGraphicFramePr>
          <p:xfrm>
            <a:off x="2562" y="2341"/>
            <a:ext cx="1759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270000" imgH="279400" progId="Equation.DSMT4">
                    <p:embed/>
                  </p:oleObj>
                </mc:Choice>
                <mc:Fallback>
                  <p:oleObj name="" r:id="rId3" imgW="1270000" imgH="279400" progId="Equation.DSMT4">
                    <p:embed/>
                    <p:pic>
                      <p:nvPicPr>
                        <p:cNvPr id="0" name="Object 1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62" y="2341"/>
                          <a:ext cx="1759" cy="4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8" name="Rectangle 13"/>
          <p:cNvSpPr/>
          <p:nvPr/>
        </p:nvSpPr>
        <p:spPr>
          <a:xfrm>
            <a:off x="6003635" y="2739509"/>
            <a:ext cx="184731" cy="36933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9" name="Rectangle 15"/>
          <p:cNvSpPr/>
          <p:nvPr/>
        </p:nvSpPr>
        <p:spPr>
          <a:xfrm>
            <a:off x="2422526" y="3286126"/>
            <a:ext cx="5402263" cy="519113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这个常微分方程称为波动方程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5850" name="Object 16"/>
          <p:cNvGraphicFramePr>
            <a:graphicFrameLocks noChangeAspect="1"/>
          </p:cNvGraphicFramePr>
          <p:nvPr/>
        </p:nvGraphicFramePr>
        <p:xfrm>
          <a:off x="3502025" y="3935414"/>
          <a:ext cx="43815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4635500" imgH="482600" progId="Equation.DSMT4">
                  <p:embed/>
                </p:oleObj>
              </mc:Choice>
              <mc:Fallback>
                <p:oleObj name="" r:id="rId5" imgW="4635500" imgH="482600" progId="Equation.DSMT4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2025" y="3935414"/>
                        <a:ext cx="4381500" cy="49688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Rectangle 17"/>
          <p:cNvSpPr/>
          <p:nvPr/>
        </p:nvSpPr>
        <p:spPr>
          <a:xfrm>
            <a:off x="2422526" y="4654551"/>
            <a:ext cx="2416175" cy="519113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的特征方程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/>
          <p:nvPr/>
        </p:nvSpPr>
        <p:spPr>
          <a:xfrm>
            <a:off x="2351088" y="692151"/>
            <a:ext cx="762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48483" name="Object 3"/>
          <p:cNvGraphicFramePr>
            <a:graphicFrameLocks noChangeAspect="1"/>
          </p:cNvGraphicFramePr>
          <p:nvPr/>
        </p:nvGraphicFramePr>
        <p:xfrm>
          <a:off x="3121026" y="193675"/>
          <a:ext cx="375761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89100" imgH="800100" progId="Equation.DSMT4">
                  <p:embed/>
                </p:oleObj>
              </mc:Choice>
              <mc:Fallback>
                <p:oleObj name="" r:id="rId1" imgW="1689100" imgH="8001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21026" y="193675"/>
                        <a:ext cx="3757613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4" name="Object 4"/>
          <p:cNvGraphicFramePr>
            <a:graphicFrameLocks noChangeAspect="1"/>
          </p:cNvGraphicFramePr>
          <p:nvPr/>
        </p:nvGraphicFramePr>
        <p:xfrm>
          <a:off x="3432175" y="1844675"/>
          <a:ext cx="33861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586865" imgH="215900" progId="Equation.3">
                  <p:embed/>
                </p:oleObj>
              </mc:Choice>
              <mc:Fallback>
                <p:oleObj name="" r:id="rId3" imgW="1586865" imgH="2159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32175" y="1844675"/>
                        <a:ext cx="3386138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5" name="Text Box 5"/>
          <p:cNvSpPr txBox="1"/>
          <p:nvPr/>
        </p:nvSpPr>
        <p:spPr>
          <a:xfrm>
            <a:off x="2351088" y="1828801"/>
            <a:ext cx="14589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48486" name="Object 6"/>
          <p:cNvGraphicFramePr>
            <a:graphicFrameLocks noChangeAspect="1"/>
          </p:cNvGraphicFramePr>
          <p:nvPr/>
        </p:nvGraphicFramePr>
        <p:xfrm>
          <a:off x="3429000" y="2438400"/>
          <a:ext cx="6457950" cy="298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781300" imgH="1447800" progId="Equation.3">
                  <p:embed/>
                </p:oleObj>
              </mc:Choice>
              <mc:Fallback>
                <p:oleObj name="" r:id="rId5" imgW="2781300" imgH="14478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29000" y="2438400"/>
                        <a:ext cx="6457950" cy="298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7" name="Object 7"/>
          <p:cNvGraphicFramePr>
            <a:graphicFrameLocks noChangeAspect="1"/>
          </p:cNvGraphicFramePr>
          <p:nvPr/>
        </p:nvGraphicFramePr>
        <p:xfrm>
          <a:off x="3505200" y="5410200"/>
          <a:ext cx="582453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2730500" imgH="393700" progId="Equation.3">
                  <p:embed/>
                </p:oleObj>
              </mc:Choice>
              <mc:Fallback>
                <p:oleObj name="" r:id="rId7" imgW="2730500" imgH="393700" progId="Equation.3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5200" y="5410200"/>
                        <a:ext cx="5824538" cy="89535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/>
      <p:bldP spid="14848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819" name="Object 3"/>
          <p:cNvGraphicFramePr>
            <a:graphicFrameLocks noChangeAspect="1"/>
          </p:cNvGraphicFramePr>
          <p:nvPr/>
        </p:nvGraphicFramePr>
        <p:xfrm>
          <a:off x="3503613" y="981075"/>
          <a:ext cx="5903912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832100" imgH="1308100" progId="Equation.DSMT4">
                  <p:embed/>
                </p:oleObj>
              </mc:Choice>
              <mc:Fallback>
                <p:oleObj name="" r:id="rId1" imgW="2832100" imgH="13081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3613" y="981075"/>
                        <a:ext cx="5903912" cy="2533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20" name="Text Box 4"/>
          <p:cNvSpPr txBox="1"/>
          <p:nvPr/>
        </p:nvSpPr>
        <p:spPr>
          <a:xfrm>
            <a:off x="2351088" y="3733801"/>
            <a:ext cx="20685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我们先考虑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2821" name="Object 5"/>
          <p:cNvGraphicFramePr>
            <a:graphicFrameLocks noChangeAspect="1"/>
          </p:cNvGraphicFramePr>
          <p:nvPr/>
        </p:nvGraphicFramePr>
        <p:xfrm>
          <a:off x="4224338" y="3789363"/>
          <a:ext cx="11668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596900" imgH="228600" progId="Equation.DSMT4">
                  <p:embed/>
                </p:oleObj>
              </mc:Choice>
              <mc:Fallback>
                <p:oleObj name="" r:id="rId3" imgW="596900" imgH="2286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4338" y="3789363"/>
                        <a:ext cx="1166812" cy="44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22" name="Text Box 6"/>
          <p:cNvSpPr txBox="1"/>
          <p:nvPr/>
        </p:nvSpPr>
        <p:spPr>
          <a:xfrm>
            <a:off x="5303839" y="3716338"/>
            <a:ext cx="51847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情形，即端点固定的振动。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2823" name="Text Box 7"/>
          <p:cNvSpPr txBox="1"/>
          <p:nvPr/>
        </p:nvSpPr>
        <p:spPr>
          <a:xfrm>
            <a:off x="2351088" y="4365626"/>
            <a:ext cx="54165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希望能利用达朗贝尔公式来求解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2824" name="Object 8"/>
          <p:cNvGraphicFramePr>
            <a:graphicFrameLocks noChangeAspect="1"/>
          </p:cNvGraphicFramePr>
          <p:nvPr/>
        </p:nvGraphicFramePr>
        <p:xfrm>
          <a:off x="2501900" y="5129213"/>
          <a:ext cx="7265988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479800" imgH="457200" progId="Equation.DSMT4">
                  <p:embed/>
                </p:oleObj>
              </mc:Choice>
              <mc:Fallback>
                <p:oleObj name="" r:id="rId5" imgW="3479800" imgH="4572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1900" y="5129213"/>
                        <a:ext cx="7265988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Rectangle 10"/>
          <p:cNvSpPr/>
          <p:nvPr/>
        </p:nvSpPr>
        <p:spPr>
          <a:xfrm>
            <a:off x="2063751" y="352425"/>
            <a:ext cx="5688013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</a:t>
            </a: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半无界弦的自由振动问题</a:t>
            </a:r>
            <a:endParaRPr lang="zh-CN" altLang="en-US" sz="3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2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2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0" grpId="0"/>
      <p:bldP spid="162822" grpId="0"/>
      <p:bldP spid="1628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2"/>
          <p:cNvSpPr txBox="1"/>
          <p:nvPr/>
        </p:nvSpPr>
        <p:spPr>
          <a:xfrm>
            <a:off x="1919289" y="404813"/>
            <a:ext cx="705643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为此，我们要作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奇延拓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有时也作偶延拓</a:t>
            </a: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3844" name="Object 4"/>
          <p:cNvGraphicFramePr>
            <a:graphicFrameLocks noChangeAspect="1"/>
          </p:cNvGraphicFramePr>
          <p:nvPr/>
        </p:nvGraphicFramePr>
        <p:xfrm>
          <a:off x="1919289" y="1341439"/>
          <a:ext cx="4505325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159000" imgH="533400" progId="Equation.DSMT4">
                  <p:embed/>
                </p:oleObj>
              </mc:Choice>
              <mc:Fallback>
                <p:oleObj name="" r:id="rId1" imgW="2159000" imgH="5334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19289" y="1341439"/>
                        <a:ext cx="4505325" cy="111283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5" name="Object 5"/>
          <p:cNvGraphicFramePr>
            <a:graphicFrameLocks noChangeAspect="1"/>
          </p:cNvGraphicFramePr>
          <p:nvPr/>
        </p:nvGraphicFramePr>
        <p:xfrm>
          <a:off x="6578600" y="981076"/>
          <a:ext cx="35702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930400" imgH="533400" progId="Equation.DSMT4">
                  <p:embed/>
                </p:oleObj>
              </mc:Choice>
              <mc:Fallback>
                <p:oleObj name="" r:id="rId3" imgW="1930400" imgH="5334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78600" y="981076"/>
                        <a:ext cx="3570288" cy="9874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6" name="Object 6"/>
          <p:cNvGraphicFramePr>
            <a:graphicFrameLocks noChangeAspect="1"/>
          </p:cNvGraphicFramePr>
          <p:nvPr/>
        </p:nvGraphicFramePr>
        <p:xfrm>
          <a:off x="6600825" y="2070101"/>
          <a:ext cx="37782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955800" imgH="533400" progId="Equation.DSMT4">
                  <p:embed/>
                </p:oleObj>
              </mc:Choice>
              <mc:Fallback>
                <p:oleObj name="" r:id="rId5" imgW="1955800" imgH="5334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00825" y="2070101"/>
                        <a:ext cx="3778250" cy="8985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0" name="Object 10"/>
          <p:cNvGraphicFramePr>
            <a:graphicFrameLocks noChangeAspect="1"/>
          </p:cNvGraphicFramePr>
          <p:nvPr/>
        </p:nvGraphicFramePr>
        <p:xfrm>
          <a:off x="3216275" y="3068639"/>
          <a:ext cx="6211888" cy="198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2984500" imgH="1028700" progId="Equation.DSMT4">
                  <p:embed/>
                </p:oleObj>
              </mc:Choice>
              <mc:Fallback>
                <p:oleObj name="" r:id="rId7" imgW="2984500" imgH="10287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16275" y="3068639"/>
                        <a:ext cx="6211888" cy="198913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1" name="AutoShape 11"/>
          <p:cNvSpPr/>
          <p:nvPr/>
        </p:nvSpPr>
        <p:spPr>
          <a:xfrm>
            <a:off x="2424113" y="3500438"/>
            <a:ext cx="685800" cy="6858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52" name="AutoShape 12"/>
          <p:cNvSpPr/>
          <p:nvPr/>
        </p:nvSpPr>
        <p:spPr>
          <a:xfrm>
            <a:off x="2424113" y="5300663"/>
            <a:ext cx="685800" cy="476250"/>
          </a:xfrm>
          <a:prstGeom prst="rightArrow">
            <a:avLst>
              <a:gd name="adj1" fmla="val 50000"/>
              <a:gd name="adj2" fmla="val 35986"/>
            </a:avLst>
          </a:prstGeom>
          <a:solidFill>
            <a:srgbClr val="FFFF00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3853" name="Object 13"/>
          <p:cNvGraphicFramePr>
            <a:graphicFrameLocks noChangeAspect="1"/>
          </p:cNvGraphicFramePr>
          <p:nvPr/>
        </p:nvGraphicFramePr>
        <p:xfrm>
          <a:off x="3190876" y="5229225"/>
          <a:ext cx="7477125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3670300" imgH="444500" progId="Equation.DSMT4">
                  <p:embed/>
                </p:oleObj>
              </mc:Choice>
              <mc:Fallback>
                <p:oleObj name="" r:id="rId9" imgW="3670300" imgH="4445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90876" y="5229225"/>
                        <a:ext cx="7477125" cy="87153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2" grpId="0"/>
      <p:bldP spid="163851" grpId="0" animBg="1"/>
      <p:bldP spid="16385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ext Box 2"/>
          <p:cNvSpPr txBox="1"/>
          <p:nvPr/>
        </p:nvSpPr>
        <p:spPr>
          <a:xfrm>
            <a:off x="2135188" y="533401"/>
            <a:ext cx="58658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半无界问题的解为：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4868" name="Text Box 4"/>
          <p:cNvSpPr txBox="1"/>
          <p:nvPr/>
        </p:nvSpPr>
        <p:spPr>
          <a:xfrm>
            <a:off x="2667000" y="1143001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4869" name="Object 5"/>
          <p:cNvGraphicFramePr>
            <a:graphicFrameLocks noChangeAspect="1"/>
          </p:cNvGraphicFramePr>
          <p:nvPr/>
        </p:nvGraphicFramePr>
        <p:xfrm>
          <a:off x="3287714" y="1196975"/>
          <a:ext cx="10810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481965" imgH="177800" progId="Equation.DSMT4">
                  <p:embed/>
                </p:oleObj>
              </mc:Choice>
              <mc:Fallback>
                <p:oleObj name="" r:id="rId1" imgW="481965" imgH="1778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7714" y="1196975"/>
                        <a:ext cx="1081087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0" name="Text Box 6"/>
          <p:cNvSpPr txBox="1"/>
          <p:nvPr/>
        </p:nvSpPr>
        <p:spPr>
          <a:xfrm>
            <a:off x="4440238" y="1125538"/>
            <a:ext cx="762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71" name="Text Box 7"/>
          <p:cNvSpPr txBox="1"/>
          <p:nvPr/>
        </p:nvSpPr>
        <p:spPr>
          <a:xfrm>
            <a:off x="2640013" y="2781301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4872" name="Object 8"/>
          <p:cNvGraphicFramePr>
            <a:graphicFrameLocks noChangeAspect="1"/>
          </p:cNvGraphicFramePr>
          <p:nvPr/>
        </p:nvGraphicFramePr>
        <p:xfrm>
          <a:off x="3143250" y="2852739"/>
          <a:ext cx="15319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23900" imgH="190500" progId="Equation.DSMT4">
                  <p:embed/>
                </p:oleObj>
              </mc:Choice>
              <mc:Fallback>
                <p:oleObj name="" r:id="rId3" imgW="723900" imgH="1905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3250" y="2852739"/>
                        <a:ext cx="1531938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3" name="Text Box 9"/>
          <p:cNvSpPr txBox="1"/>
          <p:nvPr/>
        </p:nvSpPr>
        <p:spPr>
          <a:xfrm>
            <a:off x="4800601" y="2781301"/>
            <a:ext cx="9366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4874" name="Object 10"/>
          <p:cNvGraphicFramePr>
            <a:graphicFrameLocks noChangeAspect="1"/>
          </p:cNvGraphicFramePr>
          <p:nvPr/>
        </p:nvGraphicFramePr>
        <p:xfrm>
          <a:off x="2782889" y="1773239"/>
          <a:ext cx="7488237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517900" imgH="444500" progId="Equation.DSMT4">
                  <p:embed/>
                </p:oleObj>
              </mc:Choice>
              <mc:Fallback>
                <p:oleObj name="" r:id="rId5" imgW="3517900" imgH="4445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2889" y="1773239"/>
                        <a:ext cx="7488237" cy="9540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5" name="Object 11"/>
          <p:cNvGraphicFramePr>
            <a:graphicFrameLocks noChangeAspect="1"/>
          </p:cNvGraphicFramePr>
          <p:nvPr/>
        </p:nvGraphicFramePr>
        <p:xfrm>
          <a:off x="2711451" y="3573463"/>
          <a:ext cx="74263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517900" imgH="444500" progId="Equation.DSMT4">
                  <p:embed/>
                </p:oleObj>
              </mc:Choice>
              <mc:Fallback>
                <p:oleObj name="" r:id="rId7" imgW="3517900" imgH="4445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1451" y="3573463"/>
                        <a:ext cx="7426325" cy="939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6" grpId="0"/>
      <p:bldP spid="164868" grpId="0"/>
      <p:bldP spid="164870" grpId="0"/>
      <p:bldP spid="164871" grpId="0"/>
      <p:bldP spid="16487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/>
          <p:nvPr/>
        </p:nvSpPr>
        <p:spPr>
          <a:xfrm>
            <a:off x="2743200" y="685801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endParaRPr lang="zh-CN" altLang="en-US" sz="2800" dirty="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5891" name="Object 3"/>
          <p:cNvGraphicFramePr>
            <a:graphicFrameLocks noChangeAspect="1"/>
          </p:cNvGraphicFramePr>
          <p:nvPr/>
        </p:nvGraphicFramePr>
        <p:xfrm>
          <a:off x="3503614" y="260351"/>
          <a:ext cx="5030787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133600" imgH="1130300" progId="Equation.DSMT4">
                  <p:embed/>
                </p:oleObj>
              </mc:Choice>
              <mc:Fallback>
                <p:oleObj name="" r:id="rId1" imgW="2133600" imgH="11303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3614" y="260351"/>
                        <a:ext cx="5030787" cy="2397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87" name="Group 12"/>
          <p:cNvGrpSpPr/>
          <p:nvPr/>
        </p:nvGrpSpPr>
        <p:grpSpPr>
          <a:xfrm>
            <a:off x="1811339" y="2636838"/>
            <a:ext cx="8650287" cy="3181350"/>
            <a:chOff x="181" y="1661"/>
            <a:chExt cx="5449" cy="2004"/>
          </a:xfrm>
        </p:grpSpPr>
        <p:graphicFrame>
          <p:nvGraphicFramePr>
            <p:cNvPr id="41988" name="Object 4"/>
            <p:cNvGraphicFramePr>
              <a:graphicFrameLocks noChangeAspect="1"/>
            </p:cNvGraphicFramePr>
            <p:nvPr/>
          </p:nvGraphicFramePr>
          <p:xfrm>
            <a:off x="1020" y="1706"/>
            <a:ext cx="13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091565" imgH="215900" progId="Equation.DSMT4">
                    <p:embed/>
                  </p:oleObj>
                </mc:Choice>
                <mc:Fallback>
                  <p:oleObj name="" r:id="rId3" imgW="1091565" imgH="2159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20" y="1706"/>
                          <a:ext cx="1376" cy="272"/>
                        </a:xfrm>
                        <a:prstGeom prst="rect">
                          <a:avLst/>
                        </a:prstGeom>
                        <a:solidFill>
                          <a:srgbClr val="CCFFFF">
                            <a:alpha val="50195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89" name="Text Box 5"/>
            <p:cNvSpPr txBox="1"/>
            <p:nvPr/>
          </p:nvSpPr>
          <p:spPr>
            <a:xfrm>
              <a:off x="703" y="1661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当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41990" name="Object 6"/>
            <p:cNvGraphicFramePr>
              <a:graphicFrameLocks noChangeAspect="1"/>
            </p:cNvGraphicFramePr>
            <p:nvPr/>
          </p:nvGraphicFramePr>
          <p:xfrm>
            <a:off x="181" y="1982"/>
            <a:ext cx="3833" cy="5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3086100" imgH="444500" progId="Equation.DSMT4">
                    <p:embed/>
                  </p:oleObj>
                </mc:Choice>
                <mc:Fallback>
                  <p:oleObj name="" r:id="rId5" imgW="3086100" imgH="444500" progId="Equation.DSMT4">
                    <p:embed/>
                    <p:pic>
                      <p:nvPicPr>
                        <p:cNvPr id="0" name="Object 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1" y="1982"/>
                          <a:ext cx="3833" cy="5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1" name="Object 7"/>
            <p:cNvGraphicFramePr>
              <a:graphicFrameLocks noChangeAspect="1"/>
            </p:cNvGraphicFramePr>
            <p:nvPr/>
          </p:nvGraphicFramePr>
          <p:xfrm>
            <a:off x="4014" y="2069"/>
            <a:ext cx="161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295400" imgH="228600" progId="Equation.DSMT4">
                    <p:embed/>
                  </p:oleObj>
                </mc:Choice>
                <mc:Fallback>
                  <p:oleObj name="" r:id="rId7" imgW="1295400" imgH="228600" progId="Equation.DSMT4">
                    <p:embed/>
                    <p:pic>
                      <p:nvPicPr>
                        <p:cNvPr id="0" name="Object 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14" y="2069"/>
                          <a:ext cx="1616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2" name="Object 8"/>
            <p:cNvGraphicFramePr>
              <a:graphicFrameLocks noChangeAspect="1"/>
            </p:cNvGraphicFramePr>
            <p:nvPr/>
          </p:nvGraphicFramePr>
          <p:xfrm>
            <a:off x="1066" y="2689"/>
            <a:ext cx="1360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091565" imgH="215900" progId="Equation.DSMT4">
                    <p:embed/>
                  </p:oleObj>
                </mc:Choice>
                <mc:Fallback>
                  <p:oleObj name="" r:id="rId9" imgW="1091565" imgH="215900" progId="Equation.DSMT4">
                    <p:embed/>
                    <p:pic>
                      <p:nvPicPr>
                        <p:cNvPr id="0" name="Object 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66" y="2689"/>
                          <a:ext cx="1360" cy="268"/>
                        </a:xfrm>
                        <a:prstGeom prst="rect">
                          <a:avLst/>
                        </a:prstGeom>
                        <a:solidFill>
                          <a:srgbClr val="CCFFFF">
                            <a:alpha val="50195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3" name="Text Box 9"/>
            <p:cNvSpPr txBox="1"/>
            <p:nvPr/>
          </p:nvSpPr>
          <p:spPr>
            <a:xfrm>
              <a:off x="748" y="2659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33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当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41994" name="Object 10"/>
            <p:cNvGraphicFramePr>
              <a:graphicFrameLocks noChangeAspect="1"/>
            </p:cNvGraphicFramePr>
            <p:nvPr/>
          </p:nvGraphicFramePr>
          <p:xfrm>
            <a:off x="205" y="3052"/>
            <a:ext cx="3990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3086100" imgH="444500" progId="Equation.DSMT4">
                    <p:embed/>
                  </p:oleObj>
                </mc:Choice>
                <mc:Fallback>
                  <p:oleObj name="" r:id="rId11" imgW="3086100" imgH="444500" progId="Equation.DSMT4">
                    <p:embed/>
                    <p:pic>
                      <p:nvPicPr>
                        <p:cNvPr id="0" name="Object 1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5" y="3052"/>
                          <a:ext cx="3990" cy="6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5" name="Object 11"/>
            <p:cNvGraphicFramePr>
              <a:graphicFrameLocks noChangeAspect="1"/>
            </p:cNvGraphicFramePr>
            <p:nvPr/>
          </p:nvGraphicFramePr>
          <p:xfrm>
            <a:off x="4195" y="3158"/>
            <a:ext cx="74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444500" imgH="190500" progId="Equation.DSMT4">
                    <p:embed/>
                  </p:oleObj>
                </mc:Choice>
                <mc:Fallback>
                  <p:oleObj name="" r:id="rId13" imgW="444500" imgH="190500" progId="Equation.DSMT4">
                    <p:embed/>
                    <p:pic>
                      <p:nvPicPr>
                        <p:cNvPr id="0" name="Object 1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195" y="3158"/>
                          <a:ext cx="749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4" name="Text Box 2"/>
          <p:cNvSpPr txBox="1"/>
          <p:nvPr/>
        </p:nvSpPr>
        <p:spPr>
          <a:xfrm>
            <a:off x="1304090" y="388828"/>
            <a:ext cx="57190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端点的反射：</a:t>
            </a:r>
            <a:endParaRPr lang="zh-CN" altLang="en-US" sz="36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68295" name="Text Box 3"/>
          <p:cNvSpPr txBox="1"/>
          <p:nvPr/>
        </p:nvSpPr>
        <p:spPr>
          <a:xfrm>
            <a:off x="3980325" y="388828"/>
            <a:ext cx="3625850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u="sng" dirty="0">
                <a:latin typeface="Arial" panose="020B0604020202020204" pitchFamily="34" charset="0"/>
                <a:ea typeface="仿宋_GB2312" pitchFamily="49" charset="-122"/>
              </a:rPr>
              <a:t>端点自由</a:t>
            </a:r>
            <a:endParaRPr lang="zh-CN" altLang="en-US" sz="3600" u="sng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graphicFrame>
        <p:nvGraphicFramePr>
          <p:cNvPr id="268296" name="Object 4"/>
          <p:cNvGraphicFramePr/>
          <p:nvPr/>
        </p:nvGraphicFramePr>
        <p:xfrm>
          <a:off x="3517901" y="1931411"/>
          <a:ext cx="324167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1319530" imgH="355600" progId="Equation.DSMT4">
                  <p:embed/>
                </p:oleObj>
              </mc:Choice>
              <mc:Fallback>
                <p:oleObj name="" r:id="rId1" imgW="1319530" imgH="3556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17901" y="1931411"/>
                        <a:ext cx="3241675" cy="709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7" name="Object 5"/>
          <p:cNvGraphicFramePr/>
          <p:nvPr/>
        </p:nvGraphicFramePr>
        <p:xfrm>
          <a:off x="7023100" y="2134612"/>
          <a:ext cx="13081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633730" imgH="177800" progId="Equation.DSMT4">
                  <p:embed/>
                </p:oleObj>
              </mc:Choice>
              <mc:Fallback>
                <p:oleObj name="" r:id="rId3" imgW="633730" imgH="1778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23100" y="2134612"/>
                        <a:ext cx="130810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8" name="Object 7"/>
          <p:cNvGraphicFramePr/>
          <p:nvPr/>
        </p:nvGraphicFramePr>
        <p:xfrm>
          <a:off x="3587750" y="2714048"/>
          <a:ext cx="15557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685165" imgH="215900" progId="Equation.DSMT4">
                  <p:embed/>
                </p:oleObj>
              </mc:Choice>
              <mc:Fallback>
                <p:oleObj name="" r:id="rId5" imgW="685165" imgH="2159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87750" y="2714048"/>
                        <a:ext cx="155575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9" name="Object 9"/>
          <p:cNvGraphicFramePr/>
          <p:nvPr/>
        </p:nvGraphicFramePr>
        <p:xfrm>
          <a:off x="5334000" y="2750562"/>
          <a:ext cx="15494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735330" imgH="215900" progId="Equation.DSMT4">
                  <p:embed/>
                </p:oleObj>
              </mc:Choice>
              <mc:Fallback>
                <p:oleObj name="" r:id="rId7" imgW="735330" imgH="2159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4000" y="2750562"/>
                        <a:ext cx="1549400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0" name="Text Box 10"/>
          <p:cNvSpPr txBox="1"/>
          <p:nvPr/>
        </p:nvSpPr>
        <p:spPr>
          <a:xfrm>
            <a:off x="4865689" y="3368099"/>
            <a:ext cx="1565275" cy="466725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边界条件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graphicFrame>
        <p:nvGraphicFramePr>
          <p:cNvPr id="268301" name="Object 11"/>
          <p:cNvGraphicFramePr/>
          <p:nvPr/>
        </p:nvGraphicFramePr>
        <p:xfrm>
          <a:off x="3598863" y="3399849"/>
          <a:ext cx="12128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570865" imgH="215900" progId="Equation.DSMT4">
                  <p:embed/>
                </p:oleObj>
              </mc:Choice>
              <mc:Fallback>
                <p:oleObj name="" r:id="rId9" imgW="570865" imgH="2159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98863" y="3399849"/>
                        <a:ext cx="1212850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2" name="AutoShape 24"/>
          <p:cNvSpPr/>
          <p:nvPr/>
        </p:nvSpPr>
        <p:spPr>
          <a:xfrm>
            <a:off x="3159126" y="2234624"/>
            <a:ext cx="288925" cy="1541463"/>
          </a:xfrm>
          <a:prstGeom prst="leftBrace">
            <a:avLst>
              <a:gd name="adj1" fmla="val 44459"/>
              <a:gd name="adj2" fmla="val 50000"/>
            </a:avLst>
          </a:prstGeom>
          <a:noFill/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8303" name="Text Box 10"/>
          <p:cNvSpPr txBox="1"/>
          <p:nvPr/>
        </p:nvSpPr>
        <p:spPr>
          <a:xfrm>
            <a:off x="6948488" y="2720398"/>
            <a:ext cx="18351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初始条件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68304" name="文本框 268303"/>
          <p:cNvSpPr txBox="1"/>
          <p:nvPr/>
        </p:nvSpPr>
        <p:spPr>
          <a:xfrm>
            <a:off x="2582902" y="2329873"/>
            <a:ext cx="553998" cy="1752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定解问题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8306" name="文本框 268305"/>
          <p:cNvSpPr txBox="1"/>
          <p:nvPr/>
        </p:nvSpPr>
        <p:spPr>
          <a:xfrm>
            <a:off x="2603500" y="4184073"/>
            <a:ext cx="52578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在此边界条件下，如何做延拓？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6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6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6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68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68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6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4" grpId="0"/>
      <p:bldP spid="268295" grpId="0"/>
      <p:bldP spid="268300" grpId="0" bldLvl="0" animBg="1"/>
      <p:bldP spid="268302" grpId="0" bldLvl="0" animBg="1"/>
      <p:bldP spid="268303" grpId="0"/>
      <p:bldP spid="268304" grpId="0"/>
      <p:bldP spid="26830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8" name="Text Box 11"/>
          <p:cNvSpPr txBox="1"/>
          <p:nvPr/>
        </p:nvSpPr>
        <p:spPr>
          <a:xfrm>
            <a:off x="1804989" y="479425"/>
            <a:ext cx="1716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做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偶延拓</a:t>
            </a:r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：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graphicFrame>
        <p:nvGraphicFramePr>
          <p:cNvPr id="272389" name="Object 12"/>
          <p:cNvGraphicFramePr/>
          <p:nvPr/>
        </p:nvGraphicFramePr>
        <p:xfrm>
          <a:off x="2776538" y="965200"/>
          <a:ext cx="32766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1574165" imgH="393700" progId="Equation.DSMT4">
                  <p:embed/>
                </p:oleObj>
              </mc:Choice>
              <mc:Fallback>
                <p:oleObj name="" r:id="rId1" imgW="1574165" imgH="3937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6538" y="965200"/>
                        <a:ext cx="3276600" cy="819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0" name="Object 13"/>
          <p:cNvGraphicFramePr/>
          <p:nvPr/>
        </p:nvGraphicFramePr>
        <p:xfrm>
          <a:off x="6243638" y="965201"/>
          <a:ext cx="32766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599565" imgH="393700" progId="Equation.DSMT4">
                  <p:embed/>
                </p:oleObj>
              </mc:Choice>
              <mc:Fallback>
                <p:oleObj name="" r:id="rId3" imgW="1599565" imgH="3937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43638" y="965201"/>
                        <a:ext cx="3276600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1" name="Object 14"/>
          <p:cNvGraphicFramePr/>
          <p:nvPr/>
        </p:nvGraphicFramePr>
        <p:xfrm>
          <a:off x="2516188" y="2667001"/>
          <a:ext cx="70421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2727960" imgH="405765" progId="Equation.DSMT4">
                  <p:embed/>
                </p:oleObj>
              </mc:Choice>
              <mc:Fallback>
                <p:oleObj name="" r:id="rId5" imgW="2727960" imgH="405765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6188" y="2667001"/>
                        <a:ext cx="7042150" cy="82232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2" name="Object 15"/>
          <p:cNvGraphicFramePr/>
          <p:nvPr/>
        </p:nvGraphicFramePr>
        <p:xfrm>
          <a:off x="1752600" y="4351338"/>
          <a:ext cx="8688388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4216400" imgH="825500" progId="Equation.DSMT4">
                  <p:embed/>
                </p:oleObj>
              </mc:Choice>
              <mc:Fallback>
                <p:oleObj name="" r:id="rId7" imgW="4216400" imgH="825500" progId="Equation.DSMT4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52600" y="4351338"/>
                        <a:ext cx="8688388" cy="165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3" name="Text Box 11"/>
          <p:cNvSpPr txBox="1"/>
          <p:nvPr/>
        </p:nvSpPr>
        <p:spPr>
          <a:xfrm>
            <a:off x="1792289" y="2028825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达朗贝尔解：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72394" name="Text Box 11"/>
          <p:cNvSpPr txBox="1"/>
          <p:nvPr/>
        </p:nvSpPr>
        <p:spPr>
          <a:xfrm>
            <a:off x="1868489" y="3794125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仿宋_GB2312" pitchFamily="49" charset="-122"/>
              </a:rPr>
              <a:t>定解问题解：</a:t>
            </a:r>
            <a:endParaRPr lang="zh-CN" altLang="en-US" sz="2400" dirty="0">
              <a:latin typeface="Arial" panose="020B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8" grpId="0"/>
      <p:bldP spid="272393" grpId="0"/>
      <p:bldP spid="272394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PP_MARK_KEY" val="fa891ce3-655c-4d00-add9-2849e16b941a"/>
  <p:tag name="COMMONDATA" val="eyJoZGlkIjoiY2YyZjYwNzZkOTRlODhkYjczZjVjNjg3YTAxMjY4NDkifQ=="/>
</p:tagLst>
</file>

<file path=ppt/theme/theme1.xml><?xml version="1.0" encoding="utf-8"?>
<a:theme xmlns:a="http://schemas.openxmlformats.org/drawingml/2006/main" name="1_Office 主题​​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2370</Words>
  <Application>WPS 演示</Application>
  <PresentationFormat>宽屏</PresentationFormat>
  <Paragraphs>595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118</vt:i4>
      </vt:variant>
      <vt:variant>
        <vt:lpstr>幻灯片标题</vt:lpstr>
      </vt:variant>
      <vt:variant>
        <vt:i4>32</vt:i4>
      </vt:variant>
    </vt:vector>
  </HeadingPairs>
  <TitlesOfParts>
    <vt:vector size="168" baseType="lpstr">
      <vt:lpstr>Arial</vt:lpstr>
      <vt:lpstr>宋体</vt:lpstr>
      <vt:lpstr>Wingdings</vt:lpstr>
      <vt:lpstr>微软雅黑</vt:lpstr>
      <vt:lpstr>黑体</vt:lpstr>
      <vt:lpstr>楷体_GB2312</vt:lpstr>
      <vt:lpstr>新宋体</vt:lpstr>
      <vt:lpstr>Times New Roman</vt:lpstr>
      <vt:lpstr>Arial Unicode MS</vt:lpstr>
      <vt:lpstr>Calibri</vt:lpstr>
      <vt:lpstr>华文中宋</vt:lpstr>
      <vt:lpstr>仿宋_GB2312</vt:lpstr>
      <vt:lpstr>仿宋</vt:lpstr>
      <vt:lpstr>Verdana</vt:lpstr>
      <vt:lpstr>Symbol</vt:lpstr>
      <vt:lpstr>MT Extra</vt:lpstr>
      <vt:lpstr>方正毡笔黑简体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数学物理方法</vt:lpstr>
      <vt:lpstr>行波法解题要领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Ning</cp:lastModifiedBy>
  <cp:revision>299</cp:revision>
  <dcterms:created xsi:type="dcterms:W3CDTF">2019-06-19T02:08:00Z</dcterms:created>
  <dcterms:modified xsi:type="dcterms:W3CDTF">2025-10-14T01:48:53Z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CB8DF65163814ABA8D65E4C2296FDAD9_13</vt:lpwstr>
  </property>
</Properties>
</file>