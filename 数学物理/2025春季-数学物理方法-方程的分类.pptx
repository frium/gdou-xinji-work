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09" r:id="rId3"/>
    <p:sldId id="696" r:id="rId4"/>
    <p:sldId id="294" r:id="rId6"/>
    <p:sldId id="653" r:id="rId7"/>
    <p:sldId id="654" r:id="rId8"/>
    <p:sldId id="655" r:id="rId9"/>
    <p:sldId id="656" r:id="rId10"/>
    <p:sldId id="657" r:id="rId11"/>
    <p:sldId id="658" r:id="rId12"/>
    <p:sldId id="708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" y="110"/>
      </p:cViewPr>
      <p:guideLst>
        <p:guide orient="horz" pos="2131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6" Type="http://schemas.openxmlformats.org/officeDocument/2006/relationships/tags" Target="tags/tag75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.wmf"/><Relationship Id="rId8" Type="http://schemas.openxmlformats.org/officeDocument/2006/relationships/image" Target="../media/image37.wmf"/><Relationship Id="rId7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0" Type="http://schemas.openxmlformats.org/officeDocument/2006/relationships/image" Target="../media/image39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image" Target="../media/image52.wmf"/><Relationship Id="rId7" Type="http://schemas.openxmlformats.org/officeDocument/2006/relationships/image" Target="../media/image51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3.wmf"/><Relationship Id="rId2" Type="http://schemas.openxmlformats.org/officeDocument/2006/relationships/image" Target="../media/image55.wmf"/><Relationship Id="rId10" Type="http://schemas.openxmlformats.org/officeDocument/2006/relationships/image" Target="../media/image62.wmf"/><Relationship Id="rId1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wmf"/><Relationship Id="rId3" Type="http://schemas.openxmlformats.org/officeDocument/2006/relationships/image" Target="../media/image65.e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87.wmf"/><Relationship Id="rId8" Type="http://schemas.openxmlformats.org/officeDocument/2006/relationships/image" Target="../media/image86.wmf"/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0" Type="http://schemas.openxmlformats.org/officeDocument/2006/relationships/image" Target="../media/image88.wmf"/><Relationship Id="rId1" Type="http://schemas.openxmlformats.org/officeDocument/2006/relationships/image" Target="../media/image7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94.wmf"/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40.wmf"/></Relationships>
</file>

<file path=ppt/drawings/_rels/vmlDrawing18.vml.rels><?xml version="1.0" encoding="UTF-8" standalone="yes"?>
<Relationships xmlns="http://schemas.openxmlformats.org/package/2006/relationships"><Relationship Id="rId5" Type="http://schemas.openxmlformats.org/officeDocument/2006/relationships/image" Target="../media/image99.wmf"/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20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3" Type="http://schemas.openxmlformats.org/officeDocument/2006/relationships/image" Target="../media/image97.wmf"/><Relationship Id="rId2" Type="http://schemas.openxmlformats.org/officeDocument/2006/relationships/image" Target="../media/image105.wmf"/><Relationship Id="rId1" Type="http://schemas.openxmlformats.org/officeDocument/2006/relationships/image" Target="../media/image95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2.e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2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2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27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2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BB4D1-3636-4DC6-BA37-41C7B9A525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AE650-E025-4D49-915D-EE9E1D39EBA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49570" name="幻灯片图像占位符 74956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9571" name="文本占位符 74957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1618" name="幻灯片图像占位符 75161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1619" name="文本占位符 7516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3666" name="幻灯片图像占位符 7536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3667" name="文本占位符 7536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5714" name="幻灯片图像占位符 75571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5715" name="文本占位符 7557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7762" name="幻灯片图像占位符 75776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63" name="文本占位符 75776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9810" name="幻灯片图像占位符 75980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9811" name="文本占位符 7598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61858" name="幻灯片图像占位符 76185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1859" name="文本占位符 76185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9605963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4900613" y="752475"/>
            <a:ext cx="2390775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2495600" y="1826578"/>
            <a:ext cx="7200800" cy="949878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2495600" y="2826092"/>
            <a:ext cx="72008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038475" y="2284413"/>
            <a:ext cx="6115050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1850" y="3373606"/>
            <a:ext cx="10515600" cy="1061467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2207568" y="4527773"/>
            <a:ext cx="7776864" cy="106146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FCB4D56-782D-442B-9B32-0BC325ED746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D269E1A-4DF9-4A6A-B519-38EBE42E33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9605963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726808" y="2313806"/>
            <a:ext cx="6738385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38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0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5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6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8.wmf"/><Relationship Id="rId12" Type="http://schemas.openxmlformats.org/officeDocument/2006/relationships/notesSlide" Target="../notesSlides/notesSlide3.xml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13.xml"/><Relationship Id="rId1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oleObject" Target="../embeddings/oleObject13.bin"/><Relationship Id="rId7" Type="http://schemas.openxmlformats.org/officeDocument/2006/relationships/image" Target="../media/image13.wmf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8.wmf"/><Relationship Id="rId12" Type="http://schemas.openxmlformats.org/officeDocument/2006/relationships/notesSlide" Target="../notesSlides/notesSlide4.xml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13.xml"/><Relationship Id="rId1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5.wmf"/><Relationship Id="rId11" Type="http://schemas.openxmlformats.org/officeDocument/2006/relationships/notesSlide" Target="../notesSlides/notesSlide5.xml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9.wmf"/><Relationship Id="rId15" Type="http://schemas.openxmlformats.org/officeDocument/2006/relationships/notesSlide" Target="../notesSlides/notesSlide6.xml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14.xml"/><Relationship Id="rId12" Type="http://schemas.openxmlformats.org/officeDocument/2006/relationships/image" Target="../media/image24.w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5.wmf"/><Relationship Id="rId13" Type="http://schemas.openxmlformats.org/officeDocument/2006/relationships/notesSlide" Target="../notesSlides/notesSlide7.xml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0.bin"/><Relationship Id="rId22" Type="http://schemas.openxmlformats.org/officeDocument/2006/relationships/vmlDrawing" Target="../drawings/vmlDrawing8.v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39.wmf"/><Relationship Id="rId2" Type="http://schemas.openxmlformats.org/officeDocument/2006/relationships/image" Target="../media/image30.wmf"/><Relationship Id="rId19" Type="http://schemas.openxmlformats.org/officeDocument/2006/relationships/oleObject" Target="../embeddings/oleObject38.bin"/><Relationship Id="rId18" Type="http://schemas.openxmlformats.org/officeDocument/2006/relationships/image" Target="../media/image38.wmf"/><Relationship Id="rId17" Type="http://schemas.openxmlformats.org/officeDocument/2006/relationships/oleObject" Target="../embeddings/oleObject37.bin"/><Relationship Id="rId16" Type="http://schemas.openxmlformats.org/officeDocument/2006/relationships/image" Target="../media/image37.wmf"/><Relationship Id="rId15" Type="http://schemas.openxmlformats.org/officeDocument/2006/relationships/oleObject" Target="../embeddings/oleObject36.bin"/><Relationship Id="rId14" Type="http://schemas.openxmlformats.org/officeDocument/2006/relationships/image" Target="../media/image36.wmf"/><Relationship Id="rId13" Type="http://schemas.openxmlformats.org/officeDocument/2006/relationships/oleObject" Target="../embeddings/oleObject35.bin"/><Relationship Id="rId12" Type="http://schemas.openxmlformats.org/officeDocument/2006/relationships/image" Target="../media/image35.w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0.w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39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48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5.bin"/><Relationship Id="rId20" Type="http://schemas.openxmlformats.org/officeDocument/2006/relationships/vmlDrawing" Target="../drawings/vmlDrawing10.vml"/><Relationship Id="rId2" Type="http://schemas.openxmlformats.org/officeDocument/2006/relationships/image" Target="../media/image45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53.wmf"/><Relationship Id="rId17" Type="http://schemas.openxmlformats.org/officeDocument/2006/relationships/oleObject" Target="../embeddings/oleObject52.bin"/><Relationship Id="rId16" Type="http://schemas.openxmlformats.org/officeDocument/2006/relationships/image" Target="../media/image52.wmf"/><Relationship Id="rId15" Type="http://schemas.openxmlformats.org/officeDocument/2006/relationships/oleObject" Target="../embeddings/oleObject51.bin"/><Relationship Id="rId14" Type="http://schemas.openxmlformats.org/officeDocument/2006/relationships/image" Target="../media/image51.wmf"/><Relationship Id="rId13" Type="http://schemas.openxmlformats.org/officeDocument/2006/relationships/oleObject" Target="../embeddings/oleObject50.bin"/><Relationship Id="rId12" Type="http://schemas.openxmlformats.org/officeDocument/2006/relationships/image" Target="../media/image50.wmf"/><Relationship Id="rId11" Type="http://schemas.openxmlformats.org/officeDocument/2006/relationships/oleObject" Target="../embeddings/oleObject49.bin"/><Relationship Id="rId10" Type="http://schemas.openxmlformats.org/officeDocument/2006/relationships/image" Target="../media/image49.wmf"/><Relationship Id="rId1" Type="http://schemas.openxmlformats.org/officeDocument/2006/relationships/oleObject" Target="../embeddings/oleObject44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4.bin"/><Relationship Id="rId22" Type="http://schemas.openxmlformats.org/officeDocument/2006/relationships/vmlDrawing" Target="../drawings/vmlDrawing11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62.wmf"/><Relationship Id="rId2" Type="http://schemas.openxmlformats.org/officeDocument/2006/relationships/image" Target="../media/image54.wmf"/><Relationship Id="rId19" Type="http://schemas.openxmlformats.org/officeDocument/2006/relationships/oleObject" Target="../embeddings/oleObject62.bin"/><Relationship Id="rId18" Type="http://schemas.openxmlformats.org/officeDocument/2006/relationships/image" Target="../media/image61.wmf"/><Relationship Id="rId17" Type="http://schemas.openxmlformats.org/officeDocument/2006/relationships/oleObject" Target="../embeddings/oleObject61.bin"/><Relationship Id="rId16" Type="http://schemas.openxmlformats.org/officeDocument/2006/relationships/image" Target="../media/image60.wmf"/><Relationship Id="rId15" Type="http://schemas.openxmlformats.org/officeDocument/2006/relationships/oleObject" Target="../embeddings/oleObject60.bin"/><Relationship Id="rId14" Type="http://schemas.openxmlformats.org/officeDocument/2006/relationships/image" Target="../media/image59.wmf"/><Relationship Id="rId13" Type="http://schemas.openxmlformats.org/officeDocument/2006/relationships/oleObject" Target="../embeddings/oleObject59.bin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58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5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image" Target="../media/image46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65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3.wmf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6.png"/><Relationship Id="rId1" Type="http://schemas.openxmlformats.org/officeDocument/2006/relationships/oleObject" Target="../embeddings/oleObject6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67.w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2.w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71.wmf"/><Relationship Id="rId1" Type="http://schemas.openxmlformats.org/officeDocument/2006/relationships/oleObject" Target="../embeddings/oleObject67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73.wmf"/><Relationship Id="rId14" Type="http://schemas.openxmlformats.org/officeDocument/2006/relationships/vmlDrawing" Target="../drawings/vmlDrawing1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78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73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3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82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80.bin"/><Relationship Id="rId22" Type="http://schemas.openxmlformats.org/officeDocument/2006/relationships/vmlDrawing" Target="../drawings/vmlDrawing15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88.wmf"/><Relationship Id="rId2" Type="http://schemas.openxmlformats.org/officeDocument/2006/relationships/image" Target="../media/image79.wmf"/><Relationship Id="rId19" Type="http://schemas.openxmlformats.org/officeDocument/2006/relationships/oleObject" Target="../embeddings/oleObject88.bin"/><Relationship Id="rId18" Type="http://schemas.openxmlformats.org/officeDocument/2006/relationships/image" Target="../media/image87.wmf"/><Relationship Id="rId17" Type="http://schemas.openxmlformats.org/officeDocument/2006/relationships/oleObject" Target="../embeddings/oleObject87.bin"/><Relationship Id="rId16" Type="http://schemas.openxmlformats.org/officeDocument/2006/relationships/image" Target="../media/image86.wmf"/><Relationship Id="rId15" Type="http://schemas.openxmlformats.org/officeDocument/2006/relationships/oleObject" Target="../embeddings/oleObject86.bin"/><Relationship Id="rId14" Type="http://schemas.openxmlformats.org/officeDocument/2006/relationships/image" Target="../media/image85.wmf"/><Relationship Id="rId13" Type="http://schemas.openxmlformats.org/officeDocument/2006/relationships/oleObject" Target="../embeddings/oleObject85.bin"/><Relationship Id="rId12" Type="http://schemas.openxmlformats.org/officeDocument/2006/relationships/image" Target="../media/image84.wmf"/><Relationship Id="rId11" Type="http://schemas.openxmlformats.org/officeDocument/2006/relationships/oleObject" Target="../embeddings/oleObject84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7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89.wmf"/><Relationship Id="rId1" Type="http://schemas.openxmlformats.org/officeDocument/2006/relationships/oleObject" Target="../embeddings/oleObject89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4.wmf"/><Relationship Id="rId7" Type="http://schemas.openxmlformats.org/officeDocument/2006/relationships/oleObject" Target="../embeddings/oleObject95.bin"/><Relationship Id="rId6" Type="http://schemas.openxmlformats.org/officeDocument/2006/relationships/image" Target="../media/image93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2.w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40.wmf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92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98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95.wmf"/><Relationship Id="rId12" Type="http://schemas.openxmlformats.org/officeDocument/2006/relationships/vmlDrawing" Target="../drawings/vmlDrawing1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9.wmf"/><Relationship Id="rId1" Type="http://schemas.openxmlformats.org/officeDocument/2006/relationships/oleObject" Target="../embeddings/oleObject96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100.wmf"/><Relationship Id="rId11" Type="http://schemas.openxmlformats.org/officeDocument/2006/relationships/vmlDrawing" Target="../drawings/vmlDrawing19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01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5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95.wmf"/><Relationship Id="rId14" Type="http://schemas.openxmlformats.org/officeDocument/2006/relationships/vmlDrawing" Target="../drawings/vmlDrawing2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8.wmf"/><Relationship Id="rId11" Type="http://schemas.openxmlformats.org/officeDocument/2006/relationships/oleObject" Target="../embeddings/oleObject110.bin"/><Relationship Id="rId10" Type="http://schemas.openxmlformats.org/officeDocument/2006/relationships/image" Target="../media/image107.wmf"/><Relationship Id="rId1" Type="http://schemas.openxmlformats.org/officeDocument/2006/relationships/oleObject" Target="../embeddings/oleObject105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2.e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109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11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3.e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109.wmf"/><Relationship Id="rId1" Type="http://schemas.openxmlformats.org/officeDocument/2006/relationships/oleObject" Target="../embeddings/oleObject115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oleObject" Target="../embeddings/oleObject122.bin"/><Relationship Id="rId7" Type="http://schemas.openxmlformats.org/officeDocument/2006/relationships/oleObject" Target="../embeddings/oleObject121.bin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15.wmf"/><Relationship Id="rId3" Type="http://schemas.openxmlformats.org/officeDocument/2006/relationships/oleObject" Target="../embeddings/oleObject119.bin"/><Relationship Id="rId2" Type="http://schemas.openxmlformats.org/officeDocument/2006/relationships/image" Target="../media/image114.w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18.wmf"/><Relationship Id="rId11" Type="http://schemas.openxmlformats.org/officeDocument/2006/relationships/oleObject" Target="../embeddings/oleObject124.bin"/><Relationship Id="rId10" Type="http://schemas.openxmlformats.org/officeDocument/2006/relationships/oleObject" Target="../embeddings/oleObject123.bin"/><Relationship Id="rId1" Type="http://schemas.openxmlformats.org/officeDocument/2006/relationships/oleObject" Target="../embeddings/oleObject11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0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19.wmf"/><Relationship Id="rId1" Type="http://schemas.openxmlformats.org/officeDocument/2006/relationships/oleObject" Target="../embeddings/oleObject125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5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22.wmf"/><Relationship Id="rId10" Type="http://schemas.openxmlformats.org/officeDocument/2006/relationships/vmlDrawing" Target="../drawings/vmlDrawing25.vml"/><Relationship Id="rId1" Type="http://schemas.openxmlformats.org/officeDocument/2006/relationships/oleObject" Target="../embeddings/oleObject128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6.bin"/><Relationship Id="rId8" Type="http://schemas.openxmlformats.org/officeDocument/2006/relationships/image" Target="../media/image129.wmf"/><Relationship Id="rId7" Type="http://schemas.openxmlformats.org/officeDocument/2006/relationships/oleObject" Target="../embeddings/oleObject135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27.wmf"/><Relationship Id="rId3" Type="http://schemas.openxmlformats.org/officeDocument/2006/relationships/oleObject" Target="../embeddings/oleObject133.bin"/><Relationship Id="rId2" Type="http://schemas.openxmlformats.org/officeDocument/2006/relationships/image" Target="../media/image126.wmf"/><Relationship Id="rId19" Type="http://schemas.openxmlformats.org/officeDocument/2006/relationships/vmlDrawing" Target="../drawings/vmlDrawing26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35.png"/><Relationship Id="rId16" Type="http://schemas.microsoft.com/office/2007/relationships/hdphoto" Target="../media/image134.wdp"/><Relationship Id="rId15" Type="http://schemas.openxmlformats.org/officeDocument/2006/relationships/image" Target="../media/image133.png"/><Relationship Id="rId14" Type="http://schemas.openxmlformats.org/officeDocument/2006/relationships/image" Target="../media/image132.wmf"/><Relationship Id="rId13" Type="http://schemas.openxmlformats.org/officeDocument/2006/relationships/oleObject" Target="../embeddings/oleObject138.bin"/><Relationship Id="rId12" Type="http://schemas.openxmlformats.org/officeDocument/2006/relationships/image" Target="../media/image131.wmf"/><Relationship Id="rId11" Type="http://schemas.openxmlformats.org/officeDocument/2006/relationships/oleObject" Target="../embeddings/oleObject137.bin"/><Relationship Id="rId10" Type="http://schemas.openxmlformats.org/officeDocument/2006/relationships/image" Target="../media/image130.wmf"/><Relationship Id="rId1" Type="http://schemas.openxmlformats.org/officeDocument/2006/relationships/oleObject" Target="../embeddings/oleObject13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39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37.wmf"/><Relationship Id="rId3" Type="http://schemas.openxmlformats.org/officeDocument/2006/relationships/oleObject" Target="../embeddings/oleObject140.bin"/><Relationship Id="rId2" Type="http://schemas.openxmlformats.org/officeDocument/2006/relationships/image" Target="../media/image136.wmf"/><Relationship Id="rId16" Type="http://schemas.openxmlformats.org/officeDocument/2006/relationships/vmlDrawing" Target="../drawings/vmlDrawing27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42.wmf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141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40.wmf"/><Relationship Id="rId1" Type="http://schemas.openxmlformats.org/officeDocument/2006/relationships/oleObject" Target="../embeddings/oleObject13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495600" y="1713548"/>
            <a:ext cx="7200800" cy="949878"/>
          </a:xfrm>
        </p:spPr>
        <p:txBody>
          <a:bodyPr>
            <a:noAutofit/>
          </a:bodyPr>
          <a:lstStyle/>
          <a:p>
            <a:r>
              <a:rPr lang="zh-CN" altLang="zh-CN" sz="5400" dirty="0"/>
              <a:t>数学物理方法</a:t>
            </a:r>
            <a:endParaRPr lang="zh-CN" altLang="zh-CN" sz="5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669886" y="2728908"/>
            <a:ext cx="7200900" cy="16755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任课教师：曹宁</a:t>
            </a: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海洋与气象学院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Email: ncao@gdou.edu.cn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zh-CN" altLang="en-US" dirty="0"/>
              <a:t>秋季学期</a:t>
            </a:r>
            <a:endParaRPr lang="zh-CN" altLang="en-US" dirty="0"/>
          </a:p>
        </p:txBody>
      </p:sp>
      <p:pic>
        <p:nvPicPr>
          <p:cNvPr id="5" name="图片 4" descr="校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67410"/>
            <a:ext cx="2248535" cy="49022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71" y="4542503"/>
            <a:ext cx="1983657" cy="19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标题 748545"/>
          <p:cNvSpPr>
            <a:spLocks noGrp="1"/>
          </p:cNvSpPr>
          <p:nvPr>
            <p:ph type="title" sz="quarter"/>
          </p:nvPr>
        </p:nvSpPr>
        <p:spPr>
          <a:xfrm>
            <a:off x="2067070" y="1205057"/>
            <a:ext cx="8229600" cy="1143000"/>
          </a:xfrm>
        </p:spPr>
        <p:txBody>
          <a:bodyPr anchor="ctr" anchorCtr="0"/>
          <a:lstStyle/>
          <a:p>
            <a:r>
              <a:rPr lang="zh-CN" altLang="en-US" sz="4800" dirty="0">
                <a:solidFill>
                  <a:srgbClr val="CC0000"/>
                </a:solidFill>
                <a:ea typeface="黑体" panose="02010609060101010101" pitchFamily="49" charset="-122"/>
              </a:rPr>
              <a:t>数学物理方程：</a:t>
            </a:r>
            <a:r>
              <a:rPr lang="zh-CN" altLang="en-US" sz="4800" dirty="0">
                <a:solidFill>
                  <a:srgbClr val="0000FF"/>
                </a:solidFill>
                <a:ea typeface="黑体" panose="02010609060101010101" pitchFamily="49" charset="-122"/>
              </a:rPr>
              <a:t>完整表述</a:t>
            </a:r>
            <a:endParaRPr lang="zh-CN" altLang="en-US" sz="48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748547" name="文本框 748546"/>
          <p:cNvSpPr txBox="1"/>
          <p:nvPr/>
        </p:nvSpPr>
        <p:spPr>
          <a:xfrm>
            <a:off x="3795858" y="2860821"/>
            <a:ext cx="5402263" cy="2369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泛定方程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定解条件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8549" name="文本框 748548"/>
          <p:cNvSpPr txBox="1"/>
          <p:nvPr/>
        </p:nvSpPr>
        <p:spPr>
          <a:xfrm>
            <a:off x="6243783" y="3364058"/>
            <a:ext cx="25193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定解问题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48550" name="右大括号 748549"/>
          <p:cNvSpPr/>
          <p:nvPr/>
        </p:nvSpPr>
        <p:spPr>
          <a:xfrm>
            <a:off x="6027882" y="3221183"/>
            <a:ext cx="431800" cy="1008063"/>
          </a:xfrm>
          <a:prstGeom prst="rightBrace">
            <a:avLst>
              <a:gd name="adj1" fmla="val 19454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/>
          </p:cNvSpPr>
          <p:nvPr>
            <p:ph type="title"/>
          </p:nvPr>
        </p:nvSpPr>
        <p:spPr>
          <a:xfrm>
            <a:off x="732473" y="196056"/>
            <a:ext cx="7586662" cy="576263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 eaLnBrk="1" hangingPunct="1"/>
            <a:r>
              <a:rPr lang="zh-CN" altLang="en-US" sz="4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定解问题</a:t>
            </a: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及其适定性</a:t>
            </a:r>
            <a:endParaRPr lang="zh-CN" altLang="en-US" sz="4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091" name="Rectangle 3"/>
          <p:cNvSpPr/>
          <p:nvPr/>
        </p:nvSpPr>
        <p:spPr>
          <a:xfrm>
            <a:off x="2063750" y="2862264"/>
            <a:ext cx="7696200" cy="94615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特定条件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准确说明对象的初始状态以及边界上的约束条件。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9092" name="Rectangle 4"/>
          <p:cNvSpPr/>
          <p:nvPr/>
        </p:nvSpPr>
        <p:spPr>
          <a:xfrm>
            <a:off x="2063750" y="4292601"/>
            <a:ext cx="7258050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用以说明初始状态的条件称为“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初始条件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”；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9093" name="Rectangle 5"/>
          <p:cNvSpPr/>
          <p:nvPr/>
        </p:nvSpPr>
        <p:spPr>
          <a:xfrm>
            <a:off x="2063750" y="5295901"/>
            <a:ext cx="8256588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用以说明边界上约束情况的条件称为“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边界条件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”。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4656138" y="1925639"/>
            <a:ext cx="4824412" cy="954088"/>
            <a:chOff x="521" y="1117"/>
            <a:chExt cx="3039" cy="601"/>
          </a:xfrm>
        </p:grpSpPr>
        <p:sp>
          <p:nvSpPr>
            <p:cNvPr id="56326" name="Text Box 7"/>
            <p:cNvSpPr txBox="1"/>
            <p:nvPr/>
          </p:nvSpPr>
          <p:spPr>
            <a:xfrm>
              <a:off x="521" y="1117"/>
              <a:ext cx="1406" cy="60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偏微分方程（泛定方程）</a:t>
              </a:r>
              <a:endPara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56327" name="Object 8"/>
            <p:cNvGraphicFramePr>
              <a:graphicFrameLocks noChangeAspect="1"/>
            </p:cNvGraphicFramePr>
            <p:nvPr/>
          </p:nvGraphicFramePr>
          <p:xfrm>
            <a:off x="1782" y="1162"/>
            <a:ext cx="29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1" imgW="139700" imgH="139700" progId="Equation.DSMT4">
                    <p:embed/>
                  </p:oleObj>
                </mc:Choice>
                <mc:Fallback>
                  <p:oleObj name="" r:id="rId1" imgW="139700" imgH="139700" progId="Equation.DSMT4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82" y="1162"/>
                          <a:ext cx="290" cy="2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8" name="Text Box 9"/>
            <p:cNvSpPr txBox="1"/>
            <p:nvPr/>
          </p:nvSpPr>
          <p:spPr>
            <a:xfrm>
              <a:off x="2064" y="1117"/>
              <a:ext cx="14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特定条件</a:t>
              </a:r>
              <a:endPara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89098" name="Text Box 10"/>
          <p:cNvSpPr txBox="1"/>
          <p:nvPr/>
        </p:nvSpPr>
        <p:spPr>
          <a:xfrm>
            <a:off x="2063751" y="1925640"/>
            <a:ext cx="33115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描述物理现象：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/>
      <p:bldP spid="89092" grpId="0"/>
      <p:bldP spid="89093" grpId="0"/>
      <p:bldP spid="890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标题 750593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6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泛定方程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50595" name="内容占位符 750594"/>
          <p:cNvGraphicFramePr>
            <a:graphicFrameLocks noGrp="1"/>
          </p:cNvGraphicFramePr>
          <p:nvPr>
            <p:ph sz="quarter" idx="2"/>
          </p:nvPr>
        </p:nvGraphicFramePr>
        <p:xfrm>
          <a:off x="7824789" y="1916113"/>
          <a:ext cx="1616075" cy="352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77900" imgH="2133600" progId="Equation.3">
                  <p:embed/>
                </p:oleObj>
              </mc:Choice>
              <mc:Fallback>
                <p:oleObj name="" r:id="rId1" imgW="977900" imgH="2133600" progId="Equation.3">
                  <p:embed/>
                  <p:pic>
                    <p:nvPicPr>
                      <p:cNvPr id="0" name="内容占位符 7505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24789" y="1916113"/>
                        <a:ext cx="1616075" cy="35290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596" name="内容占位符 750595"/>
          <p:cNvGraphicFramePr>
            <a:graphicFrameLocks noGrp="1"/>
          </p:cNvGraphicFramePr>
          <p:nvPr>
            <p:ph sz="quarter" idx="3"/>
          </p:nvPr>
        </p:nvGraphicFramePr>
        <p:xfrm>
          <a:off x="5016500" y="1989139"/>
          <a:ext cx="1974850" cy="345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269365" imgH="2221230" progId="Equation.3">
                  <p:embed/>
                </p:oleObj>
              </mc:Choice>
              <mc:Fallback>
                <p:oleObj name="" r:id="rId3" imgW="1269365" imgH="2221230" progId="Equation.3">
                  <p:embed/>
                  <p:pic>
                    <p:nvPicPr>
                      <p:cNvPr id="0" name="内容占位符 7505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16500" y="1989139"/>
                        <a:ext cx="1974850" cy="34559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597" name="文本占位符 750596"/>
          <p:cNvSpPr>
            <a:spLocks noGrp="1"/>
          </p:cNvSpPr>
          <p:nvPr>
            <p:ph type="body" sz="half" idx="1"/>
          </p:nvPr>
        </p:nvSpPr>
        <p:spPr>
          <a:xfrm>
            <a:off x="1257588" y="1484313"/>
            <a:ext cx="2852448" cy="4777941"/>
          </a:xfrm>
          <a:solidFill>
            <a:srgbClr val="CCFFFF">
              <a:alpha val="100000"/>
            </a:srgbClr>
          </a:solidFill>
          <a:ln w="25400">
            <a:solidFill>
              <a:srgbClr val="0000FF"/>
            </a:solidFill>
            <a:miter/>
          </a:ln>
        </p:spPr>
        <p:txBody>
          <a:bodyPr/>
          <a:lstStyle/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数理方程包括常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微分方程和偏微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分方程等。由于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同一个方程可以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广泛描述多种物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理作用，故称为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“泛定方程”。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如果函数</a:t>
            </a:r>
            <a:r>
              <a:rPr lang="zh-CN" altLang="en-US" sz="18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i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1800" i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和它的</a:t>
            </a:r>
            <a:endParaRPr lang="zh-CN" altLang="en-US" sz="2400" b="1" dirty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各阶导数都是一</a:t>
            </a:r>
            <a:endParaRPr lang="zh-CN" altLang="en-US" sz="2400" b="1" dirty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次幂，称为线性</a:t>
            </a:r>
            <a:endParaRPr lang="zh-CN" altLang="en-US" sz="2400" b="1" dirty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微分方程。</a:t>
            </a:r>
            <a:endParaRPr lang="zh-CN" altLang="en-US" sz="2400" b="1" dirty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</a:pPr>
            <a:endParaRPr lang="zh-CN" altLang="en-US" sz="12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750598" name="文本框 750597"/>
          <p:cNvSpPr txBox="1"/>
          <p:nvPr/>
        </p:nvSpPr>
        <p:spPr>
          <a:xfrm>
            <a:off x="4943475" y="1484313"/>
            <a:ext cx="1873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波动方程：</a:t>
            </a:r>
            <a:endParaRPr lang="zh-CN" altLang="en-US" sz="24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599" name="文本框 750598"/>
          <p:cNvSpPr txBox="1"/>
          <p:nvPr/>
        </p:nvSpPr>
        <p:spPr>
          <a:xfrm>
            <a:off x="4943475" y="2924175"/>
            <a:ext cx="2305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热传导方程：</a:t>
            </a:r>
            <a:endParaRPr lang="zh-CN" altLang="en-US" sz="24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0" name="文本框 750599"/>
          <p:cNvSpPr txBox="1"/>
          <p:nvPr/>
        </p:nvSpPr>
        <p:spPr>
          <a:xfrm>
            <a:off x="7751763" y="1484313"/>
            <a:ext cx="2520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人口增长方程：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1" name="文本框 750600"/>
          <p:cNvSpPr txBox="1"/>
          <p:nvPr/>
        </p:nvSpPr>
        <p:spPr>
          <a:xfrm>
            <a:off x="7751763" y="2924175"/>
            <a:ext cx="26654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孤立波方程：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2" name="文本框 750601"/>
          <p:cNvSpPr txBox="1"/>
          <p:nvPr/>
        </p:nvSpPr>
        <p:spPr>
          <a:xfrm>
            <a:off x="4943475" y="4292600"/>
            <a:ext cx="2520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拉普拉斯方程：</a:t>
            </a:r>
            <a:endParaRPr lang="zh-CN" altLang="en-US" sz="24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3" name="文本框 750602"/>
          <p:cNvSpPr txBox="1"/>
          <p:nvPr/>
        </p:nvSpPr>
        <p:spPr>
          <a:xfrm>
            <a:off x="7751764" y="4292600"/>
            <a:ext cx="2232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冲击波方程：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4" name="文本框 750603"/>
          <p:cNvSpPr txBox="1"/>
          <p:nvPr/>
        </p:nvSpPr>
        <p:spPr>
          <a:xfrm>
            <a:off x="5448301" y="5516564"/>
            <a:ext cx="12239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  <a:ea typeface="黑体" panose="02010609060101010101" pitchFamily="49" charset="-122"/>
              </a:rPr>
              <a:t>线性</a:t>
            </a:r>
            <a:endParaRPr lang="zh-CN" altLang="en-US" sz="32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5" name="文本框 750604"/>
          <p:cNvSpPr txBox="1"/>
          <p:nvPr/>
        </p:nvSpPr>
        <p:spPr>
          <a:xfrm>
            <a:off x="7967664" y="5516564"/>
            <a:ext cx="15128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  <a:ea typeface="黑体" panose="02010609060101010101" pitchFamily="49" charset="-122"/>
              </a:rPr>
              <a:t>非线性</a:t>
            </a:r>
            <a:endParaRPr lang="zh-CN" altLang="en-US" sz="32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标题 752641"/>
          <p:cNvSpPr>
            <a:spLocks noGrp="1"/>
          </p:cNvSpPr>
          <p:nvPr>
            <p:ph type="title"/>
          </p:nvPr>
        </p:nvSpPr>
        <p:spPr>
          <a:xfrm>
            <a:off x="538625" y="0"/>
            <a:ext cx="8229600" cy="925768"/>
          </a:xfrm>
        </p:spPr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总结：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定解条件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2643" name="文本占位符 752642"/>
          <p:cNvSpPr>
            <a:spLocks noGrp="1"/>
          </p:cNvSpPr>
          <p:nvPr>
            <p:ph type="body" sz="half" idx="1"/>
          </p:nvPr>
        </p:nvSpPr>
        <p:spPr>
          <a:xfrm>
            <a:off x="290945" y="1468582"/>
            <a:ext cx="11610109" cy="5257337"/>
          </a:xfrm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初始条件、边界条件，还可以有衔接条件等，统称“定解条件”。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 </a:t>
            </a: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初始条件</a:t>
            </a:r>
            <a:r>
              <a:rPr lang="en-US" altLang="zh-CN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　　　      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初始位移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初始速度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（弦振动）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　　　　　　　　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5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初始温度分布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热传导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en-US" altLang="zh-CN" sz="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边界条件</a:t>
            </a:r>
            <a:r>
              <a:rPr lang="en-US" altLang="zh-CN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　　　   （弦振动）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起点固定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终点被微扰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52644" name="内容占位符 752643"/>
          <p:cNvGraphicFramePr>
            <a:graphicFrameLocks noGrp="1"/>
          </p:cNvGraphicFramePr>
          <p:nvPr>
            <p:ph sz="quarter" idx="2"/>
          </p:nvPr>
        </p:nvGraphicFramePr>
        <p:xfrm>
          <a:off x="2728797" y="2669363"/>
          <a:ext cx="1943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028065" imgH="254000" progId="Equation.3">
                  <p:embed/>
                </p:oleObj>
              </mc:Choice>
              <mc:Fallback>
                <p:oleObj name="" r:id="rId1" imgW="1028065" imgH="254000" progId="Equation.3">
                  <p:embed/>
                  <p:pic>
                    <p:nvPicPr>
                      <p:cNvPr id="0" name="内容占位符 7526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28797" y="2669363"/>
                        <a:ext cx="1943100" cy="4794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5" name="内容占位符 752644"/>
          <p:cNvGraphicFramePr>
            <a:graphicFrameLocks noGrp="1"/>
          </p:cNvGraphicFramePr>
          <p:nvPr>
            <p:ph sz="quarter" idx="3"/>
          </p:nvPr>
        </p:nvGraphicFramePr>
        <p:xfrm>
          <a:off x="2650866" y="4580743"/>
          <a:ext cx="15176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824865" imgH="254000" progId="Equation.3">
                  <p:embed/>
                </p:oleObj>
              </mc:Choice>
              <mc:Fallback>
                <p:oleObj name="" r:id="rId3" imgW="824865" imgH="254000" progId="Equation.3">
                  <p:embed/>
                  <p:pic>
                    <p:nvPicPr>
                      <p:cNvPr id="0" name="内容占位符 7526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50866" y="4580743"/>
                        <a:ext cx="1517650" cy="4667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6" name="对象 752645"/>
          <p:cNvGraphicFramePr/>
          <p:nvPr/>
        </p:nvGraphicFramePr>
        <p:xfrm>
          <a:off x="4464802" y="4551158"/>
          <a:ext cx="20002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028065" imgH="254000" progId="Equation.3">
                  <p:embed/>
                </p:oleObj>
              </mc:Choice>
              <mc:Fallback>
                <p:oleObj name="" r:id="rId5" imgW="1028065" imgH="254000" progId="Equation.3">
                  <p:embed/>
                  <p:pic>
                    <p:nvPicPr>
                      <p:cNvPr id="0" name="对象 7526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4802" y="4551158"/>
                        <a:ext cx="20002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8" name="对象 752647"/>
          <p:cNvGraphicFramePr/>
          <p:nvPr/>
        </p:nvGraphicFramePr>
        <p:xfrm>
          <a:off x="5123758" y="2540054"/>
          <a:ext cx="1419225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850265" imgH="444500" progId="Equation.3">
                  <p:embed/>
                </p:oleObj>
              </mc:Choice>
              <mc:Fallback>
                <p:oleObj name="" r:id="rId7" imgW="850265" imgH="444500" progId="Equation.3">
                  <p:embed/>
                  <p:pic>
                    <p:nvPicPr>
                      <p:cNvPr id="0" name="对象 7526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23758" y="2540054"/>
                        <a:ext cx="1419225" cy="741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9" name="对象 752648"/>
          <p:cNvGraphicFramePr/>
          <p:nvPr/>
        </p:nvGraphicFramePr>
        <p:xfrm>
          <a:off x="2790132" y="3541144"/>
          <a:ext cx="1943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028065" imgH="254000" progId="Equation.3">
                  <p:embed/>
                </p:oleObj>
              </mc:Choice>
              <mc:Fallback>
                <p:oleObj name="" r:id="rId9" imgW="1028065" imgH="254000" progId="Equation.3">
                  <p:embed/>
                  <p:pic>
                    <p:nvPicPr>
                      <p:cNvPr id="0" name="对象 7526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90132" y="3541144"/>
                        <a:ext cx="19431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标题 75468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初始条件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4691" name="文本占位符 754690"/>
          <p:cNvSpPr>
            <a:spLocks noGrp="1"/>
          </p:cNvSpPr>
          <p:nvPr>
            <p:ph type="body" sz="half" idx="1"/>
          </p:nvPr>
        </p:nvSpPr>
        <p:spPr>
          <a:xfrm>
            <a:off x="669925" y="1412876"/>
            <a:ext cx="9998075" cy="4824413"/>
          </a:xfrm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泛定方程只含一阶微商  　，只有一个初始条件：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　泛定方程含二阶微商　  ，需要两个初始条件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　　　　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1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泛定方程不含时间变量，不涉及初始条件（例如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990033"/>
                </a:solidFill>
                <a:ea typeface="黑体" panose="02010609060101010101" pitchFamily="49" charset="-122"/>
              </a:rPr>
              <a:t>拉普拉斯方程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　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1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54692" name="内容占位符 754691"/>
          <p:cNvGraphicFramePr>
            <a:graphicFrameLocks noGrp="1"/>
          </p:cNvGraphicFramePr>
          <p:nvPr>
            <p:ph sz="quarter" idx="2"/>
          </p:nvPr>
        </p:nvGraphicFramePr>
        <p:xfrm>
          <a:off x="4440238" y="3644900"/>
          <a:ext cx="208756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028065" imgH="254000" progId="Equation.3">
                  <p:embed/>
                </p:oleObj>
              </mc:Choice>
              <mc:Fallback>
                <p:oleObj name="" r:id="rId1" imgW="1028065" imgH="254000" progId="Equation.3">
                  <p:embed/>
                  <p:pic>
                    <p:nvPicPr>
                      <p:cNvPr id="0" name="内容占位符 7546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40238" y="3644900"/>
                        <a:ext cx="2087562" cy="5143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3" name="矩形 754692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4694" name="对象 754693"/>
          <p:cNvGraphicFramePr/>
          <p:nvPr/>
        </p:nvGraphicFramePr>
        <p:xfrm>
          <a:off x="5303044" y="1412876"/>
          <a:ext cx="488156" cy="540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28600" imgH="393700" progId="Equation.3">
                  <p:embed/>
                </p:oleObj>
              </mc:Choice>
              <mc:Fallback>
                <p:oleObj name="" r:id="rId3" imgW="228600" imgH="393700" progId="Equation.3">
                  <p:embed/>
                  <p:pic>
                    <p:nvPicPr>
                      <p:cNvPr id="0" name="对象 7546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3044" y="1412876"/>
                        <a:ext cx="488156" cy="54054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5" name="对象 754694"/>
          <p:cNvGraphicFramePr/>
          <p:nvPr/>
        </p:nvGraphicFramePr>
        <p:xfrm>
          <a:off x="4511675" y="2133601"/>
          <a:ext cx="1943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028065" imgH="254000" progId="Equation.3">
                  <p:embed/>
                </p:oleObj>
              </mc:Choice>
              <mc:Fallback>
                <p:oleObj name="" r:id="rId5" imgW="1028065" imgH="254000" progId="Equation.3">
                  <p:embed/>
                  <p:pic>
                    <p:nvPicPr>
                      <p:cNvPr id="0" name="对象 7546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1675" y="2133601"/>
                        <a:ext cx="19431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6" name="内容占位符 754695"/>
          <p:cNvGraphicFramePr>
            <a:graphicFrameLocks noGrp="1"/>
          </p:cNvGraphicFramePr>
          <p:nvPr>
            <p:ph sz="quarter" idx="3"/>
          </p:nvPr>
        </p:nvGraphicFramePr>
        <p:xfrm>
          <a:off x="6888163" y="3573463"/>
          <a:ext cx="1439862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6" imgW="862965" imgH="444500" progId="Equation.3">
                  <p:embed/>
                </p:oleObj>
              </mc:Choice>
              <mc:Fallback>
                <p:oleObj name="" r:id="rId6" imgW="862965" imgH="444500" progId="Equation.3">
                  <p:embed/>
                  <p:pic>
                    <p:nvPicPr>
                      <p:cNvPr id="0" name="内容占位符 75469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88163" y="3573463"/>
                        <a:ext cx="1439862" cy="7413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7" name="矩形 754696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4698" name="对象 754697"/>
          <p:cNvGraphicFramePr/>
          <p:nvPr/>
        </p:nvGraphicFramePr>
        <p:xfrm>
          <a:off x="4846004" y="2865120"/>
          <a:ext cx="579436" cy="684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8" imgW="292100" imgH="419100" progId="Equation.3">
                  <p:embed/>
                </p:oleObj>
              </mc:Choice>
              <mc:Fallback>
                <p:oleObj name="" r:id="rId8" imgW="292100" imgH="419100" progId="Equation.3">
                  <p:embed/>
                  <p:pic>
                    <p:nvPicPr>
                      <p:cNvPr id="0" name="对象 75469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46004" y="2865120"/>
                        <a:ext cx="579436" cy="68452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8" name="标题 756737"/>
          <p:cNvSpPr>
            <a:spLocks noGrp="1"/>
          </p:cNvSpPr>
          <p:nvPr>
            <p:ph type="title"/>
          </p:nvPr>
        </p:nvSpPr>
        <p:spPr>
          <a:xfrm>
            <a:off x="612776" y="125413"/>
            <a:ext cx="8229600" cy="1143000"/>
          </a:xfrm>
        </p:spPr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边界条件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6739" name="文本占位符 756738"/>
          <p:cNvSpPr>
            <a:spLocks noGrp="1"/>
          </p:cNvSpPr>
          <p:nvPr>
            <p:ph type="body" sz="half" idx="1"/>
          </p:nvPr>
        </p:nvSpPr>
        <p:spPr>
          <a:xfrm>
            <a:off x="1524001" y="1268412"/>
            <a:ext cx="8964613" cy="5464173"/>
          </a:xfrm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第一类边界条件：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直接给出考察量在边界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上的值：</a:t>
            </a: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第二类边界条件：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给出考察量的导数在边界上的值：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第三类边界条件：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给出考察量及其导数的线性组合：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　　　　　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6740" name="矩形 75673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6741" name="矩形 756740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6742" name="对象 756741"/>
          <p:cNvGraphicFramePr/>
          <p:nvPr/>
        </p:nvGraphicFramePr>
        <p:xfrm>
          <a:off x="4727576" y="3203573"/>
          <a:ext cx="112871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35000" imgH="444500" progId="Equation.3">
                  <p:embed/>
                </p:oleObj>
              </mc:Choice>
              <mc:Fallback>
                <p:oleObj name="" r:id="rId1" imgW="635000" imgH="444500" progId="Equation.3">
                  <p:embed/>
                  <p:pic>
                    <p:nvPicPr>
                      <p:cNvPr id="0" name="对象 7567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27576" y="3203573"/>
                        <a:ext cx="1128713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6743" name="内容占位符 756742"/>
          <p:cNvGraphicFramePr>
            <a:graphicFrameLocks noGrp="1"/>
          </p:cNvGraphicFramePr>
          <p:nvPr>
            <p:ph sz="half" idx="2"/>
          </p:nvPr>
        </p:nvGraphicFramePr>
        <p:xfrm>
          <a:off x="4683125" y="1864994"/>
          <a:ext cx="14128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99465" imgH="254000" progId="Equation.3">
                  <p:embed/>
                </p:oleObj>
              </mc:Choice>
              <mc:Fallback>
                <p:oleObj name="" r:id="rId3" imgW="799465" imgH="254000" progId="Equation.3">
                  <p:embed/>
                  <p:pic>
                    <p:nvPicPr>
                      <p:cNvPr id="0" name="内容占位符 7567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25" y="1864994"/>
                        <a:ext cx="1412875" cy="4492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4" name="矩形 756743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6745" name="矩形 756744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6746" name="对象 756745"/>
          <p:cNvGraphicFramePr/>
          <p:nvPr/>
        </p:nvGraphicFramePr>
        <p:xfrm>
          <a:off x="4542474" y="5011103"/>
          <a:ext cx="21923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205865" imgH="444500" progId="Equation.3">
                  <p:embed/>
                </p:oleObj>
              </mc:Choice>
              <mc:Fallback>
                <p:oleObj name="" r:id="rId5" imgW="1205865" imgH="444500" progId="Equation.3">
                  <p:embed/>
                  <p:pic>
                    <p:nvPicPr>
                      <p:cNvPr id="0" name="对象 7567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42474" y="5011103"/>
                        <a:ext cx="2192337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7" name="矩形 756746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6748" name="对象 756747"/>
          <p:cNvGraphicFramePr/>
          <p:nvPr/>
        </p:nvGraphicFramePr>
        <p:xfrm>
          <a:off x="4367213" y="5949951"/>
          <a:ext cx="10795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609600" imgH="241300" progId="Equation.3">
                  <p:embed/>
                </p:oleObj>
              </mc:Choice>
              <mc:Fallback>
                <p:oleObj name="" r:id="rId7" imgW="609600" imgH="241300" progId="Equation.3">
                  <p:embed/>
                  <p:pic>
                    <p:nvPicPr>
                      <p:cNvPr id="0" name="对象 7567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213" y="5949951"/>
                        <a:ext cx="1079500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9" name="文本框 756748"/>
          <p:cNvSpPr txBox="1"/>
          <p:nvPr/>
        </p:nvSpPr>
        <p:spPr>
          <a:xfrm>
            <a:off x="4008439" y="5949950"/>
            <a:ext cx="3887787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200" dirty="0">
                <a:latin typeface="Verdana" panose="020B0604030504040204" pitchFamily="34" charset="0"/>
                <a:ea typeface="黑体" panose="02010609060101010101" pitchFamily="49" charset="-122"/>
              </a:rPr>
              <a:t>（           均为已知函数）</a:t>
            </a:r>
            <a:endParaRPr lang="zh-CN" altLang="en-US" sz="22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标题 758785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边界条件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8787" name="文本占位符 758786"/>
          <p:cNvSpPr>
            <a:spLocks noGrp="1"/>
          </p:cNvSpPr>
          <p:nvPr>
            <p:ph type="body" sz="half" idx="1"/>
          </p:nvPr>
        </p:nvSpPr>
        <p:spPr>
          <a:xfrm>
            <a:off x="1981200" y="1600201"/>
            <a:ext cx="8002588" cy="4525963"/>
          </a:xfrm>
        </p:spPr>
        <p:txBody>
          <a:bodyPr/>
          <a:lstStyle/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分别称为第一类，第二类，第三类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齐次边界条件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分别称为第一类，第二类，第三类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非齐次边界条件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　　　　　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8788" name="矩形 75878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8789" name="矩形 758788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8790" name="矩形 75878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8791" name="矩形 758790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8792" name="对象 758791"/>
          <p:cNvGraphicFramePr/>
          <p:nvPr/>
        </p:nvGraphicFramePr>
        <p:xfrm>
          <a:off x="5137151" y="4149726"/>
          <a:ext cx="112871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35000" imgH="444500" progId="Equation.3">
                  <p:embed/>
                </p:oleObj>
              </mc:Choice>
              <mc:Fallback>
                <p:oleObj name="" r:id="rId1" imgW="635000" imgH="444500" progId="Equation.3">
                  <p:embed/>
                  <p:pic>
                    <p:nvPicPr>
                      <p:cNvPr id="0" name="对象 7587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37151" y="4149726"/>
                        <a:ext cx="1128713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3" name="对象 758792"/>
          <p:cNvGraphicFramePr/>
          <p:nvPr/>
        </p:nvGraphicFramePr>
        <p:xfrm>
          <a:off x="2700338" y="4292601"/>
          <a:ext cx="143351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99465" imgH="254000" progId="Equation.3">
                  <p:embed/>
                </p:oleObj>
              </mc:Choice>
              <mc:Fallback>
                <p:oleObj name="" r:id="rId3" imgW="799465" imgH="254000" progId="Equation.3">
                  <p:embed/>
                  <p:pic>
                    <p:nvPicPr>
                      <p:cNvPr id="0" name="对象 7587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0338" y="4292601"/>
                        <a:ext cx="1433512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4" name="对象 758793"/>
          <p:cNvGraphicFramePr/>
          <p:nvPr/>
        </p:nvGraphicFramePr>
        <p:xfrm>
          <a:off x="7297739" y="4076700"/>
          <a:ext cx="21939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205865" imgH="444500" progId="Equation.3">
                  <p:embed/>
                </p:oleObj>
              </mc:Choice>
              <mc:Fallback>
                <p:oleObj name="" r:id="rId5" imgW="1205865" imgH="444500" progId="Equation.3">
                  <p:embed/>
                  <p:pic>
                    <p:nvPicPr>
                      <p:cNvPr id="0" name="对象 7587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97739" y="4076700"/>
                        <a:ext cx="2193925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795" name="直接连接符 758794"/>
          <p:cNvSpPr/>
          <p:nvPr/>
        </p:nvSpPr>
        <p:spPr>
          <a:xfrm flipH="1">
            <a:off x="2279651" y="3716338"/>
            <a:ext cx="7345363" cy="0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8796" name="对象 758795"/>
          <p:cNvGraphicFramePr/>
          <p:nvPr/>
        </p:nvGraphicFramePr>
        <p:xfrm>
          <a:off x="5148263" y="1916114"/>
          <a:ext cx="10144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571500" imgH="444500" progId="Equation.3">
                  <p:embed/>
                </p:oleObj>
              </mc:Choice>
              <mc:Fallback>
                <p:oleObj name="" r:id="rId7" imgW="571500" imgH="444500" progId="Equation.3">
                  <p:embed/>
                  <p:pic>
                    <p:nvPicPr>
                      <p:cNvPr id="0" name="对象 75879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8263" y="1916114"/>
                        <a:ext cx="1014412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7" name="对象 758796"/>
          <p:cNvGraphicFramePr/>
          <p:nvPr/>
        </p:nvGraphicFramePr>
        <p:xfrm>
          <a:off x="2628900" y="2060576"/>
          <a:ext cx="13668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761365" imgH="254000" progId="Equation.3">
                  <p:embed/>
                </p:oleObj>
              </mc:Choice>
              <mc:Fallback>
                <p:oleObj name="" r:id="rId9" imgW="761365" imgH="254000" progId="Equation.3">
                  <p:embed/>
                  <p:pic>
                    <p:nvPicPr>
                      <p:cNvPr id="0" name="对象 7587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8900" y="2060576"/>
                        <a:ext cx="1366838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8" name="对象 758797"/>
          <p:cNvGraphicFramePr/>
          <p:nvPr/>
        </p:nvGraphicFramePr>
        <p:xfrm>
          <a:off x="7297739" y="1844675"/>
          <a:ext cx="21034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1155065" imgH="444500" progId="Equation.3">
                  <p:embed/>
                </p:oleObj>
              </mc:Choice>
              <mc:Fallback>
                <p:oleObj name="" r:id="rId11" imgW="1155065" imgH="444500" progId="Equation.3">
                  <p:embed/>
                  <p:pic>
                    <p:nvPicPr>
                      <p:cNvPr id="0" name="对象 75879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97739" y="1844675"/>
                        <a:ext cx="2103437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标题 760833"/>
          <p:cNvSpPr>
            <a:spLocks noGrp="1"/>
          </p:cNvSpPr>
          <p:nvPr>
            <p:ph type="title"/>
          </p:nvPr>
        </p:nvSpPr>
        <p:spPr>
          <a:xfrm>
            <a:off x="893763" y="261463"/>
            <a:ext cx="8642350" cy="1143000"/>
          </a:xfrm>
        </p:spPr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定解问题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0835" name="文本占位符 760834"/>
          <p:cNvSpPr>
            <a:spLocks noGrp="1"/>
          </p:cNvSpPr>
          <p:nvPr>
            <p:ph type="body" sz="half" idx="1"/>
          </p:nvPr>
        </p:nvSpPr>
        <p:spPr>
          <a:xfrm>
            <a:off x="1069658" y="1372236"/>
            <a:ext cx="10271760" cy="4525962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一个泛定方程与相应的定解条件构成“定解问题”。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例如：弦振动的一个定解问题可以表示为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60836" name="内容占位符 760835"/>
          <p:cNvGraphicFramePr>
            <a:graphicFrameLocks noGrp="1"/>
          </p:cNvGraphicFramePr>
          <p:nvPr>
            <p:ph sz="quarter" idx="3"/>
          </p:nvPr>
        </p:nvGraphicFramePr>
        <p:xfrm>
          <a:off x="4298950" y="2652714"/>
          <a:ext cx="1906588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850265" imgH="419100" progId="Equation.3">
                  <p:embed/>
                </p:oleObj>
              </mc:Choice>
              <mc:Fallback>
                <p:oleObj name="" r:id="rId1" imgW="850265" imgH="419100" progId="Equation.3">
                  <p:embed/>
                  <p:pic>
                    <p:nvPicPr>
                      <p:cNvPr id="0" name="内容占位符 7608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98950" y="2652714"/>
                        <a:ext cx="1906588" cy="9382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37" name="内容占位符 760836"/>
          <p:cNvGraphicFramePr>
            <a:graphicFrameLocks noGrp="1"/>
          </p:cNvGraphicFramePr>
          <p:nvPr>
            <p:ph sz="quarter" idx="2"/>
          </p:nvPr>
        </p:nvGraphicFramePr>
        <p:xfrm>
          <a:off x="4224338" y="4005264"/>
          <a:ext cx="23050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040765" imgH="254000" progId="Equation.3">
                  <p:embed/>
                </p:oleObj>
              </mc:Choice>
              <mc:Fallback>
                <p:oleObj name="" r:id="rId3" imgW="1040765" imgH="254000" progId="Equation.3">
                  <p:embed/>
                  <p:pic>
                    <p:nvPicPr>
                      <p:cNvPr id="0" name="内容占位符 7608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4338" y="4005264"/>
                        <a:ext cx="2305050" cy="5619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38" name="对象 760837"/>
          <p:cNvGraphicFramePr/>
          <p:nvPr/>
        </p:nvGraphicFramePr>
        <p:xfrm>
          <a:off x="4224338" y="5011738"/>
          <a:ext cx="1981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862965" imgH="254000" progId="Equation.3">
                  <p:embed/>
                </p:oleObj>
              </mc:Choice>
              <mc:Fallback>
                <p:oleObj name="" r:id="rId5" imgW="862965" imgH="254000" progId="Equation.3">
                  <p:embed/>
                  <p:pic>
                    <p:nvPicPr>
                      <p:cNvPr id="0" name="对象 76083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4338" y="5011738"/>
                        <a:ext cx="19812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39" name="对象 760838"/>
          <p:cNvGraphicFramePr/>
          <p:nvPr/>
        </p:nvGraphicFramePr>
        <p:xfrm>
          <a:off x="6711950" y="3859213"/>
          <a:ext cx="12890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622300" imgH="444500" progId="Equation.3">
                  <p:embed/>
                </p:oleObj>
              </mc:Choice>
              <mc:Fallback>
                <p:oleObj name="" r:id="rId7" imgW="622300" imgH="444500" progId="Equation.3">
                  <p:embed/>
                  <p:pic>
                    <p:nvPicPr>
                      <p:cNvPr id="0" name="对象 7608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11950" y="3859213"/>
                        <a:ext cx="1289050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40" name="对象 760839"/>
          <p:cNvGraphicFramePr/>
          <p:nvPr/>
        </p:nvGraphicFramePr>
        <p:xfrm>
          <a:off x="6456364" y="5011739"/>
          <a:ext cx="201612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837565" imgH="254000" progId="Equation.3">
                  <p:embed/>
                </p:oleObj>
              </mc:Choice>
              <mc:Fallback>
                <p:oleObj name="" r:id="rId9" imgW="837565" imgH="254000" progId="Equation.3">
                  <p:embed/>
                  <p:pic>
                    <p:nvPicPr>
                      <p:cNvPr id="0" name="对象 7608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56364" y="5011739"/>
                        <a:ext cx="2016125" cy="611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41" name="左大括号 760840"/>
          <p:cNvSpPr/>
          <p:nvPr/>
        </p:nvSpPr>
        <p:spPr>
          <a:xfrm>
            <a:off x="3792538" y="2995613"/>
            <a:ext cx="373062" cy="2305050"/>
          </a:xfrm>
          <a:prstGeom prst="leftBrace">
            <a:avLst>
              <a:gd name="adj1" fmla="val 51489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8" name="标题 859137"/>
          <p:cNvSpPr>
            <a:spLocks noGrp="1"/>
          </p:cNvSpPr>
          <p:nvPr>
            <p:ph type="title" sz="quarter"/>
          </p:nvPr>
        </p:nvSpPr>
        <p:spPr>
          <a:xfrm>
            <a:off x="669925" y="1214755"/>
            <a:ext cx="10852150" cy="442912"/>
          </a:xfrm>
        </p:spPr>
        <p:txBody>
          <a:bodyPr anchor="ctr" anchorCtr="0"/>
          <a:lstStyle/>
          <a:p>
            <a:r>
              <a:rPr lang="zh-CN" altLang="en-US" sz="4000" dirty="0">
                <a:solidFill>
                  <a:srgbClr val="CC0000"/>
                </a:solidFill>
                <a:ea typeface="黑体" panose="02010609060101010101" pitchFamily="49" charset="-122"/>
              </a:rPr>
              <a:t>二阶线性偏微分方程</a:t>
            </a:r>
            <a:r>
              <a:rPr lang="en-US" altLang="zh-CN" sz="4000" dirty="0">
                <a:solidFill>
                  <a:srgbClr val="CC0000"/>
                </a:solidFill>
                <a:ea typeface="黑体" panose="02010609060101010101" pitchFamily="49" charset="-122"/>
              </a:rPr>
              <a:t>: </a:t>
            </a:r>
            <a:r>
              <a:rPr lang="zh-CN" altLang="en-US" sz="4000" dirty="0">
                <a:solidFill>
                  <a:schemeClr val="hlink"/>
                </a:solidFill>
                <a:ea typeface="黑体" panose="02010609060101010101" pitchFamily="49" charset="-122"/>
              </a:rPr>
              <a:t>通式和分类</a:t>
            </a:r>
            <a:endParaRPr lang="zh-CN" altLang="en-US" sz="4000" dirty="0">
              <a:solidFill>
                <a:schemeClr val="hlink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859139" name="内容占位符 859138"/>
          <p:cNvGraphicFramePr>
            <a:graphicFrameLocks noGrp="1"/>
          </p:cNvGraphicFramePr>
          <p:nvPr>
            <p:ph sz="quarter" idx="1"/>
          </p:nvPr>
        </p:nvGraphicFramePr>
        <p:xfrm>
          <a:off x="7218045" y="3886201"/>
          <a:ext cx="259238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384300" imgH="419100" progId="Equation.3">
                  <p:embed/>
                </p:oleObj>
              </mc:Choice>
              <mc:Fallback>
                <p:oleObj name="" r:id="rId1" imgW="1384300" imgH="419100" progId="Equation.3">
                  <p:embed/>
                  <p:pic>
                    <p:nvPicPr>
                      <p:cNvPr id="0" name="内容占位符 8591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18045" y="3886201"/>
                        <a:ext cx="2592388" cy="7858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40" name="内容占位符 859139"/>
          <p:cNvGraphicFramePr>
            <a:graphicFrameLocks noGrp="1"/>
          </p:cNvGraphicFramePr>
          <p:nvPr>
            <p:ph sz="quarter" idx="2"/>
          </p:nvPr>
        </p:nvGraphicFramePr>
        <p:xfrm>
          <a:off x="4409758" y="4822825"/>
          <a:ext cx="79216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67665" imgH="177800" progId="Equation.3">
                  <p:embed/>
                </p:oleObj>
              </mc:Choice>
              <mc:Fallback>
                <p:oleObj name="" r:id="rId3" imgW="367665" imgH="177800" progId="Equation.3">
                  <p:embed/>
                  <p:pic>
                    <p:nvPicPr>
                      <p:cNvPr id="0" name="内容占位符 859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09758" y="4822825"/>
                        <a:ext cx="792162" cy="3825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41" name="内容占位符 859140"/>
          <p:cNvGraphicFramePr>
            <a:graphicFrameLocks noGrp="1"/>
          </p:cNvGraphicFramePr>
          <p:nvPr>
            <p:ph sz="quarter" idx="3"/>
          </p:nvPr>
        </p:nvGraphicFramePr>
        <p:xfrm>
          <a:off x="4409758" y="5686425"/>
          <a:ext cx="79216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67665" imgH="177800" progId="Equation.3">
                  <p:embed/>
                </p:oleObj>
              </mc:Choice>
              <mc:Fallback>
                <p:oleObj name="" r:id="rId5" imgW="367665" imgH="177800" progId="Equation.3">
                  <p:embed/>
                  <p:pic>
                    <p:nvPicPr>
                      <p:cNvPr id="0" name="内容占位符 8591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09758" y="5686425"/>
                        <a:ext cx="792162" cy="3825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42" name="矩形 859141"/>
          <p:cNvSpPr/>
          <p:nvPr/>
        </p:nvSpPr>
        <p:spPr>
          <a:xfrm>
            <a:off x="1493520" y="37719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9143" name="矩形 859142"/>
          <p:cNvSpPr/>
          <p:nvPr/>
        </p:nvSpPr>
        <p:spPr>
          <a:xfrm>
            <a:off x="1493520" y="3454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9144" name="对象 859143"/>
          <p:cNvGraphicFramePr/>
          <p:nvPr/>
        </p:nvGraphicFramePr>
        <p:xfrm>
          <a:off x="2896870" y="1798639"/>
          <a:ext cx="619283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364230" imgH="444500" progId="Equation.3">
                  <p:embed/>
                </p:oleObj>
              </mc:Choice>
              <mc:Fallback>
                <p:oleObj name="" r:id="rId7" imgW="3364230" imgH="444500" progId="Equation.3">
                  <p:embed/>
                  <p:pic>
                    <p:nvPicPr>
                      <p:cNvPr id="0" name="对象 859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6870" y="1798639"/>
                        <a:ext cx="6192838" cy="814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45" name="矩形 859144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9146" name="对象 859145"/>
          <p:cNvGraphicFramePr/>
          <p:nvPr/>
        </p:nvGraphicFramePr>
        <p:xfrm>
          <a:off x="1888809" y="4894263"/>
          <a:ext cx="20161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850265" imgH="203200" progId="Equation.3">
                  <p:embed/>
                </p:oleObj>
              </mc:Choice>
              <mc:Fallback>
                <p:oleObj name="" r:id="rId9" imgW="850265" imgH="203200" progId="Equation.3">
                  <p:embed/>
                  <p:pic>
                    <p:nvPicPr>
                      <p:cNvPr id="0" name="对象 85914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88809" y="4894263"/>
                        <a:ext cx="2016125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47" name="文本框 859146"/>
          <p:cNvSpPr txBox="1"/>
          <p:nvPr/>
        </p:nvSpPr>
        <p:spPr>
          <a:xfrm>
            <a:off x="4266883" y="3765551"/>
            <a:ext cx="2952750" cy="2709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>
                <a:latin typeface="Verdana" panose="020B0604030504040204" pitchFamily="34" charset="0"/>
              </a:rPr>
              <a:t>  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（双曲型） 如</a:t>
            </a:r>
            <a:r>
              <a:rPr lang="zh-CN" altLang="en-US" sz="24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一维波动方程</a:t>
            </a:r>
            <a:endParaRPr lang="zh-CN" altLang="en-US" sz="2400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（抛物线型） 如</a:t>
            </a:r>
            <a:r>
              <a:rPr lang="zh-CN" altLang="en-US" sz="24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一维热传导方程</a:t>
            </a:r>
            <a:endParaRPr lang="zh-CN" altLang="en-US" sz="2400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（椭圆型）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zh-CN" altLang="en-US" sz="24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二维拉氏方程</a:t>
            </a:r>
            <a:endParaRPr lang="zh-CN" altLang="en-US" sz="2400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59148" name="矩形 859147"/>
          <p:cNvSpPr/>
          <p:nvPr/>
        </p:nvSpPr>
        <p:spPr>
          <a:xfrm>
            <a:off x="1888808" y="3886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9149" name="对象 859148"/>
          <p:cNvGraphicFramePr/>
          <p:nvPr/>
        </p:nvGraphicFramePr>
        <p:xfrm>
          <a:off x="4338320" y="3836989"/>
          <a:ext cx="7889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367665" imgH="177800" progId="Equation.3">
                  <p:embed/>
                </p:oleObj>
              </mc:Choice>
              <mc:Fallback>
                <p:oleObj name="" r:id="rId11" imgW="367665" imgH="177800" progId="Equation.3">
                  <p:embed/>
                  <p:pic>
                    <p:nvPicPr>
                      <p:cNvPr id="0" name="对象 8591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38320" y="3836989"/>
                        <a:ext cx="788988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50" name="文本框 859149"/>
          <p:cNvSpPr txBox="1"/>
          <p:nvPr/>
        </p:nvSpPr>
        <p:spPr>
          <a:xfrm>
            <a:off x="5273359" y="4749800"/>
            <a:ext cx="790575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>
                <a:latin typeface="Verdana" panose="020B0604030504040204" pitchFamily="34" charset="0"/>
              </a:rPr>
              <a:t>         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graphicFrame>
        <p:nvGraphicFramePr>
          <p:cNvPr id="859151" name="对象 859150"/>
          <p:cNvGraphicFramePr/>
          <p:nvPr/>
        </p:nvGraphicFramePr>
        <p:xfrm>
          <a:off x="7218046" y="4773613"/>
          <a:ext cx="24733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1320165" imgH="419100" progId="Equation.3">
                  <p:embed/>
                </p:oleObj>
              </mc:Choice>
              <mc:Fallback>
                <p:oleObj name="" r:id="rId13" imgW="1320165" imgH="419100" progId="Equation.3">
                  <p:embed/>
                  <p:pic>
                    <p:nvPicPr>
                      <p:cNvPr id="0" name="对象 85915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18046" y="4773613"/>
                        <a:ext cx="2473325" cy="785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52" name="对象 859151"/>
          <p:cNvGraphicFramePr/>
          <p:nvPr/>
        </p:nvGraphicFramePr>
        <p:xfrm>
          <a:off x="7218045" y="5708650"/>
          <a:ext cx="166528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888365" imgH="444500" progId="Equation.3">
                  <p:embed/>
                </p:oleObj>
              </mc:Choice>
              <mc:Fallback>
                <p:oleObj name="" r:id="rId15" imgW="888365" imgH="444500" progId="Equation.3">
                  <p:embed/>
                  <p:pic>
                    <p:nvPicPr>
                      <p:cNvPr id="0" name="对象 85915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18045" y="5708650"/>
                        <a:ext cx="1665288" cy="833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53" name="直接连接符 859152"/>
          <p:cNvSpPr/>
          <p:nvPr/>
        </p:nvSpPr>
        <p:spPr>
          <a:xfrm>
            <a:off x="4409759" y="4749800"/>
            <a:ext cx="5329237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9154" name="直接连接符 859153"/>
          <p:cNvSpPr/>
          <p:nvPr/>
        </p:nvSpPr>
        <p:spPr>
          <a:xfrm>
            <a:off x="4409759" y="5614988"/>
            <a:ext cx="5329237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9155" name="内容占位符 859154"/>
          <p:cNvGraphicFramePr>
            <a:graphicFrameLocks noGrp="1"/>
          </p:cNvGraphicFramePr>
          <p:nvPr>
            <p:ph sz="quarter" idx="4"/>
          </p:nvPr>
        </p:nvGraphicFramePr>
        <p:xfrm>
          <a:off x="2104709" y="2733675"/>
          <a:ext cx="51847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3009900" imgH="457200" progId="Equation.3">
                  <p:embed/>
                </p:oleObj>
              </mc:Choice>
              <mc:Fallback>
                <p:oleObj name="" r:id="rId17" imgW="3009900" imgH="457200" progId="Equation.3">
                  <p:embed/>
                  <p:pic>
                    <p:nvPicPr>
                      <p:cNvPr id="0" name="内容占位符 85915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04709" y="2733675"/>
                        <a:ext cx="5184775" cy="7874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56" name="对象 859155"/>
          <p:cNvGraphicFramePr/>
          <p:nvPr/>
        </p:nvGraphicFramePr>
        <p:xfrm>
          <a:off x="7794309" y="2860676"/>
          <a:ext cx="22320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9" imgW="824865" imgH="203200" progId="Equation.3">
                  <p:embed/>
                </p:oleObj>
              </mc:Choice>
              <mc:Fallback>
                <p:oleObj name="" r:id="rId19" imgW="824865" imgH="203200" progId="Equation.3">
                  <p:embed/>
                  <p:pic>
                    <p:nvPicPr>
                      <p:cNvPr id="0" name="对象 85915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94309" y="2860676"/>
                        <a:ext cx="2232025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57" name="左大括号 859156"/>
          <p:cNvSpPr/>
          <p:nvPr/>
        </p:nvSpPr>
        <p:spPr>
          <a:xfrm>
            <a:off x="3977959" y="4030663"/>
            <a:ext cx="287337" cy="2305050"/>
          </a:xfrm>
          <a:prstGeom prst="leftBrace">
            <a:avLst>
              <a:gd name="adj1" fmla="val 6685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9158" name="直接连接符 859157"/>
          <p:cNvSpPr/>
          <p:nvPr/>
        </p:nvSpPr>
        <p:spPr>
          <a:xfrm>
            <a:off x="4409759" y="6550025"/>
            <a:ext cx="5329237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标题 1"/>
          <p:cNvSpPr txBox="1"/>
          <p:nvPr/>
        </p:nvSpPr>
        <p:spPr bwMode="auto">
          <a:xfrm>
            <a:off x="490346" y="73402"/>
            <a:ext cx="10852237" cy="67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zh-CN" altLang="en-US" sz="4400" dirty="0"/>
              <a:t>上次课后</a:t>
            </a:r>
            <a:r>
              <a:rPr lang="zh-CN" altLang="en-US" sz="4400" dirty="0">
                <a:solidFill>
                  <a:srgbClr val="FF0000"/>
                </a:solidFill>
              </a:rPr>
              <a:t>预习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2"/>
          <p:cNvSpPr txBox="1"/>
          <p:nvPr/>
        </p:nvSpPr>
        <p:spPr>
          <a:xfrm>
            <a:off x="539750" y="328930"/>
            <a:ext cx="6840538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2.1 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常微分方程的解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复习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0227" name="Rectangle 3"/>
          <p:cNvSpPr/>
          <p:nvPr/>
        </p:nvSpPr>
        <p:spPr>
          <a:xfrm>
            <a:off x="1324610" y="1252220"/>
            <a:ext cx="6652895" cy="6692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二阶常系数线性方程的标准形式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0228" name="Object 4"/>
          <p:cNvGraphicFramePr>
            <a:graphicFrameLocks noChangeAspect="1"/>
          </p:cNvGraphicFramePr>
          <p:nvPr/>
        </p:nvGraphicFramePr>
        <p:xfrm>
          <a:off x="3995738" y="1850708"/>
          <a:ext cx="33845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644900" imgH="469900" progId="Equation.DSMT4">
                  <p:embed/>
                </p:oleObj>
              </mc:Choice>
              <mc:Fallback>
                <p:oleObj name="" r:id="rId1" imgW="3644900" imgH="4699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95738" y="1850708"/>
                        <a:ext cx="3384550" cy="4349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9" name="Object 5"/>
          <p:cNvGraphicFramePr>
            <a:graphicFrameLocks noChangeAspect="1"/>
          </p:cNvGraphicFramePr>
          <p:nvPr/>
        </p:nvGraphicFramePr>
        <p:xfrm>
          <a:off x="1830705" y="2492375"/>
          <a:ext cx="8704580" cy="145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8001000" imgH="1574800" progId="Equation.DSMT4">
                  <p:embed/>
                </p:oleObj>
              </mc:Choice>
              <mc:Fallback>
                <p:oleObj name="" r:id="rId3" imgW="8001000" imgH="15748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0705" y="2492375"/>
                        <a:ext cx="8704580" cy="1450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0" name="Object 6"/>
          <p:cNvGraphicFramePr>
            <a:graphicFrameLocks noChangeAspect="1"/>
          </p:cNvGraphicFramePr>
          <p:nvPr/>
        </p:nvGraphicFramePr>
        <p:xfrm>
          <a:off x="1830070" y="4149725"/>
          <a:ext cx="870521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7912100" imgH="952500" progId="Equation.DSMT4">
                  <p:embed/>
                </p:oleObj>
              </mc:Choice>
              <mc:Fallback>
                <p:oleObj name="" r:id="rId5" imgW="7912100" imgH="9525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0070" y="4149725"/>
                        <a:ext cx="8705215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/>
          <p:cNvGraphicFramePr>
            <a:graphicFrameLocks noChangeAspect="1"/>
          </p:cNvGraphicFramePr>
          <p:nvPr/>
        </p:nvGraphicFramePr>
        <p:xfrm>
          <a:off x="4295775" y="5181600"/>
          <a:ext cx="35290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731895" imgH="431800" progId="Equation.DSMT4">
                  <p:embed/>
                </p:oleObj>
              </mc:Choice>
              <mc:Fallback>
                <p:oleObj name="" r:id="rId7" imgW="3731895" imgH="4318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95775" y="5181600"/>
                        <a:ext cx="3529013" cy="4079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2" name="Object 8"/>
          <p:cNvGraphicFramePr>
            <a:graphicFrameLocks noChangeAspect="1"/>
          </p:cNvGraphicFramePr>
          <p:nvPr/>
        </p:nvGraphicFramePr>
        <p:xfrm>
          <a:off x="1887538" y="5723255"/>
          <a:ext cx="58134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6172200" imgH="444500" progId="Equation.DSMT4">
                  <p:embed/>
                </p:oleObj>
              </mc:Choice>
              <mc:Fallback>
                <p:oleObj name="" r:id="rId9" imgW="6172200" imgH="4445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87538" y="5723255"/>
                        <a:ext cx="5813425" cy="41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2"/>
          <p:cNvSpPr txBox="1"/>
          <p:nvPr/>
        </p:nvSpPr>
        <p:spPr>
          <a:xfrm>
            <a:off x="1342390" y="493395"/>
            <a:ext cx="7454900" cy="80010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no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二阶常系数线性齐次微分方程的解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170" name="Group 3"/>
          <p:cNvGrpSpPr/>
          <p:nvPr/>
        </p:nvGrpSpPr>
        <p:grpSpPr>
          <a:xfrm>
            <a:off x="1509078" y="1649413"/>
            <a:ext cx="8280400" cy="4408487"/>
            <a:chOff x="295" y="935"/>
            <a:chExt cx="5216" cy="2777"/>
          </a:xfrm>
        </p:grpSpPr>
        <p:graphicFrame>
          <p:nvGraphicFramePr>
            <p:cNvPr id="7171" name="Object 4"/>
            <p:cNvGraphicFramePr>
              <a:graphicFrameLocks noChangeAspect="1"/>
            </p:cNvGraphicFramePr>
            <p:nvPr/>
          </p:nvGraphicFramePr>
          <p:xfrm>
            <a:off x="2381" y="1344"/>
            <a:ext cx="158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2513330" imgH="546100" progId="Equation.DSMT4">
                    <p:embed/>
                  </p:oleObj>
                </mc:Choice>
                <mc:Fallback>
                  <p:oleObj name="" r:id="rId1" imgW="2513330" imgH="546100" progId="Equation.DSMT4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81" y="1344"/>
                          <a:ext cx="1584" cy="343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" name="Object 5"/>
            <p:cNvGraphicFramePr>
              <a:graphicFrameLocks noChangeAspect="1"/>
            </p:cNvGraphicFramePr>
            <p:nvPr/>
          </p:nvGraphicFramePr>
          <p:xfrm>
            <a:off x="2381" y="1752"/>
            <a:ext cx="2088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3314700" imgH="939800" progId="Equation.3">
                    <p:embed/>
                  </p:oleObj>
                </mc:Choice>
                <mc:Fallback>
                  <p:oleObj name="" r:id="rId3" imgW="3314700" imgH="9398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81" y="1752"/>
                          <a:ext cx="2088" cy="59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3" name="Rectangle 6"/>
            <p:cNvSpPr/>
            <p:nvPr/>
          </p:nvSpPr>
          <p:spPr>
            <a:xfrm>
              <a:off x="1111" y="1888"/>
              <a:ext cx="1016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特征根：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174" name="Object 7"/>
            <p:cNvGraphicFramePr>
              <a:graphicFrameLocks noChangeAspect="1"/>
            </p:cNvGraphicFramePr>
            <p:nvPr/>
          </p:nvGraphicFramePr>
          <p:xfrm>
            <a:off x="2290" y="981"/>
            <a:ext cx="177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2971800" imgH="469900" progId="Equation.3">
                    <p:embed/>
                  </p:oleObj>
                </mc:Choice>
                <mc:Fallback>
                  <p:oleObj name="" r:id="rId5" imgW="2971800" imgH="4699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90" y="981"/>
                          <a:ext cx="1770" cy="279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5" name="Text Box 8"/>
            <p:cNvSpPr txBox="1"/>
            <p:nvPr/>
          </p:nvSpPr>
          <p:spPr>
            <a:xfrm>
              <a:off x="295" y="2341"/>
              <a:ext cx="4944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   </a:t>
              </a: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(1)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  <a:sym typeface="Monotype Sorts" pitchFamily="2" charset="2"/>
                </a:rPr>
                <a:t>有两个不相等的实根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6" name="Text Box 9"/>
            <p:cNvSpPr txBox="1"/>
            <p:nvPr/>
          </p:nvSpPr>
          <p:spPr>
            <a:xfrm>
              <a:off x="930" y="2840"/>
              <a:ext cx="3216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两个线性无关的特解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177" name="Object 10"/>
            <p:cNvGraphicFramePr>
              <a:graphicFrameLocks noChangeAspect="1"/>
            </p:cNvGraphicFramePr>
            <p:nvPr/>
          </p:nvGraphicFramePr>
          <p:xfrm>
            <a:off x="4105" y="2840"/>
            <a:ext cx="1043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397000" imgH="482600" progId="Equation.3">
                    <p:embed/>
                  </p:oleObj>
                </mc:Choice>
                <mc:Fallback>
                  <p:oleObj name="" r:id="rId7" imgW="1397000" imgH="4826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105" y="2840"/>
                          <a:ext cx="1043" cy="359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8" name="Text Box 11"/>
            <p:cNvSpPr txBox="1"/>
            <p:nvPr/>
          </p:nvSpPr>
          <p:spPr>
            <a:xfrm>
              <a:off x="930" y="3385"/>
              <a:ext cx="2175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得齐次方程的通解为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179" name="Object 12"/>
            <p:cNvGraphicFramePr>
              <a:graphicFrameLocks noChangeAspect="1"/>
            </p:cNvGraphicFramePr>
            <p:nvPr/>
          </p:nvGraphicFramePr>
          <p:xfrm>
            <a:off x="3107" y="3385"/>
            <a:ext cx="208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2856230" imgH="482600" progId="Equation.DSMT4">
                    <p:embed/>
                  </p:oleObj>
                </mc:Choice>
                <mc:Fallback>
                  <p:oleObj name="" r:id="rId9" imgW="2856230" imgH="48260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07" y="3385"/>
                          <a:ext cx="2087" cy="317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0" name="Text Box 13"/>
            <p:cNvSpPr txBox="1"/>
            <p:nvPr/>
          </p:nvSpPr>
          <p:spPr>
            <a:xfrm>
              <a:off x="1111" y="935"/>
              <a:ext cx="1087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齐次方程：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81" name="Rectangle 14"/>
            <p:cNvSpPr/>
            <p:nvPr/>
          </p:nvSpPr>
          <p:spPr>
            <a:xfrm>
              <a:off x="1111" y="1389"/>
              <a:ext cx="1241" cy="327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  <a:effectLst>
              <a:outerShdw dist="107763" dir="2699999" algn="ctr" rotWithShape="0">
                <a:srgbClr val="808080">
                  <a:alpha val="50000"/>
                </a:srgbClr>
              </a:outerShdw>
            </a:effectLst>
          </p:spPr>
          <p:txBody>
            <a:bodyPr anchor="t" anchorCtr="0"/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特征方程：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182" name="Object 15"/>
            <p:cNvGraphicFramePr>
              <a:graphicFrameLocks noChangeAspect="1"/>
            </p:cNvGraphicFramePr>
            <p:nvPr/>
          </p:nvGraphicFramePr>
          <p:xfrm>
            <a:off x="4785" y="2296"/>
            <a:ext cx="426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177800" imgH="228600" progId="Equation.DSMT4">
                    <p:embed/>
                  </p:oleObj>
                </mc:Choice>
                <mc:Fallback>
                  <p:oleObj name="" r:id="rId11" imgW="177800" imgH="228600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785" y="2296"/>
                          <a:ext cx="426" cy="38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3" name="Object 16"/>
            <p:cNvGraphicFramePr>
              <a:graphicFrameLocks noChangeAspect="1"/>
            </p:cNvGraphicFramePr>
            <p:nvPr/>
          </p:nvGraphicFramePr>
          <p:xfrm>
            <a:off x="5148" y="2296"/>
            <a:ext cx="363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203200" imgH="317500" progId="Equation.3">
                    <p:embed/>
                  </p:oleObj>
                </mc:Choice>
                <mc:Fallback>
                  <p:oleObj name="" r:id="rId13" imgW="203200" imgH="3175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148" y="2296"/>
                          <a:ext cx="363" cy="33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4" name="Object 17"/>
            <p:cNvGraphicFramePr>
              <a:graphicFrameLocks noChangeAspect="1"/>
            </p:cNvGraphicFramePr>
            <p:nvPr/>
          </p:nvGraphicFramePr>
          <p:xfrm>
            <a:off x="3152" y="2341"/>
            <a:ext cx="156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5" imgW="2489200" imgH="469900" progId="Equation.DSMT4">
                    <p:embed/>
                  </p:oleObj>
                </mc:Choice>
                <mc:Fallback>
                  <p:oleObj name="" r:id="rId15" imgW="2489200" imgH="469900" progId="Equation.DSMT4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52" y="2341"/>
                          <a:ext cx="1568" cy="295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5" name="Object 18"/>
            <p:cNvGraphicFramePr>
              <a:graphicFrameLocks noChangeAspect="1"/>
            </p:cNvGraphicFramePr>
            <p:nvPr/>
          </p:nvGraphicFramePr>
          <p:xfrm>
            <a:off x="3061" y="2840"/>
            <a:ext cx="1054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7" imgW="1371600" imgH="482600" progId="Equation.3">
                    <p:embed/>
                  </p:oleObj>
                </mc:Choice>
                <mc:Fallback>
                  <p:oleObj name="" r:id="rId17" imgW="1371600" imgH="4826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61" y="2840"/>
                          <a:ext cx="1054" cy="37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3" name="Object 3"/>
          <p:cNvGraphicFramePr>
            <a:graphicFrameLocks noChangeAspect="1"/>
          </p:cNvGraphicFramePr>
          <p:nvPr/>
        </p:nvGraphicFramePr>
        <p:xfrm>
          <a:off x="5304155" y="819785"/>
          <a:ext cx="330962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489200" imgH="469900" progId="Equation.DSMT4">
                  <p:embed/>
                </p:oleObj>
              </mc:Choice>
              <mc:Fallback>
                <p:oleObj name="" r:id="rId1" imgW="2489200" imgH="4699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04155" y="819785"/>
                        <a:ext cx="3309620" cy="622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76" name="Text Box 4"/>
          <p:cNvSpPr txBox="1"/>
          <p:nvPr/>
        </p:nvSpPr>
        <p:spPr>
          <a:xfrm>
            <a:off x="2206625" y="2452370"/>
            <a:ext cx="3427730" cy="4895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齐次方程的通解为：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2277" name="Object 5"/>
          <p:cNvGraphicFramePr>
            <a:graphicFrameLocks noChangeAspect="1"/>
          </p:cNvGraphicFramePr>
          <p:nvPr/>
        </p:nvGraphicFramePr>
        <p:xfrm>
          <a:off x="5520055" y="2452370"/>
          <a:ext cx="3652520" cy="551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881630" imgH="482600" progId="Equation.DSMT4">
                  <p:embed/>
                </p:oleObj>
              </mc:Choice>
              <mc:Fallback>
                <p:oleObj name="" r:id="rId3" imgW="2881630" imgH="4826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0055" y="2452370"/>
                        <a:ext cx="3652520" cy="55118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8" name="Object 6"/>
          <p:cNvGraphicFramePr>
            <a:graphicFrameLocks noChangeAspect="1"/>
          </p:cNvGraphicFramePr>
          <p:nvPr/>
        </p:nvGraphicFramePr>
        <p:xfrm>
          <a:off x="3825875" y="1639570"/>
          <a:ext cx="2299970" cy="743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371600" imgH="482600" progId="Equation.DSMT4">
                  <p:embed/>
                </p:oleObj>
              </mc:Choice>
              <mc:Fallback>
                <p:oleObj name="" r:id="rId5" imgW="1371600" imgH="4826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25875" y="1639570"/>
                        <a:ext cx="2299970" cy="74358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79" name="Text Box 7"/>
          <p:cNvSpPr txBox="1"/>
          <p:nvPr/>
        </p:nvSpPr>
        <p:spPr>
          <a:xfrm>
            <a:off x="2206625" y="1804670"/>
            <a:ext cx="1753870" cy="4895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特解为：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2280" name="Object 8"/>
          <p:cNvGraphicFramePr>
            <a:graphicFrameLocks noChangeAspect="1"/>
          </p:cNvGraphicFramePr>
          <p:nvPr/>
        </p:nvGraphicFramePr>
        <p:xfrm>
          <a:off x="6200140" y="1607820"/>
          <a:ext cx="2487295" cy="775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397000" imgH="482600" progId="Equation.DSMT4">
                  <p:embed/>
                </p:oleObj>
              </mc:Choice>
              <mc:Fallback>
                <p:oleObj name="" r:id="rId7" imgW="1397000" imgH="4826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00140" y="1607820"/>
                        <a:ext cx="2487295" cy="77533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1" name="Text Box 9"/>
          <p:cNvSpPr txBox="1"/>
          <p:nvPr/>
        </p:nvSpPr>
        <p:spPr>
          <a:xfrm>
            <a:off x="1703705" y="3100070"/>
            <a:ext cx="3810635" cy="4895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(3)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有一对共轭复根时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Monotype Sorts" pitchFamily="2" charset="2"/>
            </a:endParaRPr>
          </a:p>
        </p:txBody>
      </p:sp>
      <p:graphicFrame>
        <p:nvGraphicFramePr>
          <p:cNvPr id="182282" name="Object 10"/>
          <p:cNvGraphicFramePr>
            <a:graphicFrameLocks noChangeAspect="1"/>
          </p:cNvGraphicFramePr>
          <p:nvPr/>
        </p:nvGraphicFramePr>
        <p:xfrm>
          <a:off x="4222750" y="3820160"/>
          <a:ext cx="190373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587500" imgH="431800" progId="Equation.DSMT4">
                  <p:embed/>
                </p:oleObj>
              </mc:Choice>
              <mc:Fallback>
                <p:oleObj name="" r:id="rId9" imgW="1587500" imgH="4318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22750" y="3820160"/>
                        <a:ext cx="1903730" cy="517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3" name="Object 11"/>
          <p:cNvGraphicFramePr>
            <a:graphicFrameLocks noChangeAspect="1"/>
          </p:cNvGraphicFramePr>
          <p:nvPr/>
        </p:nvGraphicFramePr>
        <p:xfrm>
          <a:off x="6487160" y="3785870"/>
          <a:ext cx="2034540" cy="54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1612900" imgH="431800" progId="Equation.DSMT4">
                  <p:embed/>
                </p:oleObj>
              </mc:Choice>
              <mc:Fallback>
                <p:oleObj name="" r:id="rId11" imgW="1612900" imgH="4318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87160" y="3785870"/>
                        <a:ext cx="2034540" cy="54737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4" name="Object 12"/>
          <p:cNvGraphicFramePr>
            <a:graphicFrameLocks noChangeAspect="1"/>
          </p:cNvGraphicFramePr>
          <p:nvPr/>
        </p:nvGraphicFramePr>
        <p:xfrm>
          <a:off x="5375275" y="3100070"/>
          <a:ext cx="3312160" cy="62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2489200" imgH="469900" progId="Equation.DSMT4">
                  <p:embed/>
                </p:oleObj>
              </mc:Choice>
              <mc:Fallback>
                <p:oleObj name="" r:id="rId13" imgW="2489200" imgH="4699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75275" y="3100070"/>
                        <a:ext cx="3312160" cy="62357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5" name="Object 13"/>
          <p:cNvGraphicFramePr>
            <a:graphicFrameLocks noChangeAspect="1"/>
          </p:cNvGraphicFramePr>
          <p:nvPr/>
        </p:nvGraphicFramePr>
        <p:xfrm>
          <a:off x="4173220" y="4494530"/>
          <a:ext cx="2313940" cy="53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1536065" imgH="355600" progId="Equation.DSMT4">
                  <p:embed/>
                </p:oleObj>
              </mc:Choice>
              <mc:Fallback>
                <p:oleObj name="" r:id="rId15" imgW="1536065" imgH="3556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73220" y="4494530"/>
                        <a:ext cx="2313940" cy="53594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6" name="Object 14"/>
          <p:cNvGraphicFramePr>
            <a:graphicFrameLocks noChangeAspect="1"/>
          </p:cNvGraphicFramePr>
          <p:nvPr/>
        </p:nvGraphicFramePr>
        <p:xfrm>
          <a:off x="6743700" y="4486275"/>
          <a:ext cx="236474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1536065" imgH="355600" progId="Equation.3">
                  <p:embed/>
                </p:oleObj>
              </mc:Choice>
              <mc:Fallback>
                <p:oleObj name="" r:id="rId17" imgW="1536065" imgH="3556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43700" y="4486275"/>
                        <a:ext cx="2364740" cy="54864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7" name="Text Box 15"/>
          <p:cNvSpPr txBox="1"/>
          <p:nvPr/>
        </p:nvSpPr>
        <p:spPr>
          <a:xfrm>
            <a:off x="2279650" y="5116195"/>
            <a:ext cx="4113530" cy="4895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齐次方程的通解为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2288" name="Object 16"/>
          <p:cNvGraphicFramePr>
            <a:graphicFrameLocks noChangeAspect="1"/>
          </p:cNvGraphicFramePr>
          <p:nvPr/>
        </p:nvGraphicFramePr>
        <p:xfrm>
          <a:off x="5304155" y="5116195"/>
          <a:ext cx="5407025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9" imgW="4318000" imgH="469900" progId="Equation.DSMT4">
                  <p:embed/>
                </p:oleObj>
              </mc:Choice>
              <mc:Fallback>
                <p:oleObj name="" r:id="rId19" imgW="4318000" imgH="4699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04155" y="5116195"/>
                        <a:ext cx="5407025" cy="58928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9" name="Text Box 17"/>
          <p:cNvSpPr txBox="1"/>
          <p:nvPr/>
        </p:nvSpPr>
        <p:spPr>
          <a:xfrm>
            <a:off x="2279650" y="3676650"/>
            <a:ext cx="2258060" cy="4895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特征根为：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2290" name="Text Box 18"/>
          <p:cNvSpPr txBox="1"/>
          <p:nvPr/>
        </p:nvSpPr>
        <p:spPr>
          <a:xfrm>
            <a:off x="2279650" y="4468495"/>
            <a:ext cx="1828165" cy="4895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特解为：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09" name="Text Box 19"/>
          <p:cNvSpPr txBox="1"/>
          <p:nvPr/>
        </p:nvSpPr>
        <p:spPr>
          <a:xfrm>
            <a:off x="1703705" y="1012825"/>
            <a:ext cx="4192270" cy="4895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(2)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Monotype Sorts" pitchFamily="2" charset="2"/>
              </a:rPr>
              <a:t>有两个相等的实根时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Monotype Sort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75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"/>
                                        <p:tgtEl>
                                          <p:spTgt spid="18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2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6" grpId="0"/>
      <p:bldP spid="182279" grpId="0"/>
      <p:bldP spid="182281" grpId="0"/>
      <p:bldP spid="182287" grpId="0"/>
      <p:bldP spid="182289" grpId="0"/>
      <p:bldP spid="18229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2"/>
          <p:cNvSpPr txBox="1"/>
          <p:nvPr/>
        </p:nvSpPr>
        <p:spPr>
          <a:xfrm>
            <a:off x="2135188" y="692150"/>
            <a:ext cx="7345362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小结：二阶常系数线性齐次微分方程解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218" name="Group 3"/>
          <p:cNvGrpSpPr/>
          <p:nvPr/>
        </p:nvGrpSpPr>
        <p:grpSpPr>
          <a:xfrm>
            <a:off x="2063750" y="1574800"/>
            <a:ext cx="7704138" cy="4714875"/>
            <a:chOff x="340" y="992"/>
            <a:chExt cx="4853" cy="2970"/>
          </a:xfrm>
        </p:grpSpPr>
        <p:graphicFrame>
          <p:nvGraphicFramePr>
            <p:cNvPr id="9219" name="Object 4"/>
            <p:cNvGraphicFramePr>
              <a:graphicFrameLocks noChangeAspect="1"/>
            </p:cNvGraphicFramePr>
            <p:nvPr/>
          </p:nvGraphicFramePr>
          <p:xfrm>
            <a:off x="2381" y="1389"/>
            <a:ext cx="1588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2298700" imgH="520700" progId="Equation.DSMT4">
                    <p:embed/>
                  </p:oleObj>
                </mc:Choice>
                <mc:Fallback>
                  <p:oleObj name="" r:id="rId1" imgW="2298700" imgH="520700" progId="Equation.DSMT4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81" y="1389"/>
                          <a:ext cx="1588" cy="360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65881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0" name="Object 5"/>
            <p:cNvGraphicFramePr>
              <a:graphicFrameLocks noChangeAspect="1"/>
            </p:cNvGraphicFramePr>
            <p:nvPr/>
          </p:nvGraphicFramePr>
          <p:xfrm>
            <a:off x="2336" y="992"/>
            <a:ext cx="190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2589530" imgH="431800" progId="Equation.3">
                    <p:embed/>
                  </p:oleObj>
                </mc:Choice>
                <mc:Fallback>
                  <p:oleObj name="" r:id="rId3" imgW="2589530" imgH="4318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36" y="992"/>
                          <a:ext cx="1905" cy="317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65881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chemeClr val="bg2">
                              <a:alpha val="50000"/>
                            </a:scheme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1" name="Object 6"/>
            <p:cNvGraphicFramePr>
              <a:graphicFrameLocks noChangeAspect="1"/>
            </p:cNvGraphicFramePr>
            <p:nvPr/>
          </p:nvGraphicFramePr>
          <p:xfrm>
            <a:off x="340" y="2406"/>
            <a:ext cx="4853" cy="1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5611495" imgH="1813560" progId="Word.Document.8">
                    <p:embed/>
                  </p:oleObj>
                </mc:Choice>
                <mc:Fallback>
                  <p:oleObj name="" r:id="rId5" imgW="5611495" imgH="1813560" progId="Word.Document.8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0" y="2406"/>
                          <a:ext cx="4853" cy="1556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65881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2" name="Object 7"/>
            <p:cNvGraphicFramePr>
              <a:graphicFrameLocks noChangeAspect="1"/>
            </p:cNvGraphicFramePr>
            <p:nvPr/>
          </p:nvGraphicFramePr>
          <p:xfrm>
            <a:off x="2381" y="1797"/>
            <a:ext cx="2041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3314700" imgH="939800" progId="Equation.3">
                    <p:embed/>
                  </p:oleObj>
                </mc:Choice>
                <mc:Fallback>
                  <p:oleObj name="" r:id="rId7" imgW="3314700" imgH="9398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81" y="1797"/>
                          <a:ext cx="2041" cy="579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65881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3" name="Rectangle 8"/>
            <p:cNvSpPr/>
            <p:nvPr/>
          </p:nvSpPr>
          <p:spPr>
            <a:xfrm>
              <a:off x="919" y="1958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特征根：</a:t>
              </a:r>
              <a:endPara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24" name="Text Box 9"/>
            <p:cNvSpPr txBox="1"/>
            <p:nvPr/>
          </p:nvSpPr>
          <p:spPr>
            <a:xfrm>
              <a:off x="919" y="1051"/>
              <a:ext cx="108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齐次方程：</a:t>
              </a:r>
              <a:endPara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225" name="Rectangle 10"/>
            <p:cNvSpPr/>
            <p:nvPr/>
          </p:nvSpPr>
          <p:spPr>
            <a:xfrm>
              <a:off x="919" y="1459"/>
              <a:ext cx="107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特征方程：</a:t>
              </a:r>
              <a:endPara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9226" name="AutoShape 11"/>
          <p:cNvSpPr/>
          <p:nvPr/>
        </p:nvSpPr>
        <p:spPr>
          <a:xfrm>
            <a:off x="7108825" y="6122988"/>
            <a:ext cx="2803525" cy="609600"/>
          </a:xfrm>
          <a:prstGeom prst="borderCallout2">
            <a:avLst>
              <a:gd name="adj1" fmla="val 18750"/>
              <a:gd name="adj2" fmla="val -2718"/>
              <a:gd name="adj3" fmla="val 18750"/>
              <a:gd name="adj4" fmla="val -22875"/>
              <a:gd name="adj5" fmla="val -63801"/>
              <a:gd name="adj6" fmla="val -43829"/>
            </a:avLst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利用了欧拉公式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583805" y="6430645"/>
            <a:ext cx="1853565" cy="301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1" name="Group 15"/>
          <p:cNvGrpSpPr/>
          <p:nvPr/>
        </p:nvGrpSpPr>
        <p:grpSpPr>
          <a:xfrm>
            <a:off x="2347913" y="439738"/>
            <a:ext cx="5467350" cy="2587625"/>
            <a:chOff x="519" y="277"/>
            <a:chExt cx="3444" cy="1630"/>
          </a:xfrm>
        </p:grpSpPr>
        <p:sp>
          <p:nvSpPr>
            <p:cNvPr id="10242" name="Text Box 3"/>
            <p:cNvSpPr txBox="1"/>
            <p:nvPr/>
          </p:nvSpPr>
          <p:spPr>
            <a:xfrm>
              <a:off x="519" y="277"/>
              <a:ext cx="3216" cy="290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: 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求下列方程的通解</a:t>
              </a:r>
              <a:endPara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0243" name="Object 4"/>
            <p:cNvGraphicFramePr>
              <a:graphicFrameLocks noChangeAspect="1"/>
            </p:cNvGraphicFramePr>
            <p:nvPr/>
          </p:nvGraphicFramePr>
          <p:xfrm>
            <a:off x="1066" y="663"/>
            <a:ext cx="2526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548765" imgH="241300" progId="Equation.DSMT4">
                    <p:embed/>
                  </p:oleObj>
                </mc:Choice>
                <mc:Fallback>
                  <p:oleObj name="" r:id="rId1" imgW="1548765" imgH="2413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66" y="663"/>
                          <a:ext cx="2526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4" name="Object 5"/>
            <p:cNvGraphicFramePr>
              <a:graphicFrameLocks noChangeAspect="1"/>
            </p:cNvGraphicFramePr>
            <p:nvPr/>
          </p:nvGraphicFramePr>
          <p:xfrm>
            <a:off x="1111" y="1063"/>
            <a:ext cx="2852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816100" imgH="279400" progId="Equation.DSMT4">
                    <p:embed/>
                  </p:oleObj>
                </mc:Choice>
                <mc:Fallback>
                  <p:oleObj name="" r:id="rId3" imgW="1816100" imgH="2794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11" y="1063"/>
                          <a:ext cx="2852" cy="4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5" name="Object 6"/>
            <p:cNvGraphicFramePr>
              <a:graphicFrameLocks noChangeAspect="1"/>
            </p:cNvGraphicFramePr>
            <p:nvPr/>
          </p:nvGraphicFramePr>
          <p:xfrm>
            <a:off x="1111" y="1525"/>
            <a:ext cx="2684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600200" imgH="241300" progId="Equation.DSMT4">
                    <p:embed/>
                  </p:oleObj>
                </mc:Choice>
                <mc:Fallback>
                  <p:oleObj name="" r:id="rId5" imgW="1600200" imgH="241300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11" y="1525"/>
                          <a:ext cx="2684" cy="3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360" name="Group 16"/>
          <p:cNvGrpSpPr/>
          <p:nvPr/>
        </p:nvGrpSpPr>
        <p:grpSpPr>
          <a:xfrm>
            <a:off x="2424113" y="3429000"/>
            <a:ext cx="6723062" cy="2544763"/>
            <a:chOff x="567" y="2160"/>
            <a:chExt cx="4235" cy="1603"/>
          </a:xfrm>
        </p:grpSpPr>
        <p:grpSp>
          <p:nvGrpSpPr>
            <p:cNvPr id="10247" name="Group 7"/>
            <p:cNvGrpSpPr/>
            <p:nvPr/>
          </p:nvGrpSpPr>
          <p:grpSpPr>
            <a:xfrm>
              <a:off x="567" y="2160"/>
              <a:ext cx="3360" cy="330"/>
              <a:chOff x="480" y="2149"/>
              <a:chExt cx="3360" cy="330"/>
            </a:xfrm>
          </p:grpSpPr>
          <p:sp>
            <p:nvSpPr>
              <p:cNvPr id="10248" name="Text Box 8"/>
              <p:cNvSpPr txBox="1"/>
              <p:nvPr/>
            </p:nvSpPr>
            <p:spPr>
              <a:xfrm>
                <a:off x="480" y="2160"/>
                <a:ext cx="2304" cy="232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解 </a:t>
                </a:r>
                <a:r>
                  <a:rPr lang="en-US" altLang="zh-CN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(1)</a:t>
                </a:r>
                <a:r>
                  <a:rPr lang="zh-CN" altLang="en-US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特征方程为</a:t>
                </a:r>
                <a:endParaRPr lang="zh-CN" altLang="en-US" b="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10249" name="Object 9"/>
              <p:cNvGraphicFramePr>
                <a:graphicFrameLocks noChangeAspect="1"/>
              </p:cNvGraphicFramePr>
              <p:nvPr/>
            </p:nvGraphicFramePr>
            <p:xfrm>
              <a:off x="2400" y="2149"/>
              <a:ext cx="1440" cy="3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7" imgW="888365" imgH="203200" progId="Equation.3">
                      <p:embed/>
                    </p:oleObj>
                  </mc:Choice>
                  <mc:Fallback>
                    <p:oleObj name="" r:id="rId7" imgW="888365" imgH="203200" progId="Equation.3">
                      <p:embed/>
                      <p:pic>
                        <p:nvPicPr>
                          <p:cNvPr id="0" name="图片 3089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400" y="2149"/>
                            <a:ext cx="1440" cy="33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50" name="Text Box 10"/>
            <p:cNvSpPr txBox="1"/>
            <p:nvPr/>
          </p:nvSpPr>
          <p:spPr>
            <a:xfrm>
              <a:off x="703" y="3067"/>
              <a:ext cx="1968" cy="232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_x000B__x000C_"/>
                </a:rPr>
                <a:t>所以方程的通解为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_x000B__x000C_"/>
              </a:endParaRPr>
            </a:p>
          </p:txBody>
        </p:sp>
        <p:graphicFrame>
          <p:nvGraphicFramePr>
            <p:cNvPr id="10251" name="Object 11"/>
            <p:cNvGraphicFramePr>
              <a:graphicFrameLocks noChangeAspect="1"/>
            </p:cNvGraphicFramePr>
            <p:nvPr/>
          </p:nvGraphicFramePr>
          <p:xfrm>
            <a:off x="1338" y="3475"/>
            <a:ext cx="346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5499100" imgH="457200" progId="Equation.3">
                    <p:embed/>
                  </p:oleObj>
                </mc:Choice>
                <mc:Fallback>
                  <p:oleObj name="" r:id="rId9" imgW="5499100" imgH="4572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38" y="3475"/>
                          <a:ext cx="3464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52" name="Group 12"/>
            <p:cNvGrpSpPr/>
            <p:nvPr/>
          </p:nvGrpSpPr>
          <p:grpSpPr>
            <a:xfrm>
              <a:off x="1338" y="2614"/>
              <a:ext cx="1872" cy="359"/>
              <a:chOff x="480" y="2588"/>
              <a:chExt cx="1872" cy="359"/>
            </a:xfrm>
          </p:grpSpPr>
          <p:graphicFrame>
            <p:nvGraphicFramePr>
              <p:cNvPr id="10253" name="Object 13"/>
              <p:cNvGraphicFramePr>
                <a:graphicFrameLocks noChangeAspect="1"/>
              </p:cNvGraphicFramePr>
              <p:nvPr/>
            </p:nvGraphicFramePr>
            <p:xfrm>
              <a:off x="1152" y="2588"/>
              <a:ext cx="1200" cy="3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" r:id="rId11" imgW="723900" imgH="215900" progId="Equation.3">
                      <p:embed/>
                    </p:oleObj>
                  </mc:Choice>
                  <mc:Fallback>
                    <p:oleObj name="" r:id="rId11" imgW="723900" imgH="215900" progId="Equation.3">
                      <p:embed/>
                      <p:pic>
                        <p:nvPicPr>
                          <p:cNvPr id="0" name="图片 3091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152" y="2588"/>
                            <a:ext cx="1200" cy="3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54" name="Text Box 14"/>
              <p:cNvSpPr txBox="1"/>
              <p:nvPr/>
            </p:nvSpPr>
            <p:spPr>
              <a:xfrm>
                <a:off x="480" y="2592"/>
                <a:ext cx="768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解得</a:t>
                </a:r>
                <a:endPara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370" name="Object 2"/>
          <p:cNvGraphicFramePr>
            <a:graphicFrameLocks noChangeAspect="1"/>
          </p:cNvGraphicFramePr>
          <p:nvPr/>
        </p:nvGraphicFramePr>
        <p:xfrm>
          <a:off x="3575050" y="2565400"/>
          <a:ext cx="580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5803900" imgH="469900" progId="Equation.DSMT4">
                  <p:embed/>
                </p:oleObj>
              </mc:Choice>
              <mc:Fallback>
                <p:oleObj name="" r:id="rId1" imgW="5803900" imgH="4699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5050" y="2565400"/>
                        <a:ext cx="58039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1" name="Text Box 3"/>
          <p:cNvSpPr txBox="1"/>
          <p:nvPr/>
        </p:nvSpPr>
        <p:spPr>
          <a:xfrm>
            <a:off x="2431415" y="1844675"/>
            <a:ext cx="3124200" cy="368300"/>
          </a:xfrm>
          <a:prstGeom prst="rect">
            <a:avLst/>
          </a:prstGeom>
          <a:noFill/>
          <a:ln w="5715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_x000B__x000C_"/>
              </a:rPr>
              <a:t>所以方程的通解为</a:t>
            </a:r>
            <a:endParaRPr lang="zh-CN" altLang="en-US" dirty="0">
              <a:solidFill>
                <a:srgbClr val="0000CC"/>
              </a:solidFill>
              <a:latin typeface="黑体" panose="02010609060101010101" pitchFamily="49" charset="-122"/>
              <a:ea typeface="_x000B__x000C_"/>
            </a:endParaRPr>
          </a:p>
        </p:txBody>
      </p:sp>
      <p:grpSp>
        <p:nvGrpSpPr>
          <p:cNvPr id="186372" name="Group 4"/>
          <p:cNvGrpSpPr/>
          <p:nvPr/>
        </p:nvGrpSpPr>
        <p:grpSpPr>
          <a:xfrm>
            <a:off x="4015740" y="1125538"/>
            <a:ext cx="2971800" cy="592137"/>
            <a:chOff x="528" y="672"/>
            <a:chExt cx="1872" cy="373"/>
          </a:xfrm>
        </p:grpSpPr>
        <p:graphicFrame>
          <p:nvGraphicFramePr>
            <p:cNvPr id="11268" name="Object 5"/>
            <p:cNvGraphicFramePr>
              <a:graphicFrameLocks noChangeAspect="1"/>
            </p:cNvGraphicFramePr>
            <p:nvPr/>
          </p:nvGraphicFramePr>
          <p:xfrm>
            <a:off x="1104" y="672"/>
            <a:ext cx="1296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838200" imgH="241300" progId="Equation.3">
                    <p:embed/>
                  </p:oleObj>
                </mc:Choice>
                <mc:Fallback>
                  <p:oleObj name="" r:id="rId3" imgW="838200" imgH="2413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04" y="672"/>
                          <a:ext cx="1296" cy="3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69" name="Text Box 6"/>
            <p:cNvSpPr txBox="1"/>
            <p:nvPr/>
          </p:nvSpPr>
          <p:spPr>
            <a:xfrm>
              <a:off x="528" y="720"/>
              <a:ext cx="76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解得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86375" name="Group 7"/>
          <p:cNvGrpSpPr/>
          <p:nvPr/>
        </p:nvGrpSpPr>
        <p:grpSpPr>
          <a:xfrm>
            <a:off x="1993265" y="449263"/>
            <a:ext cx="5410200" cy="541337"/>
            <a:chOff x="336" y="283"/>
            <a:chExt cx="3408" cy="341"/>
          </a:xfrm>
        </p:grpSpPr>
        <p:sp>
          <p:nvSpPr>
            <p:cNvPr id="11271" name="Text Box 8"/>
            <p:cNvSpPr txBox="1"/>
            <p:nvPr/>
          </p:nvSpPr>
          <p:spPr>
            <a:xfrm>
              <a:off x="336" y="288"/>
              <a:ext cx="2304" cy="232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(2)</a:t>
              </a:r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特征方程为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272" name="Object 9"/>
            <p:cNvGraphicFramePr>
              <a:graphicFrameLocks noChangeAspect="1"/>
            </p:cNvGraphicFramePr>
            <p:nvPr/>
          </p:nvGraphicFramePr>
          <p:xfrm>
            <a:off x="2016" y="283"/>
            <a:ext cx="1728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091565" imgH="215900" progId="Equation.3">
                    <p:embed/>
                  </p:oleObj>
                </mc:Choice>
                <mc:Fallback>
                  <p:oleObj name="" r:id="rId5" imgW="1091565" imgH="2159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16" y="283"/>
                          <a:ext cx="1728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6378" name="Text Box 10"/>
          <p:cNvSpPr txBox="1"/>
          <p:nvPr/>
        </p:nvSpPr>
        <p:spPr>
          <a:xfrm>
            <a:off x="1999615" y="4868863"/>
            <a:ext cx="3124200" cy="368300"/>
          </a:xfrm>
          <a:prstGeom prst="rect">
            <a:avLst/>
          </a:prstGeom>
          <a:noFill/>
          <a:ln w="5715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_x000B__x000C_"/>
              </a:rPr>
              <a:t>所以方程的通解为</a:t>
            </a:r>
            <a:endParaRPr lang="zh-CN" altLang="en-US" dirty="0">
              <a:solidFill>
                <a:srgbClr val="0000CC"/>
              </a:solidFill>
              <a:latin typeface="黑体" panose="02010609060101010101" pitchFamily="49" charset="-122"/>
              <a:ea typeface="_x000B__x000C_"/>
            </a:endParaRPr>
          </a:p>
        </p:txBody>
      </p:sp>
      <p:grpSp>
        <p:nvGrpSpPr>
          <p:cNvPr id="186379" name="Group 11"/>
          <p:cNvGrpSpPr/>
          <p:nvPr/>
        </p:nvGrpSpPr>
        <p:grpSpPr>
          <a:xfrm>
            <a:off x="2144078" y="3284538"/>
            <a:ext cx="4876800" cy="538162"/>
            <a:chOff x="336" y="2160"/>
            <a:chExt cx="3072" cy="339"/>
          </a:xfrm>
        </p:grpSpPr>
        <p:sp>
          <p:nvSpPr>
            <p:cNvPr id="11275" name="Text Box 12"/>
            <p:cNvSpPr txBox="1"/>
            <p:nvPr/>
          </p:nvSpPr>
          <p:spPr>
            <a:xfrm>
              <a:off x="336" y="2160"/>
              <a:ext cx="2304" cy="232"/>
            </a:xfrm>
            <a:prstGeom prst="rect">
              <a:avLst/>
            </a:prstGeom>
            <a:noFill/>
            <a:ln w="571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(3)</a:t>
              </a:r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特征方程为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276" name="Object 13"/>
            <p:cNvGraphicFramePr>
              <a:graphicFrameLocks noChangeAspect="1"/>
            </p:cNvGraphicFramePr>
            <p:nvPr/>
          </p:nvGraphicFramePr>
          <p:xfrm>
            <a:off x="1968" y="2176"/>
            <a:ext cx="144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901065" imgH="203200" progId="Equation.3">
                    <p:embed/>
                  </p:oleObj>
                </mc:Choice>
                <mc:Fallback>
                  <p:oleObj name="" r:id="rId7" imgW="901065" imgH="2032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68" y="2176"/>
                          <a:ext cx="1440" cy="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6382" name="Group 14"/>
          <p:cNvGrpSpPr/>
          <p:nvPr/>
        </p:nvGrpSpPr>
        <p:grpSpPr>
          <a:xfrm>
            <a:off x="2286953" y="4005263"/>
            <a:ext cx="3124200" cy="650875"/>
            <a:chOff x="528" y="2640"/>
            <a:chExt cx="1968" cy="410"/>
          </a:xfrm>
        </p:grpSpPr>
        <p:sp>
          <p:nvSpPr>
            <p:cNvPr id="11278" name="Text Box 15"/>
            <p:cNvSpPr txBox="1"/>
            <p:nvPr/>
          </p:nvSpPr>
          <p:spPr>
            <a:xfrm>
              <a:off x="528" y="2640"/>
              <a:ext cx="76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解得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279" name="Object 16"/>
            <p:cNvGraphicFramePr>
              <a:graphicFrameLocks noChangeAspect="1"/>
            </p:cNvGraphicFramePr>
            <p:nvPr/>
          </p:nvGraphicFramePr>
          <p:xfrm>
            <a:off x="1152" y="2640"/>
            <a:ext cx="1344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875665" imgH="266700" progId="Equation.3">
                    <p:embed/>
                  </p:oleObj>
                </mc:Choice>
                <mc:Fallback>
                  <p:oleObj name="" r:id="rId9" imgW="875665" imgH="2667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52" y="2640"/>
                          <a:ext cx="1344" cy="4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6385" name="Object 17"/>
          <p:cNvGraphicFramePr>
            <a:graphicFrameLocks noChangeAspect="1"/>
          </p:cNvGraphicFramePr>
          <p:nvPr/>
        </p:nvGraphicFramePr>
        <p:xfrm>
          <a:off x="2424113" y="5589588"/>
          <a:ext cx="775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7759700" imgH="457200" progId="Equation.3">
                  <p:embed/>
                </p:oleObj>
              </mc:Choice>
              <mc:Fallback>
                <p:oleObj name="" r:id="rId11" imgW="7759700" imgH="4572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24113" y="5589588"/>
                        <a:ext cx="77597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6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6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/>
      <p:bldP spid="1863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3"/>
          <p:cNvSpPr txBox="1"/>
          <p:nvPr/>
        </p:nvSpPr>
        <p:spPr>
          <a:xfrm>
            <a:off x="2424113" y="1557338"/>
            <a:ext cx="3505200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   特征方程为</a:t>
            </a:r>
            <a:endParaRPr lang="zh-CN" altLang="en-US" sz="20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5664200" y="1557338"/>
          <a:ext cx="247173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26465" imgH="203200" progId="Equation.3">
                  <p:embed/>
                </p:oleObj>
              </mc:Choice>
              <mc:Fallback>
                <p:oleObj name="" r:id="rId1" imgW="926465" imgH="203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64200" y="1557338"/>
                        <a:ext cx="2471738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7397" name="Group 5"/>
          <p:cNvGrpSpPr/>
          <p:nvPr/>
        </p:nvGrpSpPr>
        <p:grpSpPr>
          <a:xfrm>
            <a:off x="2927350" y="2205038"/>
            <a:ext cx="4937125" cy="523875"/>
            <a:chOff x="0" y="1440"/>
            <a:chExt cx="3110" cy="330"/>
          </a:xfrm>
        </p:grpSpPr>
        <p:sp>
          <p:nvSpPr>
            <p:cNvPr id="12292" name="Text Box 6"/>
            <p:cNvSpPr txBox="1"/>
            <p:nvPr/>
          </p:nvSpPr>
          <p:spPr>
            <a:xfrm>
              <a:off x="0" y="1440"/>
              <a:ext cx="7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即</a:t>
              </a:r>
              <a:endParaRPr lang="zh-CN" altLang="en-US" sz="20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2293" name="Object 7"/>
            <p:cNvGraphicFramePr>
              <a:graphicFrameLocks noChangeAspect="1"/>
            </p:cNvGraphicFramePr>
            <p:nvPr/>
          </p:nvGraphicFramePr>
          <p:xfrm>
            <a:off x="1402" y="1440"/>
            <a:ext cx="1708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054100" imgH="203200" progId="Equation.3">
                    <p:embed/>
                  </p:oleObj>
                </mc:Choice>
                <mc:Fallback>
                  <p:oleObj name="" r:id="rId3" imgW="1054100" imgH="2032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02" y="1440"/>
                          <a:ext cx="1708" cy="3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7400" name="Group 8"/>
          <p:cNvGrpSpPr/>
          <p:nvPr/>
        </p:nvGrpSpPr>
        <p:grpSpPr>
          <a:xfrm>
            <a:off x="2279650" y="2835276"/>
            <a:ext cx="6235700" cy="530225"/>
            <a:chOff x="0" y="1813"/>
            <a:chExt cx="3928" cy="334"/>
          </a:xfrm>
        </p:grpSpPr>
        <p:sp>
          <p:nvSpPr>
            <p:cNvPr id="12295" name="Text Box 9"/>
            <p:cNvSpPr txBox="1"/>
            <p:nvPr/>
          </p:nvSpPr>
          <p:spPr>
            <a:xfrm>
              <a:off x="0" y="1824"/>
              <a:ext cx="336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特征方程有两个不相等的实数根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2296" name="Object 10"/>
            <p:cNvGraphicFramePr>
              <a:graphicFrameLocks noChangeAspect="1"/>
            </p:cNvGraphicFramePr>
            <p:nvPr/>
          </p:nvGraphicFramePr>
          <p:xfrm>
            <a:off x="2536" y="1813"/>
            <a:ext cx="1392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901065" imgH="215900" progId="Equation.3">
                    <p:embed/>
                  </p:oleObj>
                </mc:Choice>
                <mc:Fallback>
                  <p:oleObj name="" r:id="rId5" imgW="901065" imgH="2159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36" y="1813"/>
                          <a:ext cx="1392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7403" name="Object 11"/>
          <p:cNvGraphicFramePr>
            <a:graphicFrameLocks noChangeAspect="1"/>
          </p:cNvGraphicFramePr>
          <p:nvPr/>
        </p:nvGraphicFramePr>
        <p:xfrm>
          <a:off x="4727575" y="3975735"/>
          <a:ext cx="3022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294765" imgH="266700" progId="Equation.DSMT4">
                  <p:embed/>
                </p:oleObj>
              </mc:Choice>
              <mc:Fallback>
                <p:oleObj name="" r:id="rId7" imgW="1294765" imgH="266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27575" y="3975735"/>
                        <a:ext cx="30226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4" name="Text Box 12"/>
          <p:cNvSpPr txBox="1"/>
          <p:nvPr/>
        </p:nvSpPr>
        <p:spPr>
          <a:xfrm>
            <a:off x="2495550" y="3573463"/>
            <a:ext cx="38100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所以所求方程的通解为</a:t>
            </a:r>
            <a:endParaRPr lang="zh-CN" altLang="en-US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7405" name="Text Box 13"/>
          <p:cNvSpPr txBox="1"/>
          <p:nvPr/>
        </p:nvSpPr>
        <p:spPr>
          <a:xfrm>
            <a:off x="2063750" y="4724400"/>
            <a:ext cx="277177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对上式求导</a:t>
            </a:r>
            <a:r>
              <a:rPr lang="en-US" altLang="zh-CN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lang="zh-CN" altLang="en-US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7406" name="Object 14"/>
          <p:cNvGraphicFramePr>
            <a:graphicFrameLocks noChangeAspect="1"/>
          </p:cNvGraphicFramePr>
          <p:nvPr/>
        </p:nvGraphicFramePr>
        <p:xfrm>
          <a:off x="4070350" y="4962843"/>
          <a:ext cx="374491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536065" imgH="266700" progId="Equation.DSMT4">
                  <p:embed/>
                </p:oleObj>
              </mc:Choice>
              <mc:Fallback>
                <p:oleObj name="" r:id="rId9" imgW="1536065" imgH="2667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70350" y="4962843"/>
                        <a:ext cx="3744913" cy="649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01" name="Group 25"/>
          <p:cNvGrpSpPr/>
          <p:nvPr/>
        </p:nvGrpSpPr>
        <p:grpSpPr>
          <a:xfrm>
            <a:off x="1835150" y="206375"/>
            <a:ext cx="8153400" cy="1244600"/>
            <a:chOff x="432" y="164"/>
            <a:chExt cx="5136" cy="784"/>
          </a:xfrm>
        </p:grpSpPr>
        <p:sp>
          <p:nvSpPr>
            <p:cNvPr id="12302" name="Text Box 16"/>
            <p:cNvSpPr txBox="1"/>
            <p:nvPr/>
          </p:nvSpPr>
          <p:spPr>
            <a:xfrm>
              <a:off x="432" y="164"/>
              <a:ext cx="51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: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求                     满足初始条件</a:t>
              </a:r>
              <a:r>
                <a:rPr lang="zh-CN" altLang="en-US" sz="2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  </a:t>
              </a:r>
              <a:endPara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2303" name="Object 17"/>
            <p:cNvGraphicFramePr>
              <a:graphicFrameLocks noChangeAspect="1"/>
            </p:cNvGraphicFramePr>
            <p:nvPr/>
          </p:nvGraphicFramePr>
          <p:xfrm>
            <a:off x="1202" y="164"/>
            <a:ext cx="2104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1257300" imgH="241300" progId="Equation.DSMT4">
                    <p:embed/>
                  </p:oleObj>
                </mc:Choice>
                <mc:Fallback>
                  <p:oleObj name="" r:id="rId11" imgW="1257300" imgH="2413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02" y="164"/>
                          <a:ext cx="2104" cy="3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4" name="Text Box 18"/>
            <p:cNvSpPr txBox="1"/>
            <p:nvPr/>
          </p:nvSpPr>
          <p:spPr>
            <a:xfrm>
              <a:off x="2880" y="527"/>
              <a:ext cx="25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的特解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  <a:endPara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2305" name="Object 19"/>
            <p:cNvGraphicFramePr>
              <a:graphicFrameLocks noChangeAspect="1"/>
            </p:cNvGraphicFramePr>
            <p:nvPr/>
          </p:nvGraphicFramePr>
          <p:xfrm>
            <a:off x="796" y="600"/>
            <a:ext cx="950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622300" imgH="228600" progId="Equation.DSMT4">
                    <p:embed/>
                  </p:oleObj>
                </mc:Choice>
                <mc:Fallback>
                  <p:oleObj name="" r:id="rId13" imgW="622300" imgH="2286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96" y="600"/>
                          <a:ext cx="950" cy="3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6" name="Object 20"/>
            <p:cNvGraphicFramePr>
              <a:graphicFrameLocks noChangeAspect="1"/>
            </p:cNvGraphicFramePr>
            <p:nvPr/>
          </p:nvGraphicFramePr>
          <p:xfrm>
            <a:off x="1882" y="548"/>
            <a:ext cx="1043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5" imgW="673100" imgH="241300" progId="Equation.DSMT4">
                    <p:embed/>
                  </p:oleObj>
                </mc:Choice>
                <mc:Fallback>
                  <p:oleObj name="" r:id="rId15" imgW="673100" imgH="241300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882" y="548"/>
                          <a:ext cx="1043" cy="3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7413" name="Group 21"/>
          <p:cNvGrpSpPr/>
          <p:nvPr/>
        </p:nvGrpSpPr>
        <p:grpSpPr>
          <a:xfrm>
            <a:off x="2495550" y="5949950"/>
            <a:ext cx="7162800" cy="530225"/>
            <a:chOff x="0" y="3744"/>
            <a:chExt cx="4512" cy="334"/>
          </a:xfrm>
        </p:grpSpPr>
        <p:sp>
          <p:nvSpPr>
            <p:cNvPr id="12308" name="Text Box 22"/>
            <p:cNvSpPr txBox="1"/>
            <p:nvPr/>
          </p:nvSpPr>
          <p:spPr>
            <a:xfrm>
              <a:off x="0" y="3744"/>
              <a:ext cx="451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将        　、</a:t>
              </a:r>
              <a:r>
                <a:rPr lang="en-US" altLang="zh-CN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</a:t>
              </a:r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代入以上二式</a:t>
              </a:r>
              <a:r>
                <a:rPr lang="en-US" altLang="zh-CN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,</a:t>
              </a:r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得</a:t>
              </a:r>
              <a:endParaRPr lang="zh-CN" altLang="en-US" sz="24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2309" name="Object 23"/>
            <p:cNvGraphicFramePr>
              <a:graphicFrameLocks noChangeAspect="1"/>
            </p:cNvGraphicFramePr>
            <p:nvPr/>
          </p:nvGraphicFramePr>
          <p:xfrm>
            <a:off x="288" y="3744"/>
            <a:ext cx="859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7" imgW="520700" imgH="203200" progId="Equation.3">
                    <p:embed/>
                  </p:oleObj>
                </mc:Choice>
                <mc:Fallback>
                  <p:oleObj name="" r:id="rId17" imgW="520700" imgH="2032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88" y="3744"/>
                          <a:ext cx="859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0" name="Object 24"/>
            <p:cNvGraphicFramePr>
              <a:graphicFrameLocks noChangeAspect="1"/>
            </p:cNvGraphicFramePr>
            <p:nvPr/>
          </p:nvGraphicFramePr>
          <p:xfrm>
            <a:off x="1322" y="3761"/>
            <a:ext cx="886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9" imgW="584200" imgH="203200" progId="Equation.3">
                    <p:embed/>
                  </p:oleObj>
                </mc:Choice>
                <mc:Fallback>
                  <p:oleObj name="" r:id="rId19" imgW="584200" imgH="2032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322" y="3761"/>
                          <a:ext cx="886" cy="3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4" grpId="0"/>
      <p:bldP spid="18740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418" name="Object 2"/>
          <p:cNvGraphicFramePr>
            <a:graphicFrameLocks noChangeAspect="1"/>
          </p:cNvGraphicFramePr>
          <p:nvPr/>
        </p:nvGraphicFramePr>
        <p:xfrm>
          <a:off x="4491038" y="977900"/>
          <a:ext cx="2705100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155065" imgH="546100" progId="Equation.DSMT4">
                  <p:embed/>
                </p:oleObj>
              </mc:Choice>
              <mc:Fallback>
                <p:oleObj name="" r:id="rId1" imgW="1155065" imgH="5461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91038" y="977900"/>
                        <a:ext cx="2705100" cy="1281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8419" name="Group 3"/>
          <p:cNvGrpSpPr/>
          <p:nvPr/>
        </p:nvGrpSpPr>
        <p:grpSpPr>
          <a:xfrm>
            <a:off x="2711450" y="2720975"/>
            <a:ext cx="5484813" cy="1066800"/>
            <a:chOff x="0" y="922"/>
            <a:chExt cx="3455" cy="672"/>
          </a:xfrm>
        </p:grpSpPr>
        <p:sp>
          <p:nvSpPr>
            <p:cNvPr id="13315" name="Text Box 4"/>
            <p:cNvSpPr txBox="1"/>
            <p:nvPr/>
          </p:nvSpPr>
          <p:spPr>
            <a:xfrm>
              <a:off x="0" y="1056"/>
              <a:ext cx="211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解此方程组，得</a:t>
              </a:r>
              <a:endPara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13316" name="Object 5"/>
            <p:cNvGraphicFramePr>
              <a:graphicFrameLocks noChangeAspect="1"/>
            </p:cNvGraphicFramePr>
            <p:nvPr/>
          </p:nvGraphicFramePr>
          <p:xfrm>
            <a:off x="1824" y="922"/>
            <a:ext cx="1631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078865" imgH="444500" progId="Equation.DSMT4">
                    <p:embed/>
                  </p:oleObj>
                </mc:Choice>
                <mc:Fallback>
                  <p:oleObj name="" r:id="rId3" imgW="1078865" imgH="4445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24" y="922"/>
                          <a:ext cx="1631" cy="6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8422" name="Text Box 6"/>
          <p:cNvSpPr txBox="1"/>
          <p:nvPr/>
        </p:nvSpPr>
        <p:spPr>
          <a:xfrm>
            <a:off x="2711450" y="4221163"/>
            <a:ext cx="34290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所以所求特解为</a:t>
            </a:r>
            <a:endParaRPr lang="zh-CN" altLang="en-US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88423" name="Object 7"/>
          <p:cNvGraphicFramePr>
            <a:graphicFrameLocks noChangeAspect="1"/>
          </p:cNvGraphicFramePr>
          <p:nvPr/>
        </p:nvGraphicFramePr>
        <p:xfrm>
          <a:off x="4460875" y="4802188"/>
          <a:ext cx="320040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218565" imgH="444500" progId="Equation.DSMT4">
                  <p:embed/>
                </p:oleObj>
              </mc:Choice>
              <mc:Fallback>
                <p:oleObj name="" r:id="rId5" imgW="1218565" imgH="4445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0875" y="4802188"/>
                        <a:ext cx="3200400" cy="1166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22" name="Object 2"/>
          <p:cNvGraphicFramePr>
            <a:graphicFrameLocks noChangeAspect="1"/>
          </p:cNvGraphicFramePr>
          <p:nvPr/>
        </p:nvGraphicFramePr>
        <p:xfrm>
          <a:off x="6600825" y="1557338"/>
          <a:ext cx="344646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644900" imgH="469900" progId="Equation.3">
                  <p:embed/>
                </p:oleObj>
              </mc:Choice>
              <mc:Fallback>
                <p:oleObj name="" r:id="rId1" imgW="3644900" imgH="4699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00825" y="1557338"/>
                        <a:ext cx="3446463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" name="Text Box 3"/>
          <p:cNvSpPr txBox="1"/>
          <p:nvPr/>
        </p:nvSpPr>
        <p:spPr>
          <a:xfrm>
            <a:off x="2566988" y="2205038"/>
            <a:ext cx="35274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对应齐次方程为：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6311900" y="2276475"/>
          <a:ext cx="265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805430" imgH="431800" progId="Equation.DSMT4">
                  <p:embed/>
                </p:oleObj>
              </mc:Choice>
              <mc:Fallback>
                <p:oleObj name="" r:id="rId3" imgW="2805430" imgH="4318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11900" y="2276475"/>
                        <a:ext cx="26543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5" name="Text Box 5"/>
          <p:cNvSpPr txBox="1"/>
          <p:nvPr/>
        </p:nvSpPr>
        <p:spPr>
          <a:xfrm>
            <a:off x="2495550" y="2924175"/>
            <a:ext cx="2376488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通解结构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84326" name="Object 6"/>
          <p:cNvGraphicFramePr>
            <a:graphicFrameLocks noChangeAspect="1"/>
          </p:cNvGraphicFramePr>
          <p:nvPr/>
        </p:nvGraphicFramePr>
        <p:xfrm>
          <a:off x="4295775" y="5084763"/>
          <a:ext cx="30480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048000" imgH="469900" progId="Equation.DSMT4">
                  <p:embed/>
                </p:oleObj>
              </mc:Choice>
              <mc:Fallback>
                <p:oleObj name="" r:id="rId5" imgW="3048000" imgH="4699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95775" y="5084763"/>
                        <a:ext cx="3048000" cy="466725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7"/>
          <p:cNvSpPr/>
          <p:nvPr/>
        </p:nvSpPr>
        <p:spPr>
          <a:xfrm>
            <a:off x="1214755" y="519748"/>
            <a:ext cx="5638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lang="en-US" altLang="zh-CN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二阶常系数非齐次线性方程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4328" name="Object 8"/>
          <p:cNvGraphicFramePr>
            <a:graphicFrameLocks noChangeAspect="1"/>
          </p:cNvGraphicFramePr>
          <p:nvPr/>
        </p:nvGraphicFramePr>
        <p:xfrm>
          <a:off x="2351088" y="3644900"/>
          <a:ext cx="7848600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8026400" imgH="1511300" progId="Equation.DSMT4">
                  <p:embed/>
                </p:oleObj>
              </mc:Choice>
              <mc:Fallback>
                <p:oleObj name="" r:id="rId7" imgW="8026400" imgH="15113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51088" y="3644900"/>
                        <a:ext cx="7848600" cy="1477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9"/>
          <p:cNvSpPr/>
          <p:nvPr/>
        </p:nvSpPr>
        <p:spPr>
          <a:xfrm>
            <a:off x="2566988" y="1484313"/>
            <a:ext cx="56388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非齐次线性方程通式：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/>
          <p:cNvSpPr txBox="1"/>
          <p:nvPr/>
        </p:nvSpPr>
        <p:spPr>
          <a:xfrm>
            <a:off x="2135188" y="692150"/>
            <a:ext cx="68405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§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2.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二阶线性偏微分方程分类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3910" name="Object 6"/>
          <p:cNvGraphicFramePr>
            <a:graphicFrameLocks noChangeAspect="1"/>
          </p:cNvGraphicFramePr>
          <p:nvPr/>
        </p:nvGraphicFramePr>
        <p:xfrm>
          <a:off x="7251383" y="2781300"/>
          <a:ext cx="3524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5100" imgH="165100" progId="Equation.3">
                  <p:embed/>
                </p:oleObj>
              </mc:Choice>
              <mc:Fallback>
                <p:oleObj name="" r:id="rId1" imgW="165100" imgH="1651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51383" y="2781300"/>
                        <a:ext cx="3524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3" name="Group 17"/>
          <p:cNvGrpSpPr/>
          <p:nvPr/>
        </p:nvGrpSpPr>
        <p:grpSpPr>
          <a:xfrm>
            <a:off x="2185988" y="1484313"/>
            <a:ext cx="8013700" cy="5146675"/>
            <a:chOff x="417" y="935"/>
            <a:chExt cx="5048" cy="3242"/>
          </a:xfrm>
        </p:grpSpPr>
        <p:sp>
          <p:nvSpPr>
            <p:cNvPr id="15364" name="Text Box 3"/>
            <p:cNvSpPr txBox="1"/>
            <p:nvPr/>
          </p:nvSpPr>
          <p:spPr>
            <a:xfrm>
              <a:off x="903" y="935"/>
              <a:ext cx="15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一般形式及分类判别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5365" name="Object 4"/>
            <p:cNvGraphicFramePr>
              <a:graphicFrameLocks noChangeAspect="1"/>
            </p:cNvGraphicFramePr>
            <p:nvPr/>
          </p:nvGraphicFramePr>
          <p:xfrm>
            <a:off x="417" y="1279"/>
            <a:ext cx="4994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3352800" imgH="266700" progId="Equation.DSMT4">
                    <p:embed/>
                  </p:oleObj>
                </mc:Choice>
                <mc:Fallback>
                  <p:oleObj name="" r:id="rId3" imgW="3352800" imgH="266700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7" y="1279"/>
                          <a:ext cx="4994" cy="399"/>
                        </a:xfrm>
                        <a:prstGeom prst="rect">
                          <a:avLst/>
                        </a:prstGeom>
                        <a:solidFill>
                          <a:srgbClr val="00CCFF">
                            <a:alpha val="65881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5"/>
            <p:cNvGraphicFramePr>
              <a:graphicFrameLocks noChangeAspect="1"/>
            </p:cNvGraphicFramePr>
            <p:nvPr/>
          </p:nvGraphicFramePr>
          <p:xfrm>
            <a:off x="1046" y="1707"/>
            <a:ext cx="17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358265" imgH="215900" progId="Equation.3">
                    <p:embed/>
                  </p:oleObj>
                </mc:Choice>
                <mc:Fallback>
                  <p:oleObj name="" r:id="rId5" imgW="1358265" imgH="2159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46" y="1707"/>
                          <a:ext cx="178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7" name="Rectangle 7"/>
            <p:cNvSpPr/>
            <p:nvPr/>
          </p:nvSpPr>
          <p:spPr>
            <a:xfrm>
              <a:off x="499" y="1753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其中，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68" name="Rectangle 8"/>
            <p:cNvSpPr/>
            <p:nvPr/>
          </p:nvSpPr>
          <p:spPr>
            <a:xfrm>
              <a:off x="2789" y="1754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都是区域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69" name="Rectangle 9"/>
            <p:cNvSpPr/>
            <p:nvPr/>
          </p:nvSpPr>
          <p:spPr>
            <a:xfrm>
              <a:off x="3923" y="1754"/>
              <a:ext cx="9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上的实函数，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0" name="Rectangle 10"/>
            <p:cNvSpPr/>
            <p:nvPr/>
          </p:nvSpPr>
          <p:spPr>
            <a:xfrm>
              <a:off x="521" y="2119"/>
              <a:ext cx="1843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并假定它们是连续可微的。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二阶主部为：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5371" name="Object 11"/>
            <p:cNvGraphicFramePr>
              <a:graphicFrameLocks noChangeAspect="1"/>
            </p:cNvGraphicFramePr>
            <p:nvPr/>
          </p:nvGraphicFramePr>
          <p:xfrm>
            <a:off x="2245" y="2341"/>
            <a:ext cx="2495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473200" imgH="241300" progId="Equation.DSMT4">
                    <p:embed/>
                  </p:oleObj>
                </mc:Choice>
                <mc:Fallback>
                  <p:oleObj name="" r:id="rId7" imgW="1473200" imgH="241300" progId="Equation.DSMT4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45" y="2341"/>
                          <a:ext cx="2495" cy="410"/>
                        </a:xfrm>
                        <a:prstGeom prst="rect">
                          <a:avLst/>
                        </a:prstGeom>
                        <a:solidFill>
                          <a:srgbClr val="00CCFF">
                            <a:alpha val="65881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12"/>
            <p:cNvGraphicFramePr>
              <a:graphicFrameLocks noChangeAspect="1"/>
            </p:cNvGraphicFramePr>
            <p:nvPr/>
          </p:nvGraphicFramePr>
          <p:xfrm>
            <a:off x="1875" y="2886"/>
            <a:ext cx="2555" cy="1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600200" imgH="698500" progId="Equation.DSMT4">
                    <p:embed/>
                  </p:oleObj>
                </mc:Choice>
                <mc:Fallback>
                  <p:oleObj name="" r:id="rId9" imgW="1600200" imgH="698500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75" y="2886"/>
                          <a:ext cx="2555" cy="11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Text Box 13"/>
            <p:cNvSpPr txBox="1"/>
            <p:nvPr/>
          </p:nvSpPr>
          <p:spPr>
            <a:xfrm>
              <a:off x="521" y="2840"/>
              <a:ext cx="204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3.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判别式及分类：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4" name="AutoShape 14"/>
            <p:cNvSpPr/>
            <p:nvPr/>
          </p:nvSpPr>
          <p:spPr>
            <a:xfrm>
              <a:off x="4516" y="2768"/>
              <a:ext cx="949" cy="384"/>
            </a:xfrm>
            <a:prstGeom prst="borderCallout1">
              <a:avLst>
                <a:gd name="adj1" fmla="val 18750"/>
                <a:gd name="adj2" fmla="val -5060"/>
                <a:gd name="adj3" fmla="val 71093"/>
                <a:gd name="adj4" fmla="val -47736"/>
              </a:avLst>
            </a:prstGeom>
            <a:solidFill>
              <a:srgbClr val="00FFFF">
                <a:alpha val="34117"/>
              </a:srgbClr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oval" w="med" len="med"/>
            </a:ln>
          </p:spPr>
          <p:txBody>
            <a:bodyPr anchor="t" anchorCtr="0"/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双曲型</a:t>
              </a:r>
              <a:endPara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5375" name="AutoShape 15"/>
            <p:cNvSpPr/>
            <p:nvPr/>
          </p:nvSpPr>
          <p:spPr>
            <a:xfrm>
              <a:off x="4513" y="3267"/>
              <a:ext cx="952" cy="384"/>
            </a:xfrm>
            <a:prstGeom prst="borderCallout1">
              <a:avLst>
                <a:gd name="adj1" fmla="val 18750"/>
                <a:gd name="adj2" fmla="val -5042"/>
                <a:gd name="adj3" fmla="val 42449"/>
                <a:gd name="adj4" fmla="val -44431"/>
              </a:avLst>
            </a:prstGeom>
            <a:solidFill>
              <a:srgbClr val="00FFFF">
                <a:alpha val="34117"/>
              </a:srgbClr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oval" w="med" len="med"/>
            </a:ln>
          </p:spPr>
          <p:txBody>
            <a:bodyPr anchor="t" anchorCtr="0"/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抛物型</a:t>
              </a:r>
              <a:endPara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5376" name="AutoShape 16"/>
            <p:cNvSpPr/>
            <p:nvPr/>
          </p:nvSpPr>
          <p:spPr>
            <a:xfrm>
              <a:off x="4558" y="3793"/>
              <a:ext cx="893" cy="384"/>
            </a:xfrm>
            <a:prstGeom prst="borderCallout1">
              <a:avLst>
                <a:gd name="adj1" fmla="val 18750"/>
                <a:gd name="adj2" fmla="val -5375"/>
                <a:gd name="adj3" fmla="val 5731"/>
                <a:gd name="adj4" fmla="val -53861"/>
              </a:avLst>
            </a:prstGeom>
            <a:solidFill>
              <a:srgbClr val="00FFFF">
                <a:alpha val="34117"/>
              </a:srgbClr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oval" w="med" len="med"/>
            </a:ln>
          </p:spPr>
          <p:txBody>
            <a:bodyPr anchor="t" anchorCtr="0"/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椭圆型</a:t>
              </a:r>
              <a:endPara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5" name="Object 4"/>
          <p:cNvGraphicFramePr>
            <a:graphicFrameLocks noChangeAspect="1"/>
          </p:cNvGraphicFramePr>
          <p:nvPr/>
        </p:nvGraphicFramePr>
        <p:xfrm>
          <a:off x="3084513" y="1916113"/>
          <a:ext cx="2749550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257300" imgH="469900" progId="Equation.DSMT4">
                  <p:embed/>
                </p:oleObj>
              </mc:Choice>
              <mc:Fallback>
                <p:oleObj name="" r:id="rId1" imgW="1257300" imgH="4699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84513" y="1916113"/>
                        <a:ext cx="2749550" cy="1027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" name="Object 5"/>
          <p:cNvGraphicFramePr>
            <a:graphicFrameLocks noChangeAspect="1"/>
          </p:cNvGraphicFramePr>
          <p:nvPr/>
        </p:nvGraphicFramePr>
        <p:xfrm>
          <a:off x="6410325" y="1916113"/>
          <a:ext cx="2613025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091565" imgH="419100" progId="Equation.DSMT4">
                  <p:embed/>
                </p:oleObj>
              </mc:Choice>
              <mc:Fallback>
                <p:oleObj name="" r:id="rId3" imgW="1091565" imgH="4191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0325" y="1916113"/>
                        <a:ext cx="2613025" cy="1001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6"/>
          <p:cNvGraphicFramePr>
            <a:graphicFrameLocks noChangeAspect="1"/>
          </p:cNvGraphicFramePr>
          <p:nvPr/>
        </p:nvGraphicFramePr>
        <p:xfrm>
          <a:off x="3082925" y="3284538"/>
          <a:ext cx="271462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117600" imgH="419100" progId="Equation.DSMT4">
                  <p:embed/>
                </p:oleObj>
              </mc:Choice>
              <mc:Fallback>
                <p:oleObj name="" r:id="rId5" imgW="1117600" imgH="4191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2925" y="3284538"/>
                        <a:ext cx="2714625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7"/>
          <p:cNvGraphicFramePr>
            <a:graphicFrameLocks noChangeAspect="1"/>
          </p:cNvGraphicFramePr>
          <p:nvPr/>
        </p:nvGraphicFramePr>
        <p:xfrm>
          <a:off x="3098800" y="4652963"/>
          <a:ext cx="4049713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739900" imgH="457200" progId="Equation.DSMT4">
                  <p:embed/>
                </p:oleObj>
              </mc:Choice>
              <mc:Fallback>
                <p:oleObj name="" r:id="rId7" imgW="1739900" imgH="4572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98800" y="4652963"/>
                        <a:ext cx="4049713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9" name="Group 12"/>
          <p:cNvGrpSpPr/>
          <p:nvPr/>
        </p:nvGrpSpPr>
        <p:grpSpPr>
          <a:xfrm>
            <a:off x="2135188" y="836613"/>
            <a:ext cx="5689600" cy="850900"/>
            <a:chOff x="385" y="527"/>
            <a:chExt cx="3584" cy="536"/>
          </a:xfrm>
        </p:grpSpPr>
        <p:sp>
          <p:nvSpPr>
            <p:cNvPr id="16390" name="Text Box 8"/>
            <p:cNvSpPr txBox="1"/>
            <p:nvPr/>
          </p:nvSpPr>
          <p:spPr>
            <a:xfrm>
              <a:off x="1565" y="618"/>
              <a:ext cx="240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判断下列方程的类型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6391" name="Group 9"/>
            <p:cNvGrpSpPr/>
            <p:nvPr/>
          </p:nvGrpSpPr>
          <p:grpSpPr>
            <a:xfrm>
              <a:off x="385" y="527"/>
              <a:ext cx="1291" cy="536"/>
              <a:chOff x="385" y="3022"/>
              <a:chExt cx="1291" cy="536"/>
            </a:xfrm>
          </p:grpSpPr>
          <p:pic>
            <p:nvPicPr>
              <p:cNvPr id="16392" name="Picture 10" descr="123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5" y="3022"/>
                <a:ext cx="590" cy="5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393" name="Text Box 11"/>
              <p:cNvSpPr txBox="1"/>
              <p:nvPr/>
            </p:nvSpPr>
            <p:spPr>
              <a:xfrm>
                <a:off x="793" y="3120"/>
                <a:ext cx="88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zh-CN" altLang="en-US" sz="3200" dirty="0">
                    <a:solidFill>
                      <a:srgbClr val="008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思考：</a:t>
                </a:r>
                <a:endParaRPr lang="zh-CN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2"/>
          <p:cNvSpPr txBox="1"/>
          <p:nvPr/>
        </p:nvSpPr>
        <p:spPr>
          <a:xfrm>
            <a:off x="2135188" y="692150"/>
            <a:ext cx="68405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. 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方程简化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7462" name="Object 6"/>
          <p:cNvGraphicFramePr>
            <a:graphicFrameLocks noChangeAspect="1"/>
          </p:cNvGraphicFramePr>
          <p:nvPr/>
        </p:nvGraphicFramePr>
        <p:xfrm>
          <a:off x="6832283" y="2774950"/>
          <a:ext cx="29368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5100" imgH="165100" progId="Equation.3">
                  <p:embed/>
                </p:oleObj>
              </mc:Choice>
              <mc:Fallback>
                <p:oleObj name="" r:id="rId1" imgW="165100" imgH="1651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32283" y="2774950"/>
                        <a:ext cx="293687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1" name="Group 18"/>
          <p:cNvGrpSpPr/>
          <p:nvPr/>
        </p:nvGrpSpPr>
        <p:grpSpPr>
          <a:xfrm>
            <a:off x="1639888" y="1474788"/>
            <a:ext cx="8128000" cy="4919662"/>
            <a:chOff x="209" y="935"/>
            <a:chExt cx="5120" cy="3099"/>
          </a:xfrm>
        </p:grpSpPr>
        <p:sp>
          <p:nvSpPr>
            <p:cNvPr id="17412" name="Text Box 3"/>
            <p:cNvSpPr txBox="1"/>
            <p:nvPr/>
          </p:nvSpPr>
          <p:spPr>
            <a:xfrm>
              <a:off x="476" y="935"/>
              <a:ext cx="30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线性二阶偏微分方程的一般形式</a:t>
              </a: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(2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个自变量</a:t>
              </a: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7413" name="Object 4"/>
            <p:cNvGraphicFramePr>
              <a:graphicFrameLocks noChangeAspect="1"/>
            </p:cNvGraphicFramePr>
            <p:nvPr/>
          </p:nvGraphicFramePr>
          <p:xfrm>
            <a:off x="209" y="1279"/>
            <a:ext cx="4956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3327400" imgH="266700" progId="Equation.DSMT4">
                    <p:embed/>
                  </p:oleObj>
                </mc:Choice>
                <mc:Fallback>
                  <p:oleObj name="" r:id="rId3" imgW="3327400" imgH="266700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9" y="1279"/>
                          <a:ext cx="4956" cy="399"/>
                        </a:xfrm>
                        <a:prstGeom prst="rect">
                          <a:avLst/>
                        </a:prstGeom>
                        <a:solidFill>
                          <a:srgbClr val="00CCFF">
                            <a:alpha val="58823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4" name="Object 5"/>
            <p:cNvGraphicFramePr>
              <a:graphicFrameLocks noChangeAspect="1"/>
            </p:cNvGraphicFramePr>
            <p:nvPr/>
          </p:nvGraphicFramePr>
          <p:xfrm>
            <a:off x="1111" y="1752"/>
            <a:ext cx="172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358265" imgH="215900" progId="Equation.3">
                    <p:embed/>
                  </p:oleObj>
                </mc:Choice>
                <mc:Fallback>
                  <p:oleObj name="" r:id="rId5" imgW="1358265" imgH="2159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11" y="1752"/>
                          <a:ext cx="1728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5" name="Rectangle 7"/>
            <p:cNvSpPr/>
            <p:nvPr/>
          </p:nvSpPr>
          <p:spPr>
            <a:xfrm>
              <a:off x="499" y="1752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其中，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6" name="Rectangle 8"/>
            <p:cNvSpPr/>
            <p:nvPr/>
          </p:nvSpPr>
          <p:spPr>
            <a:xfrm>
              <a:off x="2789" y="1753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都是区域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7" name="Rectangle 9"/>
            <p:cNvSpPr/>
            <p:nvPr/>
          </p:nvSpPr>
          <p:spPr>
            <a:xfrm>
              <a:off x="3665" y="1749"/>
              <a:ext cx="9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上的实函数，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8" name="Rectangle 10"/>
            <p:cNvSpPr/>
            <p:nvPr/>
          </p:nvSpPr>
          <p:spPr>
            <a:xfrm>
              <a:off x="431" y="2116"/>
              <a:ext cx="184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并假定它们是连续可微的。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9" name="Rectangle 11"/>
            <p:cNvSpPr/>
            <p:nvPr/>
          </p:nvSpPr>
          <p:spPr>
            <a:xfrm>
              <a:off x="431" y="2568"/>
              <a:ext cx="489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2"/>
                </a:buClr>
                <a:buSzPct val="80000"/>
              </a:pP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个自变量：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7420" name="Object 12"/>
            <p:cNvGraphicFramePr>
              <a:graphicFrameLocks noChangeAspect="1"/>
            </p:cNvGraphicFramePr>
            <p:nvPr/>
          </p:nvGraphicFramePr>
          <p:xfrm>
            <a:off x="1202" y="2976"/>
            <a:ext cx="335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2476500" imgH="469900" progId="Equation.DSMT4">
                    <p:embed/>
                  </p:oleObj>
                </mc:Choice>
                <mc:Fallback>
                  <p:oleObj name="" r:id="rId7" imgW="2476500" imgH="469900" progId="Equation.DSMT4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02" y="2976"/>
                          <a:ext cx="3356" cy="638"/>
                        </a:xfrm>
                        <a:prstGeom prst="rect">
                          <a:avLst/>
                        </a:prstGeom>
                        <a:solidFill>
                          <a:srgbClr val="00CCFF">
                            <a:alpha val="58823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1" name="Rectangle 13"/>
            <p:cNvSpPr/>
            <p:nvPr/>
          </p:nvSpPr>
          <p:spPr>
            <a:xfrm>
              <a:off x="657" y="3735"/>
              <a:ext cx="59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 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7422" name="Object 14"/>
            <p:cNvGraphicFramePr>
              <a:graphicFrameLocks noChangeAspect="1"/>
            </p:cNvGraphicFramePr>
            <p:nvPr/>
          </p:nvGraphicFramePr>
          <p:xfrm>
            <a:off x="1247" y="3657"/>
            <a:ext cx="1043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660400" imgH="241300" progId="Equation.3">
                    <p:embed/>
                  </p:oleObj>
                </mc:Choice>
                <mc:Fallback>
                  <p:oleObj name="" r:id="rId9" imgW="660400" imgH="24130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47" y="3657"/>
                          <a:ext cx="1043" cy="3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3" name="Rectangle 15"/>
            <p:cNvSpPr/>
            <p:nvPr/>
          </p:nvSpPr>
          <p:spPr>
            <a:xfrm>
              <a:off x="2498" y="3519"/>
              <a:ext cx="867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是自变量</a:t>
              </a:r>
              <a:r>
                <a:rPr lang="zh-CN" altLang="en-US" sz="4400" b="0" dirty="0">
                  <a:solidFill>
                    <a:schemeClr val="tx1"/>
                  </a:solidFill>
                  <a:latin typeface="宋体" panose="02010600030101010101" pitchFamily="2" charset="-122"/>
                  <a:ea typeface="黑体" panose="02010609060101010101" pitchFamily="49" charset="-122"/>
                </a:rPr>
                <a:t> </a:t>
              </a:r>
              <a:endParaRPr lang="zh-CN" altLang="en-US" sz="4400" b="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7424" name="Object 16"/>
            <p:cNvGraphicFramePr>
              <a:graphicFrameLocks noChangeAspect="1"/>
            </p:cNvGraphicFramePr>
            <p:nvPr/>
          </p:nvGraphicFramePr>
          <p:xfrm>
            <a:off x="3334" y="3612"/>
            <a:ext cx="1203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761365" imgH="228600" progId="Equation.3">
                    <p:embed/>
                  </p:oleObj>
                </mc:Choice>
                <mc:Fallback>
                  <p:oleObj name="" r:id="rId11" imgW="761365" imgH="2286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34" y="3612"/>
                          <a:ext cx="1203" cy="3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5" name="Rectangle 17"/>
            <p:cNvSpPr/>
            <p:nvPr/>
          </p:nvSpPr>
          <p:spPr>
            <a:xfrm>
              <a:off x="4558" y="3690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的函数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77092" y="2069525"/>
            <a:ext cx="1251642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方程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2"/>
          <p:cNvSpPr txBox="1"/>
          <p:nvPr/>
        </p:nvSpPr>
        <p:spPr>
          <a:xfrm>
            <a:off x="2063750" y="549275"/>
            <a:ext cx="6840538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2. 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变量替换与</a:t>
            </a: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方程转型</a:t>
            </a:r>
            <a:endParaRPr lang="zh-CN" altLang="en-US" sz="32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434" name="Rectangle 3"/>
          <p:cNvSpPr/>
          <p:nvPr/>
        </p:nvSpPr>
        <p:spPr>
          <a:xfrm>
            <a:off x="2351088" y="1416844"/>
            <a:ext cx="5040312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304800"/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(1)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变量代换：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8435" name="Group 4"/>
          <p:cNvGrpSpPr/>
          <p:nvPr/>
        </p:nvGrpSpPr>
        <p:grpSpPr>
          <a:xfrm>
            <a:off x="5102225" y="1341438"/>
            <a:ext cx="4175125" cy="557212"/>
            <a:chOff x="922" y="2832"/>
            <a:chExt cx="2543" cy="295"/>
          </a:xfrm>
        </p:grpSpPr>
        <p:graphicFrame>
          <p:nvGraphicFramePr>
            <p:cNvPr id="18436" name="Object 5"/>
            <p:cNvGraphicFramePr>
              <a:graphicFrameLocks noChangeAspect="1"/>
            </p:cNvGraphicFramePr>
            <p:nvPr/>
          </p:nvGraphicFramePr>
          <p:xfrm>
            <a:off x="922" y="2841"/>
            <a:ext cx="1036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685800" imgH="190500" progId="Equation.DSMT4">
                    <p:embed/>
                  </p:oleObj>
                </mc:Choice>
                <mc:Fallback>
                  <p:oleObj name="" r:id="rId1" imgW="685800" imgH="190500" progId="Equation.DSMT4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22" y="2841"/>
                          <a:ext cx="1036" cy="286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7" name="Object 6"/>
            <p:cNvGraphicFramePr>
              <a:graphicFrameLocks noChangeAspect="1"/>
            </p:cNvGraphicFramePr>
            <p:nvPr/>
          </p:nvGraphicFramePr>
          <p:xfrm>
            <a:off x="2440" y="2832"/>
            <a:ext cx="1025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736600" imgH="203200" progId="Equation.DSMT4">
                    <p:embed/>
                  </p:oleObj>
                </mc:Choice>
                <mc:Fallback>
                  <p:oleObj name="" r:id="rId3" imgW="736600" imgH="203200" progId="Equation.DSMT4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40" y="2832"/>
                          <a:ext cx="1025" cy="279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38" name="Rectangle 7"/>
          <p:cNvSpPr/>
          <p:nvPr/>
        </p:nvSpPr>
        <p:spPr>
          <a:xfrm>
            <a:off x="2709863" y="2239169"/>
            <a:ext cx="1833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(2)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一般式转为：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8439" name="Object 8"/>
          <p:cNvGraphicFramePr>
            <a:graphicFrameLocks noChangeAspect="1"/>
          </p:cNvGraphicFramePr>
          <p:nvPr/>
        </p:nvGraphicFramePr>
        <p:xfrm>
          <a:off x="2279650" y="2781300"/>
          <a:ext cx="79787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835400" imgH="266700" progId="Equation.DSMT4">
                  <p:embed/>
                </p:oleObj>
              </mc:Choice>
              <mc:Fallback>
                <p:oleObj name="" r:id="rId5" imgW="3835400" imgH="2667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9650" y="2781300"/>
                        <a:ext cx="7978775" cy="56832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9"/>
          <p:cNvSpPr/>
          <p:nvPr/>
        </p:nvSpPr>
        <p:spPr>
          <a:xfrm>
            <a:off x="2638425" y="4225132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系数为：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8441" name="Object 10"/>
          <p:cNvGraphicFramePr>
            <a:graphicFrameLocks noChangeAspect="1"/>
          </p:cNvGraphicFramePr>
          <p:nvPr/>
        </p:nvGraphicFramePr>
        <p:xfrm>
          <a:off x="4295775" y="3549650"/>
          <a:ext cx="5472113" cy="309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4114800" imgH="2286000" progId="Equation.DSMT4">
                  <p:embed/>
                </p:oleObj>
              </mc:Choice>
              <mc:Fallback>
                <p:oleObj name="" r:id="rId7" imgW="4114800" imgH="22860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E2C5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95775" y="3549650"/>
                        <a:ext cx="5472113" cy="3094038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AutoShape 12"/>
          <p:cNvSpPr/>
          <p:nvPr/>
        </p:nvSpPr>
        <p:spPr>
          <a:xfrm>
            <a:off x="6311900" y="0"/>
            <a:ext cx="4356100" cy="1196975"/>
          </a:xfrm>
          <a:prstGeom prst="cloudCallout">
            <a:avLst>
              <a:gd name="adj1" fmla="val -86991"/>
              <a:gd name="adj2" fmla="val 662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1800" dirty="0">
                <a:solidFill>
                  <a:srgbClr val="0000CC"/>
                </a:solidFill>
                <a:latin typeface="Arial" panose="020B0604020202020204" pitchFamily="34" charset="0"/>
                <a:ea typeface="方正毡笔黑简体" pitchFamily="65" charset="-122"/>
              </a:rPr>
              <a:t>变量替换是研究偏微分方程的有效手段，适当的变换，可简化方程、易求解。</a:t>
            </a:r>
            <a:endParaRPr lang="zh-CN" altLang="en-US" sz="1800" dirty="0">
              <a:solidFill>
                <a:srgbClr val="0000CC"/>
              </a:solidFill>
              <a:latin typeface="Arial" panose="020B0604020202020204" pitchFamily="34" charset="0"/>
              <a:ea typeface="方正毡笔黑简体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2728" y="2880796"/>
            <a:ext cx="1371021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方程</a:t>
            </a:r>
            <a:r>
              <a:rPr lang="en-US" altLang="zh-CN" sz="3200" dirty="0">
                <a:solidFill>
                  <a:srgbClr val="FF0000"/>
                </a:solidFill>
              </a:rPr>
              <a:t>2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2"/>
          <p:cNvSpPr txBox="1"/>
          <p:nvPr/>
        </p:nvSpPr>
        <p:spPr>
          <a:xfrm>
            <a:off x="2063750" y="549275"/>
            <a:ext cx="6840538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注：变量替换必须为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非奇异变换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9458" name="Group 4"/>
          <p:cNvGrpSpPr/>
          <p:nvPr/>
        </p:nvGrpSpPr>
        <p:grpSpPr>
          <a:xfrm>
            <a:off x="3935413" y="1628775"/>
            <a:ext cx="4103687" cy="557213"/>
            <a:chOff x="922" y="2832"/>
            <a:chExt cx="2543" cy="295"/>
          </a:xfrm>
        </p:grpSpPr>
        <p:graphicFrame>
          <p:nvGraphicFramePr>
            <p:cNvPr id="19459" name="Object 5"/>
            <p:cNvGraphicFramePr>
              <a:graphicFrameLocks noChangeAspect="1"/>
            </p:cNvGraphicFramePr>
            <p:nvPr/>
          </p:nvGraphicFramePr>
          <p:xfrm>
            <a:off x="922" y="2841"/>
            <a:ext cx="1036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685800" imgH="190500" progId="Equation.DSMT4">
                    <p:embed/>
                  </p:oleObj>
                </mc:Choice>
                <mc:Fallback>
                  <p:oleObj name="" r:id="rId1" imgW="685800" imgH="190500" progId="Equation.DSMT4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22" y="2841"/>
                          <a:ext cx="1036" cy="286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0" name="Object 6"/>
            <p:cNvGraphicFramePr>
              <a:graphicFrameLocks noChangeAspect="1"/>
            </p:cNvGraphicFramePr>
            <p:nvPr/>
          </p:nvGraphicFramePr>
          <p:xfrm>
            <a:off x="2440" y="2832"/>
            <a:ext cx="1025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736600" imgH="203200" progId="Equation.DSMT4">
                    <p:embed/>
                  </p:oleObj>
                </mc:Choice>
                <mc:Fallback>
                  <p:oleObj name="" r:id="rId3" imgW="736600" imgH="203200" progId="Equation.DSMT4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40" y="2832"/>
                          <a:ext cx="1025" cy="279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1" name="Rectangle 7"/>
          <p:cNvSpPr/>
          <p:nvPr/>
        </p:nvSpPr>
        <p:spPr>
          <a:xfrm>
            <a:off x="2208213" y="2983866"/>
            <a:ext cx="7848600" cy="4235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非奇异变换：雅克比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(Jacobi)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行列式在点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aseline="-250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lang="en-US" altLang="zh-CN" baseline="-250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不等于零，即：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9462" name="Object 10"/>
          <p:cNvGraphicFramePr>
            <a:graphicFrameLocks noChangeAspect="1"/>
          </p:cNvGraphicFramePr>
          <p:nvPr/>
        </p:nvGraphicFramePr>
        <p:xfrm>
          <a:off x="3000375" y="4005263"/>
          <a:ext cx="6696075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911600" imgH="711200" progId="Equation.DSMT4">
                  <p:embed/>
                </p:oleObj>
              </mc:Choice>
              <mc:Fallback>
                <p:oleObj name="" r:id="rId5" imgW="3911600" imgH="7112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E2C5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00375" y="4005263"/>
                        <a:ext cx="6696075" cy="133667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12"/>
          <p:cNvSpPr/>
          <p:nvPr/>
        </p:nvSpPr>
        <p:spPr>
          <a:xfrm>
            <a:off x="2424113" y="5607209"/>
            <a:ext cx="7848600" cy="4235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则：在点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aseline="-250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lang="en-US" altLang="zh-CN" baseline="-250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附近变换是可逆的。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2"/>
          <p:cNvSpPr txBox="1"/>
          <p:nvPr/>
        </p:nvSpPr>
        <p:spPr>
          <a:xfrm>
            <a:off x="2063750" y="549275"/>
            <a:ext cx="6840538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3.  </a:t>
            </a: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方程简化</a:t>
            </a:r>
            <a:endParaRPr lang="zh-CN" altLang="en-US" sz="32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0482" name="Group 38"/>
          <p:cNvGrpSpPr/>
          <p:nvPr/>
        </p:nvGrpSpPr>
        <p:grpSpPr>
          <a:xfrm>
            <a:off x="2279650" y="4221163"/>
            <a:ext cx="6840538" cy="584199"/>
            <a:chOff x="476" y="2659"/>
            <a:chExt cx="4309" cy="368"/>
          </a:xfrm>
        </p:grpSpPr>
        <p:sp>
          <p:nvSpPr>
            <p:cNvPr id="20483" name="Text Box 31"/>
            <p:cNvSpPr txBox="1"/>
            <p:nvPr/>
          </p:nvSpPr>
          <p:spPr>
            <a:xfrm>
              <a:off x="476" y="2659"/>
              <a:ext cx="4309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4. </a:t>
              </a:r>
              <a:r>
                <a:rPr lang="zh-CN" altLang="en-US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求特解</a:t>
              </a:r>
              <a:endParaRPr lang="zh-CN" altLang="en-US" sz="32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0484" name="Object 32"/>
            <p:cNvGraphicFramePr>
              <a:graphicFrameLocks noChangeAspect="1"/>
            </p:cNvGraphicFramePr>
            <p:nvPr/>
          </p:nvGraphicFramePr>
          <p:xfrm>
            <a:off x="1610" y="2659"/>
            <a:ext cx="21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27000" imgH="203200" progId="Equation.DSMT4">
                    <p:embed/>
                  </p:oleObj>
                </mc:Choice>
                <mc:Fallback>
                  <p:oleObj name="" r:id="rId1" imgW="127000" imgH="2032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10" y="2659"/>
                          <a:ext cx="210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" name="Object 33"/>
            <p:cNvGraphicFramePr>
              <a:graphicFrameLocks noChangeAspect="1"/>
            </p:cNvGraphicFramePr>
            <p:nvPr/>
          </p:nvGraphicFramePr>
          <p:xfrm>
            <a:off x="1837" y="2704"/>
            <a:ext cx="22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27000" imgH="165100" progId="Equation.3">
                    <p:embed/>
                  </p:oleObj>
                </mc:Choice>
                <mc:Fallback>
                  <p:oleObj name="" r:id="rId3" imgW="127000" imgH="1651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37" y="2704"/>
                          <a:ext cx="22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86" name="Group 37"/>
          <p:cNvGrpSpPr/>
          <p:nvPr/>
        </p:nvGrpSpPr>
        <p:grpSpPr>
          <a:xfrm>
            <a:off x="2613025" y="1517650"/>
            <a:ext cx="7920038" cy="4551363"/>
            <a:chOff x="567" y="819"/>
            <a:chExt cx="4989" cy="2867"/>
          </a:xfrm>
        </p:grpSpPr>
        <p:sp>
          <p:nvSpPr>
            <p:cNvPr id="20487" name="Rectangle 19"/>
            <p:cNvSpPr/>
            <p:nvPr/>
          </p:nvSpPr>
          <p:spPr>
            <a:xfrm>
              <a:off x="567" y="845"/>
              <a:ext cx="317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indent="304800"/>
              <a:r>
                <a:rPr lang="zh-CN" altLang="en-US" sz="2800" i="1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构造</a:t>
              </a:r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一阶偏微分方程：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488" name="Rectangle 23"/>
            <p:cNvSpPr/>
            <p:nvPr/>
          </p:nvSpPr>
          <p:spPr>
            <a:xfrm>
              <a:off x="793" y="1346"/>
              <a:ext cx="150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求一个特解      ，则：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489" name="Rectangle 25"/>
            <p:cNvSpPr/>
            <p:nvPr/>
          </p:nvSpPr>
          <p:spPr>
            <a:xfrm>
              <a:off x="793" y="2299"/>
              <a:ext cx="195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再求另一个特解    ，则</a:t>
              </a:r>
              <a:r>
                <a:rPr lang="en-US" altLang="zh-CN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i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22</a:t>
              </a:r>
              <a:r>
                <a:rPr lang="en-US" altLang="zh-CN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= </a:t>
              </a:r>
              <a:r>
                <a:rPr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0490" name="Object 27"/>
            <p:cNvGraphicFramePr>
              <a:graphicFrameLocks noChangeAspect="1"/>
            </p:cNvGraphicFramePr>
            <p:nvPr/>
          </p:nvGraphicFramePr>
          <p:xfrm>
            <a:off x="2912" y="819"/>
            <a:ext cx="257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980565" imgH="292100" progId="Equation.DSMT4">
                    <p:embed/>
                  </p:oleObj>
                </mc:Choice>
                <mc:Fallback>
                  <p:oleObj name="" r:id="rId5" imgW="1980565" imgH="292100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12" y="819"/>
                          <a:ext cx="2571" cy="384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1" name="Object 28"/>
            <p:cNvGraphicFramePr>
              <a:graphicFrameLocks noChangeAspect="1"/>
            </p:cNvGraphicFramePr>
            <p:nvPr/>
          </p:nvGraphicFramePr>
          <p:xfrm>
            <a:off x="1578" y="1298"/>
            <a:ext cx="21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27000" imgH="203200" progId="Equation.DSMT4">
                    <p:embed/>
                  </p:oleObj>
                </mc:Choice>
                <mc:Fallback>
                  <p:oleObj name="" r:id="rId7" imgW="127000" imgH="203200" progId="Equation.DSMT4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78" y="1298"/>
                          <a:ext cx="210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2" name="Object 29"/>
            <p:cNvGraphicFramePr>
              <a:graphicFrameLocks noChangeAspect="1"/>
            </p:cNvGraphicFramePr>
            <p:nvPr/>
          </p:nvGraphicFramePr>
          <p:xfrm>
            <a:off x="1020" y="1706"/>
            <a:ext cx="4083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8" imgW="2781300" imgH="254000" progId="Equation.DSMT4">
                    <p:embed/>
                  </p:oleObj>
                </mc:Choice>
                <mc:Fallback>
                  <p:oleObj name="" r:id="rId8" imgW="2781300" imgH="254000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20" y="1706"/>
                          <a:ext cx="4083" cy="378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3" name="Object 30"/>
            <p:cNvGraphicFramePr>
              <a:graphicFrameLocks noChangeAspect="1"/>
            </p:cNvGraphicFramePr>
            <p:nvPr/>
          </p:nvGraphicFramePr>
          <p:xfrm>
            <a:off x="1842" y="2243"/>
            <a:ext cx="22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0" imgW="127000" imgH="165100" progId="Equation.3">
                    <p:embed/>
                  </p:oleObj>
                </mc:Choice>
                <mc:Fallback>
                  <p:oleObj name="" r:id="rId10" imgW="127000" imgH="1651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42" y="2243"/>
                          <a:ext cx="22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Object 34"/>
            <p:cNvGraphicFramePr>
              <a:graphicFrameLocks noChangeAspect="1"/>
            </p:cNvGraphicFramePr>
            <p:nvPr/>
          </p:nvGraphicFramePr>
          <p:xfrm>
            <a:off x="1020" y="2941"/>
            <a:ext cx="3213" cy="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1" imgW="2297430" imgH="533400" progId="Equation.DSMT4">
                    <p:embed/>
                  </p:oleObj>
                </mc:Choice>
                <mc:Fallback>
                  <p:oleObj name="" r:id="rId11" imgW="2297430" imgH="533400" progId="Equation.DSMT4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20" y="2941"/>
                          <a:ext cx="3213" cy="745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5" name="AutoShape 35"/>
            <p:cNvSpPr/>
            <p:nvPr/>
          </p:nvSpPr>
          <p:spPr>
            <a:xfrm>
              <a:off x="3334" y="2478"/>
              <a:ext cx="2222" cy="635"/>
            </a:xfrm>
            <a:prstGeom prst="cloudCallout">
              <a:avLst>
                <a:gd name="adj1" fmla="val -9181"/>
                <a:gd name="adj2" fmla="val 123069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r>
                <a:rPr lang="zh-CN" altLang="en-US" sz="2400" dirty="0">
                  <a:latin typeface="Arial" panose="020B0604020202020204" pitchFamily="34" charset="0"/>
                  <a:ea typeface="仿宋_GB2312" pitchFamily="49" charset="-122"/>
                </a:rPr>
                <a:t>偏微分方程转为常微分方程</a:t>
              </a:r>
              <a:endParaRPr lang="zh-CN" altLang="en-US" sz="24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0621817" y="1558925"/>
            <a:ext cx="1339273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方程</a:t>
            </a:r>
            <a:r>
              <a:rPr lang="en-US" altLang="zh-CN" sz="3200" dirty="0">
                <a:solidFill>
                  <a:srgbClr val="FF0000"/>
                </a:solidFill>
              </a:rPr>
              <a:t>3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2"/>
          <p:cNvSpPr txBox="1"/>
          <p:nvPr/>
        </p:nvSpPr>
        <p:spPr>
          <a:xfrm>
            <a:off x="2063750" y="549275"/>
            <a:ext cx="6840538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5. 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将偏微分</a:t>
            </a: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方程转化为常微分方程</a:t>
            </a:r>
            <a:endParaRPr lang="zh-CN" altLang="en-US" sz="32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1506" name="组合 5"/>
          <p:cNvGrpSpPr/>
          <p:nvPr/>
        </p:nvGrpSpPr>
        <p:grpSpPr>
          <a:xfrm>
            <a:off x="2495550" y="1412875"/>
            <a:ext cx="6178550" cy="5002213"/>
            <a:chOff x="755576" y="1322387"/>
            <a:chExt cx="6178277" cy="5002214"/>
          </a:xfrm>
        </p:grpSpPr>
        <p:grpSp>
          <p:nvGrpSpPr>
            <p:cNvPr id="21507" name="Group 37"/>
            <p:cNvGrpSpPr/>
            <p:nvPr/>
          </p:nvGrpSpPr>
          <p:grpSpPr>
            <a:xfrm>
              <a:off x="2123728" y="1322387"/>
              <a:ext cx="4810125" cy="5002214"/>
              <a:chOff x="959" y="665"/>
              <a:chExt cx="3030" cy="3151"/>
            </a:xfrm>
          </p:grpSpPr>
          <p:graphicFrame>
            <p:nvGraphicFramePr>
              <p:cNvPr id="21508" name="Object 34"/>
              <p:cNvGraphicFramePr>
                <a:graphicFrameLocks noChangeAspect="1"/>
              </p:cNvGraphicFramePr>
              <p:nvPr/>
            </p:nvGraphicFramePr>
            <p:xfrm>
              <a:off x="959" y="665"/>
              <a:ext cx="2883" cy="6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" r:id="rId1" imgW="2297430" imgH="533400" progId="Equation.DSMT4">
                      <p:embed/>
                    </p:oleObj>
                  </mc:Choice>
                  <mc:Fallback>
                    <p:oleObj name="" r:id="rId1" imgW="2297430" imgH="533400" progId="Equation.DSMT4">
                      <p:embed/>
                      <p:pic>
                        <p:nvPicPr>
                          <p:cNvPr id="0" name="图片 313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959" y="665"/>
                            <a:ext cx="2883" cy="668"/>
                          </a:xfrm>
                          <a:prstGeom prst="rect">
                            <a:avLst/>
                          </a:prstGeom>
                          <a:solidFill>
                            <a:srgbClr val="FFFF00">
                              <a:alpha val="81175"/>
                            </a:srgbClr>
                          </a:solidFill>
                          <a:ln w="38100">
                            <a:noFill/>
                            <a:miter/>
                          </a:ln>
                          <a:effectLst>
                            <a:outerShdw dist="107763" dir="2699999" algn="ctr" rotWithShape="0">
                              <a:srgbClr val="808080">
                                <a:alpha val="50000"/>
                              </a:srgbClr>
                            </a:outer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9" name="Object 36"/>
              <p:cNvGraphicFramePr>
                <a:graphicFrameLocks noChangeAspect="1"/>
              </p:cNvGraphicFramePr>
              <p:nvPr/>
            </p:nvGraphicFramePr>
            <p:xfrm>
              <a:off x="985" y="3245"/>
              <a:ext cx="300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" r:id="rId3" imgW="2056765" imgH="393700" progId="Equation.DSMT4">
                      <p:embed/>
                    </p:oleObj>
                  </mc:Choice>
                  <mc:Fallback>
                    <p:oleObj name="" r:id="rId3" imgW="2056765" imgH="393700" progId="Equation.DSMT4">
                      <p:embed/>
                      <p:pic>
                        <p:nvPicPr>
                          <p:cNvPr id="0" name="图片 313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985" y="3245"/>
                            <a:ext cx="3004" cy="571"/>
                          </a:xfrm>
                          <a:prstGeom prst="rect">
                            <a:avLst/>
                          </a:prstGeom>
                          <a:solidFill>
                            <a:srgbClr val="FFFF00">
                              <a:alpha val="81175"/>
                            </a:srgbClr>
                          </a:solidFill>
                          <a:ln w="38100">
                            <a:noFill/>
                            <a:miter/>
                          </a:ln>
                          <a:effectLst>
                            <a:outerShdw dist="107763" dir="2699999" algn="ctr" rotWithShape="0">
                              <a:srgbClr val="808080">
                                <a:alpha val="50000"/>
                              </a:srgbClr>
                            </a:outer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510" name="Object 36"/>
            <p:cNvGraphicFramePr>
              <a:graphicFrameLocks noChangeAspect="1"/>
            </p:cNvGraphicFramePr>
            <p:nvPr/>
          </p:nvGraphicFramePr>
          <p:xfrm>
            <a:off x="2165003" y="2555081"/>
            <a:ext cx="4678362" cy="2690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2019300" imgH="1168400" progId="Equation.DSMT4">
                    <p:embed/>
                  </p:oleObj>
                </mc:Choice>
                <mc:Fallback>
                  <p:oleObj name="" r:id="rId5" imgW="2019300" imgH="11684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65003" y="2555081"/>
                          <a:ext cx="4678362" cy="2690812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1" name="左弧形箭头 4"/>
            <p:cNvSpPr/>
            <p:nvPr/>
          </p:nvSpPr>
          <p:spPr>
            <a:xfrm>
              <a:off x="755576" y="1992275"/>
              <a:ext cx="1255836" cy="3816424"/>
            </a:xfrm>
            <a:prstGeom prst="curvedRightArrow">
              <a:avLst>
                <a:gd name="adj1" fmla="val 24986"/>
                <a:gd name="adj2" fmla="val 50002"/>
                <a:gd name="adj3" fmla="val 25000"/>
              </a:avLst>
            </a:prstGeom>
            <a:solidFill>
              <a:srgbClr val="0066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9036050" y="5606798"/>
            <a:ext cx="1320799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方程</a:t>
            </a:r>
            <a:r>
              <a:rPr lang="en-US" altLang="zh-CN" sz="3200" dirty="0">
                <a:solidFill>
                  <a:srgbClr val="FF0000"/>
                </a:solidFill>
              </a:rPr>
              <a:t>4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2"/>
          <p:cNvSpPr txBox="1"/>
          <p:nvPr/>
        </p:nvSpPr>
        <p:spPr>
          <a:xfrm>
            <a:off x="2135188" y="692150"/>
            <a:ext cx="68405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. 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特征方程与特征曲线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0" name="Text Box 3"/>
          <p:cNvSpPr txBox="1"/>
          <p:nvPr/>
        </p:nvSpPr>
        <p:spPr>
          <a:xfrm>
            <a:off x="2782888" y="1773238"/>
            <a:ext cx="232886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特征方程：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531" name="Object 11"/>
          <p:cNvGraphicFramePr>
            <a:graphicFrameLocks noChangeAspect="1"/>
          </p:cNvGraphicFramePr>
          <p:nvPr/>
        </p:nvGraphicFramePr>
        <p:xfrm>
          <a:off x="5159375" y="1484313"/>
          <a:ext cx="485616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094865" imgH="444500" progId="Equation.DSMT4">
                  <p:embed/>
                </p:oleObj>
              </mc:Choice>
              <mc:Fallback>
                <p:oleObj name="" r:id="rId1" imgW="2094865" imgH="4445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59375" y="1484313"/>
                        <a:ext cx="4856163" cy="102235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12"/>
          <p:cNvSpPr txBox="1"/>
          <p:nvPr/>
        </p:nvSpPr>
        <p:spPr>
          <a:xfrm>
            <a:off x="2782888" y="3141663"/>
            <a:ext cx="12573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2)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533" name="Object 13"/>
          <p:cNvGraphicFramePr>
            <a:graphicFrameLocks noChangeAspect="1"/>
          </p:cNvGraphicFramePr>
          <p:nvPr/>
        </p:nvGraphicFramePr>
        <p:xfrm>
          <a:off x="5159375" y="2636838"/>
          <a:ext cx="399415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739900" imgH="571500" progId="Equation.DSMT4">
                  <p:embed/>
                </p:oleObj>
              </mc:Choice>
              <mc:Fallback>
                <p:oleObj name="" r:id="rId3" imgW="1739900" imgH="5715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9375" y="2636838"/>
                        <a:ext cx="3994150" cy="13081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14"/>
          <p:cNvSpPr txBox="1"/>
          <p:nvPr/>
        </p:nvSpPr>
        <p:spPr>
          <a:xfrm>
            <a:off x="2855913" y="4581525"/>
            <a:ext cx="23288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3)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特征曲线：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535" name="Object 15"/>
          <p:cNvGraphicFramePr>
            <a:graphicFrameLocks noChangeAspect="1"/>
          </p:cNvGraphicFramePr>
          <p:nvPr/>
        </p:nvGraphicFramePr>
        <p:xfrm>
          <a:off x="5434013" y="4260850"/>
          <a:ext cx="21161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850265" imgH="241300" progId="Equation.DSMT4">
                  <p:embed/>
                </p:oleObj>
              </mc:Choice>
              <mc:Fallback>
                <p:oleObj name="" r:id="rId5" imgW="850265" imgH="2413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34013" y="4260850"/>
                        <a:ext cx="2116137" cy="608013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16"/>
          <p:cNvGraphicFramePr>
            <a:graphicFrameLocks noChangeAspect="1"/>
          </p:cNvGraphicFramePr>
          <p:nvPr/>
        </p:nvGraphicFramePr>
        <p:xfrm>
          <a:off x="5437188" y="5053013"/>
          <a:ext cx="21097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862965" imgH="241300" progId="Equation.DSMT4">
                  <p:embed/>
                </p:oleObj>
              </mc:Choice>
              <mc:Fallback>
                <p:oleObj name="" r:id="rId7" imgW="862965" imgH="2413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37188" y="5053013"/>
                        <a:ext cx="2109787" cy="601662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2"/>
          <p:cNvSpPr txBox="1"/>
          <p:nvPr/>
        </p:nvSpPr>
        <p:spPr>
          <a:xfrm>
            <a:off x="1919288" y="333375"/>
            <a:ext cx="72723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2.1.1</a:t>
            </a:r>
            <a:r>
              <a:rPr lang="en-US" altLang="zh-CN" sz="3200" dirty="0">
                <a:solidFill>
                  <a:srgbClr val="FF212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判断偏微分方程类型并化简：</a:t>
            </a:r>
            <a:endParaRPr lang="zh-CN" altLang="en-US" sz="3200" dirty="0">
              <a:solidFill>
                <a:srgbClr val="FF212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54" name="Object 3"/>
          <p:cNvGraphicFramePr>
            <a:graphicFrameLocks noChangeAspect="1"/>
          </p:cNvGraphicFramePr>
          <p:nvPr/>
        </p:nvGraphicFramePr>
        <p:xfrm>
          <a:off x="3792538" y="981075"/>
          <a:ext cx="482441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63700" imgH="241300" progId="Equation.DSMT4">
                  <p:embed/>
                </p:oleObj>
              </mc:Choice>
              <mc:Fallback>
                <p:oleObj name="" r:id="rId1" imgW="1663700" imgH="2413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2538" y="981075"/>
                        <a:ext cx="4824412" cy="696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4"/>
          <p:cNvGraphicFramePr>
            <a:graphicFrameLocks noChangeAspect="1"/>
          </p:cNvGraphicFramePr>
          <p:nvPr/>
        </p:nvGraphicFramePr>
        <p:xfrm>
          <a:off x="3792538" y="1700213"/>
          <a:ext cx="4770437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663700" imgH="228600" progId="Equation.DSMT4">
                  <p:embed/>
                </p:oleObj>
              </mc:Choice>
              <mc:Fallback>
                <p:oleObj name="" r:id="rId3" imgW="1663700" imgH="2286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2538" y="1700213"/>
                        <a:ext cx="4770437" cy="655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Text Box 5"/>
          <p:cNvSpPr txBox="1"/>
          <p:nvPr/>
        </p:nvSpPr>
        <p:spPr>
          <a:xfrm>
            <a:off x="2063750" y="1668463"/>
            <a:ext cx="6400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57" name="Object 6"/>
          <p:cNvGraphicFramePr>
            <a:graphicFrameLocks noChangeAspect="1"/>
          </p:cNvGraphicFramePr>
          <p:nvPr/>
        </p:nvGraphicFramePr>
        <p:xfrm>
          <a:off x="5087938" y="4652963"/>
          <a:ext cx="434181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638300" imgH="228600" progId="Equation.DSMT4">
                  <p:embed/>
                </p:oleObj>
              </mc:Choice>
              <mc:Fallback>
                <p:oleObj name="" r:id="rId5" imgW="1638300" imgH="2286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87938" y="4652963"/>
                        <a:ext cx="4341812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9"/>
          <p:cNvGraphicFramePr>
            <a:graphicFrameLocks noChangeAspect="1"/>
          </p:cNvGraphicFramePr>
          <p:nvPr/>
        </p:nvGraphicFramePr>
        <p:xfrm>
          <a:off x="5448300" y="2781300"/>
          <a:ext cx="32670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256665" imgH="406400" progId="Equation.DSMT4">
                  <p:embed/>
                </p:oleObj>
              </mc:Choice>
              <mc:Fallback>
                <p:oleObj name="" r:id="rId7" imgW="1256665" imgH="4064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48300" y="2781300"/>
                        <a:ext cx="3267075" cy="1058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10"/>
          <p:cNvSpPr txBox="1"/>
          <p:nvPr/>
        </p:nvSpPr>
        <p:spPr>
          <a:xfrm>
            <a:off x="3000375" y="3081338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特征方程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61" name="Object 12"/>
          <p:cNvGraphicFramePr>
            <a:graphicFrameLocks noChangeAspect="1"/>
          </p:cNvGraphicFramePr>
          <p:nvPr/>
        </p:nvGraphicFramePr>
        <p:xfrm>
          <a:off x="5808663" y="3716338"/>
          <a:ext cx="300990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193165" imgH="406400" progId="Equation.DSMT4">
                  <p:embed/>
                </p:oleObj>
              </mc:Choice>
              <mc:Fallback>
                <p:oleObj name="" r:id="rId9" imgW="1193165" imgH="4064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8663" y="3716338"/>
                        <a:ext cx="3009900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Text Box 13"/>
          <p:cNvSpPr txBox="1"/>
          <p:nvPr/>
        </p:nvSpPr>
        <p:spPr>
          <a:xfrm>
            <a:off x="3000375" y="3933825"/>
            <a:ext cx="17830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特征方程的解：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563" name="Text Box 14"/>
          <p:cNvSpPr txBox="1"/>
          <p:nvPr/>
        </p:nvSpPr>
        <p:spPr>
          <a:xfrm>
            <a:off x="3000375" y="4652963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特征线：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64" name="Object 16"/>
          <p:cNvGraphicFramePr>
            <a:graphicFrameLocks noChangeAspect="1"/>
          </p:cNvGraphicFramePr>
          <p:nvPr/>
        </p:nvGraphicFramePr>
        <p:xfrm>
          <a:off x="5016500" y="5229225"/>
          <a:ext cx="39782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1536065" imgH="203200" progId="Equation.DSMT4">
                  <p:embed/>
                </p:oleObj>
              </mc:Choice>
              <mc:Fallback>
                <p:oleObj name="" r:id="rId11" imgW="1536065" imgH="2032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16500" y="5229225"/>
                        <a:ext cx="397827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17"/>
          <p:cNvSpPr txBox="1"/>
          <p:nvPr/>
        </p:nvSpPr>
        <p:spPr>
          <a:xfrm>
            <a:off x="3071813" y="5229225"/>
            <a:ext cx="6400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令：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66" name="Object 19"/>
          <p:cNvGraphicFramePr>
            <a:graphicFrameLocks noChangeAspect="1"/>
          </p:cNvGraphicFramePr>
          <p:nvPr/>
        </p:nvGraphicFramePr>
        <p:xfrm>
          <a:off x="3055938" y="2349500"/>
          <a:ext cx="38893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1485900" imgH="241300" progId="Equation.DSMT4">
                  <p:embed/>
                </p:oleObj>
              </mc:Choice>
              <mc:Fallback>
                <p:oleObj name="" r:id="rId13" imgW="1485900" imgH="2413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55938" y="2349500"/>
                        <a:ext cx="3889375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Text Box 20"/>
          <p:cNvSpPr txBox="1"/>
          <p:nvPr/>
        </p:nvSpPr>
        <p:spPr>
          <a:xfrm>
            <a:off x="7751763" y="2349500"/>
            <a:ext cx="1325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双曲型方程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57215" y="5695950"/>
            <a:ext cx="3952348" cy="1077913"/>
          </a:xfrm>
          <a:prstGeom prst="rect">
            <a:avLst/>
          </a:prstGeom>
          <a:ln>
            <a:noFill/>
          </a:ln>
          <a:effectLst>
            <a:softEdge rad="11250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sp>
        <p:nvSpPr>
          <p:cNvPr id="10" name="箭头: 虚尾 3"/>
          <p:cNvSpPr/>
          <p:nvPr/>
        </p:nvSpPr>
        <p:spPr>
          <a:xfrm>
            <a:off x="3463636" y="6132945"/>
            <a:ext cx="1097280" cy="368300"/>
          </a:xfrm>
          <a:prstGeom prst="striped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202541" y="5788025"/>
            <a:ext cx="2009775" cy="8096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箭头: 右 8"/>
          <p:cNvSpPr/>
          <p:nvPr/>
        </p:nvSpPr>
        <p:spPr>
          <a:xfrm>
            <a:off x="8715375" y="6192837"/>
            <a:ext cx="362268" cy="139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3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3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/>
      <p:bldP spid="23560" grpId="1"/>
      <p:bldP spid="23562" grpId="0"/>
      <p:bldP spid="23562" grpId="1"/>
      <p:bldP spid="23563" grpId="0"/>
      <p:bldP spid="23563" grpId="1"/>
      <p:bldP spid="23565" grpId="0"/>
      <p:bldP spid="23565" grpId="1"/>
      <p:bldP spid="23567" grpId="0"/>
      <p:bldP spid="2356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7" name="Group 17"/>
          <p:cNvGrpSpPr/>
          <p:nvPr/>
        </p:nvGrpSpPr>
        <p:grpSpPr>
          <a:xfrm>
            <a:off x="1919288" y="476250"/>
            <a:ext cx="8215312" cy="3500438"/>
            <a:chOff x="249" y="300"/>
            <a:chExt cx="5175" cy="2205"/>
          </a:xfrm>
        </p:grpSpPr>
        <p:sp>
          <p:nvSpPr>
            <p:cNvPr id="24578" name="Text Box 2"/>
            <p:cNvSpPr txBox="1"/>
            <p:nvPr/>
          </p:nvSpPr>
          <p:spPr>
            <a:xfrm>
              <a:off x="249" y="300"/>
              <a:ext cx="4581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2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2.1.3</a:t>
              </a:r>
              <a:r>
                <a:rPr lang="en-US" altLang="zh-CN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</a:t>
              </a:r>
              <a:r>
                <a:rPr lang="zh-CN" altLang="en-US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设常数</a:t>
              </a:r>
              <a:r>
                <a:rPr lang="en-US" altLang="zh-CN" sz="32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A,B,C</a:t>
              </a:r>
              <a:r>
                <a:rPr lang="zh-CN" altLang="en-US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满足</a:t>
              </a:r>
              <a:endPara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4579" name="Object 3"/>
            <p:cNvGraphicFramePr>
              <a:graphicFrameLocks noChangeAspect="1"/>
            </p:cNvGraphicFramePr>
            <p:nvPr/>
          </p:nvGraphicFramePr>
          <p:xfrm>
            <a:off x="3334" y="300"/>
            <a:ext cx="1648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901065" imgH="203200" progId="Equation.DSMT4">
                    <p:embed/>
                  </p:oleObj>
                </mc:Choice>
                <mc:Fallback>
                  <p:oleObj name="" r:id="rId1" imgW="901065" imgH="203200" progId="Equation.DSMT4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34" y="300"/>
                          <a:ext cx="1648" cy="3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0" name="Object 4"/>
            <p:cNvGraphicFramePr>
              <a:graphicFrameLocks noChangeAspect="1"/>
            </p:cNvGraphicFramePr>
            <p:nvPr/>
          </p:nvGraphicFramePr>
          <p:xfrm>
            <a:off x="1842" y="1094"/>
            <a:ext cx="2179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206500" imgH="203200" progId="Equation.DSMT4">
                    <p:embed/>
                  </p:oleObj>
                </mc:Choice>
                <mc:Fallback>
                  <p:oleObj name="" r:id="rId3" imgW="1206500" imgH="203200" progId="Equation.DSMT4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42" y="1094"/>
                          <a:ext cx="2179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1" name="Text Box 5"/>
            <p:cNvSpPr txBox="1"/>
            <p:nvPr/>
          </p:nvSpPr>
          <p:spPr>
            <a:xfrm>
              <a:off x="975" y="722"/>
              <a:ext cx="367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m</a:t>
              </a:r>
              <a:r>
                <a:rPr lang="en-US" altLang="zh-CN" baseline="-250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  <a:r>
                <a:rPr lang="zh-CN" altLang="en-US" baseline="-250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、</a:t>
              </a:r>
              <a:r>
                <a:rPr lang="en-US" altLang="zh-CN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m</a:t>
              </a:r>
              <a:r>
                <a:rPr lang="en-US" altLang="zh-CN" baseline="-250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是如下方程的两个根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4582" name="Object 10"/>
            <p:cNvGraphicFramePr>
              <a:graphicFrameLocks noChangeAspect="1"/>
            </p:cNvGraphicFramePr>
            <p:nvPr/>
          </p:nvGraphicFramePr>
          <p:xfrm>
            <a:off x="1791" y="2115"/>
            <a:ext cx="3176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854200" imgH="228600" progId="Equation.DSMT4">
                    <p:embed/>
                  </p:oleObj>
                </mc:Choice>
                <mc:Fallback>
                  <p:oleObj name="" r:id="rId5" imgW="1854200" imgH="2286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91" y="2115"/>
                          <a:ext cx="3176" cy="3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3" name="Text Box 11"/>
            <p:cNvSpPr txBox="1"/>
            <p:nvPr/>
          </p:nvSpPr>
          <p:spPr>
            <a:xfrm>
              <a:off x="385" y="2160"/>
              <a:ext cx="8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的通解为：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4584" name="Object 15"/>
            <p:cNvGraphicFramePr>
              <a:graphicFrameLocks noChangeAspect="1"/>
            </p:cNvGraphicFramePr>
            <p:nvPr/>
          </p:nvGraphicFramePr>
          <p:xfrm>
            <a:off x="3016" y="1616"/>
            <a:ext cx="2408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459865" imgH="241300" progId="Equation.DSMT4">
                    <p:embed/>
                  </p:oleObj>
                </mc:Choice>
                <mc:Fallback>
                  <p:oleObj name="" r:id="rId7" imgW="1459865" imgH="2413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16" y="1616"/>
                          <a:ext cx="2408" cy="3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5" name="Text Box 16"/>
            <p:cNvSpPr txBox="1"/>
            <p:nvPr/>
          </p:nvSpPr>
          <p:spPr>
            <a:xfrm>
              <a:off x="295" y="1616"/>
              <a:ext cx="169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证明二阶线性偏微分方程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91507" name="Group 19"/>
          <p:cNvGrpSpPr/>
          <p:nvPr/>
        </p:nvGrpSpPr>
        <p:grpSpPr>
          <a:xfrm>
            <a:off x="2135188" y="4149725"/>
            <a:ext cx="6426200" cy="2327275"/>
            <a:chOff x="385" y="2614"/>
            <a:chExt cx="4048" cy="1466"/>
          </a:xfrm>
        </p:grpSpPr>
        <p:graphicFrame>
          <p:nvGraphicFramePr>
            <p:cNvPr id="24587" name="Object 6"/>
            <p:cNvGraphicFramePr>
              <a:graphicFrameLocks noChangeAspect="1"/>
            </p:cNvGraphicFramePr>
            <p:nvPr/>
          </p:nvGraphicFramePr>
          <p:xfrm>
            <a:off x="1613" y="2614"/>
            <a:ext cx="2820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689100" imgH="228600" progId="Equation.DSMT4">
                    <p:embed/>
                  </p:oleObj>
                </mc:Choice>
                <mc:Fallback>
                  <p:oleObj name="" r:id="rId9" imgW="1689100" imgH="2286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13" y="2614"/>
                          <a:ext cx="2820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7"/>
            <p:cNvGraphicFramePr>
              <a:graphicFrameLocks noChangeAspect="1"/>
            </p:cNvGraphicFramePr>
            <p:nvPr/>
          </p:nvGraphicFramePr>
          <p:xfrm>
            <a:off x="2290" y="3657"/>
            <a:ext cx="87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495300" imgH="241300" progId="Equation.DSMT4">
                    <p:embed/>
                  </p:oleObj>
                </mc:Choice>
                <mc:Fallback>
                  <p:oleObj name="" r:id="rId11" imgW="495300" imgH="2413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90" y="3657"/>
                          <a:ext cx="872" cy="4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9" name="Text Box 12"/>
            <p:cNvSpPr txBox="1"/>
            <p:nvPr/>
          </p:nvSpPr>
          <p:spPr>
            <a:xfrm>
              <a:off x="385" y="2614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证明：设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4590" name="Object 13"/>
            <p:cNvGraphicFramePr>
              <a:graphicFrameLocks noChangeAspect="1"/>
            </p:cNvGraphicFramePr>
            <p:nvPr/>
          </p:nvGraphicFramePr>
          <p:xfrm>
            <a:off x="1981" y="2947"/>
            <a:ext cx="2217" cy="6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1358265" imgH="406400" progId="Equation.DSMT4">
                    <p:embed/>
                  </p:oleObj>
                </mc:Choice>
                <mc:Fallback>
                  <p:oleObj name="" r:id="rId13" imgW="1358265" imgH="4064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981" y="2947"/>
                          <a:ext cx="2217" cy="6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Text Box 14"/>
            <p:cNvSpPr txBox="1"/>
            <p:nvPr/>
          </p:nvSpPr>
          <p:spPr>
            <a:xfrm>
              <a:off x="1020" y="3067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则：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4592" name="AutoShape 18"/>
            <p:cNvSpPr/>
            <p:nvPr/>
          </p:nvSpPr>
          <p:spPr>
            <a:xfrm>
              <a:off x="1066" y="3748"/>
              <a:ext cx="816" cy="272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9900"/>
            </a:solidFill>
            <a:ln w="9525">
              <a:noFill/>
            </a:ln>
          </p:spPr>
          <p:txBody>
            <a:bodyPr wrap="none" anchor="ctr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PP_MARK_KEY" val="fa891ce3-655c-4d00-add9-2849e16b941a"/>
  <p:tag name="COMMONDATA" val="eyJoZGlkIjoiMWEzNzI4NzY2MzhmZGUwYWVmODY1N2RmOTVkOTljMWMifQ=="/>
</p:tagLst>
</file>

<file path=ppt/theme/theme1.xml><?xml version="1.0" encoding="utf-8"?>
<a:theme xmlns:a="http://schemas.openxmlformats.org/drawingml/2006/main" name="1_Office 主题​​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1979</Words>
  <Application>WPS 演示</Application>
  <PresentationFormat>宽屏</PresentationFormat>
  <Paragraphs>359</Paragraphs>
  <Slides>29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145</vt:i4>
      </vt:variant>
      <vt:variant>
        <vt:lpstr>幻灯片标题</vt:lpstr>
      </vt:variant>
      <vt:variant>
        <vt:i4>29</vt:i4>
      </vt:variant>
    </vt:vector>
  </HeadingPairs>
  <TitlesOfParts>
    <vt:vector size="193" baseType="lpstr">
      <vt:lpstr>Arial</vt:lpstr>
      <vt:lpstr>宋体</vt:lpstr>
      <vt:lpstr>Wingdings</vt:lpstr>
      <vt:lpstr>微软雅黑</vt:lpstr>
      <vt:lpstr>黑体</vt:lpstr>
      <vt:lpstr>Verdana</vt:lpstr>
      <vt:lpstr>Times New Roman</vt:lpstr>
      <vt:lpstr>Arial Unicode MS</vt:lpstr>
      <vt:lpstr>等线</vt:lpstr>
      <vt:lpstr>Monotype Sorts</vt:lpstr>
      <vt:lpstr>Wingdings</vt:lpstr>
      <vt:lpstr>楷体_GB2312</vt:lpstr>
      <vt:lpstr>新宋体</vt:lpstr>
      <vt:lpstr>_x000B__x000C_</vt:lpstr>
      <vt:lpstr>Segoe Print</vt:lpstr>
      <vt:lpstr>方正毡笔黑简体</vt:lpstr>
      <vt:lpstr>仿宋_GB2312</vt:lpstr>
      <vt:lpstr>仿宋</vt:lpstr>
      <vt:lpstr>1_Office 主题​​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Equation.3</vt:lpstr>
      <vt:lpstr>Word.Document.8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数学物理方法</vt:lpstr>
      <vt:lpstr>数学物理方程：完整表述</vt:lpstr>
      <vt:lpstr>定解问题及其适定性</vt:lpstr>
      <vt:lpstr>数理方程：泛定方程</vt:lpstr>
      <vt:lpstr>总结：定解条件</vt:lpstr>
      <vt:lpstr>数理方程：初始条件</vt:lpstr>
      <vt:lpstr>数理方程：边界条件</vt:lpstr>
      <vt:lpstr>数理方程：边界条件</vt:lpstr>
      <vt:lpstr>数理方程：定解问题</vt:lpstr>
      <vt:lpstr>二阶线性偏微分方程: 通式和分类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Ning</cp:lastModifiedBy>
  <cp:revision>298</cp:revision>
  <dcterms:created xsi:type="dcterms:W3CDTF">2019-06-19T02:08:00Z</dcterms:created>
  <dcterms:modified xsi:type="dcterms:W3CDTF">2025-09-23T01:19:28Z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E1B022239BF04A0B815C3902492F0A5F_13</vt:lpwstr>
  </property>
</Properties>
</file>